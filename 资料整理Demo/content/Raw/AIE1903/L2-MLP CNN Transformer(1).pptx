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322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6" r:id="rId13"/>
    <p:sldId id="264" r:id="rId14"/>
    <p:sldId id="267" r:id="rId15"/>
    <p:sldId id="268" r:id="rId16"/>
    <p:sldId id="269" r:id="rId17"/>
    <p:sldId id="270" r:id="rId18"/>
    <p:sldId id="344" r:id="rId19"/>
    <p:sldId id="272" r:id="rId20"/>
    <p:sldId id="345" r:id="rId21"/>
    <p:sldId id="274" r:id="rId22"/>
    <p:sldId id="275" r:id="rId23"/>
    <p:sldId id="276" r:id="rId24"/>
    <p:sldId id="278" r:id="rId25"/>
    <p:sldId id="279" r:id="rId26"/>
    <p:sldId id="346" r:id="rId27"/>
    <p:sldId id="347" r:id="rId28"/>
    <p:sldId id="289" r:id="rId29"/>
    <p:sldId id="323" r:id="rId30"/>
    <p:sldId id="291" r:id="rId31"/>
    <p:sldId id="292" r:id="rId32"/>
    <p:sldId id="282" r:id="rId33"/>
    <p:sldId id="293" r:id="rId34"/>
    <p:sldId id="297" r:id="rId35"/>
    <p:sldId id="324" r:id="rId36"/>
    <p:sldId id="298" r:id="rId37"/>
    <p:sldId id="299" r:id="rId38"/>
    <p:sldId id="300" r:id="rId39"/>
    <p:sldId id="301" r:id="rId40"/>
    <p:sldId id="302" r:id="rId41"/>
    <p:sldId id="303" r:id="rId42"/>
    <p:sldId id="325" r:id="rId43"/>
    <p:sldId id="326" r:id="rId44"/>
    <p:sldId id="327" r:id="rId45"/>
    <p:sldId id="343" r:id="rId46"/>
    <p:sldId id="329" r:id="rId47"/>
    <p:sldId id="330" r:id="rId48"/>
    <p:sldId id="331" r:id="rId49"/>
    <p:sldId id="332" r:id="rId50"/>
    <p:sldId id="333" r:id="rId51"/>
    <p:sldId id="334" r:id="rId52"/>
    <p:sldId id="336" r:id="rId53"/>
    <p:sldId id="337" r:id="rId54"/>
    <p:sldId id="339" r:id="rId55"/>
    <p:sldId id="348" r:id="rId56"/>
    <p:sldId id="349" r:id="rId57"/>
    <p:sldId id="350" r:id="rId58"/>
    <p:sldId id="340" r:id="rId59"/>
    <p:sldId id="341" r:id="rId60"/>
  </p:sld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3" Type="http://schemas.openxmlformats.org/officeDocument/2006/relationships/tableStyles" Target="tableStyles.xml"/><Relationship Id="rId62" Type="http://schemas.openxmlformats.org/officeDocument/2006/relationships/viewProps" Target="viewProps.xml"/><Relationship Id="rId61" Type="http://schemas.openxmlformats.org/officeDocument/2006/relationships/presProps" Target="presProps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Attention weight</c:f>
              <c:strCache>
                <c:ptCount val="1"/>
                <c:pt idx="0">
                  <c:v>Attention weight</c:v>
                </c:pt>
              </c:strCache>
            </c:strRef>
          </c:tx>
          <c:spPr>
            <a:solidFill>
              <a:srgbClr val="FF7F32"/>
            </a:solidFill>
            <a:ln w="0">
              <a:solidFill>
                <a:srgbClr val="FF7F32"/>
              </a:solidFill>
            </a:ln>
          </c:spPr>
          <c:invertIfNegative val="0"/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'Chart Data'!$A$2:$A$7</c:f>
              <c:strCache>
                <c:ptCount val="6"/>
                <c:pt idx="0">
                  <c:v>The</c:v>
                </c:pt>
                <c:pt idx="1">
                  <c:v>cat</c:v>
                </c:pt>
                <c:pt idx="2">
                  <c:v>sat</c:v>
                </c:pt>
                <c:pt idx="3">
                  <c:v>on</c:v>
                </c:pt>
                <c:pt idx="4">
                  <c:v>the</c:v>
                </c:pt>
                <c:pt idx="5">
                  <c:v>mat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0.1001</c:v>
                </c:pt>
                <c:pt idx="1">
                  <c:v>0.3672</c:v>
                </c:pt>
                <c:pt idx="2">
                  <c:v>0.1823</c:v>
                </c:pt>
                <c:pt idx="3">
                  <c:v>0.0905</c:v>
                </c:pt>
                <c:pt idx="4">
                  <c:v>0.1106</c:v>
                </c:pt>
                <c:pt idx="5">
                  <c:v>0.1493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rgbClr val="66666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rgbClr val="66666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</a:p>
        </c:txPr>
        <c:crossAx val="48650112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7cf0eaab-fb81-47be-92ef-5e23df7f2953}"/>
      </c:ext>
    </c:extLst>
  </c:chart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1" Type="http://schemas.openxmlformats.org/officeDocument/2006/relationships/chart" Target="../charts/char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0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Rectangle 4"/>
          <p:cNvSpPr>
            <a:spLocks noGrp="1"/>
          </p:cNvSpPr>
          <p:nvPr/>
        </p:nvSpPr>
        <p:spPr>
          <a:xfrm>
            <a:off x="857250" y="2000250"/>
            <a:ext cx="7429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marL="12700" algn="l">
              <a:lnSpc>
                <a:spcPct val="80000"/>
              </a:lnSpc>
              <a:buNone/>
              <a:defRPr sz="1425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AIE1903: Multimodal Agentic Assistant—Tool Use and Autonomous Systems</a:t>
            </a:r>
            <a:endParaRPr sz="1875" b="1">
              <a:solidFill>
                <a:srgbClr val="111111"/>
              </a:solidFill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857250" y="2457450"/>
            <a:ext cx="7429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70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Lecture 2 — MLP, CNN, and Transformer Architectures</a:t>
            </a:r>
            <a:endParaRPr sz="2550" b="1">
              <a:solidFill>
                <a:srgbClr val="111111"/>
              </a:solidFill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857250" y="3762375"/>
            <a:ext cx="742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Ming Li   |   CUHK(SZ), SAI   |   Sep. 2026</a:t>
            </a:r>
            <a:endParaRPr sz="1350" b="0">
              <a:solidFill>
                <a:srgbClr val="4378C4"/>
              </a:solidFill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857250" y="4238625"/>
            <a:ext cx="7429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How neural networks transform inputs into useful representations</a:t>
            </a:r>
            <a:endParaRPr sz="1350" b="0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" name="Rectangle 31"/>
          <p:cNvSpPr>
            <a:spLocks noGrp="1"/>
          </p:cNvSpPr>
          <p:nvPr/>
        </p:nvSpPr>
        <p:spPr>
          <a:xfrm>
            <a:off x="609600" y="254000"/>
            <a:ext cx="792480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25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25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Recap: Multimodal Input Processing</a:t>
            </a:r>
            <a:endParaRPr sz="2250" b="1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08000" y="838200"/>
            <a:ext cx="8128000" cy="25400"/>
          </a:xfrm>
          <a:prstGeom prst="rect">
            <a:avLst/>
          </a:prstGeom>
          <a:solidFill>
            <a:srgbClr val="222222"/>
          </a:solidFill>
          <a:ln w="0">
            <a:noFill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736600" y="965200"/>
            <a:ext cx="7670800" cy="406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Raw images and text must become model-ready vectors.</a:t>
            </a:r>
            <a:endParaRPr sz="1500" b="1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09600" y="1651000"/>
            <a:ext cx="914400" cy="431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3F78C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1">
                <a:solidFill>
                  <a:srgbClr val="3F78C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IMAGE</a:t>
            </a:r>
            <a:endParaRPr sz="1275" b="1">
              <a:solidFill>
                <a:srgbClr val="3F78C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Rounded Rectangle 4"/>
          <p:cNvSpPr>
            <a:spLocks noGrp="1"/>
          </p:cNvSpPr>
          <p:nvPr/>
        </p:nvSpPr>
        <p:spPr>
          <a:xfrm>
            <a:off x="1524000" y="1549400"/>
            <a:ext cx="1041400" cy="635000"/>
          </a:xfrm>
          <a:prstGeom prst="roundRect">
            <a:avLst>
              <a:gd name="adj" fmla="val 12000"/>
            </a:avLst>
          </a:prstGeom>
          <a:solidFill>
            <a:srgbClr val="F3F3F3"/>
          </a:solidFill>
          <a:ln w="9525">
            <a:solidFill>
              <a:srgbClr val="777777"/>
            </a:solidFill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RGB</a:t>
            </a:r>
            <a:endParaRPr sz="12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defRPr sz="12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image</a:t>
            </a:r>
            <a:endParaRPr sz="12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2590800" y="1638300"/>
            <a:ext cx="3556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2243"/>
          </a:bodyPr>
          <a:lstStyle/>
          <a:p>
            <a:pPr algn="ctr">
              <a:defRPr sz="1650" b="1">
                <a:solidFill>
                  <a:srgbClr val="55555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650" b="1">
                <a:solidFill>
                  <a:srgbClr val="55555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→</a:t>
            </a:r>
            <a:endParaRPr sz="1650" b="1">
              <a:solidFill>
                <a:srgbClr val="55555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Rounded Rectangle 6"/>
          <p:cNvSpPr>
            <a:spLocks noGrp="1"/>
          </p:cNvSpPr>
          <p:nvPr/>
        </p:nvSpPr>
        <p:spPr>
          <a:xfrm>
            <a:off x="2946400" y="1549400"/>
            <a:ext cx="1168400" cy="635000"/>
          </a:xfrm>
          <a:prstGeom prst="roundRect">
            <a:avLst>
              <a:gd name="adj" fmla="val 12000"/>
            </a:avLst>
          </a:prstGeom>
          <a:solidFill>
            <a:srgbClr val="F3F3F3"/>
          </a:solidFill>
          <a:ln w="9525">
            <a:solidFill>
              <a:srgbClr val="777777"/>
            </a:solidFill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Resize</a:t>
            </a:r>
            <a:endParaRPr sz="12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defRPr sz="12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Crop / Pad</a:t>
            </a:r>
            <a:endParaRPr sz="12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4140200" y="1638300"/>
            <a:ext cx="3556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2243"/>
          </a:bodyPr>
          <a:lstStyle/>
          <a:p>
            <a:pPr algn="ctr">
              <a:defRPr sz="1650" b="1">
                <a:solidFill>
                  <a:srgbClr val="55555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650" b="1">
                <a:solidFill>
                  <a:srgbClr val="55555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→</a:t>
            </a:r>
            <a:endParaRPr sz="1650" b="1">
              <a:solidFill>
                <a:srgbClr val="55555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Rounded Rectangle 8"/>
          <p:cNvSpPr>
            <a:spLocks noGrp="1"/>
          </p:cNvSpPr>
          <p:nvPr/>
        </p:nvSpPr>
        <p:spPr>
          <a:xfrm>
            <a:off x="4495800" y="1549400"/>
            <a:ext cx="1168400" cy="635000"/>
          </a:xfrm>
          <a:prstGeom prst="roundRect">
            <a:avLst>
              <a:gd name="adj" fmla="val 12000"/>
            </a:avLst>
          </a:prstGeom>
          <a:solidFill>
            <a:srgbClr val="F3F3F3"/>
          </a:solidFill>
          <a:ln w="9525">
            <a:solidFill>
              <a:srgbClr val="777777"/>
            </a:solidFill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Normalize</a:t>
            </a:r>
            <a:endParaRPr sz="12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defRPr sz="12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pixel values</a:t>
            </a:r>
            <a:endParaRPr sz="12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5689600" y="1638300"/>
            <a:ext cx="3556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2243"/>
          </a:bodyPr>
          <a:lstStyle/>
          <a:p>
            <a:pPr algn="ctr">
              <a:defRPr sz="1650" b="1">
                <a:solidFill>
                  <a:srgbClr val="55555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650" b="1">
                <a:solidFill>
                  <a:srgbClr val="55555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→</a:t>
            </a:r>
            <a:endParaRPr sz="1650" b="1">
              <a:solidFill>
                <a:srgbClr val="55555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Rounded Rectangle 10"/>
          <p:cNvSpPr>
            <a:spLocks noGrp="1"/>
          </p:cNvSpPr>
          <p:nvPr/>
        </p:nvSpPr>
        <p:spPr>
          <a:xfrm>
            <a:off x="6045200" y="1549400"/>
            <a:ext cx="1041400" cy="635000"/>
          </a:xfrm>
          <a:prstGeom prst="roundRect">
            <a:avLst>
              <a:gd name="adj" fmla="val 12000"/>
            </a:avLst>
          </a:prstGeom>
          <a:solidFill>
            <a:srgbClr val="F3F3F3"/>
          </a:solidFill>
          <a:ln w="9525">
            <a:solidFill>
              <a:srgbClr val="777777"/>
            </a:solidFill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Split into</a:t>
            </a:r>
            <a:endParaRPr sz="12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defRPr sz="12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patches</a:t>
            </a:r>
            <a:endParaRPr sz="12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7112000" y="1638300"/>
            <a:ext cx="3556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2243"/>
          </a:bodyPr>
          <a:lstStyle/>
          <a:p>
            <a:pPr algn="ctr">
              <a:defRPr sz="1650" b="1">
                <a:solidFill>
                  <a:srgbClr val="55555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650" b="1">
                <a:solidFill>
                  <a:srgbClr val="55555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→</a:t>
            </a:r>
            <a:endParaRPr sz="1650" b="1">
              <a:solidFill>
                <a:srgbClr val="55555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Rounded Rectangle 12"/>
          <p:cNvSpPr>
            <a:spLocks noGrp="1"/>
          </p:cNvSpPr>
          <p:nvPr/>
        </p:nvSpPr>
        <p:spPr>
          <a:xfrm>
            <a:off x="7467600" y="1549400"/>
            <a:ext cx="1168400" cy="635000"/>
          </a:xfrm>
          <a:prstGeom prst="roundRect">
            <a:avLst>
              <a:gd name="adj" fmla="val 12000"/>
            </a:avLst>
          </a:prstGeom>
          <a:solidFill>
            <a:srgbClr val="E7EFFA"/>
          </a:solidFill>
          <a:ln w="9525">
            <a:solidFill>
              <a:srgbClr val="777777"/>
            </a:solidFill>
          </a:ln>
        </p:spPr>
        <p:txBody>
          <a:bodyPr anchor="ctr">
            <a:normAutofit fontScale="98047"/>
          </a:bodyPr>
          <a:lstStyle/>
          <a:p>
            <a:pPr algn="ctr">
              <a:defRPr sz="120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Projected</a:t>
            </a:r>
            <a:endParaRPr sz="1200" b="1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defRPr sz="120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visual tokens</a:t>
            </a:r>
            <a:endParaRPr sz="1200" b="1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609600" y="2730500"/>
            <a:ext cx="914400" cy="431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3F78C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1">
                <a:solidFill>
                  <a:srgbClr val="3F78C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TEXT</a:t>
            </a:r>
            <a:endParaRPr sz="1275" b="1">
              <a:solidFill>
                <a:srgbClr val="3F78C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" name="Rounded Rectangle 14"/>
          <p:cNvSpPr>
            <a:spLocks noGrp="1"/>
          </p:cNvSpPr>
          <p:nvPr/>
        </p:nvSpPr>
        <p:spPr>
          <a:xfrm>
            <a:off x="1524000" y="2628900"/>
            <a:ext cx="1041400" cy="635000"/>
          </a:xfrm>
          <a:prstGeom prst="roundRect">
            <a:avLst>
              <a:gd name="adj" fmla="val 12000"/>
            </a:avLst>
          </a:prstGeom>
          <a:solidFill>
            <a:srgbClr val="F3F3F3"/>
          </a:solidFill>
          <a:ln w="9525">
            <a:solidFill>
              <a:srgbClr val="777777"/>
            </a:solidFill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User</a:t>
            </a:r>
            <a:endParaRPr sz="12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defRPr sz="12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text</a:t>
            </a:r>
            <a:endParaRPr sz="12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2590800" y="2717800"/>
            <a:ext cx="3556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2243"/>
          </a:bodyPr>
          <a:lstStyle/>
          <a:p>
            <a:pPr algn="ctr">
              <a:defRPr sz="1650" b="1">
                <a:solidFill>
                  <a:srgbClr val="55555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650" b="1">
                <a:solidFill>
                  <a:srgbClr val="55555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→</a:t>
            </a:r>
            <a:endParaRPr sz="1650" b="1">
              <a:solidFill>
                <a:srgbClr val="55555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" name="Rounded Rectangle 16"/>
          <p:cNvSpPr>
            <a:spLocks noGrp="1"/>
          </p:cNvSpPr>
          <p:nvPr/>
        </p:nvSpPr>
        <p:spPr>
          <a:xfrm>
            <a:off x="2946400" y="2628900"/>
            <a:ext cx="1168400" cy="635000"/>
          </a:xfrm>
          <a:prstGeom prst="roundRect">
            <a:avLst>
              <a:gd name="adj" fmla="val 12000"/>
            </a:avLst>
          </a:prstGeom>
          <a:solidFill>
            <a:srgbClr val="F3F3F3"/>
          </a:solidFill>
          <a:ln w="9525">
            <a:solidFill>
              <a:srgbClr val="777777"/>
            </a:solidFill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Tokenizer</a:t>
            </a:r>
            <a:endParaRPr sz="12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8" name="Rectangle 17"/>
          <p:cNvSpPr>
            <a:spLocks noGrp="1"/>
          </p:cNvSpPr>
          <p:nvPr/>
        </p:nvSpPr>
        <p:spPr>
          <a:xfrm>
            <a:off x="4140200" y="2717800"/>
            <a:ext cx="3556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2243"/>
          </a:bodyPr>
          <a:lstStyle/>
          <a:p>
            <a:pPr algn="ctr">
              <a:defRPr sz="1650" b="1">
                <a:solidFill>
                  <a:srgbClr val="55555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650" b="1">
                <a:solidFill>
                  <a:srgbClr val="55555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→</a:t>
            </a:r>
            <a:endParaRPr sz="1650" b="1">
              <a:solidFill>
                <a:srgbClr val="55555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9" name="Rounded Rectangle 18"/>
          <p:cNvSpPr>
            <a:spLocks noGrp="1"/>
          </p:cNvSpPr>
          <p:nvPr/>
        </p:nvSpPr>
        <p:spPr>
          <a:xfrm>
            <a:off x="4495800" y="2628900"/>
            <a:ext cx="1168400" cy="635000"/>
          </a:xfrm>
          <a:prstGeom prst="roundRect">
            <a:avLst>
              <a:gd name="adj" fmla="val 12000"/>
            </a:avLst>
          </a:prstGeom>
          <a:solidFill>
            <a:srgbClr val="F3F3F3"/>
          </a:solidFill>
          <a:ln w="9525">
            <a:solidFill>
              <a:srgbClr val="777777"/>
            </a:solidFill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Token IDs</a:t>
            </a:r>
            <a:endParaRPr sz="12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5689600" y="2717800"/>
            <a:ext cx="3556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2243"/>
          </a:bodyPr>
          <a:lstStyle/>
          <a:p>
            <a:pPr algn="ctr">
              <a:defRPr sz="1650" b="1">
                <a:solidFill>
                  <a:srgbClr val="55555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650" b="1">
                <a:solidFill>
                  <a:srgbClr val="55555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→</a:t>
            </a:r>
            <a:endParaRPr sz="1650" b="1">
              <a:solidFill>
                <a:srgbClr val="55555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1" name="Rounded Rectangle 20"/>
          <p:cNvSpPr>
            <a:spLocks noGrp="1"/>
          </p:cNvSpPr>
          <p:nvPr/>
        </p:nvSpPr>
        <p:spPr>
          <a:xfrm>
            <a:off x="6045200" y="2628900"/>
            <a:ext cx="1320800" cy="635000"/>
          </a:xfrm>
          <a:prstGeom prst="roundRect">
            <a:avLst>
              <a:gd name="adj" fmla="val 12000"/>
            </a:avLst>
          </a:prstGeom>
          <a:solidFill>
            <a:srgbClr val="E7EFFA"/>
          </a:solidFill>
          <a:ln w="9525">
            <a:solidFill>
              <a:srgbClr val="777777"/>
            </a:solidFill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Text</a:t>
            </a:r>
            <a:endParaRPr sz="1200" b="1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defRPr sz="120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embeddings</a:t>
            </a:r>
            <a:endParaRPr sz="1200" b="1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2" name="Rectangle 21"/>
          <p:cNvSpPr>
            <a:spLocks noGrp="1"/>
          </p:cNvSpPr>
          <p:nvPr/>
        </p:nvSpPr>
        <p:spPr>
          <a:xfrm>
            <a:off x="1143000" y="3530600"/>
            <a:ext cx="6858000" cy="431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Both branches now contain vectors in the language model embedding space.</a:t>
            </a:r>
            <a:endParaRPr sz="1350" b="1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3" name="Rectangle 22"/>
          <p:cNvSpPr>
            <a:spLocks noGrp="1"/>
          </p:cNvSpPr>
          <p:nvPr/>
        </p:nvSpPr>
        <p:spPr>
          <a:xfrm>
            <a:off x="1041400" y="4127500"/>
            <a:ext cx="2667000" cy="431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3F78C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1">
                <a:solidFill>
                  <a:srgbClr val="3F78C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Projected visual tokens</a:t>
            </a:r>
            <a:endParaRPr sz="1350" b="1">
              <a:solidFill>
                <a:srgbClr val="3F78C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4" name="Rectangle 23"/>
          <p:cNvSpPr>
            <a:spLocks noGrp="1"/>
          </p:cNvSpPr>
          <p:nvPr/>
        </p:nvSpPr>
        <p:spPr>
          <a:xfrm>
            <a:off x="3810000" y="4127500"/>
            <a:ext cx="457200" cy="431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00" b="1">
                <a:solidFill>
                  <a:srgbClr val="55555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800" b="1">
                <a:solidFill>
                  <a:srgbClr val="55555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+</a:t>
            </a:r>
            <a:endParaRPr sz="1800" b="1">
              <a:solidFill>
                <a:srgbClr val="55555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5" name="Rectangle 24"/>
          <p:cNvSpPr>
            <a:spLocks noGrp="1"/>
          </p:cNvSpPr>
          <p:nvPr/>
        </p:nvSpPr>
        <p:spPr>
          <a:xfrm>
            <a:off x="4343400" y="4127500"/>
            <a:ext cx="2286000" cy="431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3F78C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1">
                <a:solidFill>
                  <a:srgbClr val="3F78C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Text embeddings</a:t>
            </a:r>
            <a:endParaRPr sz="1350" b="1">
              <a:solidFill>
                <a:srgbClr val="3F78C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6" name="Rectangle 25"/>
          <p:cNvSpPr>
            <a:spLocks noGrp="1"/>
          </p:cNvSpPr>
          <p:nvPr/>
        </p:nvSpPr>
        <p:spPr>
          <a:xfrm>
            <a:off x="6680200" y="4127500"/>
            <a:ext cx="457200" cy="431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00" b="1">
                <a:solidFill>
                  <a:srgbClr val="55555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800" b="1">
                <a:solidFill>
                  <a:srgbClr val="55555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→</a:t>
            </a:r>
            <a:endParaRPr sz="1800" b="1">
              <a:solidFill>
                <a:srgbClr val="55555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7" name="Rounded Rectangle 26"/>
          <p:cNvSpPr>
            <a:spLocks noGrp="1"/>
          </p:cNvSpPr>
          <p:nvPr/>
        </p:nvSpPr>
        <p:spPr>
          <a:xfrm>
            <a:off x="7188200" y="4013200"/>
            <a:ext cx="1473200" cy="685800"/>
          </a:xfrm>
          <a:prstGeom prst="roundRect">
            <a:avLst>
              <a:gd name="adj" fmla="val 11111"/>
            </a:avLst>
          </a:prstGeom>
          <a:solidFill>
            <a:srgbClr val="DCEBFA"/>
          </a:solidFill>
          <a:ln w="9525">
            <a:solidFill>
              <a:srgbClr val="777777"/>
            </a:solidFill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One multimodal</a:t>
            </a:r>
            <a:endParaRPr sz="1200" b="1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defRPr sz="120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token sequence</a:t>
            </a:r>
            <a:endParaRPr sz="1200" b="1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8" name="Rectangle 27"/>
          <p:cNvSpPr>
            <a:spLocks noGrp="1"/>
          </p:cNvSpPr>
          <p:nvPr/>
        </p:nvSpPr>
        <p:spPr>
          <a:xfrm>
            <a:off x="1168400" y="4851400"/>
            <a:ext cx="680720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667"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The VLM reads the combined sequence and generates the response token by token.</a:t>
            </a:r>
            <a:endParaRPr sz="1500" b="1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9" name="Rectangle 28"/>
          <p:cNvSpPr>
            <a:spLocks noGrp="1"/>
          </p:cNvSpPr>
          <p:nvPr/>
        </p:nvSpPr>
        <p:spPr>
          <a:xfrm>
            <a:off x="914400" y="5588000"/>
            <a:ext cx="7315200" cy="431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3F78C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1">
                <a:solidFill>
                  <a:srgbClr val="3F78C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Final checks: image size, value range, token order, embedding dimension</a:t>
            </a:r>
            <a:endParaRPr sz="1350" b="1">
              <a:solidFill>
                <a:srgbClr val="3F78C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0" name="Rectangle 29"/>
          <p:cNvSpPr>
            <a:spLocks noGrp="1"/>
          </p:cNvSpPr>
          <p:nvPr/>
        </p:nvSpPr>
        <p:spPr>
          <a:xfrm>
            <a:off x="508000" y="6477000"/>
            <a:ext cx="8128000" cy="25400"/>
          </a:xfrm>
          <a:prstGeom prst="rect">
            <a:avLst/>
          </a:prstGeom>
          <a:solidFill>
            <a:srgbClr val="555555"/>
          </a:solidFill>
          <a:ln w="0"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Rectangle 6"/>
          <p:cNvSpPr>
            <a:spLocks noGrp="1"/>
          </p:cNvSpPr>
          <p:nvPr/>
        </p:nvSpPr>
        <p:spPr>
          <a:xfrm>
            <a:off x="523875" y="209550"/>
            <a:ext cx="809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40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40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Learning Objectives</a:t>
            </a:r>
            <a:endParaRPr sz="1950" b="1">
              <a:solidFill>
                <a:srgbClr val="111111"/>
              </a:solidFill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23875" y="647700"/>
            <a:ext cx="8096250" cy="1905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523875" y="6477000"/>
            <a:ext cx="8096250" cy="9525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5" name="Rectangle 4"/>
          <p:cNvSpPr>
            <a:spLocks noGrp="1"/>
          </p:cNvSpPr>
          <p:nvPr/>
        </p:nvSpPr>
        <p:spPr>
          <a:xfrm>
            <a:off x="762000" y="1143000"/>
            <a:ext cx="7524750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200000"/>
              </a:lnSpc>
              <a:buNone/>
              <a:defRPr sz="135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By the end of this lecture, you should be able to:</a:t>
            </a:r>
            <a:endParaRPr sz="1725" b="0">
              <a:solidFill>
                <a:srgbClr val="111111"/>
              </a:solidFill>
            </a:endParaRPr>
          </a:p>
          <a:p>
            <a:pPr algn="l">
              <a:lnSpc>
                <a:spcPct val="250000"/>
              </a:lnSpc>
              <a:buNone/>
              <a:defRPr sz="135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1. </a:t>
            </a:r>
            <a:r>
              <a:rPr lang="en-US" sz="135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Understanding</a:t>
            </a:r>
            <a:r>
              <a:rPr sz="135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350" b="1">
                <a:solidFill>
                  <a:srgbClr val="000000"/>
                </a:solidFill>
                <a:latin typeface="Arial" panose="020B0604020202090204" pitchFamily="34" charset="0"/>
                <a:ea typeface="Arial" panose="020B0604020202090204"/>
                <a:cs typeface="Arial" panose="020B0604020202090204" pitchFamily="34" charset="0"/>
              </a:rPr>
              <a:t>tensor shape</a:t>
            </a:r>
            <a:r>
              <a:rPr lang="en-US" sz="1350" b="1">
                <a:solidFill>
                  <a:srgbClr val="000000"/>
                </a:solidFill>
                <a:latin typeface="Arial" panose="020B0604020202090204" pitchFamily="34" charset="0"/>
                <a:ea typeface="Arial" panose="020B0604020202090204"/>
                <a:cs typeface="Arial" panose="020B0604020202090204" pitchFamily="34" charset="0"/>
              </a:rPr>
              <a:t> change</a:t>
            </a:r>
            <a:r>
              <a:rPr sz="1350" b="1">
                <a:solidFill>
                  <a:srgbClr val="000000"/>
                </a:solidFill>
                <a:latin typeface="Arial" panose="020B0604020202090204" pitchFamily="34" charset="0"/>
                <a:ea typeface="Arial" panose="020B0604020202090204"/>
                <a:cs typeface="Arial" panose="020B0604020202090204" pitchFamily="34" charset="0"/>
              </a:rPr>
              <a:t>s</a:t>
            </a:r>
            <a:r>
              <a:rPr sz="135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through MLP, CNN, and Transformer networks.</a:t>
            </a:r>
            <a:endParaRPr sz="1725" b="0">
              <a:solidFill>
                <a:srgbClr val="111111"/>
              </a:solidFill>
            </a:endParaRPr>
          </a:p>
          <a:p>
            <a:pPr algn="l">
              <a:lnSpc>
                <a:spcPct val="250000"/>
              </a:lnSpc>
              <a:buNone/>
              <a:defRPr sz="135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2. Explain</a:t>
            </a:r>
            <a:r>
              <a:rPr lang="en-US" sz="135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lang="en-US" sz="1350" b="1">
                <a:solidFill>
                  <a:srgbClr val="000000"/>
                </a:solidFill>
                <a:latin typeface="Arial" panose="020B0604020202090204" pitchFamily="34" charset="0"/>
                <a:ea typeface="Arial" panose="020B0604020202090204"/>
                <a:cs typeface="Arial" panose="020B0604020202090204" pitchFamily="34" charset="0"/>
              </a:rPr>
              <a:t>input and output of</a:t>
            </a:r>
            <a:r>
              <a:rPr sz="1350" b="1">
                <a:solidFill>
                  <a:srgbClr val="000000"/>
                </a:solidFill>
                <a:latin typeface="Arial" panose="020B0604020202090204" pitchFamily="34" charset="0"/>
                <a:ea typeface="Arial" panose="020B0604020202090204"/>
                <a:cs typeface="Arial" panose="020B0604020202090204" pitchFamily="34" charset="0"/>
              </a:rPr>
              <a:t> each major layer</a:t>
            </a:r>
            <a:r>
              <a:rPr lang="en-US" sz="135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35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during inference.</a:t>
            </a:r>
            <a:endParaRPr sz="1725" b="0">
              <a:solidFill>
                <a:srgbClr val="111111"/>
              </a:solidFill>
            </a:endParaRPr>
          </a:p>
          <a:p>
            <a:pPr algn="l">
              <a:lnSpc>
                <a:spcPct val="250000"/>
              </a:lnSpc>
              <a:buNone/>
              <a:defRPr sz="135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3. Explain </a:t>
            </a:r>
            <a:r>
              <a:rPr lang="en-US" sz="135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the concepts of </a:t>
            </a:r>
            <a:r>
              <a:rPr lang="en-US" sz="1350" b="1">
                <a:solidFill>
                  <a:srgbClr val="000000"/>
                </a:solidFill>
                <a:latin typeface="Arial" panose="020B0604020202090204" pitchFamily="34" charset="0"/>
                <a:ea typeface="Arial" panose="020B0604020202090204"/>
                <a:cs typeface="Arial" panose="020B0604020202090204" pitchFamily="34" charset="0"/>
              </a:rPr>
              <a:t>convolutional </a:t>
            </a:r>
            <a:r>
              <a:rPr sz="1350" b="1">
                <a:solidFill>
                  <a:srgbClr val="000000"/>
                </a:solidFill>
                <a:latin typeface="Arial" panose="020B0604020202090204" pitchFamily="34" charset="0"/>
                <a:ea typeface="Arial" panose="020B0604020202090204"/>
                <a:cs typeface="Arial" panose="020B0604020202090204" pitchFamily="34" charset="0"/>
              </a:rPr>
              <a:t>kernels</a:t>
            </a:r>
            <a:r>
              <a:rPr sz="135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,</a:t>
            </a:r>
            <a:r>
              <a:rPr sz="1350" b="1">
                <a:solidFill>
                  <a:srgbClr val="000000"/>
                </a:solidFill>
                <a:latin typeface="Arial" panose="020B0604020202090204" pitchFamily="34" charset="0"/>
                <a:ea typeface="Arial" panose="020B0604020202090204"/>
                <a:cs typeface="Arial" panose="020B0604020202090204" pitchFamily="34" charset="0"/>
              </a:rPr>
              <a:t> feature maps</a:t>
            </a:r>
            <a:r>
              <a:rPr sz="135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, </a:t>
            </a:r>
            <a:r>
              <a:rPr sz="1350" b="1">
                <a:solidFill>
                  <a:srgbClr val="000000"/>
                </a:solidFill>
                <a:latin typeface="Arial" panose="020B0604020202090204" pitchFamily="34" charset="0"/>
                <a:ea typeface="Arial" panose="020B0604020202090204"/>
                <a:cs typeface="Arial" panose="020B0604020202090204" pitchFamily="34" charset="0"/>
              </a:rPr>
              <a:t>stride</a:t>
            </a:r>
            <a:r>
              <a:rPr sz="135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.</a:t>
            </a:r>
            <a:endParaRPr sz="1725" b="0">
              <a:solidFill>
                <a:srgbClr val="111111"/>
              </a:solidFill>
            </a:endParaRPr>
          </a:p>
          <a:p>
            <a:pPr algn="l">
              <a:lnSpc>
                <a:spcPct val="250000"/>
              </a:lnSpc>
              <a:buNone/>
              <a:defRPr sz="135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4. Describe how Transformer </a:t>
            </a:r>
            <a:r>
              <a:rPr sz="1350" b="1">
                <a:solidFill>
                  <a:srgbClr val="000000"/>
                </a:solidFill>
                <a:latin typeface="Arial" panose="020B0604020202090204" pitchFamily="34" charset="0"/>
                <a:ea typeface="Arial" panose="020B0604020202090204"/>
                <a:cs typeface="Arial" panose="020B0604020202090204" pitchFamily="34" charset="0"/>
              </a:rPr>
              <a:t>tokens gather context </a:t>
            </a:r>
            <a:r>
              <a:rPr lang="en-US" sz="1350" b="1">
                <a:solidFill>
                  <a:srgbClr val="000000"/>
                </a:solidFill>
                <a:latin typeface="Arial" panose="020B0604020202090204" pitchFamily="34" charset="0"/>
                <a:ea typeface="Arial" panose="020B0604020202090204"/>
                <a:cs typeface="Arial" panose="020B0604020202090204" pitchFamily="34" charset="0"/>
              </a:rPr>
              <a:t>information </a:t>
            </a:r>
            <a:r>
              <a:rPr sz="135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from a sequence.</a:t>
            </a:r>
            <a:endParaRPr sz="1725" b="0">
              <a:solidFill>
                <a:srgbClr val="111111"/>
              </a:solidFill>
            </a:endParaRPr>
          </a:p>
          <a:p>
            <a:pPr algn="l">
              <a:lnSpc>
                <a:spcPct val="250000"/>
              </a:lnSpc>
              <a:buNone/>
              <a:defRPr sz="135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5. Select a </a:t>
            </a:r>
            <a:r>
              <a:rPr sz="1350" b="1">
                <a:solidFill>
                  <a:srgbClr val="000000"/>
                </a:solidFill>
                <a:latin typeface="Arial" panose="020B0604020202090204" pitchFamily="34" charset="0"/>
                <a:ea typeface="Arial" panose="020B0604020202090204"/>
                <a:cs typeface="Arial" panose="020B0604020202090204" pitchFamily="34" charset="0"/>
              </a:rPr>
              <a:t>suitable architecture</a:t>
            </a:r>
            <a:r>
              <a:rPr sz="135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for </a:t>
            </a:r>
            <a:r>
              <a:rPr lang="en-US" sz="135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different types of input data</a:t>
            </a:r>
            <a:r>
              <a:rPr sz="135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.</a:t>
            </a:r>
            <a:endParaRPr sz="1725" b="0">
              <a:solidFill>
                <a:srgbClr val="111111"/>
              </a:solidFill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762000" y="5572125"/>
            <a:ext cx="7524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Goal: understand inference data flow and outputs, </a:t>
            </a:r>
            <a:r>
              <a:rPr sz="1275" b="1">
                <a:solidFill>
                  <a:srgbClr val="FF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without studying model training</a:t>
            </a:r>
            <a:r>
              <a:rPr sz="12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.</a:t>
            </a:r>
            <a:endParaRPr sz="1500" b="1">
              <a:solidFill>
                <a:srgbClr val="4378C4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Rectangle 19"/>
          <p:cNvSpPr>
            <a:spLocks noGrp="1"/>
          </p:cNvSpPr>
          <p:nvPr/>
        </p:nvSpPr>
        <p:spPr>
          <a:xfrm>
            <a:off x="523875" y="209550"/>
            <a:ext cx="809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40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40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Three Ways to Mix </a:t>
            </a:r>
            <a:r>
              <a:rPr lang="en-US" sz="240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Input </a:t>
            </a:r>
            <a:r>
              <a:rPr sz="240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Information</a:t>
            </a:r>
            <a:endParaRPr sz="1950" b="1">
              <a:solidFill>
                <a:srgbClr val="111111"/>
              </a:solidFill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23875" y="647700"/>
            <a:ext cx="8096250" cy="1905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523875" y="6477000"/>
            <a:ext cx="8096250" cy="9525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5" name="Rectangle 4"/>
          <p:cNvSpPr>
            <a:spLocks noGrp="1"/>
          </p:cNvSpPr>
          <p:nvPr/>
        </p:nvSpPr>
        <p:spPr>
          <a:xfrm>
            <a:off x="2056765" y="2216785"/>
            <a:ext cx="171450" cy="38100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3634105" y="2216785"/>
            <a:ext cx="171450" cy="38100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5211445" y="2216785"/>
            <a:ext cx="171450" cy="38100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8" name="Rectangle 7"/>
          <p:cNvSpPr>
            <a:spLocks noGrp="1"/>
          </p:cNvSpPr>
          <p:nvPr/>
        </p:nvSpPr>
        <p:spPr>
          <a:xfrm>
            <a:off x="6788785" y="2216785"/>
            <a:ext cx="171450" cy="38100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9" name="Rounded Rectangle 8"/>
          <p:cNvSpPr>
            <a:spLocks noGrp="1"/>
          </p:cNvSpPr>
          <p:nvPr/>
        </p:nvSpPr>
        <p:spPr>
          <a:xfrm>
            <a:off x="650875" y="1845310"/>
            <a:ext cx="1405890" cy="742950"/>
          </a:xfrm>
          <a:prstGeom prst="roundRect">
            <a:avLst>
              <a:gd name="adj" fmla="val 10256"/>
            </a:avLst>
          </a:prstGeom>
          <a:solidFill>
            <a:srgbClr val="F2F2F2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727075" y="1940560"/>
            <a:ext cx="125349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Input tensor</a:t>
            </a:r>
            <a:endParaRPr sz="1275" b="0">
              <a:solidFill>
                <a:srgbClr val="111111"/>
              </a:solidFill>
            </a:endParaRPr>
          </a:p>
        </p:txBody>
      </p:sp>
      <p:sp>
        <p:nvSpPr>
          <p:cNvPr id="11" name="Rounded Rectangle 10"/>
          <p:cNvSpPr>
            <a:spLocks noGrp="1"/>
          </p:cNvSpPr>
          <p:nvPr/>
        </p:nvSpPr>
        <p:spPr>
          <a:xfrm>
            <a:off x="2228215" y="1845310"/>
            <a:ext cx="1405890" cy="742950"/>
          </a:xfrm>
          <a:prstGeom prst="roundRect">
            <a:avLst>
              <a:gd name="adj" fmla="val 10256"/>
            </a:avLst>
          </a:prstGeom>
          <a:solidFill>
            <a:srgbClr val="F2F2F2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2" name="Rectangle 11"/>
          <p:cNvSpPr>
            <a:spLocks noGrp="1"/>
          </p:cNvSpPr>
          <p:nvPr/>
        </p:nvSpPr>
        <p:spPr>
          <a:xfrm>
            <a:off x="2304415" y="1940560"/>
            <a:ext cx="125349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1">
                <a:solidFill>
                  <a:srgbClr val="000000"/>
                </a:solidFill>
                <a:latin typeface="Arial" panose="020B0604020202090204" pitchFamily="34" charset="0"/>
                <a:ea typeface="Arial" panose="020B0604020202090204"/>
                <a:cs typeface="Arial" panose="020B0604020202090204" pitchFamily="34" charset="0"/>
              </a:rPr>
              <a:t>MLP</a:t>
            </a:r>
            <a:endParaRPr sz="1275" b="1">
              <a:solidFill>
                <a:srgbClr val="111111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3" name="Rounded Rectangle 12"/>
          <p:cNvSpPr>
            <a:spLocks noGrp="1"/>
          </p:cNvSpPr>
          <p:nvPr/>
        </p:nvSpPr>
        <p:spPr>
          <a:xfrm>
            <a:off x="3805555" y="1845310"/>
            <a:ext cx="1405890" cy="742950"/>
          </a:xfrm>
          <a:prstGeom prst="roundRect">
            <a:avLst>
              <a:gd name="adj" fmla="val 10256"/>
            </a:avLst>
          </a:prstGeom>
          <a:solidFill>
            <a:srgbClr val="F2F2F2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3881755" y="1940560"/>
            <a:ext cx="125349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lang="en-US" sz="1275" b="1">
                <a:solidFill>
                  <a:srgbClr val="000000"/>
                </a:solidFill>
                <a:latin typeface="Arial" panose="020B0604020202090204" pitchFamily="34" charset="0"/>
                <a:ea typeface="Arial" panose="020B0604020202090204"/>
                <a:cs typeface="Arial" panose="020B0604020202090204" pitchFamily="34" charset="0"/>
              </a:rPr>
              <a:t>CNN</a:t>
            </a:r>
            <a:endParaRPr lang="en-US" sz="1275" b="1">
              <a:solidFill>
                <a:srgbClr val="000000"/>
              </a:solidFill>
              <a:latin typeface="Arial" panose="020B0604020202090204" pitchFamily="34" charset="0"/>
              <a:ea typeface="Arial" panose="020B0604020202090204"/>
              <a:cs typeface="Arial" panose="020B0604020202090204" pitchFamily="34" charset="0"/>
            </a:endParaRPr>
          </a:p>
        </p:txBody>
      </p:sp>
      <p:sp>
        <p:nvSpPr>
          <p:cNvPr id="15" name="Rounded Rectangle 14"/>
          <p:cNvSpPr>
            <a:spLocks noGrp="1"/>
          </p:cNvSpPr>
          <p:nvPr/>
        </p:nvSpPr>
        <p:spPr>
          <a:xfrm>
            <a:off x="5382895" y="1845310"/>
            <a:ext cx="1405890" cy="742950"/>
          </a:xfrm>
          <a:prstGeom prst="roundRect">
            <a:avLst>
              <a:gd name="adj" fmla="val 10256"/>
            </a:avLst>
          </a:prstGeom>
          <a:solidFill>
            <a:srgbClr val="F2F2F2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6" name="Rectangle 15"/>
          <p:cNvSpPr>
            <a:spLocks noGrp="1"/>
          </p:cNvSpPr>
          <p:nvPr/>
        </p:nvSpPr>
        <p:spPr>
          <a:xfrm>
            <a:off x="5459095" y="1940560"/>
            <a:ext cx="125349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1">
                <a:solidFill>
                  <a:srgbClr val="000000"/>
                </a:solidFill>
                <a:latin typeface="Arial" panose="020B0604020202090204" pitchFamily="34" charset="0"/>
                <a:ea typeface="Arial" panose="020B0604020202090204"/>
                <a:cs typeface="Arial" panose="020B0604020202090204" pitchFamily="34" charset="0"/>
              </a:rPr>
              <a:t>Transformer</a:t>
            </a:r>
            <a:endParaRPr sz="1275" b="1">
              <a:solidFill>
                <a:srgbClr val="111111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7" name="Rounded Rectangle 16"/>
          <p:cNvSpPr>
            <a:spLocks noGrp="1"/>
          </p:cNvSpPr>
          <p:nvPr/>
        </p:nvSpPr>
        <p:spPr>
          <a:xfrm>
            <a:off x="6960235" y="1845310"/>
            <a:ext cx="1405890" cy="742950"/>
          </a:xfrm>
          <a:prstGeom prst="roundRect">
            <a:avLst>
              <a:gd name="adj" fmla="val 10256"/>
            </a:avLst>
          </a:prstGeom>
          <a:solidFill>
            <a:srgbClr val="EAF1FB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7036435" y="1940560"/>
            <a:ext cx="125349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Prediction</a:t>
            </a:r>
            <a:endParaRPr sz="1275" b="0">
              <a:solidFill>
                <a:srgbClr val="111111"/>
              </a:solidFill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591185" y="3714750"/>
            <a:ext cx="7931150" cy="12103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70000"/>
              </a:lnSpc>
              <a:buNone/>
              <a:defRPr sz="135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lang="en-US" b="1">
                <a:latin typeface="Arial" panose="020B0604020202090204" pitchFamily="34" charset="0"/>
                <a:cs typeface="Arial" panose="020B0604020202090204" pitchFamily="34" charset="0"/>
                <a:sym typeface="+mn-ea"/>
              </a:rPr>
              <a:t>Different C</a:t>
            </a:r>
            <a:r>
              <a:rPr b="1">
                <a:latin typeface="Arial" panose="020B0604020202090204" pitchFamily="34" charset="0"/>
                <a:cs typeface="Arial" panose="020B0604020202090204" pitchFamily="34" charset="0"/>
                <a:sym typeface="+mn-ea"/>
              </a:rPr>
              <a:t>onnectivity </a:t>
            </a:r>
            <a:r>
              <a:rPr lang="en-US" b="1">
                <a:latin typeface="Arial" panose="020B0604020202090204" pitchFamily="34" charset="0"/>
                <a:cs typeface="Arial" panose="020B0604020202090204" pitchFamily="34" charset="0"/>
                <a:sym typeface="+mn-ea"/>
              </a:rPr>
              <a:t>P</a:t>
            </a:r>
            <a:r>
              <a:rPr b="1">
                <a:latin typeface="Arial" panose="020B0604020202090204" pitchFamily="34" charset="0"/>
                <a:cs typeface="Arial" panose="020B0604020202090204" pitchFamily="34" charset="0"/>
                <a:sym typeface="+mn-ea"/>
              </a:rPr>
              <a:t>attern</a:t>
            </a:r>
            <a:endParaRPr sz="135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lnSpc>
                <a:spcPct val="170000"/>
              </a:lnSpc>
              <a:buNone/>
              <a:defRPr sz="135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MLP mixes all features </a:t>
            </a:r>
            <a:r>
              <a:rPr sz="1350" b="1">
                <a:solidFill>
                  <a:srgbClr val="000000"/>
                </a:solidFill>
                <a:latin typeface="Arial" panose="020B0604020202090204" pitchFamily="34" charset="0"/>
                <a:ea typeface="Arial" panose="020B0604020202090204"/>
                <a:cs typeface="Arial" panose="020B0604020202090204" pitchFamily="34" charset="0"/>
              </a:rPr>
              <a:t>globally</a:t>
            </a:r>
            <a:r>
              <a:rPr sz="135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. </a:t>
            </a:r>
            <a:endParaRPr sz="135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lnSpc>
                <a:spcPct val="170000"/>
              </a:lnSpc>
              <a:buNone/>
              <a:defRPr sz="135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CNN uses </a:t>
            </a:r>
            <a:r>
              <a:rPr sz="1350" b="1">
                <a:solidFill>
                  <a:srgbClr val="000000"/>
                </a:solidFill>
                <a:latin typeface="Arial" panose="020B0604020202090204" pitchFamily="34" charset="0"/>
                <a:ea typeface="Arial" panose="020B0604020202090204"/>
                <a:cs typeface="Arial" panose="020B0604020202090204" pitchFamily="34" charset="0"/>
              </a:rPr>
              <a:t>shared filters</a:t>
            </a:r>
            <a:r>
              <a:rPr lang="en-US" sz="1350">
                <a:solidFill>
                  <a:srgbClr val="000000"/>
                </a:solidFill>
                <a:latin typeface="Arial" panose="020B0604020202090204" pitchFamily="34" charset="0"/>
                <a:ea typeface="Arial" panose="020B0604020202090204"/>
                <a:cs typeface="Arial" panose="020B0604020202090204" pitchFamily="34" charset="0"/>
              </a:rPr>
              <a:t> to interact </a:t>
            </a:r>
            <a:r>
              <a:rPr lang="en-US" sz="1350" b="1">
                <a:solidFill>
                  <a:srgbClr val="000000"/>
                </a:solidFill>
                <a:latin typeface="Arial" panose="020B0604020202090204" pitchFamily="34" charset="0"/>
                <a:ea typeface="Arial" panose="020B0604020202090204"/>
                <a:cs typeface="Arial" panose="020B0604020202090204" pitchFamily="34" charset="0"/>
              </a:rPr>
              <a:t>local </a:t>
            </a:r>
            <a:r>
              <a:rPr lang="en-US" sz="1350">
                <a:solidFill>
                  <a:srgbClr val="000000"/>
                </a:solidFill>
                <a:latin typeface="Arial" panose="020B0604020202090204" pitchFamily="34" charset="0"/>
                <a:ea typeface="Arial" panose="020B0604020202090204"/>
                <a:cs typeface="Arial" panose="020B0604020202090204" pitchFamily="34" charset="0"/>
              </a:rPr>
              <a:t>features</a:t>
            </a:r>
            <a:r>
              <a:rPr sz="135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. </a:t>
            </a:r>
            <a:endParaRPr sz="135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lnSpc>
                <a:spcPct val="170000"/>
              </a:lnSpc>
              <a:buNone/>
              <a:defRPr sz="135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Transformer lets </a:t>
            </a:r>
            <a:r>
              <a:rPr sz="1350" b="1">
                <a:solidFill>
                  <a:srgbClr val="000000"/>
                </a:solidFill>
                <a:latin typeface="Arial" panose="020B0604020202090204" pitchFamily="34" charset="0"/>
                <a:ea typeface="Arial" panose="020B0604020202090204"/>
                <a:cs typeface="Arial" panose="020B0604020202090204" pitchFamily="34" charset="0"/>
              </a:rPr>
              <a:t>tokens exchange</a:t>
            </a:r>
            <a:r>
              <a:rPr sz="135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information through </a:t>
            </a:r>
            <a:r>
              <a:rPr lang="en-US" sz="1350" b="1">
                <a:solidFill>
                  <a:srgbClr val="000000"/>
                </a:solidFill>
                <a:latin typeface="Arial" panose="020B0604020202090204" pitchFamily="34" charset="0"/>
                <a:ea typeface="Arial" panose="020B0604020202090204"/>
                <a:cs typeface="Arial" panose="020B0604020202090204" pitchFamily="34" charset="0"/>
              </a:rPr>
              <a:t>global </a:t>
            </a:r>
            <a:r>
              <a:rPr sz="1350" b="1">
                <a:solidFill>
                  <a:srgbClr val="000000"/>
                </a:solidFill>
                <a:latin typeface="Arial" panose="020B0604020202090204" pitchFamily="34" charset="0"/>
                <a:ea typeface="Arial" panose="020B0604020202090204"/>
                <a:cs typeface="Arial" panose="020B0604020202090204" pitchFamily="34" charset="0"/>
              </a:rPr>
              <a:t>attention</a:t>
            </a:r>
            <a:r>
              <a:rPr sz="135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.</a:t>
            </a:r>
            <a:endParaRPr sz="1725" b="1">
              <a:solidFill>
                <a:srgbClr val="11111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" name="textbox 40"/>
          <p:cNvSpPr>
            <a:spLocks noGrp="1"/>
          </p:cNvSpPr>
          <p:nvPr/>
        </p:nvSpPr>
        <p:spPr>
          <a:xfrm>
            <a:off x="427963" y="982955"/>
            <a:ext cx="8443393" cy="540625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vert="horz" wrap="square" lIns="0" tIns="0" rIns="0" bIns="0"/>
          <a:lstStyle/>
          <a:p>
            <a:pPr marL="288290" indent="-175895" algn="l">
              <a:lnSpc>
                <a:spcPct val="108000"/>
              </a:lnSpc>
              <a:spcBef>
                <a:spcPts val="450"/>
              </a:spcBef>
              <a:buClrTx/>
              <a:buSzTx/>
              <a:buFontTx/>
              <a:buNone/>
              <a:defRPr sz="1575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 spc="-1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Part I   Neural-network foundations</a:t>
            </a:r>
            <a:endParaRPr sz="1985" b="1" spc="-10">
              <a:solidFill>
                <a:schemeClr val="tx1">
                  <a:alpha val="100000"/>
                </a:scheme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lnSpc>
                <a:spcPct val="80000"/>
              </a:lnSpc>
              <a:buNone/>
            </a:pPr>
            <a:endParaRPr sz="1985" spc="-10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88290" indent="-175895" algn="l">
              <a:lnSpc>
                <a:spcPct val="108000"/>
              </a:lnSpc>
              <a:spcBef>
                <a:spcPts val="450"/>
              </a:spcBef>
              <a:buNone/>
              <a:defRPr sz="1575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spc="-1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Part II  Multilayer Perceptrons (MLPs)</a:t>
            </a:r>
            <a:endParaRPr sz="1985" spc="-10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88290" indent="-175895" algn="l">
              <a:lnSpc>
                <a:spcPct val="108000"/>
              </a:lnSpc>
              <a:spcBef>
                <a:spcPts val="450"/>
              </a:spcBef>
              <a:buNone/>
            </a:pPr>
            <a:endParaRPr sz="1985" spc="-10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88290" indent="-175895" algn="l">
              <a:lnSpc>
                <a:spcPct val="108000"/>
              </a:lnSpc>
              <a:spcBef>
                <a:spcPts val="450"/>
              </a:spcBef>
              <a:buNone/>
              <a:defRPr sz="1575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spc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Part III Convolutional Neural Networks (CNNs)</a:t>
            </a:r>
            <a:endParaRPr sz="1985" spc="0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88290" indent="-175895" algn="l">
              <a:lnSpc>
                <a:spcPct val="108000"/>
              </a:lnSpc>
              <a:spcBef>
                <a:spcPts val="450"/>
              </a:spcBef>
              <a:buNone/>
            </a:pPr>
            <a:endParaRPr sz="1985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87655" indent="-182245" algn="l">
              <a:lnSpc>
                <a:spcPct val="107000"/>
              </a:lnSpc>
              <a:spcBef>
                <a:spcPts val="1285"/>
              </a:spcBef>
              <a:buNone/>
              <a:defRPr sz="1575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spc="-1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Part IV  Transformers and architecture comparison</a:t>
            </a:r>
            <a:endParaRPr sz="1985" spc="-10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2" name="textbox 42"/>
          <p:cNvSpPr>
            <a:spLocks noGrp="1"/>
          </p:cNvSpPr>
          <p:nvPr/>
        </p:nvSpPr>
        <p:spPr>
          <a:xfrm>
            <a:off x="604518" y="236288"/>
            <a:ext cx="7939250" cy="58599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vert="horz" wrap="square" lIns="0" tIns="0" rIns="0" bIns="0"/>
          <a:lstStyle/>
          <a:p>
            <a:pPr algn="l">
              <a:lnSpc>
                <a:spcPct val="80000"/>
              </a:lnSpc>
              <a:buNone/>
              <a:defRPr sz="2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Roadmap</a:t>
            </a:r>
            <a:endParaRPr sz="20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4" name="path 44"/>
          <p:cNvSpPr>
            <a:spLocks noGrp="1"/>
          </p:cNvSpPr>
          <p:nvPr/>
        </p:nvSpPr>
        <p:spPr>
          <a:xfrm>
            <a:off x="0" y="661301"/>
            <a:ext cx="9144881" cy="25103"/>
          </a:xfrm>
          <a:custGeom>
            <a:avLst/>
            <a:gdLst/>
            <a:ahLst/>
            <a:cxnLst/>
            <a:rect l="0" t="0" r="0" b="0"/>
            <a:pathLst>
              <a:path w="7256" h="19">
                <a:moveTo>
                  <a:pt x="0" y="9"/>
                </a:moveTo>
                <a:lnTo>
                  <a:pt x="7256" y="9"/>
                </a:lnTo>
              </a:path>
            </a:pathLst>
          </a:custGeom>
          <a:noFill/>
          <a:ln w="12649">
            <a:solidFill>
              <a:srgbClr val="000000"/>
            </a:solidFill>
            <a:prstDash val="solid"/>
          </a:ln>
        </p:spPr>
        <p:txBody>
          <a:bodyPr/>
          <a:lstStyle/>
          <a:p>
            <a:pPr algn="ctr">
              <a:buNone/>
            </a:pPr>
            <a:endParaRPr sz="3570"/>
          </a:p>
        </p:txBody>
      </p:sp>
      <p:sp>
        <p:nvSpPr>
          <p:cNvPr id="46" name="path 46"/>
          <p:cNvSpPr>
            <a:spLocks noGrp="1"/>
          </p:cNvSpPr>
          <p:nvPr/>
        </p:nvSpPr>
        <p:spPr>
          <a:xfrm>
            <a:off x="0" y="6561349"/>
            <a:ext cx="9144881" cy="25103"/>
          </a:xfrm>
          <a:custGeom>
            <a:avLst/>
            <a:gdLst/>
            <a:ahLst/>
            <a:cxnLst/>
            <a:rect l="0" t="0" r="0" b="0"/>
            <a:pathLst>
              <a:path w="7256" h="19">
                <a:moveTo>
                  <a:pt x="0" y="9"/>
                </a:moveTo>
                <a:lnTo>
                  <a:pt x="7256" y="9"/>
                </a:lnTo>
              </a:path>
            </a:pathLst>
          </a:custGeom>
          <a:noFill/>
          <a:ln w="12649">
            <a:solidFill>
              <a:srgbClr val="000000"/>
            </a:solidFill>
            <a:prstDash val="solid"/>
          </a:ln>
        </p:spPr>
        <p:txBody>
          <a:bodyPr/>
          <a:lstStyle/>
          <a:p>
            <a:pPr algn="ctr">
              <a:buNone/>
            </a:pPr>
            <a:endParaRPr sz="3570"/>
          </a:p>
        </p:txBody>
      </p:sp>
      <p:sp>
        <p:nvSpPr>
          <p:cNvPr id="50" name="path 50"/>
          <p:cNvSpPr>
            <a:spLocks noGrp="1"/>
          </p:cNvSpPr>
          <p:nvPr/>
        </p:nvSpPr>
        <p:spPr>
          <a:xfrm>
            <a:off x="8515816" y="6586452"/>
            <a:ext cx="10030" cy="272203"/>
          </a:xfrm>
          <a:custGeom>
            <a:avLst/>
            <a:gdLst/>
            <a:ahLst/>
            <a:cxnLst/>
            <a:rect l="0" t="0" r="0" b="0"/>
            <a:pathLst>
              <a:path w="7" h="216">
                <a:moveTo>
                  <a:pt x="3" y="216"/>
                </a:moveTo>
                <a:lnTo>
                  <a:pt x="3" y="0"/>
                </a:lnTo>
              </a:path>
            </a:pathLst>
          </a:custGeom>
          <a:noFill/>
          <a:ln w="5054">
            <a:solidFill>
              <a:srgbClr val="000000"/>
            </a:solidFill>
            <a:prstDash val="solid"/>
          </a:ln>
        </p:spPr>
        <p:txBody>
          <a:bodyPr/>
          <a:lstStyle/>
          <a:p>
            <a:pPr algn="ctr">
              <a:buNone/>
            </a:pPr>
            <a:endParaRPr sz="3570"/>
          </a:p>
        </p:txBody>
      </p:sp>
      <p:sp>
        <p:nvSpPr>
          <p:cNvPr id="51" name="Rectangle 50"/>
          <p:cNvSpPr>
            <a:spLocks noGrp="1"/>
          </p:cNvSpPr>
          <p:nvPr/>
        </p:nvSpPr>
        <p:spPr>
          <a:xfrm>
            <a:off x="6057900" y="4876800"/>
            <a:ext cx="381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2222"/>
          </a:bodyPr>
          <a:lstStyle/>
          <a:p>
            <a:pPr algn="ctr">
              <a:def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4</a:t>
            </a:r>
            <a:endParaRPr sz="9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Rectangle 6"/>
          <p:cNvSpPr>
            <a:spLocks noGrp="1"/>
          </p:cNvSpPr>
          <p:nvPr/>
        </p:nvSpPr>
        <p:spPr>
          <a:xfrm>
            <a:off x="523875" y="209550"/>
            <a:ext cx="809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40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40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Part I — Neural-Network Foundations</a:t>
            </a:r>
            <a:endParaRPr sz="1950" b="1">
              <a:solidFill>
                <a:srgbClr val="111111"/>
              </a:solidFill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23875" y="647700"/>
            <a:ext cx="8096250" cy="1905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523875" y="6477000"/>
            <a:ext cx="8096250" cy="9525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5" name="Rectangle 4"/>
          <p:cNvSpPr>
            <a:spLocks noGrp="1"/>
          </p:cNvSpPr>
          <p:nvPr/>
        </p:nvSpPr>
        <p:spPr>
          <a:xfrm>
            <a:off x="904875" y="2381250"/>
            <a:ext cx="73342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What is </a:t>
            </a:r>
            <a:r>
              <a:rPr lang="en-US"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the </a:t>
            </a:r>
            <a:r>
              <a: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repeated </a:t>
            </a:r>
            <a:r>
              <a:rPr lang="en-US"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basic computation operation </a:t>
            </a:r>
            <a:r>
              <a: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inside every deep network?</a:t>
            </a:r>
            <a:endParaRPr sz="2550" b="1">
              <a:solidFill>
                <a:srgbClr val="111111"/>
              </a:solidFill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3190875" y="3762375"/>
            <a:ext cx="2762250" cy="38100"/>
          </a:xfrm>
          <a:prstGeom prst="rect">
            <a:avLst/>
          </a:prstGeom>
          <a:solidFill>
            <a:srgbClr val="4378C4"/>
          </a:solidFill>
          <a:ln w="9525">
            <a:solidFill>
              <a:srgbClr val="4378C4"/>
            </a:solidFill>
            <a:prstDash val="solid"/>
          </a:ln>
        </p:spPr>
      </p:sp>
      <p:sp>
        <p:nvSpPr>
          <p:cNvPr id="8" name="Rectangle 7"/>
          <p:cNvSpPr>
            <a:spLocks noGrp="1"/>
          </p:cNvSpPr>
          <p:nvPr/>
        </p:nvSpPr>
        <p:spPr>
          <a:xfrm>
            <a:off x="6057900" y="4876800"/>
            <a:ext cx="381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2222"/>
          </a:bodyPr>
          <a:lstStyle/>
          <a:p>
            <a:pPr algn="ctr">
              <a:def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5</a:t>
            </a:r>
            <a:endParaRPr sz="9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Rectangle 13"/>
          <p:cNvSpPr>
            <a:spLocks noGrp="1"/>
          </p:cNvSpPr>
          <p:nvPr/>
        </p:nvSpPr>
        <p:spPr>
          <a:xfrm>
            <a:off x="523875" y="209550"/>
            <a:ext cx="809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40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lang="en-US" sz="1950" b="1">
                <a:solidFill>
                  <a:srgbClr val="111111"/>
                </a:solidFill>
              </a:rPr>
              <a:t>M</a:t>
            </a:r>
            <a:r>
              <a:rPr lang="en-US" sz="1950" b="1">
                <a:solidFill>
                  <a:srgbClr val="111111"/>
                </a:solidFill>
              </a:rPr>
              <a:t>atrix Computation and Adding</a:t>
            </a:r>
            <a:endParaRPr lang="en-US" sz="1950" b="1">
              <a:solidFill>
                <a:srgbClr val="111111"/>
              </a:solidFill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23875" y="647700"/>
            <a:ext cx="8096250" cy="1905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523875" y="6477000"/>
            <a:ext cx="8096250" cy="9525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5" name="Rectangle 4"/>
          <p:cNvSpPr>
            <a:spLocks noGrp="1"/>
          </p:cNvSpPr>
          <p:nvPr/>
        </p:nvSpPr>
        <p:spPr>
          <a:xfrm>
            <a:off x="857250" y="1428750"/>
            <a:ext cx="3333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z = wᵀx + b,     a = φ(z)</a:t>
            </a:r>
            <a:endParaRPr sz="3300" b="1">
              <a:solidFill>
                <a:srgbClr val="4378C4"/>
              </a:solidFill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4762500" y="1238250"/>
            <a:ext cx="333375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200000"/>
              </a:lnSpc>
              <a:buNone/>
              <a:defRPr sz="15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x is the input vector; </a:t>
            </a:r>
            <a:endParaRPr sz="1575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lnSpc>
                <a:spcPct val="200000"/>
              </a:lnSpc>
              <a:buNone/>
              <a:defRPr sz="15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 contains learned weights; </a:t>
            </a:r>
            <a:endParaRPr sz="1575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lnSpc>
                <a:spcPct val="200000"/>
              </a:lnSpc>
              <a:buNone/>
              <a:defRPr sz="15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 is a learned offset; </a:t>
            </a:r>
            <a:endParaRPr sz="1575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lnSpc>
                <a:spcPct val="200000"/>
              </a:lnSpc>
              <a:buNone/>
              <a:defRPr sz="15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φ is an activation function.</a:t>
            </a:r>
            <a:endParaRPr sz="1650" b="0">
              <a:solidFill>
                <a:srgbClr val="111111"/>
              </a:solidFill>
            </a:endParaRPr>
          </a:p>
        </p:txBody>
      </p:sp>
      <p:sp>
        <p:nvSpPr>
          <p:cNvPr id="23" name="Rectangle 22"/>
          <p:cNvSpPr>
            <a:spLocks noGrp="1"/>
          </p:cNvSpPr>
          <p:nvPr/>
        </p:nvSpPr>
        <p:spPr>
          <a:xfrm>
            <a:off x="1115695" y="5381625"/>
            <a:ext cx="723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Learning changes weights and biases—not the input formula.</a:t>
            </a:r>
            <a:endParaRPr sz="2000" b="1">
              <a:solidFill>
                <a:srgbClr val="4378C4"/>
              </a:solidFill>
            </a:endParaRPr>
          </a:p>
        </p:txBody>
      </p:sp>
      <p:pic>
        <p:nvPicPr>
          <p:cNvPr id="4" name="Picture 3" descr="ChatGPT Image Sep 20, 2026, 05_05_29 PM"/>
          <p:cNvPicPr>
            <a:picLocks noChangeAspect="1"/>
          </p:cNvPicPr>
          <p:nvPr/>
        </p:nvPicPr>
        <p:blipFill>
          <a:blip r:embed="rId1"/>
          <a:srcRect t="14412" b="13779"/>
          <a:stretch>
            <a:fillRect/>
          </a:stretch>
        </p:blipFill>
        <p:spPr>
          <a:xfrm>
            <a:off x="1141095" y="3261995"/>
            <a:ext cx="6303010" cy="22631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" name="Rectangle 17"/>
          <p:cNvSpPr>
            <a:spLocks noGrp="1"/>
          </p:cNvSpPr>
          <p:nvPr/>
        </p:nvSpPr>
        <p:spPr>
          <a:xfrm>
            <a:off x="523875" y="209550"/>
            <a:ext cx="809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40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40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 Linear Layer Transforms Feature Dimension</a:t>
            </a:r>
            <a:endParaRPr sz="1950" b="1">
              <a:solidFill>
                <a:srgbClr val="111111"/>
              </a:solidFill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23875" y="647700"/>
            <a:ext cx="8096250" cy="1905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523875" y="6477000"/>
            <a:ext cx="8096250" cy="9525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5" name="Rectangle 4"/>
          <p:cNvSpPr>
            <a:spLocks noGrp="1"/>
          </p:cNvSpPr>
          <p:nvPr/>
        </p:nvSpPr>
        <p:spPr>
          <a:xfrm>
            <a:off x="714375" y="1285875"/>
            <a:ext cx="209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Input batch</a:t>
            </a:r>
            <a:endParaRPr sz="1500" b="1">
              <a:solidFill>
                <a:srgbClr val="111111"/>
              </a:solidFill>
            </a:endParaRPr>
          </a:p>
        </p:txBody>
      </p:sp>
      <p:sp>
        <p:nvSpPr>
          <p:cNvPr id="6" name="Rounded Rectangle 5"/>
          <p:cNvSpPr>
            <a:spLocks noGrp="1"/>
          </p:cNvSpPr>
          <p:nvPr/>
        </p:nvSpPr>
        <p:spPr>
          <a:xfrm>
            <a:off x="2905125" y="1285875"/>
            <a:ext cx="2286000" cy="495300"/>
          </a:xfrm>
          <a:prstGeom prst="roundRect">
            <a:avLst>
              <a:gd name="adj" fmla="val 15385"/>
            </a:avLst>
          </a:prstGeom>
          <a:solidFill>
            <a:srgbClr val="F2F2F2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3000375" y="1285875"/>
            <a:ext cx="2095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X ∈ ℝᴮˣᴰⁱⁿ</a:t>
            </a:r>
            <a:endParaRPr sz="1650" b="1">
              <a:solidFill>
                <a:srgbClr val="111111"/>
              </a:solidFill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5619750" y="1285875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 × D_in</a:t>
            </a:r>
            <a:endParaRPr sz="1650" b="0">
              <a:solidFill>
                <a:srgbClr val="4378C4"/>
              </a:solidFill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714375" y="2667000"/>
            <a:ext cx="209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Weight + bias</a:t>
            </a:r>
            <a:endParaRPr sz="1500" b="1">
              <a:solidFill>
                <a:srgbClr val="111111"/>
              </a:solidFill>
            </a:endParaRPr>
          </a:p>
        </p:txBody>
      </p:sp>
      <p:sp>
        <p:nvSpPr>
          <p:cNvPr id="10" name="Rounded Rectangle 9"/>
          <p:cNvSpPr>
            <a:spLocks noGrp="1"/>
          </p:cNvSpPr>
          <p:nvPr/>
        </p:nvSpPr>
        <p:spPr>
          <a:xfrm>
            <a:off x="2905125" y="2667000"/>
            <a:ext cx="2286000" cy="495300"/>
          </a:xfrm>
          <a:prstGeom prst="roundRect">
            <a:avLst>
              <a:gd name="adj" fmla="val 15385"/>
            </a:avLst>
          </a:prstGeom>
          <a:solidFill>
            <a:srgbClr val="EAF1FB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1" name="Rectangle 10"/>
          <p:cNvSpPr>
            <a:spLocks noGrp="1"/>
          </p:cNvSpPr>
          <p:nvPr/>
        </p:nvSpPr>
        <p:spPr>
          <a:xfrm>
            <a:off x="3000375" y="2667000"/>
            <a:ext cx="2095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W, b</a:t>
            </a:r>
            <a:endParaRPr sz="1650" b="1">
              <a:solidFill>
                <a:srgbClr val="111111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5619750" y="2667000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D_out × D_in; D_out</a:t>
            </a:r>
            <a:endParaRPr sz="1650" b="0">
              <a:solidFill>
                <a:srgbClr val="4378C4"/>
              </a:solidFill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714375" y="4048125"/>
            <a:ext cx="209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Output</a:t>
            </a:r>
            <a:endParaRPr sz="1500" b="1">
              <a:solidFill>
                <a:srgbClr val="111111"/>
              </a:solidFill>
            </a:endParaRPr>
          </a:p>
        </p:txBody>
      </p:sp>
      <p:sp>
        <p:nvSpPr>
          <p:cNvPr id="14" name="Rounded Rectangle 13"/>
          <p:cNvSpPr>
            <a:spLocks noGrp="1"/>
          </p:cNvSpPr>
          <p:nvPr/>
        </p:nvSpPr>
        <p:spPr>
          <a:xfrm>
            <a:off x="2905125" y="4048125"/>
            <a:ext cx="2286000" cy="495300"/>
          </a:xfrm>
          <a:prstGeom prst="roundRect">
            <a:avLst>
              <a:gd name="adj" fmla="val 15385"/>
            </a:avLst>
          </a:prstGeom>
          <a:solidFill>
            <a:srgbClr val="F2F2F2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3000375" y="4048125"/>
            <a:ext cx="2095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Y = </a:t>
            </a:r>
            <a:r>
              <a:rPr>
                <a:sym typeface="+mn-ea"/>
              </a:rPr>
              <a:t>Wᵀ</a:t>
            </a:r>
            <a:r>
              <a: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X + b</a:t>
            </a:r>
            <a:endParaRPr sz="1650" b="1">
              <a:solidFill>
                <a:srgbClr val="111111"/>
              </a:solidFill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5619750" y="4048125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 × D_out</a:t>
            </a:r>
            <a:endParaRPr sz="1650" b="0">
              <a:solidFill>
                <a:srgbClr val="4378C4"/>
              </a:solidFill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809625" y="5572125"/>
            <a:ext cx="7524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E2534A"/>
                </a:solidFill>
              </a:defRPr>
            </a:pPr>
            <a:endParaRPr sz="1500" b="1">
              <a:solidFill>
                <a:srgbClr val="E2534A"/>
              </a:solidFill>
            </a:endParaRPr>
          </a:p>
        </p:txBody>
      </p:sp>
      <p:sp>
        <p:nvSpPr>
          <p:cNvPr id="19" name="Down Arrow 18"/>
          <p:cNvSpPr>
            <a:spLocks noGrp="1"/>
          </p:cNvSpPr>
          <p:nvPr/>
        </p:nvSpPr>
        <p:spPr>
          <a:xfrm>
            <a:off x="3923665" y="1917065"/>
            <a:ext cx="360045" cy="648335"/>
          </a:xfrm>
          <a:prstGeom prst="downArrow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0" name="Down Arrow 19"/>
          <p:cNvSpPr>
            <a:spLocks noGrp="1"/>
          </p:cNvSpPr>
          <p:nvPr/>
        </p:nvSpPr>
        <p:spPr>
          <a:xfrm>
            <a:off x="3924300" y="3357245"/>
            <a:ext cx="360045" cy="648335"/>
          </a:xfrm>
          <a:prstGeom prst="downArrow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3" name="Rectangle 22"/>
          <p:cNvSpPr>
            <a:spLocks noGrp="1"/>
          </p:cNvSpPr>
          <p:nvPr/>
        </p:nvSpPr>
        <p:spPr>
          <a:xfrm>
            <a:off x="1115695" y="5381625"/>
            <a:ext cx="723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lang="en-US" sz="12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Dimension changes follow matrix multiplication</a:t>
            </a:r>
            <a:r>
              <a:rPr sz="12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.</a:t>
            </a:r>
            <a:endParaRPr sz="2000" b="1">
              <a:solidFill>
                <a:srgbClr val="4378C4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" name="Rectangle 23"/>
          <p:cNvSpPr>
            <a:spLocks noGrp="1"/>
          </p:cNvSpPr>
          <p:nvPr/>
        </p:nvSpPr>
        <p:spPr>
          <a:xfrm>
            <a:off x="523875" y="209550"/>
            <a:ext cx="809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40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40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Activation Functions Add Nonlinearity</a:t>
            </a:r>
            <a:endParaRPr sz="1950" b="1">
              <a:solidFill>
                <a:srgbClr val="111111"/>
              </a:solidFill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23875" y="647700"/>
            <a:ext cx="8096250" cy="1905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523875" y="6477000"/>
            <a:ext cx="8096250" cy="9525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5" name="Rectangle 4"/>
          <p:cNvSpPr>
            <a:spLocks noGrp="1"/>
          </p:cNvSpPr>
          <p:nvPr/>
        </p:nvSpPr>
        <p:spPr>
          <a:xfrm>
            <a:off x="1790065" y="1620520"/>
            <a:ext cx="1000125" cy="1000125"/>
          </a:xfrm>
          <a:prstGeom prst="rect">
            <a:avLst/>
          </a:prstGeom>
          <a:solidFill>
            <a:srgbClr val="FF0000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2933065" y="1620520"/>
            <a:ext cx="11906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ReLU</a:t>
            </a:r>
            <a:endParaRPr sz="1500" b="1">
              <a:solidFill>
                <a:srgbClr val="111111"/>
              </a:solidFill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2933065" y="2020570"/>
            <a:ext cx="1285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max(0, x)</a:t>
            </a:r>
            <a:endParaRPr sz="1350" b="0">
              <a:solidFill>
                <a:srgbClr val="555555"/>
              </a:solidFill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4409440" y="1620520"/>
            <a:ext cx="1000125" cy="1000125"/>
          </a:xfrm>
          <a:prstGeom prst="rect">
            <a:avLst/>
          </a:prstGeom>
          <a:solidFill>
            <a:srgbClr val="00B400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5552440" y="1620520"/>
            <a:ext cx="11906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Sigmoid</a:t>
            </a:r>
            <a:endParaRPr sz="1500" b="1">
              <a:solidFill>
                <a:srgbClr val="111111"/>
              </a:solidFill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5552440" y="2020570"/>
            <a:ext cx="1285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 / (1 + e⁻ˣ)</a:t>
            </a:r>
            <a:endParaRPr sz="1350" b="0">
              <a:solidFill>
                <a:srgbClr val="555555"/>
              </a:solidFill>
            </a:endParaR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2794635" y="3430270"/>
            <a:ext cx="1000125" cy="1000125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3937635" y="3430270"/>
            <a:ext cx="11906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Tanh</a:t>
            </a:r>
            <a:endParaRPr sz="1500" b="1">
              <a:solidFill>
                <a:srgbClr val="111111"/>
              </a:solidFill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3937635" y="3830320"/>
            <a:ext cx="147193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output in [−1, 1]</a:t>
            </a:r>
            <a:endParaRPr sz="1350" b="0">
              <a:solidFill>
                <a:srgbClr val="555555"/>
              </a:solidFill>
            </a:endParaRPr>
          </a:p>
        </p:txBody>
      </p:sp>
      <p:sp>
        <p:nvSpPr>
          <p:cNvPr id="23" name="Rectangle 22"/>
          <p:cNvSpPr>
            <a:spLocks noGrp="1"/>
          </p:cNvSpPr>
          <p:nvPr/>
        </p:nvSpPr>
        <p:spPr>
          <a:xfrm>
            <a:off x="952500" y="5381625"/>
            <a:ext cx="723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Nonlinearity allows stacked layers to represent curved decision boundaries.</a:t>
            </a:r>
            <a:endParaRPr sz="1650" b="1">
              <a:solidFill>
                <a:srgbClr val="4378C4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Rectangle 18"/>
          <p:cNvSpPr>
            <a:spLocks noGrp="1"/>
          </p:cNvSpPr>
          <p:nvPr/>
        </p:nvSpPr>
        <p:spPr>
          <a:xfrm>
            <a:off x="523875" y="209550"/>
            <a:ext cx="809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40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lang="en-US" sz="240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Activation</a:t>
            </a:r>
            <a:r>
              <a:rPr sz="240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Example</a:t>
            </a:r>
            <a:endParaRPr sz="1950" b="1">
              <a:solidFill>
                <a:srgbClr val="111111"/>
              </a:solidFill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23875" y="647700"/>
            <a:ext cx="8096250" cy="1905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523875" y="6477000"/>
            <a:ext cx="8096250" cy="9525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5" name="Rectangle 4"/>
          <p:cNvSpPr>
            <a:spLocks noGrp="1"/>
          </p:cNvSpPr>
          <p:nvPr/>
        </p:nvSpPr>
        <p:spPr>
          <a:xfrm>
            <a:off x="762000" y="1047750"/>
            <a:ext cx="7620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Input x = [2, −1]</a:t>
            </a:r>
            <a:endParaRPr sz="1800" b="1">
              <a:solidFill>
                <a:srgbClr val="111111"/>
              </a:solidFill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2514600" y="2371725"/>
            <a:ext cx="171450" cy="38100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4486275" y="2371725"/>
            <a:ext cx="171450" cy="38100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8" name="Rectangle 7"/>
          <p:cNvSpPr>
            <a:spLocks noGrp="1"/>
          </p:cNvSpPr>
          <p:nvPr/>
        </p:nvSpPr>
        <p:spPr>
          <a:xfrm>
            <a:off x="6457950" y="2371725"/>
            <a:ext cx="171450" cy="38100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9" name="Rounded Rectangle 8"/>
          <p:cNvSpPr>
            <a:spLocks noGrp="1"/>
          </p:cNvSpPr>
          <p:nvPr/>
        </p:nvSpPr>
        <p:spPr>
          <a:xfrm>
            <a:off x="714375" y="2000250"/>
            <a:ext cx="1800225" cy="742950"/>
          </a:xfrm>
          <a:prstGeom prst="roundRect">
            <a:avLst>
              <a:gd name="adj" fmla="val 10256"/>
            </a:avLst>
          </a:prstGeom>
          <a:solidFill>
            <a:srgbClr val="F2F2F2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790575" y="2095500"/>
            <a:ext cx="16478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Linear: z = Wx + b</a:t>
            </a:r>
            <a:endParaRPr sz="1275" b="0">
              <a:solidFill>
                <a:srgbClr val="111111"/>
              </a:solidFill>
            </a:endParaRPr>
          </a:p>
        </p:txBody>
      </p:sp>
      <p:sp>
        <p:nvSpPr>
          <p:cNvPr id="11" name="Rounded Rectangle 10"/>
          <p:cNvSpPr>
            <a:spLocks noGrp="1"/>
          </p:cNvSpPr>
          <p:nvPr/>
        </p:nvSpPr>
        <p:spPr>
          <a:xfrm>
            <a:off x="2686050" y="2000250"/>
            <a:ext cx="1800225" cy="742950"/>
          </a:xfrm>
          <a:prstGeom prst="roundRect">
            <a:avLst>
              <a:gd name="adj" fmla="val 10256"/>
            </a:avLst>
          </a:prstGeom>
          <a:solidFill>
            <a:srgbClr val="F2F2F2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2" name="Rectangle 11"/>
          <p:cNvSpPr>
            <a:spLocks noGrp="1"/>
          </p:cNvSpPr>
          <p:nvPr/>
        </p:nvSpPr>
        <p:spPr>
          <a:xfrm>
            <a:off x="2762250" y="2095500"/>
            <a:ext cx="16478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z = [1.5, −0.5]</a:t>
            </a:r>
            <a:endParaRPr sz="1275" b="0">
              <a:solidFill>
                <a:srgbClr val="111111"/>
              </a:solidFill>
            </a:endParaRPr>
          </a:p>
        </p:txBody>
      </p:sp>
      <p:sp>
        <p:nvSpPr>
          <p:cNvPr id="13" name="Rounded Rectangle 12"/>
          <p:cNvSpPr>
            <a:spLocks noGrp="1"/>
          </p:cNvSpPr>
          <p:nvPr/>
        </p:nvSpPr>
        <p:spPr>
          <a:xfrm>
            <a:off x="4657725" y="2000250"/>
            <a:ext cx="1800225" cy="742950"/>
          </a:xfrm>
          <a:prstGeom prst="roundRect">
            <a:avLst>
              <a:gd name="adj" fmla="val 10256"/>
            </a:avLst>
          </a:prstGeom>
          <a:solidFill>
            <a:srgbClr val="F2F2F2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4733925" y="2095500"/>
            <a:ext cx="16478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ReLU</a:t>
            </a:r>
            <a:endParaRPr sz="1275" b="0">
              <a:solidFill>
                <a:srgbClr val="111111"/>
              </a:solidFill>
            </a:endParaRPr>
          </a:p>
        </p:txBody>
      </p:sp>
      <p:sp>
        <p:nvSpPr>
          <p:cNvPr id="15" name="Rounded Rectangle 14"/>
          <p:cNvSpPr>
            <a:spLocks noGrp="1"/>
          </p:cNvSpPr>
          <p:nvPr/>
        </p:nvSpPr>
        <p:spPr>
          <a:xfrm>
            <a:off x="6629400" y="2000250"/>
            <a:ext cx="1800225" cy="742950"/>
          </a:xfrm>
          <a:prstGeom prst="roundRect">
            <a:avLst>
              <a:gd name="adj" fmla="val 10256"/>
            </a:avLst>
          </a:prstGeom>
          <a:solidFill>
            <a:srgbClr val="EAF1FB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6" name="Rectangle 15"/>
          <p:cNvSpPr>
            <a:spLocks noGrp="1"/>
          </p:cNvSpPr>
          <p:nvPr/>
        </p:nvSpPr>
        <p:spPr>
          <a:xfrm>
            <a:off x="6705600" y="2095500"/>
            <a:ext cx="16478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 = [1.5, 0]</a:t>
            </a:r>
            <a:endParaRPr sz="1275" b="1">
              <a:solidFill>
                <a:srgbClr val="111111"/>
              </a:solidFill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1047750" y="3381375"/>
            <a:ext cx="70485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The activation removes the negative response.</a:t>
            </a:r>
            <a:endParaRPr sz="2175" b="1">
              <a:solidFill>
                <a:srgbClr val="4378C4"/>
              </a:solidFill>
            </a:endParaRPr>
          </a:p>
        </p:txBody>
      </p:sp>
      <p:sp>
        <p:nvSpPr>
          <p:cNvPr id="18" name="Rectangle 17"/>
          <p:cNvSpPr>
            <a:spLocks noGrp="1"/>
          </p:cNvSpPr>
          <p:nvPr/>
        </p:nvSpPr>
        <p:spPr>
          <a:xfrm>
            <a:off x="1524000" y="4476750"/>
            <a:ext cx="6096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5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The same operation is applied </a:t>
            </a:r>
            <a:r>
              <a:rPr sz="1575" b="1">
                <a:solidFill>
                  <a:srgbClr val="000000"/>
                </a:solidFill>
                <a:latin typeface="Arial" panose="020B0604020202090204" pitchFamily="34" charset="0"/>
                <a:ea typeface="Arial" panose="020B0604020202090204"/>
                <a:cs typeface="Arial" panose="020B0604020202090204" pitchFamily="34" charset="0"/>
              </a:rPr>
              <a:t>across the batch</a:t>
            </a:r>
            <a:r>
              <a:rPr sz="15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; </a:t>
            </a:r>
            <a:endParaRPr sz="1575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lnSpc>
                <a:spcPct val="118000"/>
              </a:lnSpc>
              <a:buNone/>
              <a:defRPr sz="15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the next layer receives a.</a:t>
            </a:r>
            <a:endParaRPr sz="1500" b="0">
              <a:solidFill>
                <a:srgbClr val="11111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" name="Rectangle 20"/>
          <p:cNvSpPr>
            <a:spLocks noGrp="1"/>
          </p:cNvSpPr>
          <p:nvPr/>
        </p:nvSpPr>
        <p:spPr>
          <a:xfrm>
            <a:off x="523875" y="209550"/>
            <a:ext cx="809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40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40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Track Tensor Shapes at Every Layer</a:t>
            </a:r>
            <a:endParaRPr sz="1950" b="1">
              <a:solidFill>
                <a:srgbClr val="111111"/>
              </a:solidFill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23875" y="647700"/>
            <a:ext cx="8096250" cy="1905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523875" y="6477000"/>
            <a:ext cx="8096250" cy="9525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5" name="Rectangle 4"/>
          <p:cNvSpPr>
            <a:spLocks noGrp="1"/>
          </p:cNvSpPr>
          <p:nvPr/>
        </p:nvSpPr>
        <p:spPr>
          <a:xfrm>
            <a:off x="762000" y="1047750"/>
            <a:ext cx="3238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Input X</a:t>
            </a:r>
            <a:endParaRPr sz="1500" b="1">
              <a:solidFill>
                <a:srgbClr val="111111"/>
              </a:solidFill>
            </a:endParaRPr>
          </a:p>
        </p:txBody>
      </p:sp>
      <p:sp>
        <p:nvSpPr>
          <p:cNvPr id="6" name="Rounded Rectangle 5"/>
          <p:cNvSpPr>
            <a:spLocks noGrp="1"/>
          </p:cNvSpPr>
          <p:nvPr/>
        </p:nvSpPr>
        <p:spPr>
          <a:xfrm>
            <a:off x="4476750" y="1047750"/>
            <a:ext cx="371475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4572000" y="1047750"/>
            <a:ext cx="3524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[B, D_in]</a:t>
            </a:r>
            <a:endParaRPr sz="1575" b="1">
              <a:solidFill>
                <a:srgbClr val="111111"/>
              </a:solidFill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762000" y="1952625"/>
            <a:ext cx="3238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Weights W</a:t>
            </a:r>
            <a:endParaRPr sz="1500" b="1">
              <a:solidFill>
                <a:srgbClr val="111111"/>
              </a:solidFill>
            </a:endParaRPr>
          </a:p>
        </p:txBody>
      </p:sp>
      <p:sp>
        <p:nvSpPr>
          <p:cNvPr id="9" name="Rounded Rectangle 8"/>
          <p:cNvSpPr>
            <a:spLocks noGrp="1"/>
          </p:cNvSpPr>
          <p:nvPr/>
        </p:nvSpPr>
        <p:spPr>
          <a:xfrm>
            <a:off x="4476750" y="1952625"/>
            <a:ext cx="371475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4572000" y="1952625"/>
            <a:ext cx="3524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[D_out, D_in]</a:t>
            </a:r>
            <a:endParaRPr sz="1575" b="1">
              <a:solidFill>
                <a:srgbClr val="111111"/>
              </a:solidFill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762000" y="2857500"/>
            <a:ext cx="3238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Bias b</a:t>
            </a:r>
            <a:endParaRPr sz="1500" b="1">
              <a:solidFill>
                <a:srgbClr val="111111"/>
              </a:solidFill>
            </a:endParaRPr>
          </a:p>
        </p:txBody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4476750" y="2857500"/>
            <a:ext cx="371475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4572000" y="2857500"/>
            <a:ext cx="3524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[D_out]</a:t>
            </a:r>
            <a:endParaRPr sz="1575" b="1">
              <a:solidFill>
                <a:srgbClr val="111111"/>
              </a:solidFill>
            </a:endParaR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762000" y="3762375"/>
            <a:ext cx="3238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Pre-activation Z</a:t>
            </a:r>
            <a:endParaRPr sz="1500" b="1">
              <a:solidFill>
                <a:srgbClr val="111111"/>
              </a:solidFill>
            </a:endParaRPr>
          </a:p>
        </p:txBody>
      </p:sp>
      <p:sp>
        <p:nvSpPr>
          <p:cNvPr id="15" name="Rounded Rectangle 14"/>
          <p:cNvSpPr>
            <a:spLocks noGrp="1"/>
          </p:cNvSpPr>
          <p:nvPr/>
        </p:nvSpPr>
        <p:spPr>
          <a:xfrm>
            <a:off x="4476750" y="3762375"/>
            <a:ext cx="371475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6" name="Rectangle 15"/>
          <p:cNvSpPr>
            <a:spLocks noGrp="1"/>
          </p:cNvSpPr>
          <p:nvPr/>
        </p:nvSpPr>
        <p:spPr>
          <a:xfrm>
            <a:off x="4572000" y="3762375"/>
            <a:ext cx="3524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[B, D_out]</a:t>
            </a:r>
            <a:endParaRPr sz="1575" b="1">
              <a:solidFill>
                <a:srgbClr val="111111"/>
              </a:solidFill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762000" y="4667250"/>
            <a:ext cx="3238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Output A</a:t>
            </a:r>
            <a:endParaRPr sz="1500" b="1">
              <a:solidFill>
                <a:srgbClr val="4378C4"/>
              </a:solidFill>
            </a:endParaRPr>
          </a:p>
        </p:txBody>
      </p:sp>
      <p:sp>
        <p:nvSpPr>
          <p:cNvPr id="18" name="Rounded Rectangle 17"/>
          <p:cNvSpPr>
            <a:spLocks noGrp="1"/>
          </p:cNvSpPr>
          <p:nvPr/>
        </p:nvSpPr>
        <p:spPr>
          <a:xfrm>
            <a:off x="4476750" y="4667250"/>
            <a:ext cx="3714750" cy="495300"/>
          </a:xfrm>
          <a:prstGeom prst="roundRect">
            <a:avLst>
              <a:gd name="adj" fmla="val 15385"/>
            </a:avLst>
          </a:prstGeom>
          <a:solidFill>
            <a:srgbClr val="EAF1FB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9" name="Rectangle 18"/>
          <p:cNvSpPr>
            <a:spLocks noGrp="1"/>
          </p:cNvSpPr>
          <p:nvPr/>
        </p:nvSpPr>
        <p:spPr>
          <a:xfrm>
            <a:off x="4572000" y="4667250"/>
            <a:ext cx="3524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[B, D_out]</a:t>
            </a:r>
            <a:endParaRPr sz="1575" b="1">
              <a:solidFill>
                <a:srgbClr val="4378C4"/>
              </a:solidFill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952500" y="5715000"/>
            <a:ext cx="723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Most architecture bugs are shape mismatches, not difficult mathematics.</a:t>
            </a:r>
            <a:endParaRPr sz="1425" b="1">
              <a:solidFill>
                <a:srgbClr val="E2534A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Rectangle 14"/>
          <p:cNvSpPr>
            <a:spLocks noGrp="1"/>
          </p:cNvSpPr>
          <p:nvPr/>
        </p:nvSpPr>
        <p:spPr>
          <a:xfrm>
            <a:off x="523875" y="209550"/>
            <a:ext cx="809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40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40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From Raw Output to a Prediction</a:t>
            </a:r>
            <a:endParaRPr sz="1950" b="1">
              <a:solidFill>
                <a:srgbClr val="111111"/>
              </a:solidFill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23875" y="647700"/>
            <a:ext cx="8096250" cy="1905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523875" y="6477000"/>
            <a:ext cx="8096250" cy="9525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5" name="Rectangle 4"/>
          <p:cNvSpPr>
            <a:spLocks noGrp="1"/>
          </p:cNvSpPr>
          <p:nvPr/>
        </p:nvSpPr>
        <p:spPr>
          <a:xfrm>
            <a:off x="666750" y="1285875"/>
            <a:ext cx="66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01</a:t>
            </a:r>
            <a:endParaRPr sz="2100" b="1">
              <a:solidFill>
                <a:srgbClr val="4378C4"/>
              </a:solidFill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1476375" y="1429385"/>
            <a:ext cx="2095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Logits</a:t>
            </a:r>
            <a:endParaRPr sz="1650" b="1">
              <a:solidFill>
                <a:srgbClr val="111111"/>
              </a:solidFill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3640455" y="1301115"/>
            <a:ext cx="4572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One score for each class</a:t>
            </a:r>
            <a:endParaRPr sz="1425" b="0">
              <a:solidFill>
                <a:srgbClr val="555555"/>
              </a:solidFill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707390" y="2235200"/>
            <a:ext cx="66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02</a:t>
            </a:r>
            <a:endParaRPr sz="2100" b="1">
              <a:solidFill>
                <a:srgbClr val="4378C4"/>
              </a:solidFill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1517015" y="2378710"/>
            <a:ext cx="2095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Softmax</a:t>
            </a:r>
            <a:endParaRPr sz="1650" b="1">
              <a:solidFill>
                <a:srgbClr val="111111"/>
              </a:solidFill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3707765" y="2277110"/>
            <a:ext cx="4572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Convert scores to probabilities</a:t>
            </a:r>
            <a:endParaRPr sz="1425" b="1">
              <a:solidFill>
                <a:srgbClr val="555555"/>
              </a:solidFill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707390" y="3186430"/>
            <a:ext cx="66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03</a:t>
            </a:r>
            <a:endParaRPr sz="2100" b="1">
              <a:solidFill>
                <a:srgbClr val="4378C4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1517015" y="3329940"/>
            <a:ext cx="2095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Decision</a:t>
            </a:r>
            <a:endParaRPr sz="1650" b="1">
              <a:solidFill>
                <a:srgbClr val="111111"/>
              </a:solidFill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3707765" y="3184525"/>
            <a:ext cx="4572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Select</a:t>
            </a:r>
            <a:r>
              <a:rPr lang="en-US" sz="15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the category with</a:t>
            </a:r>
            <a:r>
              <a:rPr sz="15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the largest probability</a:t>
            </a:r>
            <a:endParaRPr sz="1425" b="1">
              <a:solidFill>
                <a:srgbClr val="555555"/>
              </a:solidFill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640715" y="4149725"/>
            <a:ext cx="70993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Resu</a:t>
            </a:r>
            <a:r>
              <a:rPr lang="en-US" sz="12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</a:t>
            </a:r>
            <a:r>
              <a:rPr sz="12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</a:t>
            </a:r>
            <a:endParaRPr sz="2100" b="1">
              <a:solidFill>
                <a:srgbClr val="4378C4"/>
              </a:solidFill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1493520" y="4293235"/>
            <a:ext cx="2095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Return a label or confidence</a:t>
            </a:r>
            <a:endParaRPr sz="1650" b="1">
              <a:solidFill>
                <a:srgbClr val="111111"/>
              </a:solidFill>
            </a:endParaRPr>
          </a:p>
        </p:txBody>
      </p:sp>
      <p:sp>
        <p:nvSpPr>
          <p:cNvPr id="18" name="Rectangle 17"/>
          <p:cNvSpPr>
            <a:spLocks noGrp="1"/>
          </p:cNvSpPr>
          <p:nvPr/>
        </p:nvSpPr>
        <p:spPr>
          <a:xfrm>
            <a:off x="3684270" y="4147820"/>
            <a:ext cx="4572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The network produces numbers first. A decoding rule turns them into an answer.</a:t>
            </a:r>
            <a:endParaRPr sz="1425" b="1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" name="textbox 40"/>
          <p:cNvSpPr>
            <a:spLocks noGrp="1"/>
          </p:cNvSpPr>
          <p:nvPr/>
        </p:nvSpPr>
        <p:spPr>
          <a:xfrm>
            <a:off x="427963" y="982955"/>
            <a:ext cx="8443393" cy="540625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vert="horz" wrap="square" lIns="0" tIns="0" rIns="0" bIns="0"/>
          <a:lstStyle/>
          <a:p>
            <a:pPr marL="288290" indent="-175895" algn="l">
              <a:lnSpc>
                <a:spcPct val="108000"/>
              </a:lnSpc>
              <a:spcBef>
                <a:spcPts val="450"/>
              </a:spcBef>
              <a:buClrTx/>
              <a:buSzTx/>
              <a:buFontTx/>
              <a:buNone/>
              <a:defRPr sz="1575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 spc="-1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Part I   Neural-network foundations ✓</a:t>
            </a:r>
            <a:endParaRPr sz="1985" b="1" spc="-10">
              <a:solidFill>
                <a:schemeClr val="tx1">
                  <a:alpha val="100000"/>
                </a:scheme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lnSpc>
                <a:spcPct val="80000"/>
              </a:lnSpc>
              <a:buNone/>
            </a:pPr>
            <a:endParaRPr sz="1985" spc="-10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88290" indent="-175895" algn="l">
              <a:lnSpc>
                <a:spcPct val="108000"/>
              </a:lnSpc>
              <a:spcBef>
                <a:spcPts val="450"/>
              </a:spcBef>
              <a:buNone/>
              <a:defRPr sz="1575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spc="-1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Part II  Multilayer Perceptrons (MLPs)</a:t>
            </a:r>
            <a:endParaRPr sz="1985" spc="-10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88290" indent="-175895" algn="l">
              <a:lnSpc>
                <a:spcPct val="108000"/>
              </a:lnSpc>
              <a:spcBef>
                <a:spcPts val="450"/>
              </a:spcBef>
              <a:buNone/>
            </a:pPr>
            <a:endParaRPr sz="1985" spc="-10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88290" indent="-175895" algn="l">
              <a:lnSpc>
                <a:spcPct val="108000"/>
              </a:lnSpc>
              <a:spcBef>
                <a:spcPts val="450"/>
              </a:spcBef>
              <a:buNone/>
              <a:defRPr sz="1575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spc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Part III Convolutional Neural Networks (CNNs)</a:t>
            </a:r>
            <a:endParaRPr sz="1985" spc="0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88290" indent="-175895" algn="l">
              <a:lnSpc>
                <a:spcPct val="108000"/>
              </a:lnSpc>
              <a:spcBef>
                <a:spcPts val="450"/>
              </a:spcBef>
              <a:buNone/>
            </a:pPr>
            <a:endParaRPr sz="1985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87655" indent="-182245" algn="l">
              <a:lnSpc>
                <a:spcPct val="107000"/>
              </a:lnSpc>
              <a:spcBef>
                <a:spcPts val="1285"/>
              </a:spcBef>
              <a:buNone/>
              <a:defRPr sz="1575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spc="-1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Part IV  Transformers and architecture comparison</a:t>
            </a:r>
            <a:endParaRPr sz="1985" spc="-10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2" name="textbox 42"/>
          <p:cNvSpPr>
            <a:spLocks noGrp="1"/>
          </p:cNvSpPr>
          <p:nvPr/>
        </p:nvSpPr>
        <p:spPr>
          <a:xfrm>
            <a:off x="604518" y="236288"/>
            <a:ext cx="7939250" cy="58599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vert="horz" wrap="square" lIns="0" tIns="0" rIns="0" bIns="0"/>
          <a:lstStyle/>
          <a:p>
            <a:pPr algn="l">
              <a:lnSpc>
                <a:spcPct val="80000"/>
              </a:lnSpc>
              <a:buNone/>
              <a:defRPr sz="2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Roadmap</a:t>
            </a:r>
            <a:endParaRPr sz="20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4" name="path 44"/>
          <p:cNvSpPr>
            <a:spLocks noGrp="1"/>
          </p:cNvSpPr>
          <p:nvPr/>
        </p:nvSpPr>
        <p:spPr>
          <a:xfrm>
            <a:off x="0" y="661301"/>
            <a:ext cx="9144881" cy="25103"/>
          </a:xfrm>
          <a:custGeom>
            <a:avLst/>
            <a:gdLst/>
            <a:ahLst/>
            <a:cxnLst/>
            <a:rect l="0" t="0" r="0" b="0"/>
            <a:pathLst>
              <a:path w="7256" h="19">
                <a:moveTo>
                  <a:pt x="0" y="9"/>
                </a:moveTo>
                <a:lnTo>
                  <a:pt x="7256" y="9"/>
                </a:lnTo>
              </a:path>
            </a:pathLst>
          </a:custGeom>
          <a:noFill/>
          <a:ln w="12649">
            <a:solidFill>
              <a:srgbClr val="000000"/>
            </a:solidFill>
            <a:prstDash val="solid"/>
          </a:ln>
        </p:spPr>
        <p:txBody>
          <a:bodyPr/>
          <a:lstStyle/>
          <a:p>
            <a:pPr algn="ctr">
              <a:buNone/>
            </a:pPr>
            <a:endParaRPr sz="3570"/>
          </a:p>
        </p:txBody>
      </p:sp>
      <p:sp>
        <p:nvSpPr>
          <p:cNvPr id="46" name="path 46"/>
          <p:cNvSpPr>
            <a:spLocks noGrp="1"/>
          </p:cNvSpPr>
          <p:nvPr/>
        </p:nvSpPr>
        <p:spPr>
          <a:xfrm>
            <a:off x="0" y="6561349"/>
            <a:ext cx="9144881" cy="25103"/>
          </a:xfrm>
          <a:custGeom>
            <a:avLst/>
            <a:gdLst/>
            <a:ahLst/>
            <a:cxnLst/>
            <a:rect l="0" t="0" r="0" b="0"/>
            <a:pathLst>
              <a:path w="7256" h="19">
                <a:moveTo>
                  <a:pt x="0" y="9"/>
                </a:moveTo>
                <a:lnTo>
                  <a:pt x="7256" y="9"/>
                </a:lnTo>
              </a:path>
            </a:pathLst>
          </a:custGeom>
          <a:noFill/>
          <a:ln w="12649">
            <a:solidFill>
              <a:srgbClr val="000000"/>
            </a:solidFill>
            <a:prstDash val="solid"/>
          </a:ln>
        </p:spPr>
        <p:txBody>
          <a:bodyPr/>
          <a:lstStyle/>
          <a:p>
            <a:pPr algn="ctr">
              <a:buNone/>
            </a:pPr>
            <a:endParaRPr sz="3570"/>
          </a:p>
        </p:txBody>
      </p:sp>
      <p:sp>
        <p:nvSpPr>
          <p:cNvPr id="50" name="path 50"/>
          <p:cNvSpPr>
            <a:spLocks noGrp="1"/>
          </p:cNvSpPr>
          <p:nvPr/>
        </p:nvSpPr>
        <p:spPr>
          <a:xfrm>
            <a:off x="8515816" y="6586452"/>
            <a:ext cx="10030" cy="272203"/>
          </a:xfrm>
          <a:custGeom>
            <a:avLst/>
            <a:gdLst/>
            <a:ahLst/>
            <a:cxnLst/>
            <a:rect l="0" t="0" r="0" b="0"/>
            <a:pathLst>
              <a:path w="7" h="216">
                <a:moveTo>
                  <a:pt x="3" y="216"/>
                </a:moveTo>
                <a:lnTo>
                  <a:pt x="3" y="0"/>
                </a:lnTo>
              </a:path>
            </a:pathLst>
          </a:custGeom>
          <a:noFill/>
          <a:ln w="5054">
            <a:solidFill>
              <a:srgbClr val="000000"/>
            </a:solidFill>
            <a:prstDash val="solid"/>
          </a:ln>
        </p:spPr>
        <p:txBody>
          <a:bodyPr/>
          <a:lstStyle/>
          <a:p>
            <a:pPr algn="ctr">
              <a:buNone/>
            </a:pPr>
            <a:endParaRPr sz="357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Rectangle 6"/>
          <p:cNvSpPr>
            <a:spLocks noGrp="1"/>
          </p:cNvSpPr>
          <p:nvPr/>
        </p:nvSpPr>
        <p:spPr>
          <a:xfrm>
            <a:off x="523875" y="209550"/>
            <a:ext cx="809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40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40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Part II — Multilayer Perceptrons</a:t>
            </a:r>
            <a:endParaRPr sz="1950" b="1">
              <a:solidFill>
                <a:srgbClr val="111111"/>
              </a:solidFill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23875" y="647700"/>
            <a:ext cx="8096250" cy="1905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523875" y="6477000"/>
            <a:ext cx="8096250" cy="9525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5" name="Rectangle 4"/>
          <p:cNvSpPr>
            <a:spLocks noGrp="1"/>
          </p:cNvSpPr>
          <p:nvPr/>
        </p:nvSpPr>
        <p:spPr>
          <a:xfrm>
            <a:off x="904875" y="2381250"/>
            <a:ext cx="73342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What </a:t>
            </a:r>
            <a:r>
              <a:rPr lang="en-US"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is the simplest neuron-wise connection way</a:t>
            </a:r>
            <a:r>
              <a: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?</a:t>
            </a:r>
            <a:endParaRPr sz="2550" b="1">
              <a:solidFill>
                <a:srgbClr val="111111"/>
              </a:solidFill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3190875" y="3762375"/>
            <a:ext cx="2762250" cy="38100"/>
          </a:xfrm>
          <a:prstGeom prst="rect">
            <a:avLst/>
          </a:prstGeom>
          <a:solidFill>
            <a:srgbClr val="4378C4"/>
          </a:solidFill>
          <a:ln w="9525">
            <a:solidFill>
              <a:srgbClr val="4378C4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9" name="Rectangle 28"/>
          <p:cNvSpPr>
            <a:spLocks noGrp="1"/>
          </p:cNvSpPr>
          <p:nvPr/>
        </p:nvSpPr>
        <p:spPr>
          <a:xfrm>
            <a:off x="523875" y="209550"/>
            <a:ext cx="809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40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40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MLP Input Process</a:t>
            </a:r>
            <a:r>
              <a:rPr lang="en-US" sz="240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Overview</a:t>
            </a:r>
            <a:endParaRPr lang="en-US" sz="2400" b="1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2" name="Picture 1" descr="ChatGPT Image Sep 21, 2026, 10_14_46 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696085"/>
            <a:ext cx="9144000" cy="346519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" name="Rectangle 24"/>
          <p:cNvSpPr>
            <a:spLocks noGrp="1"/>
          </p:cNvSpPr>
          <p:nvPr/>
        </p:nvSpPr>
        <p:spPr>
          <a:xfrm>
            <a:off x="590550" y="190500"/>
            <a:ext cx="80010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4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4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How a Dense Layer Transforms Features</a:t>
            </a:r>
            <a:endParaRPr sz="2400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14350" y="781050"/>
            <a:ext cx="8115300" cy="28575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742950" y="971550"/>
            <a:ext cx="7715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 dense layer transforms each input feature vector into a new feature vector.</a:t>
            </a:r>
            <a:endParaRPr sz="1425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Rounded Rectangle 3"/>
          <p:cNvSpPr>
            <a:spLocks noGrp="1"/>
          </p:cNvSpPr>
          <p:nvPr/>
        </p:nvSpPr>
        <p:spPr>
          <a:xfrm>
            <a:off x="666750" y="2000250"/>
            <a:ext cx="1476375" cy="1219200"/>
          </a:xfrm>
          <a:prstGeom prst="roundRect">
            <a:avLst>
              <a:gd name="adj" fmla="val 6250"/>
            </a:avLst>
          </a:prstGeom>
          <a:solidFill>
            <a:srgbClr val="EEF4FC"/>
          </a:solidFill>
          <a:ln w="11430">
            <a:solidFill>
              <a:srgbClr val="3978C9"/>
            </a:solidFill>
          </a:ln>
        </p:spPr>
        <p:txBody>
          <a:bodyPr anchor="ctr">
            <a:noAutofit/>
          </a:bodyPr>
          <a:lstStyle/>
          <a:p>
            <a:pPr algn="ctr">
              <a:defRPr sz="1725" b="1">
                <a:solidFill>
                  <a:srgbClr val="1A4F8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725" b="1">
                <a:solidFill>
                  <a:srgbClr val="1A4F8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Input features</a:t>
            </a:r>
            <a:endParaRPr sz="1725" b="1">
              <a:solidFill>
                <a:srgbClr val="1A4F8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endParaRPr sz="1725"/>
          </a:p>
          <a:p>
            <a:pPr algn="ctr">
              <a:defRPr sz="1725" b="1">
                <a:solidFill>
                  <a:srgbClr val="1A4F8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725" b="1">
                <a:solidFill>
                  <a:srgbClr val="1A4F8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x</a:t>
            </a:r>
            <a:endParaRPr sz="1725" b="1">
              <a:solidFill>
                <a:srgbClr val="1A4F8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Right Arrow 4"/>
          <p:cNvSpPr>
            <a:spLocks noGrp="1"/>
          </p:cNvSpPr>
          <p:nvPr/>
        </p:nvSpPr>
        <p:spPr>
          <a:xfrm>
            <a:off x="2305050" y="2495550"/>
            <a:ext cx="419100" cy="238125"/>
          </a:xfrm>
          <a:prstGeom prst="rightArrow">
            <a:avLst/>
          </a:prstGeom>
          <a:solidFill>
            <a:srgbClr val="666666"/>
          </a:solidFill>
          <a:ln w="0">
            <a:solidFill>
              <a:srgbClr val="666666"/>
            </a:solidFill>
          </a:ln>
        </p:spPr>
      </p:sp>
      <p:sp>
        <p:nvSpPr>
          <p:cNvPr id="6" name="Rounded Rectangle 5"/>
          <p:cNvSpPr>
            <a:spLocks noGrp="1"/>
          </p:cNvSpPr>
          <p:nvPr/>
        </p:nvSpPr>
        <p:spPr>
          <a:xfrm>
            <a:off x="2857500" y="2000250"/>
            <a:ext cx="1714500" cy="1219200"/>
          </a:xfrm>
          <a:prstGeom prst="roundRect">
            <a:avLst>
              <a:gd name="adj" fmla="val 6250"/>
            </a:avLst>
          </a:prstGeom>
          <a:solidFill>
            <a:srgbClr val="F7F7F7"/>
          </a:solidFill>
          <a:ln w="11430">
            <a:solidFill>
              <a:srgbClr val="666666"/>
            </a:solidFill>
          </a:ln>
        </p:spPr>
        <p:txBody>
          <a:bodyPr anchor="ctr">
            <a:noAutofit/>
          </a:bodyPr>
          <a:lstStyle/>
          <a:p>
            <a:pPr algn="ctr">
              <a:defRPr sz="165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65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Weighted sum</a:t>
            </a:r>
            <a:endParaRPr sz="1650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endParaRPr sz="1650"/>
          </a:p>
          <a:p>
            <a:pPr algn="ctr">
              <a:defRPr sz="165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65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z = xW + b</a:t>
            </a:r>
            <a:endParaRPr sz="1650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Right Arrow 6"/>
          <p:cNvSpPr>
            <a:spLocks noGrp="1"/>
          </p:cNvSpPr>
          <p:nvPr/>
        </p:nvSpPr>
        <p:spPr>
          <a:xfrm>
            <a:off x="4733925" y="2495550"/>
            <a:ext cx="419100" cy="238125"/>
          </a:xfrm>
          <a:prstGeom prst="rightArrow">
            <a:avLst/>
          </a:prstGeom>
          <a:solidFill>
            <a:srgbClr val="666666"/>
          </a:solidFill>
          <a:ln w="0">
            <a:solidFill>
              <a:srgbClr val="666666"/>
            </a:solidFill>
          </a:ln>
        </p:spPr>
      </p:sp>
      <p:sp>
        <p:nvSpPr>
          <p:cNvPr id="8" name="Rounded Rectangle 7"/>
          <p:cNvSpPr>
            <a:spLocks noGrp="1"/>
          </p:cNvSpPr>
          <p:nvPr/>
        </p:nvSpPr>
        <p:spPr>
          <a:xfrm>
            <a:off x="5286375" y="2000250"/>
            <a:ext cx="1524000" cy="1219200"/>
          </a:xfrm>
          <a:prstGeom prst="roundRect">
            <a:avLst>
              <a:gd name="adj" fmla="val 6250"/>
            </a:avLst>
          </a:prstGeom>
          <a:solidFill>
            <a:srgbClr val="EEF4FC"/>
          </a:solidFill>
          <a:ln w="11430">
            <a:solidFill>
              <a:srgbClr val="3978C9"/>
            </a:solidFill>
          </a:ln>
        </p:spPr>
        <p:txBody>
          <a:bodyPr anchor="ctr">
            <a:noAutofit/>
          </a:bodyPr>
          <a:lstStyle/>
          <a:p>
            <a:pPr algn="ctr">
              <a:defRPr sz="1650" b="1">
                <a:solidFill>
                  <a:srgbClr val="1A4F8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650" b="1">
                <a:solidFill>
                  <a:srgbClr val="1A4F8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Activation</a:t>
            </a:r>
            <a:endParaRPr sz="1650" b="1">
              <a:solidFill>
                <a:srgbClr val="1A4F8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endParaRPr sz="1650"/>
          </a:p>
          <a:p>
            <a:pPr algn="ctr">
              <a:defRPr sz="1650" b="1">
                <a:solidFill>
                  <a:srgbClr val="1A4F8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650" b="1">
                <a:solidFill>
                  <a:srgbClr val="1A4F8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h = φ(z)</a:t>
            </a:r>
            <a:endParaRPr sz="1650" b="1">
              <a:solidFill>
                <a:srgbClr val="1A4F8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Right Arrow 8"/>
          <p:cNvSpPr>
            <a:spLocks noGrp="1"/>
          </p:cNvSpPr>
          <p:nvPr/>
        </p:nvSpPr>
        <p:spPr>
          <a:xfrm>
            <a:off x="6972300" y="2495550"/>
            <a:ext cx="419100" cy="238125"/>
          </a:xfrm>
          <a:prstGeom prst="rightArrow">
            <a:avLst/>
          </a:prstGeom>
          <a:solidFill>
            <a:srgbClr val="666666"/>
          </a:solidFill>
          <a:ln w="0">
            <a:solidFill>
              <a:srgbClr val="666666"/>
            </a:solidFill>
          </a:ln>
        </p:spPr>
      </p:sp>
      <p:sp>
        <p:nvSpPr>
          <p:cNvPr id="10" name="Rounded Rectangle 9"/>
          <p:cNvSpPr>
            <a:spLocks noGrp="1"/>
          </p:cNvSpPr>
          <p:nvPr/>
        </p:nvSpPr>
        <p:spPr>
          <a:xfrm>
            <a:off x="7524750" y="2000250"/>
            <a:ext cx="1095375" cy="1219200"/>
          </a:xfrm>
          <a:prstGeom prst="roundRect">
            <a:avLst>
              <a:gd name="adj" fmla="val 6957"/>
            </a:avLst>
          </a:prstGeom>
          <a:solidFill>
            <a:srgbClr val="FFF3E4"/>
          </a:solidFill>
          <a:ln w="11430">
            <a:solidFill>
              <a:srgbClr val="E38A22"/>
            </a:solidFill>
          </a:ln>
        </p:spPr>
        <p:txBody>
          <a:bodyPr anchor="ctr">
            <a:noAutofit/>
          </a:bodyPr>
          <a:lstStyle/>
          <a:p>
            <a:pPr algn="ctr">
              <a:defRPr sz="1575" b="1">
                <a:solidFill>
                  <a:srgbClr val="9A551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>
                <a:solidFill>
                  <a:srgbClr val="9A551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Output features</a:t>
            </a:r>
            <a:endParaRPr sz="1575" b="1">
              <a:solidFill>
                <a:srgbClr val="9A551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endParaRPr sz="1575"/>
          </a:p>
          <a:p>
            <a:pPr algn="ctr">
              <a:defRPr sz="1575" b="1">
                <a:solidFill>
                  <a:srgbClr val="9A551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>
                <a:solidFill>
                  <a:srgbClr val="9A551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h</a:t>
            </a:r>
            <a:endParaRPr sz="1575" b="1">
              <a:solidFill>
                <a:srgbClr val="9A551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742950" y="33337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3978C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1">
                <a:solidFill>
                  <a:srgbClr val="3978C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[B, Dᵢ]</a:t>
            </a:r>
            <a:endParaRPr sz="1350" b="1">
              <a:solidFill>
                <a:srgbClr val="3978C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2800350" y="3333750"/>
            <a:ext cx="18288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75" b="0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0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Each output neuron uses</a:t>
            </a:r>
            <a:endParaRPr sz="1275" b="0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defRPr sz="1275" b="0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0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all input features.</a:t>
            </a:r>
            <a:endParaRPr sz="1275" b="0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5286375" y="3333750"/>
            <a:ext cx="15240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75" b="0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0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Adds nonlinearity</a:t>
            </a:r>
            <a:endParaRPr sz="1275" b="0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7448550" y="3333750"/>
            <a:ext cx="1238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E07B1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1">
                <a:solidFill>
                  <a:srgbClr val="E07B1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[B, Dₒᵤ]</a:t>
            </a:r>
            <a:endParaRPr sz="1350" b="1">
              <a:solidFill>
                <a:srgbClr val="E07B1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857250" y="4238625"/>
            <a:ext cx="7429500" cy="14288"/>
          </a:xfrm>
          <a:prstGeom prst="rect">
            <a:avLst/>
          </a:prstGeom>
          <a:solidFill>
            <a:srgbClr val="BBBBBB"/>
          </a:solidFill>
          <a:ln w="0">
            <a:solidFill>
              <a:srgbClr val="BBBBBB"/>
            </a:solidFill>
          </a:ln>
        </p:spPr>
      </p:sp>
      <p:sp>
        <p:nvSpPr>
          <p:cNvPr id="16" name="Rectangle 15"/>
          <p:cNvSpPr>
            <a:spLocks noGrp="1"/>
          </p:cNvSpPr>
          <p:nvPr/>
        </p:nvSpPr>
        <p:spPr>
          <a:xfrm>
            <a:off x="1028700" y="4495800"/>
            <a:ext cx="2000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1">
                <a:solidFill>
                  <a:srgbClr val="3978C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>
                <a:solidFill>
                  <a:srgbClr val="3978C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Fully connected</a:t>
            </a:r>
            <a:endParaRPr sz="1575" b="1">
              <a:solidFill>
                <a:srgbClr val="3978C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3143250" y="4457700"/>
            <a:ext cx="4762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1">
                <a:solidFill>
                  <a:srgbClr val="111111"/>
                </a:solidFill>
                <a:latin typeface="Arial" panose="020B0604020202090204" pitchFamily="34" charset="0"/>
                <a:ea typeface="Arial" panose="020B0604020202090204"/>
                <a:cs typeface="Arial" panose="020B0604020202090204" pitchFamily="34" charset="0"/>
              </a:rPr>
              <a:t>Every output</a:t>
            </a:r>
            <a:r>
              <a:rPr sz="1350" b="0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neuron receives information from </a:t>
            </a:r>
            <a:r>
              <a:rPr sz="1350" b="1">
                <a:solidFill>
                  <a:srgbClr val="111111"/>
                </a:solidFill>
                <a:latin typeface="Arial" panose="020B0604020202090204" pitchFamily="34" charset="0"/>
                <a:ea typeface="Arial" panose="020B0604020202090204"/>
                <a:cs typeface="Arial" panose="020B0604020202090204" pitchFamily="34" charset="0"/>
              </a:rPr>
              <a:t>every input feature</a:t>
            </a:r>
            <a:r>
              <a:rPr sz="1350" b="0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.</a:t>
            </a:r>
            <a:endParaRPr sz="1350" b="0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8" name="Rectangle 17"/>
          <p:cNvSpPr>
            <a:spLocks noGrp="1"/>
          </p:cNvSpPr>
          <p:nvPr/>
        </p:nvSpPr>
        <p:spPr>
          <a:xfrm>
            <a:off x="1028700" y="5000625"/>
            <a:ext cx="2000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1">
                <a:solidFill>
                  <a:srgbClr val="3978C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>
                <a:solidFill>
                  <a:srgbClr val="3978C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Learn</a:t>
            </a:r>
            <a:r>
              <a:rPr lang="en-US" sz="1575" b="1">
                <a:solidFill>
                  <a:srgbClr val="3978C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able</a:t>
            </a:r>
            <a:r>
              <a:rPr sz="1575" b="1">
                <a:solidFill>
                  <a:srgbClr val="3978C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parameters</a:t>
            </a:r>
            <a:endParaRPr sz="1575" b="1">
              <a:solidFill>
                <a:srgbClr val="3978C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3143250" y="4962525"/>
            <a:ext cx="4762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0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 contains the weights, and b contains the bias.</a:t>
            </a:r>
            <a:endParaRPr sz="1350" b="0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1028700" y="5648960"/>
            <a:ext cx="2000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1">
                <a:solidFill>
                  <a:srgbClr val="3978C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>
                <a:solidFill>
                  <a:srgbClr val="3978C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Tensor shape</a:t>
            </a:r>
            <a:endParaRPr sz="1575" b="1">
              <a:solidFill>
                <a:srgbClr val="3978C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1" name="Rectangle 20"/>
          <p:cNvSpPr>
            <a:spLocks noGrp="1"/>
          </p:cNvSpPr>
          <p:nvPr/>
        </p:nvSpPr>
        <p:spPr>
          <a:xfrm>
            <a:off x="3143250" y="5610860"/>
            <a:ext cx="4857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0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The batch size B stays the same. The feature dimension can change.</a:t>
            </a:r>
            <a:endParaRPr sz="1350" b="0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2" name="Rectangle 21"/>
          <p:cNvSpPr>
            <a:spLocks noGrp="1"/>
          </p:cNvSpPr>
          <p:nvPr/>
        </p:nvSpPr>
        <p:spPr>
          <a:xfrm>
            <a:off x="514350" y="6477000"/>
            <a:ext cx="8115300" cy="19050"/>
          </a:xfrm>
          <a:prstGeom prst="rect">
            <a:avLst/>
          </a:prstGeom>
          <a:solidFill>
            <a:srgbClr val="555555"/>
          </a:solidFill>
          <a:ln w="0">
            <a:solidFill>
              <a:srgbClr val="555555"/>
            </a:solidFill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Rectangle 9"/>
          <p:cNvSpPr>
            <a:spLocks noGrp="1"/>
          </p:cNvSpPr>
          <p:nvPr/>
        </p:nvSpPr>
        <p:spPr>
          <a:xfrm>
            <a:off x="523875" y="209550"/>
            <a:ext cx="809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40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40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Why Use Several Dense Layers?</a:t>
            </a:r>
            <a:endParaRPr sz="1950" b="1">
              <a:solidFill>
                <a:srgbClr val="111111"/>
              </a:solidFill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23875" y="647700"/>
            <a:ext cx="8096250" cy="1905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523875" y="6477000"/>
            <a:ext cx="8096250" cy="9525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5" name="Rectangle 4"/>
          <p:cNvSpPr>
            <a:spLocks noGrp="1"/>
          </p:cNvSpPr>
          <p:nvPr/>
        </p:nvSpPr>
        <p:spPr>
          <a:xfrm>
            <a:off x="579120" y="2421255"/>
            <a:ext cx="3714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lang="en-US" sz="15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 </a:t>
            </a:r>
            <a:r>
              <a:rPr lang="en-US" sz="1575">
                <a:solidFill>
                  <a:srgbClr val="000000"/>
                </a:solidFill>
                <a:latin typeface="Arial" panose="020B0604020202090204" pitchFamily="34" charset="0"/>
                <a:ea typeface="Arial" panose="020B0604020202090204"/>
                <a:cs typeface="Arial" panose="020B0604020202090204" pitchFamily="34" charset="0"/>
              </a:rPr>
              <a:t>Single </a:t>
            </a:r>
            <a:r>
              <a:rPr sz="1575">
                <a:solidFill>
                  <a:srgbClr val="000000"/>
                </a:solidFill>
                <a:latin typeface="Arial" panose="020B0604020202090204" pitchFamily="34" charset="0"/>
                <a:ea typeface="Arial" panose="020B0604020202090204"/>
                <a:cs typeface="Arial" panose="020B0604020202090204" pitchFamily="34" charset="0"/>
              </a:rPr>
              <a:t>Layer </a:t>
            </a:r>
            <a:r>
              <a:rPr sz="15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detects</a:t>
            </a:r>
            <a:r>
              <a:rPr sz="1575">
                <a:solidFill>
                  <a:srgbClr val="000000"/>
                </a:solidFill>
                <a:latin typeface="Arial" panose="020B0604020202090204" pitchFamily="34" charset="0"/>
                <a:ea typeface="Arial" panose="020B0604020202090204"/>
                <a:cs typeface="Arial" panose="020B0604020202090204" pitchFamily="34" charset="0"/>
              </a:rPr>
              <a:t> simple combinations</a:t>
            </a:r>
            <a:r>
              <a:rPr sz="15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of input features.</a:t>
            </a:r>
            <a:endParaRPr sz="2625" b="0">
              <a:solidFill>
                <a:srgbClr val="4378C4"/>
              </a:solidFill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4427855" y="2205355"/>
            <a:ext cx="4431665" cy="11626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lvl="0" algn="ctr">
              <a:buClrTx/>
              <a:buSzTx/>
              <a:buFontTx/>
              <a:def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lang="en-US">
                <a:latin typeface="Arial" panose="020B0604020202090204" pitchFamily="34" charset="0"/>
                <a:cs typeface="Arial" panose="020B0604020202090204" pitchFamily="34" charset="0"/>
                <a:sym typeface="+mn-ea"/>
              </a:rPr>
              <a:t>Multiple</a:t>
            </a:r>
            <a:r>
              <a:rPr>
                <a:latin typeface="Arial" panose="020B0604020202090204" pitchFamily="34" charset="0"/>
                <a:cs typeface="Arial" panose="020B0604020202090204" pitchFamily="34" charset="0"/>
                <a:sym typeface="+mn-ea"/>
              </a:rPr>
              <a:t> layers</a:t>
            </a:r>
            <a:r>
              <a:rPr b="0">
                <a:sym typeface="+mn-ea"/>
              </a:rPr>
              <a:t> combine those patterns into </a:t>
            </a:r>
            <a:r>
              <a:rPr>
                <a:latin typeface="Arial" panose="020B0604020202090204" pitchFamily="34" charset="0"/>
                <a:cs typeface="Arial" panose="020B0604020202090204" pitchFamily="34" charset="0"/>
                <a:sym typeface="+mn-ea"/>
              </a:rPr>
              <a:t>more useful</a:t>
            </a:r>
            <a:r>
              <a:rPr b="0">
                <a:sym typeface="+mn-ea"/>
              </a:rPr>
              <a:t> representations.</a:t>
            </a:r>
            <a:endParaRPr b="0">
              <a:sym typeface="+mn-ea"/>
            </a:endParaRPr>
          </a:p>
        </p:txBody>
      </p:sp>
      <p:sp>
        <p:nvSpPr>
          <p:cNvPr id="7" name="Rounded Rectangle 6"/>
          <p:cNvSpPr>
            <a:spLocks noGrp="1"/>
          </p:cNvSpPr>
          <p:nvPr/>
        </p:nvSpPr>
        <p:spPr>
          <a:xfrm>
            <a:off x="3131820" y="3861435"/>
            <a:ext cx="3048000" cy="1619250"/>
          </a:xfrm>
          <a:prstGeom prst="roundRect">
            <a:avLst>
              <a:gd name="adj" fmla="val 4706"/>
            </a:avLst>
          </a:prstGeom>
          <a:solidFill>
            <a:srgbClr val="FAFAFA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8" name="Rectangle 7"/>
          <p:cNvSpPr>
            <a:spLocks noGrp="1"/>
          </p:cNvSpPr>
          <p:nvPr/>
        </p:nvSpPr>
        <p:spPr>
          <a:xfrm>
            <a:off x="3347720" y="397764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Activation</a:t>
            </a:r>
            <a:endParaRPr sz="1500" b="1">
              <a:solidFill>
                <a:srgbClr val="111111"/>
              </a:solidFill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3347720" y="4293235"/>
            <a:ext cx="26670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adds nonlinear</a:t>
            </a:r>
            <a:r>
              <a:rPr lang="en-US" sz="15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modelling</a:t>
            </a:r>
            <a:r>
              <a:rPr sz="15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lang="en-US" sz="15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capability</a:t>
            </a:r>
            <a:endParaRPr lang="en-US" sz="1575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2792095" y="983615"/>
            <a:ext cx="333883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lang="en-US" sz="15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Patterns in data may be pretty </a:t>
            </a:r>
            <a:r>
              <a:rPr lang="en-US" sz="1575" b="1">
                <a:solidFill>
                  <a:srgbClr val="000000"/>
                </a:solidFill>
                <a:latin typeface="Arial" panose="020B0604020202090204" pitchFamily="34" charset="0"/>
                <a:ea typeface="Arial" panose="020B0604020202090204"/>
                <a:cs typeface="Arial" panose="020B0604020202090204" pitchFamily="34" charset="0"/>
              </a:rPr>
              <a:t>complicated </a:t>
            </a:r>
            <a:r>
              <a:rPr lang="en-US" sz="15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and </a:t>
            </a:r>
            <a:r>
              <a:rPr lang="en-US" sz="1575" b="1">
                <a:solidFill>
                  <a:srgbClr val="000000"/>
                </a:solidFill>
                <a:latin typeface="Arial" panose="020B0604020202090204" pitchFamily="34" charset="0"/>
                <a:ea typeface="Arial" panose="020B0604020202090204"/>
                <a:cs typeface="Arial" panose="020B0604020202090204" pitchFamily="34" charset="0"/>
              </a:rPr>
              <a:t>mixed </a:t>
            </a:r>
            <a:endParaRPr lang="en-US" sz="1575" b="1">
              <a:solidFill>
                <a:srgbClr val="000000"/>
              </a:solidFill>
              <a:latin typeface="Arial" panose="020B0604020202090204" pitchFamily="34" charset="0"/>
              <a:ea typeface="Arial" panose="020B0604020202090204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" name="Rectangle 30"/>
          <p:cNvSpPr>
            <a:spLocks noGrp="1"/>
          </p:cNvSpPr>
          <p:nvPr/>
        </p:nvSpPr>
        <p:spPr>
          <a:xfrm>
            <a:off x="590550" y="190500"/>
            <a:ext cx="80010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325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325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MLP Shape Example: Handwritten Digit Recognition</a:t>
            </a:r>
            <a:endParaRPr sz="2325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14350" y="781050"/>
            <a:ext cx="8115300" cy="28575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704850" y="914400"/>
            <a:ext cx="7810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 batch contains 32 grayscale images. Each image shows one handwritten digit from 0 to 9.</a:t>
            </a:r>
            <a:endParaRPr sz="1350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43188" y="1190625"/>
            <a:ext cx="3857625" cy="1285875"/>
          </a:xfrm>
          <a:prstGeom prst="rect">
            <a:avLst/>
          </a:prstGeom>
        </p:spPr>
      </p:pic>
      <p:sp>
        <p:nvSpPr>
          <p:cNvPr id="5" name="Rectangle 4"/>
          <p:cNvSpPr>
            <a:spLocks noGrp="1"/>
          </p:cNvSpPr>
          <p:nvPr/>
        </p:nvSpPr>
        <p:spPr>
          <a:xfrm>
            <a:off x="2905125" y="2381250"/>
            <a:ext cx="33337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125" b="0">
                <a:solidFill>
                  <a:srgbClr val="55555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25" b="0">
                <a:solidFill>
                  <a:srgbClr val="55555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Example images from the input batch</a:t>
            </a:r>
            <a:endParaRPr sz="1125" b="0">
              <a:solidFill>
                <a:srgbClr val="55555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Rounded Rectangle 5"/>
          <p:cNvSpPr>
            <a:spLocks noGrp="1"/>
          </p:cNvSpPr>
          <p:nvPr/>
        </p:nvSpPr>
        <p:spPr>
          <a:xfrm>
            <a:off x="438150" y="3000375"/>
            <a:ext cx="1285875" cy="1000125"/>
          </a:xfrm>
          <a:prstGeom prst="roundRect">
            <a:avLst>
              <a:gd name="adj" fmla="val 7619"/>
            </a:avLst>
          </a:prstGeom>
          <a:solidFill>
            <a:srgbClr val="EEF4FC"/>
          </a:solidFill>
          <a:ln w="10478">
            <a:solidFill>
              <a:srgbClr val="3978C9"/>
            </a:solidFill>
          </a:ln>
        </p:spPr>
        <p:txBody>
          <a:bodyPr anchor="ctr">
            <a:noAutofit/>
          </a:bodyPr>
          <a:lstStyle/>
          <a:p>
            <a:pPr algn="ctr">
              <a:defRPr sz="1275" b="1">
                <a:solidFill>
                  <a:srgbClr val="1A4F8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1">
                <a:solidFill>
                  <a:srgbClr val="1A4F8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Input batch</a:t>
            </a:r>
            <a:endParaRPr sz="1275" b="1">
              <a:solidFill>
                <a:srgbClr val="1A4F8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defRPr sz="1275" b="1">
                <a:solidFill>
                  <a:srgbClr val="1A4F8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1">
                <a:solidFill>
                  <a:srgbClr val="1A4F8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28 × 28 images</a:t>
            </a:r>
            <a:endParaRPr sz="1275" b="1">
              <a:solidFill>
                <a:srgbClr val="1A4F8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defRPr sz="1275" b="1">
                <a:solidFill>
                  <a:srgbClr val="1A4F8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1">
                <a:solidFill>
                  <a:srgbClr val="1A4F8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[32, 28, 28]</a:t>
            </a:r>
            <a:endParaRPr sz="1275" b="1">
              <a:solidFill>
                <a:srgbClr val="1A4F8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Right Arrow 6"/>
          <p:cNvSpPr>
            <a:spLocks noGrp="1"/>
          </p:cNvSpPr>
          <p:nvPr/>
        </p:nvSpPr>
        <p:spPr>
          <a:xfrm>
            <a:off x="1771650" y="3400425"/>
            <a:ext cx="219075" cy="190500"/>
          </a:xfrm>
          <a:prstGeom prst="rightArrow">
            <a:avLst/>
          </a:prstGeom>
          <a:solidFill>
            <a:srgbClr val="666666"/>
          </a:solidFill>
          <a:ln w="0">
            <a:solidFill>
              <a:srgbClr val="666666"/>
            </a:solidFill>
          </a:ln>
        </p:spPr>
      </p:sp>
      <p:sp>
        <p:nvSpPr>
          <p:cNvPr id="8" name="Rounded Rectangle 7"/>
          <p:cNvSpPr>
            <a:spLocks noGrp="1"/>
          </p:cNvSpPr>
          <p:nvPr/>
        </p:nvSpPr>
        <p:spPr>
          <a:xfrm>
            <a:off x="2047875" y="3000375"/>
            <a:ext cx="1190625" cy="1000125"/>
          </a:xfrm>
          <a:prstGeom prst="roundRect">
            <a:avLst>
              <a:gd name="adj" fmla="val 7619"/>
            </a:avLst>
          </a:prstGeom>
          <a:solidFill>
            <a:srgbClr val="F7F7F7"/>
          </a:solidFill>
          <a:ln w="10478">
            <a:solidFill>
              <a:srgbClr val="777777"/>
            </a:solidFill>
          </a:ln>
        </p:spPr>
        <p:txBody>
          <a:bodyPr anchor="ctr">
            <a:noAutofit/>
          </a:bodyPr>
          <a:lstStyle/>
          <a:p>
            <a:pPr algn="ctr">
              <a:defRPr sz="1275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Flatten</a:t>
            </a:r>
            <a:endParaRPr sz="1275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defRPr sz="1275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784 pixels</a:t>
            </a:r>
            <a:endParaRPr sz="1275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defRPr sz="1275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[32, 784]</a:t>
            </a:r>
            <a:endParaRPr sz="1275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Right Arrow 8"/>
          <p:cNvSpPr>
            <a:spLocks noGrp="1"/>
          </p:cNvSpPr>
          <p:nvPr/>
        </p:nvSpPr>
        <p:spPr>
          <a:xfrm>
            <a:off x="3286125" y="3400425"/>
            <a:ext cx="219075" cy="190500"/>
          </a:xfrm>
          <a:prstGeom prst="rightArrow">
            <a:avLst/>
          </a:prstGeom>
          <a:solidFill>
            <a:srgbClr val="666666"/>
          </a:solidFill>
          <a:ln w="0">
            <a:solidFill>
              <a:srgbClr val="666666"/>
            </a:solidFill>
          </a:ln>
        </p:spPr>
      </p:sp>
      <p:sp>
        <p:nvSpPr>
          <p:cNvPr id="10" name="Rounded Rectangle 9"/>
          <p:cNvSpPr>
            <a:spLocks noGrp="1"/>
          </p:cNvSpPr>
          <p:nvPr/>
        </p:nvSpPr>
        <p:spPr>
          <a:xfrm>
            <a:off x="3562350" y="3000375"/>
            <a:ext cx="1285875" cy="1000125"/>
          </a:xfrm>
          <a:prstGeom prst="roundRect">
            <a:avLst>
              <a:gd name="adj" fmla="val 7619"/>
            </a:avLst>
          </a:prstGeom>
          <a:solidFill>
            <a:srgbClr val="EEF4FC"/>
          </a:solidFill>
          <a:ln w="10478">
            <a:solidFill>
              <a:srgbClr val="3978C9"/>
            </a:solidFill>
          </a:ln>
        </p:spPr>
        <p:txBody>
          <a:bodyPr anchor="ctr">
            <a:noAutofit/>
          </a:bodyPr>
          <a:lstStyle/>
          <a:p>
            <a:pPr algn="ctr">
              <a:defRPr sz="1275" b="1">
                <a:solidFill>
                  <a:srgbClr val="1A4F8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1">
                <a:solidFill>
                  <a:srgbClr val="1A4F8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Hidden layer 1</a:t>
            </a:r>
            <a:endParaRPr sz="1275" b="1">
              <a:solidFill>
                <a:srgbClr val="1A4F8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defRPr sz="1275" b="1">
                <a:solidFill>
                  <a:srgbClr val="1A4F8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1">
                <a:solidFill>
                  <a:srgbClr val="1A4F8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512 features</a:t>
            </a:r>
            <a:endParaRPr sz="1275" b="1">
              <a:solidFill>
                <a:srgbClr val="1A4F8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defRPr sz="1275" b="1">
                <a:solidFill>
                  <a:srgbClr val="1A4F8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1">
                <a:solidFill>
                  <a:srgbClr val="1A4F8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[32, 512]</a:t>
            </a:r>
            <a:endParaRPr sz="1275" b="1">
              <a:solidFill>
                <a:srgbClr val="1A4F8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Right Arrow 10"/>
          <p:cNvSpPr>
            <a:spLocks noGrp="1"/>
          </p:cNvSpPr>
          <p:nvPr/>
        </p:nvSpPr>
        <p:spPr>
          <a:xfrm>
            <a:off x="4895850" y="3400425"/>
            <a:ext cx="219075" cy="190500"/>
          </a:xfrm>
          <a:prstGeom prst="rightArrow">
            <a:avLst/>
          </a:prstGeom>
          <a:solidFill>
            <a:srgbClr val="666666"/>
          </a:solidFill>
          <a:ln w="0">
            <a:solidFill>
              <a:srgbClr val="666666"/>
            </a:solidFill>
          </a:ln>
        </p:spPr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5172075" y="3000375"/>
            <a:ext cx="1285875" cy="1000125"/>
          </a:xfrm>
          <a:prstGeom prst="roundRect">
            <a:avLst>
              <a:gd name="adj" fmla="val 7619"/>
            </a:avLst>
          </a:prstGeom>
          <a:solidFill>
            <a:srgbClr val="EEF4FC"/>
          </a:solidFill>
          <a:ln w="10478">
            <a:solidFill>
              <a:srgbClr val="3978C9"/>
            </a:solidFill>
          </a:ln>
        </p:spPr>
        <p:txBody>
          <a:bodyPr anchor="ctr">
            <a:noAutofit/>
          </a:bodyPr>
          <a:lstStyle/>
          <a:p>
            <a:pPr algn="ctr">
              <a:defRPr sz="1275" b="1">
                <a:solidFill>
                  <a:srgbClr val="1A4F8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1">
                <a:solidFill>
                  <a:srgbClr val="1A4F8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Hidden layer 2</a:t>
            </a:r>
            <a:endParaRPr sz="1275" b="1">
              <a:solidFill>
                <a:srgbClr val="1A4F8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defRPr sz="1275" b="1">
                <a:solidFill>
                  <a:srgbClr val="1A4F8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1">
                <a:solidFill>
                  <a:srgbClr val="1A4F8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256 features</a:t>
            </a:r>
            <a:endParaRPr sz="1275" b="1">
              <a:solidFill>
                <a:srgbClr val="1A4F8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defRPr sz="1275" b="1">
                <a:solidFill>
                  <a:srgbClr val="1A4F8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1">
                <a:solidFill>
                  <a:srgbClr val="1A4F8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[32, 256]</a:t>
            </a:r>
            <a:endParaRPr sz="1275" b="1">
              <a:solidFill>
                <a:srgbClr val="1A4F8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Right Arrow 12"/>
          <p:cNvSpPr>
            <a:spLocks noGrp="1"/>
          </p:cNvSpPr>
          <p:nvPr/>
        </p:nvSpPr>
        <p:spPr>
          <a:xfrm>
            <a:off x="6505575" y="3400425"/>
            <a:ext cx="219075" cy="190500"/>
          </a:xfrm>
          <a:prstGeom prst="rightArrow">
            <a:avLst/>
          </a:prstGeom>
          <a:solidFill>
            <a:srgbClr val="666666"/>
          </a:solidFill>
          <a:ln w="0">
            <a:solidFill>
              <a:srgbClr val="666666"/>
            </a:solidFill>
          </a:ln>
        </p:spPr>
      </p:sp>
      <p:sp>
        <p:nvSpPr>
          <p:cNvPr id="14" name="Rounded Rectangle 13"/>
          <p:cNvSpPr>
            <a:spLocks noGrp="1"/>
          </p:cNvSpPr>
          <p:nvPr/>
        </p:nvSpPr>
        <p:spPr>
          <a:xfrm>
            <a:off x="6781800" y="3000375"/>
            <a:ext cx="1143000" cy="1000125"/>
          </a:xfrm>
          <a:prstGeom prst="roundRect">
            <a:avLst>
              <a:gd name="adj" fmla="val 7619"/>
            </a:avLst>
          </a:prstGeom>
          <a:solidFill>
            <a:srgbClr val="FFF3E4"/>
          </a:solidFill>
          <a:ln w="10478">
            <a:solidFill>
              <a:srgbClr val="E38A22"/>
            </a:solidFill>
          </a:ln>
        </p:spPr>
        <p:txBody>
          <a:bodyPr anchor="ctr">
            <a:noAutofit/>
          </a:bodyPr>
          <a:lstStyle/>
          <a:p>
            <a:pPr algn="ctr">
              <a:defRPr sz="1275" b="1">
                <a:solidFill>
                  <a:srgbClr val="9A551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1">
                <a:solidFill>
                  <a:srgbClr val="9A551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Class scores</a:t>
            </a:r>
            <a:endParaRPr sz="1275" b="1">
              <a:solidFill>
                <a:srgbClr val="9A551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defRPr sz="1275" b="1">
                <a:solidFill>
                  <a:srgbClr val="9A551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1">
                <a:solidFill>
                  <a:srgbClr val="9A551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10 digits</a:t>
            </a:r>
            <a:endParaRPr sz="1275" b="1">
              <a:solidFill>
                <a:srgbClr val="9A551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defRPr sz="1275" b="1">
                <a:solidFill>
                  <a:srgbClr val="9A551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1">
                <a:solidFill>
                  <a:srgbClr val="9A551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[32, 10]</a:t>
            </a:r>
            <a:endParaRPr sz="1275" b="1">
              <a:solidFill>
                <a:srgbClr val="9A551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" name="Right Arrow 14"/>
          <p:cNvSpPr>
            <a:spLocks noGrp="1"/>
          </p:cNvSpPr>
          <p:nvPr/>
        </p:nvSpPr>
        <p:spPr>
          <a:xfrm>
            <a:off x="7972425" y="3400425"/>
            <a:ext cx="219075" cy="190500"/>
          </a:xfrm>
          <a:prstGeom prst="rightArrow">
            <a:avLst/>
          </a:prstGeom>
          <a:solidFill>
            <a:srgbClr val="666666"/>
          </a:solidFill>
          <a:ln w="0">
            <a:solidFill>
              <a:srgbClr val="666666"/>
            </a:solidFill>
          </a:ln>
        </p:spPr>
      </p:sp>
      <p:sp>
        <p:nvSpPr>
          <p:cNvPr id="16" name="Rounded Rectangle 15"/>
          <p:cNvSpPr>
            <a:spLocks noGrp="1"/>
          </p:cNvSpPr>
          <p:nvPr/>
        </p:nvSpPr>
        <p:spPr>
          <a:xfrm>
            <a:off x="8239125" y="3095625"/>
            <a:ext cx="590550" cy="809625"/>
          </a:xfrm>
          <a:prstGeom prst="roundRect">
            <a:avLst>
              <a:gd name="adj" fmla="val 12903"/>
            </a:avLst>
          </a:prstGeom>
          <a:solidFill>
            <a:srgbClr val="FFF3E4"/>
          </a:solidFill>
          <a:ln w="10478">
            <a:solidFill>
              <a:srgbClr val="E38A22"/>
            </a:solidFill>
          </a:ln>
        </p:spPr>
        <p:txBody>
          <a:bodyPr anchor="ctr">
            <a:noAutofit/>
          </a:bodyPr>
          <a:lstStyle/>
          <a:p>
            <a:pPr algn="ctr">
              <a:defRPr sz="2250" b="1">
                <a:solidFill>
                  <a:srgbClr val="9A551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lang="en-US" sz="2250" b="1">
                <a:solidFill>
                  <a:srgbClr val="9A551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‘</a:t>
            </a:r>
            <a:r>
              <a:rPr sz="2250" b="1">
                <a:solidFill>
                  <a:srgbClr val="9A551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7</a:t>
            </a:r>
            <a:r>
              <a:rPr lang="en-US" sz="2250" b="1">
                <a:solidFill>
                  <a:srgbClr val="9A551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’</a:t>
            </a:r>
            <a:endParaRPr lang="en-US" sz="2250" b="1">
              <a:solidFill>
                <a:srgbClr val="9A551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8001000" y="2571750"/>
            <a:ext cx="104775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125" b="1">
                <a:solidFill>
                  <a:srgbClr val="E07B1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25" b="1">
                <a:solidFill>
                  <a:srgbClr val="E07B1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Predicted</a:t>
            </a:r>
            <a:endParaRPr sz="1125" b="1">
              <a:solidFill>
                <a:srgbClr val="E07B1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defRPr sz="1125" b="1">
                <a:solidFill>
                  <a:srgbClr val="E07B1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25" b="1">
                <a:solidFill>
                  <a:srgbClr val="E07B1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digit</a:t>
            </a:r>
            <a:endParaRPr sz="1125" b="1">
              <a:solidFill>
                <a:srgbClr val="E07B1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8" name="Rectangle 17"/>
          <p:cNvSpPr>
            <a:spLocks noGrp="1"/>
          </p:cNvSpPr>
          <p:nvPr/>
        </p:nvSpPr>
        <p:spPr>
          <a:xfrm>
            <a:off x="809625" y="4619625"/>
            <a:ext cx="7524750" cy="14288"/>
          </a:xfrm>
          <a:prstGeom prst="rect">
            <a:avLst/>
          </a:prstGeom>
          <a:solidFill>
            <a:srgbClr val="BBBBBB"/>
          </a:solidFill>
          <a:ln w="0">
            <a:solidFill>
              <a:srgbClr val="BBBBBB"/>
            </a:solidFill>
          </a:ln>
        </p:spPr>
      </p:sp>
      <p:sp>
        <p:nvSpPr>
          <p:cNvPr id="19" name="Rectangle 18"/>
          <p:cNvSpPr>
            <a:spLocks noGrp="1"/>
          </p:cNvSpPr>
          <p:nvPr/>
        </p:nvSpPr>
        <p:spPr>
          <a:xfrm>
            <a:off x="1066800" y="483870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650" b="1">
                <a:solidFill>
                  <a:srgbClr val="3978C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650" b="1">
                <a:solidFill>
                  <a:srgbClr val="3978C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32</a:t>
            </a:r>
            <a:endParaRPr sz="1650" b="1">
              <a:solidFill>
                <a:srgbClr val="3978C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1809750" y="4791075"/>
            <a:ext cx="2476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0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0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images processed together in one batch</a:t>
            </a:r>
            <a:endParaRPr sz="1275" b="0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1" name="Rectangle 20"/>
          <p:cNvSpPr>
            <a:spLocks noGrp="1"/>
          </p:cNvSpPr>
          <p:nvPr/>
        </p:nvSpPr>
        <p:spPr>
          <a:xfrm>
            <a:off x="4667250" y="483870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650" b="1">
                <a:solidFill>
                  <a:srgbClr val="3978C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650" b="1">
                <a:solidFill>
                  <a:srgbClr val="3978C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784</a:t>
            </a:r>
            <a:endParaRPr sz="1650" b="1">
              <a:solidFill>
                <a:srgbClr val="3978C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2" name="Rectangle 21"/>
          <p:cNvSpPr>
            <a:spLocks noGrp="1"/>
          </p:cNvSpPr>
          <p:nvPr/>
        </p:nvSpPr>
        <p:spPr>
          <a:xfrm>
            <a:off x="5410200" y="4791075"/>
            <a:ext cx="242887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0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0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28 × 28 pixels after flattening</a:t>
            </a:r>
            <a:endParaRPr sz="1275" b="0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3" name="Rectangle 22"/>
          <p:cNvSpPr>
            <a:spLocks noGrp="1"/>
          </p:cNvSpPr>
          <p:nvPr/>
        </p:nvSpPr>
        <p:spPr>
          <a:xfrm>
            <a:off x="1066800" y="5381625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650" b="1">
                <a:solidFill>
                  <a:srgbClr val="E07B1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650" b="1">
                <a:solidFill>
                  <a:srgbClr val="E07B1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10</a:t>
            </a:r>
            <a:endParaRPr sz="1650" b="1">
              <a:solidFill>
                <a:srgbClr val="E07B1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4" name="Rectangle 23"/>
          <p:cNvSpPr>
            <a:spLocks noGrp="1"/>
          </p:cNvSpPr>
          <p:nvPr/>
        </p:nvSpPr>
        <p:spPr>
          <a:xfrm>
            <a:off x="1809750" y="5334000"/>
            <a:ext cx="2857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0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0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one score for each class: digits 0–9</a:t>
            </a:r>
            <a:endParaRPr sz="1275" b="0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5" name="Rectangle 24"/>
          <p:cNvSpPr>
            <a:spLocks noGrp="1"/>
          </p:cNvSpPr>
          <p:nvPr/>
        </p:nvSpPr>
        <p:spPr>
          <a:xfrm>
            <a:off x="4552950" y="5381625"/>
            <a:ext cx="11239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500" b="1">
                <a:solidFill>
                  <a:srgbClr val="E07B1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E07B1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argmax</a:t>
            </a:r>
            <a:endParaRPr sz="1500" b="1">
              <a:solidFill>
                <a:srgbClr val="E07B1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6" name="Rectangle 25"/>
          <p:cNvSpPr>
            <a:spLocks noGrp="1"/>
          </p:cNvSpPr>
          <p:nvPr/>
        </p:nvSpPr>
        <p:spPr>
          <a:xfrm>
            <a:off x="5734050" y="5334000"/>
            <a:ext cx="2428875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0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0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selects the class with the highest score</a:t>
            </a:r>
            <a:endParaRPr sz="1275" b="0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7" name="Rectangle 26"/>
          <p:cNvSpPr>
            <a:spLocks noGrp="1"/>
          </p:cNvSpPr>
          <p:nvPr/>
        </p:nvSpPr>
        <p:spPr>
          <a:xfrm>
            <a:off x="1143000" y="5953125"/>
            <a:ext cx="6858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Shape flow:  [32, 28, 28]   →   [32, 784]   →   [32, 512]   →   [32, 256]   →   [32, 10]</a:t>
            </a:r>
            <a:endParaRPr sz="1350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8" name="Rectangle 27"/>
          <p:cNvSpPr>
            <a:spLocks noGrp="1"/>
          </p:cNvSpPr>
          <p:nvPr/>
        </p:nvSpPr>
        <p:spPr>
          <a:xfrm>
            <a:off x="514350" y="6477000"/>
            <a:ext cx="8115300" cy="19050"/>
          </a:xfrm>
          <a:prstGeom prst="rect">
            <a:avLst/>
          </a:prstGeom>
          <a:solidFill>
            <a:srgbClr val="555555"/>
          </a:solidFill>
          <a:ln w="0">
            <a:solidFill>
              <a:srgbClr val="555555"/>
            </a:solidFill>
          </a:ln>
        </p:spPr>
      </p:sp>
      <p:sp>
        <p:nvSpPr>
          <p:cNvPr id="29" name="Rectangle 28"/>
          <p:cNvSpPr>
            <a:spLocks noGrp="1"/>
          </p:cNvSpPr>
          <p:nvPr/>
        </p:nvSpPr>
        <p:spPr>
          <a:xfrm>
            <a:off x="8496300" y="6496050"/>
            <a:ext cx="11430" cy="285750"/>
          </a:xfrm>
          <a:prstGeom prst="rect">
            <a:avLst/>
          </a:prstGeom>
          <a:solidFill>
            <a:srgbClr val="555555"/>
          </a:solidFill>
          <a:ln w="0">
            <a:solidFill>
              <a:srgbClr val="555555"/>
            </a:solidFill>
          </a:ln>
        </p:spPr>
      </p:sp>
      <p:sp>
        <p:nvSpPr>
          <p:cNvPr id="30" name="Rectangle 29"/>
          <p:cNvSpPr>
            <a:spLocks noGrp="1"/>
          </p:cNvSpPr>
          <p:nvPr/>
        </p:nvSpPr>
        <p:spPr>
          <a:xfrm>
            <a:off x="8543925" y="6515100"/>
            <a:ext cx="3238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00" b="0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</a:t>
            </a:r>
            <a:endParaRPr sz="900" b="0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" name="Rectangle 29"/>
          <p:cNvSpPr>
            <a:spLocks noGrp="1"/>
          </p:cNvSpPr>
          <p:nvPr/>
        </p:nvSpPr>
        <p:spPr>
          <a:xfrm>
            <a:off x="523875" y="209550"/>
            <a:ext cx="809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40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40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Counting MLP Parameters</a:t>
            </a:r>
            <a:endParaRPr sz="1950" b="1">
              <a:solidFill>
                <a:srgbClr val="111111"/>
              </a:solidFill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23875" y="647700"/>
            <a:ext cx="8096250" cy="1905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523875" y="6477000"/>
            <a:ext cx="8096250" cy="9525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5" name="Rectangle 4"/>
          <p:cNvSpPr>
            <a:spLocks noGrp="1"/>
          </p:cNvSpPr>
          <p:nvPr/>
        </p:nvSpPr>
        <p:spPr>
          <a:xfrm>
            <a:off x="1714500" y="1095375"/>
            <a:ext cx="2857500" cy="685800"/>
          </a:xfrm>
          <a:prstGeom prst="rect">
            <a:avLst/>
          </a:prstGeom>
          <a:solidFill>
            <a:srgbClr val="111111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1714500" y="1095375"/>
            <a:ext cx="2857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Layer</a:t>
            </a:r>
            <a:endParaRPr sz="1425" b="1">
              <a:solidFill>
                <a:srgbClr val="FFFFFF"/>
              </a:solidFill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4572000" y="1095375"/>
            <a:ext cx="2857500" cy="685800"/>
          </a:xfrm>
          <a:prstGeom prst="rect">
            <a:avLst/>
          </a:prstGeom>
          <a:solidFill>
            <a:srgbClr val="111111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8" name="Rectangle 7"/>
          <p:cNvSpPr>
            <a:spLocks noGrp="1"/>
          </p:cNvSpPr>
          <p:nvPr/>
        </p:nvSpPr>
        <p:spPr>
          <a:xfrm>
            <a:off x="4572000" y="1095375"/>
            <a:ext cx="2857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Parameters</a:t>
            </a:r>
            <a:endParaRPr sz="1425" b="1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1714500" y="1781175"/>
            <a:ext cx="28575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1714500" y="1781175"/>
            <a:ext cx="2857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lang="en-US" sz="15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L1: </a:t>
            </a:r>
            <a:r>
              <a:rPr sz="15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784 → 512</a:t>
            </a:r>
            <a:endParaRPr sz="1425" b="0">
              <a:solidFill>
                <a:srgbClr val="111111"/>
              </a:solidFill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4572000" y="1781175"/>
            <a:ext cx="28575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2" name="Rectangle 11"/>
          <p:cNvSpPr>
            <a:spLocks noGrp="1"/>
          </p:cNvSpPr>
          <p:nvPr/>
        </p:nvSpPr>
        <p:spPr>
          <a:xfrm>
            <a:off x="4572000" y="1781175"/>
            <a:ext cx="2857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401,920</a:t>
            </a:r>
            <a:endParaRPr sz="1425" b="0">
              <a:solidFill>
                <a:srgbClr val="111111"/>
              </a:solidFill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1714500" y="2466975"/>
            <a:ext cx="28575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1714500" y="2466975"/>
            <a:ext cx="2857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lang="en-US">
                <a:sym typeface="+mn-ea"/>
              </a:rPr>
              <a:t>L1: </a:t>
            </a:r>
            <a:r>
              <a:rPr sz="15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512 → 256</a:t>
            </a:r>
            <a:endParaRPr sz="1425" b="0">
              <a:solidFill>
                <a:srgbClr val="111111"/>
              </a:solidFill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4572000" y="2466975"/>
            <a:ext cx="28575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6" name="Rectangle 15"/>
          <p:cNvSpPr>
            <a:spLocks noGrp="1"/>
          </p:cNvSpPr>
          <p:nvPr/>
        </p:nvSpPr>
        <p:spPr>
          <a:xfrm>
            <a:off x="4572000" y="2466975"/>
            <a:ext cx="2857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131,328</a:t>
            </a:r>
            <a:endParaRPr sz="1425" b="0">
              <a:solidFill>
                <a:srgbClr val="111111"/>
              </a:solidFill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1714500" y="3152775"/>
            <a:ext cx="28575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1714500" y="3152775"/>
            <a:ext cx="2857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lang="en-US" sz="15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Logits Layer: </a:t>
            </a:r>
            <a:r>
              <a:rPr sz="15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256 → 10</a:t>
            </a:r>
            <a:endParaRPr sz="1425" b="0">
              <a:solidFill>
                <a:srgbClr val="111111"/>
              </a:solidFill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4572000" y="3152775"/>
            <a:ext cx="28575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20" name="Rectangle 19"/>
          <p:cNvSpPr>
            <a:spLocks noGrp="1"/>
          </p:cNvSpPr>
          <p:nvPr/>
        </p:nvSpPr>
        <p:spPr>
          <a:xfrm>
            <a:off x="4572000" y="3152775"/>
            <a:ext cx="2857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2,570</a:t>
            </a:r>
            <a:endParaRPr sz="1425" b="0">
              <a:solidFill>
                <a:srgbClr val="111111"/>
              </a:solidFill>
            </a:endParaRPr>
          </a:p>
        </p:txBody>
      </p:sp>
      <p:sp>
        <p:nvSpPr>
          <p:cNvPr id="21" name="Rectangle 20"/>
          <p:cNvSpPr>
            <a:spLocks noGrp="1"/>
          </p:cNvSpPr>
          <p:nvPr/>
        </p:nvSpPr>
        <p:spPr>
          <a:xfrm>
            <a:off x="1714500" y="3838575"/>
            <a:ext cx="28575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22" name="Rectangle 21"/>
          <p:cNvSpPr>
            <a:spLocks noGrp="1"/>
          </p:cNvSpPr>
          <p:nvPr/>
        </p:nvSpPr>
        <p:spPr>
          <a:xfrm>
            <a:off x="1714500" y="3838575"/>
            <a:ext cx="2857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Total</a:t>
            </a:r>
            <a:endParaRPr sz="1425" b="0">
              <a:solidFill>
                <a:srgbClr val="111111"/>
              </a:solidFill>
            </a:endParaRPr>
          </a:p>
        </p:txBody>
      </p:sp>
      <p:sp>
        <p:nvSpPr>
          <p:cNvPr id="23" name="Rectangle 22"/>
          <p:cNvSpPr>
            <a:spLocks noGrp="1"/>
          </p:cNvSpPr>
          <p:nvPr/>
        </p:nvSpPr>
        <p:spPr>
          <a:xfrm>
            <a:off x="4572000" y="3838575"/>
            <a:ext cx="28575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24" name="Rectangle 23"/>
          <p:cNvSpPr>
            <a:spLocks noGrp="1"/>
          </p:cNvSpPr>
          <p:nvPr/>
        </p:nvSpPr>
        <p:spPr>
          <a:xfrm>
            <a:off x="4572000" y="3838575"/>
            <a:ext cx="2857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535,818</a:t>
            </a:r>
            <a:endParaRPr sz="1425" b="0">
              <a:solidFill>
                <a:srgbClr val="111111"/>
              </a:solidFill>
            </a:endParaRPr>
          </a:p>
        </p:txBody>
      </p:sp>
      <p:sp>
        <p:nvSpPr>
          <p:cNvPr id="26" name="Rectangle 25"/>
          <p:cNvSpPr>
            <a:spLocks noGrp="1"/>
          </p:cNvSpPr>
          <p:nvPr/>
        </p:nvSpPr>
        <p:spPr>
          <a:xfrm>
            <a:off x="1714500" y="4524375"/>
            <a:ext cx="5715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Dense layers scale with D_in × D_out.</a:t>
            </a:r>
            <a:endParaRPr sz="1425" b="0">
              <a:solidFill>
                <a:srgbClr val="11111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" name="Rectangle 17"/>
          <p:cNvSpPr>
            <a:spLocks noGrp="1"/>
          </p:cNvSpPr>
          <p:nvPr/>
        </p:nvSpPr>
        <p:spPr>
          <a:xfrm>
            <a:off x="523875" y="209550"/>
            <a:ext cx="809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40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40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Why Plain MLPs Struggle with Images</a:t>
            </a:r>
            <a:endParaRPr sz="1950" b="1">
              <a:solidFill>
                <a:srgbClr val="111111"/>
              </a:solidFill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23875" y="647700"/>
            <a:ext cx="8096250" cy="1905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523875" y="6477000"/>
            <a:ext cx="8096250" cy="9525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5" name="Rectangle 4"/>
          <p:cNvSpPr>
            <a:spLocks noGrp="1"/>
          </p:cNvSpPr>
          <p:nvPr/>
        </p:nvSpPr>
        <p:spPr>
          <a:xfrm>
            <a:off x="714375" y="1285875"/>
            <a:ext cx="209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Flatten image</a:t>
            </a:r>
            <a:endParaRPr sz="1500" b="1">
              <a:solidFill>
                <a:srgbClr val="111111"/>
              </a:solidFill>
            </a:endParaRPr>
          </a:p>
        </p:txBody>
      </p:sp>
      <p:sp>
        <p:nvSpPr>
          <p:cNvPr id="6" name="Rounded Rectangle 5"/>
          <p:cNvSpPr>
            <a:spLocks noGrp="1"/>
          </p:cNvSpPr>
          <p:nvPr/>
        </p:nvSpPr>
        <p:spPr>
          <a:xfrm>
            <a:off x="2905125" y="1285875"/>
            <a:ext cx="2286000" cy="495300"/>
          </a:xfrm>
          <a:prstGeom prst="roundRect">
            <a:avLst>
              <a:gd name="adj" fmla="val 15385"/>
            </a:avLst>
          </a:prstGeom>
          <a:solidFill>
            <a:srgbClr val="F2F2F2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3000375" y="1285875"/>
            <a:ext cx="2095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[B, H×W×C]</a:t>
            </a:r>
            <a:endParaRPr sz="1650" b="1">
              <a:solidFill>
                <a:srgbClr val="111111"/>
              </a:solidFill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5619750" y="1285875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>
                <a:solidFill>
                  <a:srgbClr val="000000"/>
                </a:solidFill>
                <a:latin typeface="Arial" panose="020B0604020202090204" pitchFamily="34" charset="0"/>
                <a:ea typeface="Arial" panose="020B0604020202090204"/>
                <a:cs typeface="Arial" panose="020B0604020202090204" pitchFamily="34" charset="0"/>
              </a:rPr>
              <a:t>Destroys </a:t>
            </a:r>
            <a:r>
              <a:rPr sz="15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explicit </a:t>
            </a:r>
            <a:r>
              <a:rPr sz="1575" b="1">
                <a:solidFill>
                  <a:srgbClr val="000000"/>
                </a:solidFill>
                <a:latin typeface="Arial" panose="020B0604020202090204" pitchFamily="34" charset="0"/>
                <a:ea typeface="Arial" panose="020B0604020202090204"/>
                <a:cs typeface="Arial" panose="020B0604020202090204" pitchFamily="34" charset="0"/>
              </a:rPr>
              <a:t>2D layout</a:t>
            </a:r>
            <a:endParaRPr sz="1575" b="1">
              <a:solidFill>
                <a:srgbClr val="000000"/>
              </a:solidFill>
              <a:latin typeface="Arial" panose="020B0604020202090204" pitchFamily="34" charset="0"/>
              <a:ea typeface="Arial" panose="020B0604020202090204"/>
              <a:cs typeface="Arial" panose="020B0604020202090204" pitchFamily="34" charset="0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714375" y="2667000"/>
            <a:ext cx="209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Dense connections</a:t>
            </a:r>
            <a:endParaRPr sz="1500" b="1">
              <a:solidFill>
                <a:srgbClr val="111111"/>
              </a:solidFill>
            </a:endParaRPr>
          </a:p>
        </p:txBody>
      </p:sp>
      <p:sp>
        <p:nvSpPr>
          <p:cNvPr id="10" name="Rounded Rectangle 9"/>
          <p:cNvSpPr>
            <a:spLocks noGrp="1"/>
          </p:cNvSpPr>
          <p:nvPr/>
        </p:nvSpPr>
        <p:spPr>
          <a:xfrm>
            <a:off x="2905125" y="2667000"/>
            <a:ext cx="2286000" cy="495300"/>
          </a:xfrm>
          <a:prstGeom prst="roundRect">
            <a:avLst>
              <a:gd name="adj" fmla="val 15385"/>
            </a:avLst>
          </a:prstGeom>
          <a:solidFill>
            <a:srgbClr val="EAF1FB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1" name="Rectangle 10"/>
          <p:cNvSpPr>
            <a:spLocks noGrp="1"/>
          </p:cNvSpPr>
          <p:nvPr/>
        </p:nvSpPr>
        <p:spPr>
          <a:xfrm>
            <a:off x="3000375" y="2667000"/>
            <a:ext cx="2095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Every pixel → every unit</a:t>
            </a:r>
            <a:endParaRPr sz="1650" b="1">
              <a:solidFill>
                <a:srgbClr val="111111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5619750" y="2667000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lang="en-US" sz="1575" b="1">
                <a:solidFill>
                  <a:srgbClr val="000000"/>
                </a:solidFill>
                <a:latin typeface="Arial" panose="020B0604020202090204" pitchFamily="34" charset="0"/>
                <a:ea typeface="Arial" panose="020B0604020202090204"/>
                <a:cs typeface="Arial" panose="020B0604020202090204" pitchFamily="34" charset="0"/>
              </a:rPr>
              <a:t>Too m</a:t>
            </a:r>
            <a:r>
              <a:rPr sz="1575" b="1">
                <a:solidFill>
                  <a:srgbClr val="000000"/>
                </a:solidFill>
                <a:latin typeface="Arial" panose="020B0604020202090204" pitchFamily="34" charset="0"/>
                <a:ea typeface="Arial" panose="020B0604020202090204"/>
                <a:cs typeface="Arial" panose="020B0604020202090204" pitchFamily="34" charset="0"/>
              </a:rPr>
              <a:t>any parameters</a:t>
            </a:r>
            <a:endParaRPr sz="1650" b="1">
              <a:solidFill>
                <a:srgbClr val="4378C4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714375" y="4048125"/>
            <a:ext cx="209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Fixed resolution</a:t>
            </a:r>
            <a:endParaRPr sz="1500" b="1">
              <a:solidFill>
                <a:srgbClr val="111111"/>
              </a:solidFill>
            </a:endParaRPr>
          </a:p>
        </p:txBody>
      </p:sp>
      <p:sp>
        <p:nvSpPr>
          <p:cNvPr id="14" name="Rounded Rectangle 13"/>
          <p:cNvSpPr>
            <a:spLocks noGrp="1"/>
          </p:cNvSpPr>
          <p:nvPr/>
        </p:nvSpPr>
        <p:spPr>
          <a:xfrm>
            <a:off x="2905125" y="4048125"/>
            <a:ext cx="2286000" cy="495300"/>
          </a:xfrm>
          <a:prstGeom prst="roundRect">
            <a:avLst>
              <a:gd name="adj" fmla="val 15385"/>
            </a:avLst>
          </a:prstGeom>
          <a:solidFill>
            <a:srgbClr val="F2F2F2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3000375" y="4048125"/>
            <a:ext cx="2095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Input length is fixed</a:t>
            </a:r>
            <a:endParaRPr sz="1650" b="1">
              <a:solidFill>
                <a:srgbClr val="111111"/>
              </a:solidFill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5619750" y="4048125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Hard to </a:t>
            </a:r>
            <a:r>
              <a:rPr sz="1575" b="1">
                <a:solidFill>
                  <a:srgbClr val="000000"/>
                </a:solidFill>
                <a:latin typeface="Arial" panose="020B0604020202090204" pitchFamily="34" charset="0"/>
                <a:ea typeface="Arial" panose="020B0604020202090204"/>
                <a:cs typeface="Arial" panose="020B0604020202090204" pitchFamily="34" charset="0"/>
              </a:rPr>
              <a:t>reuse</a:t>
            </a:r>
            <a:r>
              <a:rPr lang="en-US" sz="1575" b="1">
                <a:solidFill>
                  <a:srgbClr val="000000"/>
                </a:solidFill>
                <a:latin typeface="Arial" panose="020B0604020202090204" pitchFamily="34" charset="0"/>
                <a:ea typeface="Arial" panose="020B0604020202090204"/>
                <a:cs typeface="Arial" panose="020B0604020202090204" pitchFamily="34" charset="0"/>
              </a:rPr>
              <a:t> a model</a:t>
            </a:r>
            <a:r>
              <a:rPr sz="15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across sizes</a:t>
            </a:r>
            <a:endParaRPr sz="1650" b="0">
              <a:solidFill>
                <a:srgbClr val="4378C4"/>
              </a:solidFill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809625" y="5572125"/>
            <a:ext cx="7524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E2534A"/>
                </a:solidFill>
              </a:defRPr>
            </a:pPr>
            <a:endParaRPr sz="1500" b="1">
              <a:solidFill>
                <a:srgbClr val="E2534A"/>
              </a:solidFill>
            </a:endParaRPr>
          </a:p>
        </p:txBody>
      </p:sp>
      <p:sp>
        <p:nvSpPr>
          <p:cNvPr id="19" name="Down Arrow 18"/>
          <p:cNvSpPr>
            <a:spLocks noGrp="1"/>
          </p:cNvSpPr>
          <p:nvPr/>
        </p:nvSpPr>
        <p:spPr>
          <a:xfrm>
            <a:off x="3923665" y="1917065"/>
            <a:ext cx="360045" cy="648335"/>
          </a:xfrm>
          <a:prstGeom prst="downArrow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0" name="Down Arrow 19"/>
          <p:cNvSpPr>
            <a:spLocks noGrp="1"/>
          </p:cNvSpPr>
          <p:nvPr/>
        </p:nvSpPr>
        <p:spPr>
          <a:xfrm>
            <a:off x="3924300" y="3357245"/>
            <a:ext cx="360045" cy="648335"/>
          </a:xfrm>
          <a:prstGeom prst="downArrow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Rectangle 11"/>
          <p:cNvSpPr>
            <a:spLocks noGrp="1"/>
          </p:cNvSpPr>
          <p:nvPr/>
        </p:nvSpPr>
        <p:spPr>
          <a:xfrm>
            <a:off x="523875" y="209550"/>
            <a:ext cx="809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40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40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MLP: Strengths and Limitations</a:t>
            </a:r>
            <a:endParaRPr sz="1950" b="1">
              <a:solidFill>
                <a:srgbClr val="111111"/>
              </a:solidFill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23875" y="647700"/>
            <a:ext cx="8096250" cy="1905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523875" y="6477000"/>
            <a:ext cx="8096250" cy="9525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5" name="Rectangle 4"/>
          <p:cNvSpPr>
            <a:spLocks noGrp="1"/>
          </p:cNvSpPr>
          <p:nvPr/>
        </p:nvSpPr>
        <p:spPr>
          <a:xfrm>
            <a:off x="809625" y="1190625"/>
            <a:ext cx="2667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Strengths</a:t>
            </a:r>
            <a:endParaRPr sz="1800" b="1">
              <a:solidFill>
                <a:srgbClr val="111111"/>
              </a:solidFill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809625" y="1762125"/>
            <a:ext cx="3238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Simple and flexible</a:t>
            </a:r>
            <a:endParaRPr sz="1650" b="0">
              <a:solidFill>
                <a:srgbClr val="555555"/>
              </a:solidFill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809625" y="2476500"/>
            <a:ext cx="32385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50000"/>
              </a:lnSpc>
              <a:buNone/>
              <a:defRPr sz="15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Strong baseline for tabular data and compact vectors; </a:t>
            </a:r>
            <a:endParaRPr sz="1575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lnSpc>
                <a:spcPct val="150000"/>
              </a:lnSpc>
              <a:buNone/>
              <a:defRPr sz="15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easy to </a:t>
            </a:r>
            <a:r>
              <a:rPr sz="1575" b="1">
                <a:solidFill>
                  <a:srgbClr val="000000"/>
                </a:solidFill>
                <a:latin typeface="Arial" panose="020B0604020202090204" pitchFamily="34" charset="0"/>
                <a:ea typeface="Arial" panose="020B0604020202090204"/>
                <a:cs typeface="Arial" panose="020B0604020202090204" pitchFamily="34" charset="0"/>
              </a:rPr>
              <a:t>parallelize</a:t>
            </a:r>
            <a:r>
              <a:rPr lang="en-US" sz="1575" b="1">
                <a:solidFill>
                  <a:srgbClr val="000000"/>
                </a:solidFill>
                <a:latin typeface="Arial" panose="020B0604020202090204" pitchFamily="34" charset="0"/>
                <a:ea typeface="Arial" panose="020B0604020202090204"/>
                <a:cs typeface="Arial" panose="020B0604020202090204" pitchFamily="34" charset="0"/>
              </a:rPr>
              <a:t> for GPU computations</a:t>
            </a:r>
            <a:r>
              <a:rPr sz="1575" b="1">
                <a:solidFill>
                  <a:srgbClr val="000000"/>
                </a:solidFill>
                <a:latin typeface="Arial" panose="020B0604020202090204" pitchFamily="34" charset="0"/>
                <a:ea typeface="Arial" panose="020B0604020202090204"/>
                <a:cs typeface="Arial" panose="020B0604020202090204" pitchFamily="34" charset="0"/>
              </a:rPr>
              <a:t> and debug</a:t>
            </a:r>
            <a:r>
              <a:rPr sz="15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.</a:t>
            </a:r>
            <a:endParaRPr sz="1350" b="0">
              <a:solidFill>
                <a:srgbClr val="111111"/>
              </a:solidFill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4953000" y="1190625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Limitations</a:t>
            </a:r>
            <a:endParaRPr sz="1800" b="1">
              <a:solidFill>
                <a:srgbClr val="4378C4"/>
              </a:solidFill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4953000" y="1762125"/>
            <a:ext cx="3238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No </a:t>
            </a:r>
            <a:r>
              <a:rPr sz="1575" b="1">
                <a:solidFill>
                  <a:srgbClr val="000000"/>
                </a:solidFill>
                <a:latin typeface="Arial" panose="020B0604020202090204" pitchFamily="34" charset="0"/>
                <a:ea typeface="Arial" panose="020B0604020202090204"/>
                <a:cs typeface="Arial" panose="020B0604020202090204" pitchFamily="34" charset="0"/>
              </a:rPr>
              <a:t>locality </a:t>
            </a:r>
            <a:r>
              <a:rPr sz="15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or </a:t>
            </a:r>
            <a:r>
              <a:rPr sz="1575" b="1">
                <a:solidFill>
                  <a:srgbClr val="000000"/>
                </a:solidFill>
                <a:latin typeface="Arial" panose="020B0604020202090204" pitchFamily="34" charset="0"/>
                <a:ea typeface="Arial" panose="020B0604020202090204"/>
                <a:cs typeface="Arial" panose="020B0604020202090204" pitchFamily="34" charset="0"/>
              </a:rPr>
              <a:t>weight </a:t>
            </a:r>
            <a:r>
              <a:rPr sz="15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sharing</a:t>
            </a:r>
            <a:endParaRPr sz="1650" b="0">
              <a:solidFill>
                <a:srgbClr val="4378C4"/>
              </a:solidFill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4953000" y="2486025"/>
            <a:ext cx="3767455" cy="17767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50000"/>
              </a:lnSpc>
              <a:buNone/>
              <a:defRPr sz="15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Parameter count grows quickly; </a:t>
            </a:r>
            <a:endParaRPr sz="1575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lnSpc>
                <a:spcPct val="150000"/>
              </a:lnSpc>
              <a:buNone/>
              <a:defRPr sz="15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spatial and sequence </a:t>
            </a:r>
            <a:r>
              <a:rPr sz="1575" b="1">
                <a:solidFill>
                  <a:srgbClr val="000000"/>
                </a:solidFill>
                <a:latin typeface="Arial" panose="020B0604020202090204" pitchFamily="34" charset="0"/>
                <a:ea typeface="Arial" panose="020B0604020202090204"/>
                <a:cs typeface="Arial" panose="020B0604020202090204" pitchFamily="34" charset="0"/>
              </a:rPr>
              <a:t>structure </a:t>
            </a:r>
            <a:r>
              <a:rPr sz="15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are </a:t>
            </a:r>
            <a:r>
              <a:rPr sz="1575" b="1">
                <a:solidFill>
                  <a:srgbClr val="000000"/>
                </a:solidFill>
                <a:latin typeface="Arial" panose="020B0604020202090204" pitchFamily="34" charset="0"/>
                <a:ea typeface="Arial" panose="020B0604020202090204"/>
                <a:cs typeface="Arial" panose="020B0604020202090204" pitchFamily="34" charset="0"/>
              </a:rPr>
              <a:t>ignored</a:t>
            </a:r>
            <a:r>
              <a:rPr sz="15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.</a:t>
            </a:r>
            <a:endParaRPr sz="1350" b="0">
              <a:solidFill>
                <a:srgbClr val="111111"/>
              </a:solidFill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952500" y="5095875"/>
            <a:ext cx="7239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Use an MLP when the input is already a compact feature vector.</a:t>
            </a:r>
            <a:endParaRPr sz="1575" b="1">
              <a:solidFill>
                <a:srgbClr val="11111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" name="textbox 40"/>
          <p:cNvSpPr>
            <a:spLocks noGrp="1"/>
          </p:cNvSpPr>
          <p:nvPr/>
        </p:nvSpPr>
        <p:spPr>
          <a:xfrm>
            <a:off x="427963" y="982955"/>
            <a:ext cx="8443393" cy="540625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vert="horz" wrap="square" lIns="0" tIns="0" rIns="0" bIns="0"/>
          <a:lstStyle/>
          <a:p>
            <a:pPr marL="288290" indent="-175895" algn="l">
              <a:lnSpc>
                <a:spcPct val="108000"/>
              </a:lnSpc>
              <a:spcBef>
                <a:spcPts val="450"/>
              </a:spcBef>
              <a:buClrTx/>
              <a:buSzTx/>
              <a:buFontTx/>
              <a:buNone/>
              <a:defRPr sz="1575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 spc="-1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Part I   Neural-network foundations ✓</a:t>
            </a:r>
            <a:endParaRPr sz="1985" b="1" spc="-10">
              <a:solidFill>
                <a:schemeClr val="tx1">
                  <a:alpha val="100000"/>
                </a:scheme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lnSpc>
                <a:spcPct val="80000"/>
              </a:lnSpc>
              <a:buNone/>
            </a:pPr>
            <a:endParaRPr sz="1985" spc="-10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88290" indent="-175895" algn="l">
              <a:lnSpc>
                <a:spcPct val="108000"/>
              </a:lnSpc>
              <a:spcBef>
                <a:spcPts val="450"/>
              </a:spcBef>
              <a:buNone/>
              <a:defRPr sz="1575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 spc="-10">
                <a:solidFill>
                  <a:srgbClr val="000000"/>
                </a:solidFill>
                <a:latin typeface="Arial" panose="020B0604020202090204" pitchFamily="34" charset="0"/>
                <a:ea typeface="Arial" panose="020B0604020202090204"/>
                <a:cs typeface="Arial" panose="020B0604020202090204" pitchFamily="34" charset="0"/>
              </a:rPr>
              <a:t>Part II  Multilayer Perceptrons</a:t>
            </a:r>
            <a:r>
              <a:rPr sz="1575" spc="-1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✓</a:t>
            </a:r>
            <a:endParaRPr sz="1985" spc="-10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88290" indent="-175895" algn="l">
              <a:lnSpc>
                <a:spcPct val="108000"/>
              </a:lnSpc>
              <a:spcBef>
                <a:spcPts val="450"/>
              </a:spcBef>
              <a:buNone/>
            </a:pPr>
            <a:endParaRPr sz="1985" spc="-10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88290" indent="-175895" algn="l">
              <a:lnSpc>
                <a:spcPct val="108000"/>
              </a:lnSpc>
              <a:spcBef>
                <a:spcPts val="450"/>
              </a:spcBef>
              <a:buNone/>
              <a:defRPr sz="1575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spc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Part III Convolutional Neural Networks (CNNs)</a:t>
            </a:r>
            <a:endParaRPr sz="1985" spc="0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88290" indent="-175895" algn="l">
              <a:lnSpc>
                <a:spcPct val="108000"/>
              </a:lnSpc>
              <a:spcBef>
                <a:spcPts val="450"/>
              </a:spcBef>
              <a:buNone/>
            </a:pPr>
            <a:endParaRPr sz="1985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87655" indent="-182245" algn="l">
              <a:lnSpc>
                <a:spcPct val="107000"/>
              </a:lnSpc>
              <a:spcBef>
                <a:spcPts val="1285"/>
              </a:spcBef>
              <a:buNone/>
              <a:defRPr sz="1575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spc="-1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Part IV  Transformers and architecture comparison</a:t>
            </a:r>
            <a:endParaRPr sz="1985" spc="-10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2" name="textbox 42"/>
          <p:cNvSpPr>
            <a:spLocks noGrp="1"/>
          </p:cNvSpPr>
          <p:nvPr/>
        </p:nvSpPr>
        <p:spPr>
          <a:xfrm>
            <a:off x="604518" y="236288"/>
            <a:ext cx="7939250" cy="58599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vert="horz" wrap="square" lIns="0" tIns="0" rIns="0" bIns="0"/>
          <a:lstStyle/>
          <a:p>
            <a:pPr algn="l">
              <a:lnSpc>
                <a:spcPct val="80000"/>
              </a:lnSpc>
              <a:buNone/>
              <a:defRPr sz="2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Roadmap</a:t>
            </a:r>
            <a:endParaRPr sz="20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4" name="path 44"/>
          <p:cNvSpPr>
            <a:spLocks noGrp="1"/>
          </p:cNvSpPr>
          <p:nvPr/>
        </p:nvSpPr>
        <p:spPr>
          <a:xfrm>
            <a:off x="0" y="661301"/>
            <a:ext cx="9144881" cy="25103"/>
          </a:xfrm>
          <a:custGeom>
            <a:avLst/>
            <a:gdLst/>
            <a:ahLst/>
            <a:cxnLst/>
            <a:rect l="0" t="0" r="0" b="0"/>
            <a:pathLst>
              <a:path w="7256" h="19">
                <a:moveTo>
                  <a:pt x="0" y="9"/>
                </a:moveTo>
                <a:lnTo>
                  <a:pt x="7256" y="9"/>
                </a:lnTo>
              </a:path>
            </a:pathLst>
          </a:custGeom>
          <a:noFill/>
          <a:ln w="12649">
            <a:solidFill>
              <a:srgbClr val="000000"/>
            </a:solidFill>
            <a:prstDash val="solid"/>
          </a:ln>
        </p:spPr>
        <p:txBody>
          <a:bodyPr/>
          <a:lstStyle/>
          <a:p>
            <a:pPr algn="ctr">
              <a:buNone/>
            </a:pPr>
            <a:endParaRPr sz="3570"/>
          </a:p>
        </p:txBody>
      </p:sp>
      <p:sp>
        <p:nvSpPr>
          <p:cNvPr id="46" name="path 46"/>
          <p:cNvSpPr>
            <a:spLocks noGrp="1"/>
          </p:cNvSpPr>
          <p:nvPr/>
        </p:nvSpPr>
        <p:spPr>
          <a:xfrm>
            <a:off x="0" y="6561349"/>
            <a:ext cx="9144881" cy="25103"/>
          </a:xfrm>
          <a:custGeom>
            <a:avLst/>
            <a:gdLst/>
            <a:ahLst/>
            <a:cxnLst/>
            <a:rect l="0" t="0" r="0" b="0"/>
            <a:pathLst>
              <a:path w="7256" h="19">
                <a:moveTo>
                  <a:pt x="0" y="9"/>
                </a:moveTo>
                <a:lnTo>
                  <a:pt x="7256" y="9"/>
                </a:lnTo>
              </a:path>
            </a:pathLst>
          </a:custGeom>
          <a:noFill/>
          <a:ln w="12649">
            <a:solidFill>
              <a:srgbClr val="000000"/>
            </a:solidFill>
            <a:prstDash val="solid"/>
          </a:ln>
        </p:spPr>
        <p:txBody>
          <a:bodyPr/>
          <a:lstStyle/>
          <a:p>
            <a:pPr algn="ctr">
              <a:buNone/>
            </a:pPr>
            <a:endParaRPr sz="3570"/>
          </a:p>
        </p:txBody>
      </p:sp>
      <p:sp>
        <p:nvSpPr>
          <p:cNvPr id="50" name="path 50"/>
          <p:cNvSpPr>
            <a:spLocks noGrp="1"/>
          </p:cNvSpPr>
          <p:nvPr/>
        </p:nvSpPr>
        <p:spPr>
          <a:xfrm>
            <a:off x="8515816" y="6586452"/>
            <a:ext cx="10030" cy="272203"/>
          </a:xfrm>
          <a:custGeom>
            <a:avLst/>
            <a:gdLst/>
            <a:ahLst/>
            <a:cxnLst/>
            <a:rect l="0" t="0" r="0" b="0"/>
            <a:pathLst>
              <a:path w="7" h="216">
                <a:moveTo>
                  <a:pt x="3" y="216"/>
                </a:moveTo>
                <a:lnTo>
                  <a:pt x="3" y="0"/>
                </a:lnTo>
              </a:path>
            </a:pathLst>
          </a:custGeom>
          <a:noFill/>
          <a:ln w="5054">
            <a:solidFill>
              <a:srgbClr val="000000"/>
            </a:solidFill>
            <a:prstDash val="solid"/>
          </a:ln>
        </p:spPr>
        <p:txBody>
          <a:bodyPr/>
          <a:lstStyle/>
          <a:p>
            <a:pPr algn="ctr">
              <a:buNone/>
            </a:pPr>
            <a:endParaRPr sz="3570"/>
          </a:p>
        </p:txBody>
      </p:sp>
      <p:sp>
        <p:nvSpPr>
          <p:cNvPr id="51" name="Rectangle 50"/>
          <p:cNvSpPr>
            <a:spLocks noGrp="1"/>
          </p:cNvSpPr>
          <p:nvPr/>
        </p:nvSpPr>
        <p:spPr>
          <a:xfrm>
            <a:off x="6057900" y="4876800"/>
            <a:ext cx="381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2222"/>
          </a:bodyPr>
          <a:lstStyle/>
          <a:p>
            <a:pPr algn="ctr">
              <a:def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23</a:t>
            </a:r>
            <a:endParaRPr sz="9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Rectangle 6"/>
          <p:cNvSpPr>
            <a:spLocks noGrp="1"/>
          </p:cNvSpPr>
          <p:nvPr/>
        </p:nvSpPr>
        <p:spPr>
          <a:xfrm>
            <a:off x="523875" y="209550"/>
            <a:ext cx="809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40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40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Part III — Convolutional Neural Networks</a:t>
            </a:r>
            <a:endParaRPr sz="1950" b="1">
              <a:solidFill>
                <a:srgbClr val="111111"/>
              </a:solidFill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23875" y="647700"/>
            <a:ext cx="8096250" cy="1905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523875" y="6477000"/>
            <a:ext cx="8096250" cy="9525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5" name="Rectangle 4"/>
          <p:cNvSpPr>
            <a:spLocks noGrp="1"/>
          </p:cNvSpPr>
          <p:nvPr/>
        </p:nvSpPr>
        <p:spPr>
          <a:xfrm>
            <a:off x="904875" y="2381250"/>
            <a:ext cx="73342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How can </a:t>
            </a:r>
            <a:r>
              <a:rPr lang="en-US"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we</a:t>
            </a:r>
            <a:r>
              <a: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reuse the same local </a:t>
            </a:r>
            <a:r>
              <a:rPr lang="en-US"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pattern </a:t>
            </a:r>
            <a:r>
              <a: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detector</a:t>
            </a:r>
            <a:r>
              <a:rPr lang="en-US"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in</a:t>
            </a:r>
            <a:r>
              <a: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>
                <a:sym typeface="+mn-ea"/>
              </a:rPr>
              <a:t>a network</a:t>
            </a:r>
            <a:r>
              <a: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?</a:t>
            </a:r>
            <a:endParaRPr sz="2550" b="1">
              <a:solidFill>
                <a:srgbClr val="111111"/>
              </a:solidFill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3190875" y="3762375"/>
            <a:ext cx="2762250" cy="38100"/>
          </a:xfrm>
          <a:prstGeom prst="rect">
            <a:avLst/>
          </a:prstGeom>
          <a:solidFill>
            <a:srgbClr val="4378C4"/>
          </a:solidFill>
          <a:ln w="9525">
            <a:solidFill>
              <a:srgbClr val="4378C4"/>
            </a:solidFill>
            <a:prstDash val="solid"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" name="Rectangle 61"/>
          <p:cNvSpPr>
            <a:spLocks noGrp="1"/>
          </p:cNvSpPr>
          <p:nvPr/>
        </p:nvSpPr>
        <p:spPr>
          <a:xfrm>
            <a:off x="590550" y="238125"/>
            <a:ext cx="7953375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25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25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Convolutional Feature Extraction</a:t>
            </a:r>
            <a:r>
              <a:rPr lang="en-US" sz="225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Overview</a:t>
            </a:r>
            <a:endParaRPr lang="en-US" sz="2250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14350" y="781050"/>
            <a:ext cx="8115300" cy="28575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609600" y="914400"/>
            <a:ext cx="7810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Most of the model repeatedly applies convolution blocks to transform pixels into useful features.</a:t>
            </a:r>
            <a:endParaRPr sz="1350" b="1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65" name="Picture 6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90550" y="1685925"/>
            <a:ext cx="1000125" cy="1000125"/>
          </a:xfrm>
          <a:prstGeom prst="rect">
            <a:avLst/>
          </a:prstGeom>
        </p:spPr>
      </p:pic>
      <p:sp>
        <p:nvSpPr>
          <p:cNvPr id="5" name="Rectangle 4"/>
          <p:cNvSpPr>
            <a:spLocks noGrp="1"/>
          </p:cNvSpPr>
          <p:nvPr/>
        </p:nvSpPr>
        <p:spPr>
          <a:xfrm>
            <a:off x="514350" y="1381125"/>
            <a:ext cx="1076325" cy="26543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75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RGB</a:t>
            </a:r>
            <a:r>
              <a:rPr lang="en-US" sz="1275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I</a:t>
            </a:r>
            <a:r>
              <a:rPr sz="1275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mage</a:t>
            </a:r>
            <a:endParaRPr sz="1275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590550" y="2733675"/>
            <a:ext cx="1000125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125" b="0">
                <a:solidFill>
                  <a:srgbClr val="55555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25" b="0">
                <a:solidFill>
                  <a:srgbClr val="55555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[B, 3, H, W]</a:t>
            </a:r>
            <a:endParaRPr sz="1125" b="0">
              <a:solidFill>
                <a:srgbClr val="55555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Right Arrow 6"/>
          <p:cNvSpPr>
            <a:spLocks noGrp="1"/>
          </p:cNvSpPr>
          <p:nvPr/>
        </p:nvSpPr>
        <p:spPr>
          <a:xfrm>
            <a:off x="1685925" y="2076450"/>
            <a:ext cx="361950" cy="209550"/>
          </a:xfrm>
          <a:prstGeom prst="rightArrow">
            <a:avLst/>
          </a:prstGeom>
          <a:solidFill>
            <a:srgbClr val="4A78C2"/>
          </a:solidFill>
          <a:ln w="0">
            <a:solidFill>
              <a:srgbClr val="4A78C2"/>
            </a:solidFill>
          </a:ln>
        </p:spPr>
      </p:sp>
      <p:sp>
        <p:nvSpPr>
          <p:cNvPr id="8" name="Rounded Rectangle 7"/>
          <p:cNvSpPr>
            <a:spLocks noGrp="1"/>
          </p:cNvSpPr>
          <p:nvPr/>
        </p:nvSpPr>
        <p:spPr>
          <a:xfrm>
            <a:off x="2076450" y="1762125"/>
            <a:ext cx="1047750" cy="857250"/>
          </a:xfrm>
          <a:prstGeom prst="roundRect">
            <a:avLst>
              <a:gd name="adj" fmla="val 8889"/>
            </a:avLst>
          </a:prstGeom>
          <a:solidFill>
            <a:srgbClr val="F5F5F5"/>
          </a:solidFill>
          <a:ln w="11430">
            <a:solidFill>
              <a:srgbClr val="666666"/>
            </a:solidFill>
          </a:ln>
        </p:spPr>
        <p:txBody>
          <a:bodyPr anchor="ctr">
            <a:noAutofit/>
          </a:bodyPr>
          <a:lstStyle/>
          <a:p>
            <a:pPr algn="ctr">
              <a:defRPr sz="1275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Resize</a:t>
            </a:r>
            <a:endParaRPr sz="1275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defRPr sz="1275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+ Normalize</a:t>
            </a:r>
            <a:endParaRPr sz="1275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Right Arrow 8"/>
          <p:cNvSpPr>
            <a:spLocks noGrp="1"/>
          </p:cNvSpPr>
          <p:nvPr/>
        </p:nvSpPr>
        <p:spPr>
          <a:xfrm>
            <a:off x="3209925" y="2076450"/>
            <a:ext cx="361950" cy="209550"/>
          </a:xfrm>
          <a:prstGeom prst="rightArrow">
            <a:avLst/>
          </a:prstGeom>
          <a:solidFill>
            <a:srgbClr val="4A78C2"/>
          </a:solidFill>
          <a:ln w="0">
            <a:solidFill>
              <a:srgbClr val="4A78C2"/>
            </a:solidFill>
          </a:ln>
        </p:spPr>
      </p:sp>
      <p:sp>
        <p:nvSpPr>
          <p:cNvPr id="10" name="Rounded Rectangle 9"/>
          <p:cNvSpPr>
            <a:spLocks noGrp="1"/>
          </p:cNvSpPr>
          <p:nvPr/>
        </p:nvSpPr>
        <p:spPr>
          <a:xfrm>
            <a:off x="3629025" y="1323975"/>
            <a:ext cx="4096385" cy="2524125"/>
          </a:xfrm>
          <a:prstGeom prst="roundRect">
            <a:avLst>
              <a:gd name="adj" fmla="val 3019"/>
            </a:avLst>
          </a:prstGeom>
          <a:solidFill>
            <a:srgbClr val="F7FAFF"/>
          </a:solidFill>
          <a:ln w="11430">
            <a:solidFill>
              <a:srgbClr val="4A78C2"/>
            </a:solidFill>
          </a:ln>
        </p:spPr>
      </p:sp>
      <p:sp>
        <p:nvSpPr>
          <p:cNvPr id="11" name="Rectangle 10"/>
          <p:cNvSpPr>
            <a:spLocks noGrp="1"/>
          </p:cNvSpPr>
          <p:nvPr/>
        </p:nvSpPr>
        <p:spPr>
          <a:xfrm>
            <a:off x="3838575" y="1409700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2F68B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1">
                <a:solidFill>
                  <a:srgbClr val="2F68B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CONVOLUTIONAL FEATURE EXTRACTOR</a:t>
            </a:r>
            <a:endParaRPr sz="1350" b="1">
              <a:solidFill>
                <a:srgbClr val="2F68B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4057650" y="1962150"/>
            <a:ext cx="666750" cy="666750"/>
          </a:xfrm>
          <a:prstGeom prst="rect">
            <a:avLst/>
          </a:prstGeom>
          <a:solidFill>
            <a:srgbClr val="E2EFFC"/>
          </a:solidFill>
          <a:ln w="11430">
            <a:solidFill>
              <a:srgbClr val="2F75B5"/>
            </a:solidFill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3990975" y="2019300"/>
            <a:ext cx="666750" cy="666750"/>
          </a:xfrm>
          <a:prstGeom prst="rect">
            <a:avLst/>
          </a:prstGeom>
          <a:solidFill>
            <a:srgbClr val="E2EFFC"/>
          </a:solidFill>
          <a:ln w="11430">
            <a:solidFill>
              <a:srgbClr val="2F75B5"/>
            </a:solidFill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3924300" y="2076450"/>
            <a:ext cx="666750" cy="666750"/>
          </a:xfrm>
          <a:prstGeom prst="rect">
            <a:avLst/>
          </a:prstGeom>
          <a:solidFill>
            <a:srgbClr val="E2EFFC"/>
          </a:solidFill>
          <a:ln w="11430">
            <a:solidFill>
              <a:srgbClr val="2F75B5"/>
            </a:solidFill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3924300" y="2209800"/>
            <a:ext cx="666750" cy="6668"/>
          </a:xfrm>
          <a:prstGeom prst="rect">
            <a:avLst/>
          </a:prstGeom>
          <a:solidFill>
            <a:srgbClr val="8CB3E5"/>
          </a:solidFill>
          <a:ln w="0">
            <a:noFill/>
          </a:ln>
        </p:spPr>
      </p:sp>
      <p:sp>
        <p:nvSpPr>
          <p:cNvPr id="16" name="Rectangle 15"/>
          <p:cNvSpPr>
            <a:spLocks noGrp="1"/>
          </p:cNvSpPr>
          <p:nvPr/>
        </p:nvSpPr>
        <p:spPr>
          <a:xfrm>
            <a:off x="3924300" y="2343150"/>
            <a:ext cx="666750" cy="6668"/>
          </a:xfrm>
          <a:prstGeom prst="rect">
            <a:avLst/>
          </a:prstGeom>
          <a:solidFill>
            <a:srgbClr val="8CB3E5"/>
          </a:solidFill>
          <a:ln w="0">
            <a:noFill/>
          </a:ln>
        </p:spPr>
      </p:sp>
      <p:sp>
        <p:nvSpPr>
          <p:cNvPr id="17" name="Rectangle 16"/>
          <p:cNvSpPr>
            <a:spLocks noGrp="1"/>
          </p:cNvSpPr>
          <p:nvPr/>
        </p:nvSpPr>
        <p:spPr>
          <a:xfrm>
            <a:off x="3924300" y="2476500"/>
            <a:ext cx="666750" cy="6668"/>
          </a:xfrm>
          <a:prstGeom prst="rect">
            <a:avLst/>
          </a:prstGeom>
          <a:solidFill>
            <a:srgbClr val="8CB3E5"/>
          </a:solidFill>
          <a:ln w="0">
            <a:noFill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4057650" y="2076450"/>
            <a:ext cx="6668" cy="666750"/>
          </a:xfrm>
          <a:prstGeom prst="rect">
            <a:avLst/>
          </a:prstGeom>
          <a:solidFill>
            <a:srgbClr val="8CB3E5"/>
          </a:solidFill>
          <a:ln w="0">
            <a:noFill/>
          </a:ln>
        </p:spPr>
      </p:sp>
      <p:sp>
        <p:nvSpPr>
          <p:cNvPr id="19" name="Rectangle 18"/>
          <p:cNvSpPr>
            <a:spLocks noGrp="1"/>
          </p:cNvSpPr>
          <p:nvPr/>
        </p:nvSpPr>
        <p:spPr>
          <a:xfrm>
            <a:off x="4191000" y="2076450"/>
            <a:ext cx="6668" cy="666750"/>
          </a:xfrm>
          <a:prstGeom prst="rect">
            <a:avLst/>
          </a:prstGeom>
          <a:solidFill>
            <a:srgbClr val="8CB3E5"/>
          </a:solidFill>
          <a:ln w="0">
            <a:noFill/>
          </a:ln>
        </p:spPr>
      </p:sp>
      <p:sp>
        <p:nvSpPr>
          <p:cNvPr id="20" name="Rectangle 19"/>
          <p:cNvSpPr>
            <a:spLocks noGrp="1"/>
          </p:cNvSpPr>
          <p:nvPr/>
        </p:nvSpPr>
        <p:spPr>
          <a:xfrm>
            <a:off x="4324350" y="2076450"/>
            <a:ext cx="6668" cy="666750"/>
          </a:xfrm>
          <a:prstGeom prst="rect">
            <a:avLst/>
          </a:prstGeom>
          <a:solidFill>
            <a:srgbClr val="8CB3E5"/>
          </a:solidFill>
          <a:ln w="0">
            <a:noFill/>
          </a:ln>
        </p:spPr>
      </p:sp>
      <p:sp>
        <p:nvSpPr>
          <p:cNvPr id="21" name="Rectangle 20"/>
          <p:cNvSpPr>
            <a:spLocks noGrp="1"/>
          </p:cNvSpPr>
          <p:nvPr/>
        </p:nvSpPr>
        <p:spPr>
          <a:xfrm>
            <a:off x="5362575" y="1781175"/>
            <a:ext cx="781050" cy="781050"/>
          </a:xfrm>
          <a:prstGeom prst="rect">
            <a:avLst/>
          </a:prstGeom>
          <a:solidFill>
            <a:srgbClr val="CFE5FA"/>
          </a:solidFill>
          <a:ln w="11430">
            <a:solidFill>
              <a:srgbClr val="2F75B5"/>
            </a:solidFill>
          </a:ln>
        </p:spPr>
      </p:sp>
      <p:sp>
        <p:nvSpPr>
          <p:cNvPr id="22" name="Rectangle 21"/>
          <p:cNvSpPr>
            <a:spLocks noGrp="1"/>
          </p:cNvSpPr>
          <p:nvPr/>
        </p:nvSpPr>
        <p:spPr>
          <a:xfrm>
            <a:off x="5295900" y="1838325"/>
            <a:ext cx="781050" cy="781050"/>
          </a:xfrm>
          <a:prstGeom prst="rect">
            <a:avLst/>
          </a:prstGeom>
          <a:solidFill>
            <a:srgbClr val="CFE5FA"/>
          </a:solidFill>
          <a:ln w="11430">
            <a:solidFill>
              <a:srgbClr val="2F75B5"/>
            </a:solidFill>
          </a:ln>
        </p:spPr>
      </p:sp>
      <p:sp>
        <p:nvSpPr>
          <p:cNvPr id="23" name="Rectangle 22"/>
          <p:cNvSpPr>
            <a:spLocks noGrp="1"/>
          </p:cNvSpPr>
          <p:nvPr/>
        </p:nvSpPr>
        <p:spPr>
          <a:xfrm>
            <a:off x="5229225" y="1895475"/>
            <a:ext cx="781050" cy="781050"/>
          </a:xfrm>
          <a:prstGeom prst="rect">
            <a:avLst/>
          </a:prstGeom>
          <a:solidFill>
            <a:srgbClr val="CFE5FA"/>
          </a:solidFill>
          <a:ln w="11430">
            <a:solidFill>
              <a:srgbClr val="2F75B5"/>
            </a:solidFill>
          </a:ln>
        </p:spPr>
      </p:sp>
      <p:sp>
        <p:nvSpPr>
          <p:cNvPr id="24" name="Rectangle 23"/>
          <p:cNvSpPr>
            <a:spLocks noGrp="1"/>
          </p:cNvSpPr>
          <p:nvPr/>
        </p:nvSpPr>
        <p:spPr>
          <a:xfrm>
            <a:off x="5162550" y="1952625"/>
            <a:ext cx="781050" cy="781050"/>
          </a:xfrm>
          <a:prstGeom prst="rect">
            <a:avLst/>
          </a:prstGeom>
          <a:solidFill>
            <a:srgbClr val="CFE5FA"/>
          </a:solidFill>
          <a:ln w="11430">
            <a:solidFill>
              <a:srgbClr val="2F75B5"/>
            </a:solidFill>
          </a:ln>
        </p:spPr>
      </p:sp>
      <p:sp>
        <p:nvSpPr>
          <p:cNvPr id="25" name="Rectangle 24"/>
          <p:cNvSpPr>
            <a:spLocks noGrp="1"/>
          </p:cNvSpPr>
          <p:nvPr/>
        </p:nvSpPr>
        <p:spPr>
          <a:xfrm>
            <a:off x="5162550" y="2108835"/>
            <a:ext cx="781050" cy="6668"/>
          </a:xfrm>
          <a:prstGeom prst="rect">
            <a:avLst/>
          </a:prstGeom>
          <a:solidFill>
            <a:srgbClr val="8CB3E5"/>
          </a:solidFill>
          <a:ln w="0">
            <a:noFill/>
          </a:ln>
        </p:spPr>
      </p:sp>
      <p:sp>
        <p:nvSpPr>
          <p:cNvPr id="26" name="Rectangle 25"/>
          <p:cNvSpPr>
            <a:spLocks noGrp="1"/>
          </p:cNvSpPr>
          <p:nvPr/>
        </p:nvSpPr>
        <p:spPr>
          <a:xfrm>
            <a:off x="5162550" y="2265045"/>
            <a:ext cx="781050" cy="6668"/>
          </a:xfrm>
          <a:prstGeom prst="rect">
            <a:avLst/>
          </a:prstGeom>
          <a:solidFill>
            <a:srgbClr val="8CB3E5"/>
          </a:solidFill>
          <a:ln w="0">
            <a:noFill/>
          </a:ln>
        </p:spPr>
      </p:sp>
      <p:sp>
        <p:nvSpPr>
          <p:cNvPr id="27" name="Rectangle 26"/>
          <p:cNvSpPr>
            <a:spLocks noGrp="1"/>
          </p:cNvSpPr>
          <p:nvPr/>
        </p:nvSpPr>
        <p:spPr>
          <a:xfrm>
            <a:off x="5162550" y="2421255"/>
            <a:ext cx="781050" cy="6668"/>
          </a:xfrm>
          <a:prstGeom prst="rect">
            <a:avLst/>
          </a:prstGeom>
          <a:solidFill>
            <a:srgbClr val="8CB3E5"/>
          </a:solidFill>
          <a:ln w="0">
            <a:noFill/>
          </a:ln>
        </p:spPr>
      </p:sp>
      <p:sp>
        <p:nvSpPr>
          <p:cNvPr id="28" name="Rectangle 27"/>
          <p:cNvSpPr>
            <a:spLocks noGrp="1"/>
          </p:cNvSpPr>
          <p:nvPr/>
        </p:nvSpPr>
        <p:spPr>
          <a:xfrm>
            <a:off x="5318760" y="1952625"/>
            <a:ext cx="6668" cy="781050"/>
          </a:xfrm>
          <a:prstGeom prst="rect">
            <a:avLst/>
          </a:prstGeom>
          <a:solidFill>
            <a:srgbClr val="8CB3E5"/>
          </a:solidFill>
          <a:ln w="0">
            <a:noFill/>
          </a:ln>
        </p:spPr>
      </p:sp>
      <p:sp>
        <p:nvSpPr>
          <p:cNvPr id="29" name="Rectangle 28"/>
          <p:cNvSpPr>
            <a:spLocks noGrp="1"/>
          </p:cNvSpPr>
          <p:nvPr/>
        </p:nvSpPr>
        <p:spPr>
          <a:xfrm>
            <a:off x="5474970" y="1952625"/>
            <a:ext cx="6668" cy="781050"/>
          </a:xfrm>
          <a:prstGeom prst="rect">
            <a:avLst/>
          </a:prstGeom>
          <a:solidFill>
            <a:srgbClr val="8CB3E5"/>
          </a:solidFill>
          <a:ln w="0">
            <a:noFill/>
          </a:ln>
        </p:spPr>
      </p:sp>
      <p:sp>
        <p:nvSpPr>
          <p:cNvPr id="30" name="Rectangle 29"/>
          <p:cNvSpPr>
            <a:spLocks noGrp="1"/>
          </p:cNvSpPr>
          <p:nvPr/>
        </p:nvSpPr>
        <p:spPr>
          <a:xfrm>
            <a:off x="5631180" y="1952625"/>
            <a:ext cx="6668" cy="781050"/>
          </a:xfrm>
          <a:prstGeom prst="rect">
            <a:avLst/>
          </a:prstGeom>
          <a:solidFill>
            <a:srgbClr val="8CB3E5"/>
          </a:solidFill>
          <a:ln w="0">
            <a:noFill/>
          </a:ln>
        </p:spPr>
      </p:sp>
      <p:sp>
        <p:nvSpPr>
          <p:cNvPr id="31" name="Rectangle 30"/>
          <p:cNvSpPr>
            <a:spLocks noGrp="1"/>
          </p:cNvSpPr>
          <p:nvPr/>
        </p:nvSpPr>
        <p:spPr>
          <a:xfrm>
            <a:off x="6772275" y="1590675"/>
            <a:ext cx="904875" cy="904875"/>
          </a:xfrm>
          <a:prstGeom prst="rect">
            <a:avLst/>
          </a:prstGeom>
          <a:solidFill>
            <a:srgbClr val="B9D8F5"/>
          </a:solidFill>
          <a:ln w="11430">
            <a:solidFill>
              <a:srgbClr val="2F75B5"/>
            </a:solidFill>
          </a:ln>
        </p:spPr>
      </p:sp>
      <p:sp>
        <p:nvSpPr>
          <p:cNvPr id="32" name="Rectangle 31"/>
          <p:cNvSpPr>
            <a:spLocks noGrp="1"/>
          </p:cNvSpPr>
          <p:nvPr/>
        </p:nvSpPr>
        <p:spPr>
          <a:xfrm>
            <a:off x="6705600" y="1647825"/>
            <a:ext cx="904875" cy="904875"/>
          </a:xfrm>
          <a:prstGeom prst="rect">
            <a:avLst/>
          </a:prstGeom>
          <a:solidFill>
            <a:srgbClr val="B9D8F5"/>
          </a:solidFill>
          <a:ln w="11430">
            <a:solidFill>
              <a:srgbClr val="2F75B5"/>
            </a:solidFill>
          </a:ln>
        </p:spPr>
      </p:sp>
      <p:sp>
        <p:nvSpPr>
          <p:cNvPr id="33" name="Rectangle 32"/>
          <p:cNvSpPr>
            <a:spLocks noGrp="1"/>
          </p:cNvSpPr>
          <p:nvPr/>
        </p:nvSpPr>
        <p:spPr>
          <a:xfrm>
            <a:off x="6638925" y="1704975"/>
            <a:ext cx="904875" cy="904875"/>
          </a:xfrm>
          <a:prstGeom prst="rect">
            <a:avLst/>
          </a:prstGeom>
          <a:solidFill>
            <a:srgbClr val="B9D8F5"/>
          </a:solidFill>
          <a:ln w="11430">
            <a:solidFill>
              <a:srgbClr val="2F75B5"/>
            </a:solidFill>
          </a:ln>
        </p:spPr>
      </p:sp>
      <p:sp>
        <p:nvSpPr>
          <p:cNvPr id="34" name="Rectangle 33"/>
          <p:cNvSpPr>
            <a:spLocks noGrp="1"/>
          </p:cNvSpPr>
          <p:nvPr/>
        </p:nvSpPr>
        <p:spPr>
          <a:xfrm>
            <a:off x="6572250" y="1762125"/>
            <a:ext cx="904875" cy="904875"/>
          </a:xfrm>
          <a:prstGeom prst="rect">
            <a:avLst/>
          </a:prstGeom>
          <a:solidFill>
            <a:srgbClr val="B9D8F5"/>
          </a:solidFill>
          <a:ln w="11430">
            <a:solidFill>
              <a:srgbClr val="2F75B5"/>
            </a:solidFill>
          </a:ln>
        </p:spPr>
      </p:sp>
      <p:sp>
        <p:nvSpPr>
          <p:cNvPr id="35" name="Rectangle 34"/>
          <p:cNvSpPr>
            <a:spLocks noGrp="1"/>
          </p:cNvSpPr>
          <p:nvPr/>
        </p:nvSpPr>
        <p:spPr>
          <a:xfrm>
            <a:off x="6505575" y="1819275"/>
            <a:ext cx="904875" cy="904875"/>
          </a:xfrm>
          <a:prstGeom prst="rect">
            <a:avLst/>
          </a:prstGeom>
          <a:solidFill>
            <a:srgbClr val="B9D8F5"/>
          </a:solidFill>
          <a:ln w="11430">
            <a:solidFill>
              <a:srgbClr val="2F75B5"/>
            </a:solidFill>
          </a:ln>
        </p:spPr>
      </p:sp>
      <p:sp>
        <p:nvSpPr>
          <p:cNvPr id="36" name="Rectangle 35"/>
          <p:cNvSpPr>
            <a:spLocks noGrp="1"/>
          </p:cNvSpPr>
          <p:nvPr/>
        </p:nvSpPr>
        <p:spPr>
          <a:xfrm>
            <a:off x="6505575" y="1981200"/>
            <a:ext cx="904875" cy="6668"/>
          </a:xfrm>
          <a:prstGeom prst="rect">
            <a:avLst/>
          </a:prstGeom>
          <a:solidFill>
            <a:srgbClr val="8CB3E5"/>
          </a:solidFill>
          <a:ln w="0">
            <a:noFill/>
          </a:ln>
        </p:spPr>
      </p:sp>
      <p:sp>
        <p:nvSpPr>
          <p:cNvPr id="37" name="Rectangle 36"/>
          <p:cNvSpPr>
            <a:spLocks noGrp="1"/>
          </p:cNvSpPr>
          <p:nvPr/>
        </p:nvSpPr>
        <p:spPr>
          <a:xfrm>
            <a:off x="6505575" y="2143125"/>
            <a:ext cx="904875" cy="6668"/>
          </a:xfrm>
          <a:prstGeom prst="rect">
            <a:avLst/>
          </a:prstGeom>
          <a:solidFill>
            <a:srgbClr val="8CB3E5"/>
          </a:solidFill>
          <a:ln w="0">
            <a:noFill/>
          </a:ln>
        </p:spPr>
      </p:sp>
      <p:sp>
        <p:nvSpPr>
          <p:cNvPr id="38" name="Rectangle 37"/>
          <p:cNvSpPr>
            <a:spLocks noGrp="1"/>
          </p:cNvSpPr>
          <p:nvPr/>
        </p:nvSpPr>
        <p:spPr>
          <a:xfrm>
            <a:off x="6505575" y="2305050"/>
            <a:ext cx="904875" cy="6668"/>
          </a:xfrm>
          <a:prstGeom prst="rect">
            <a:avLst/>
          </a:prstGeom>
          <a:solidFill>
            <a:srgbClr val="8CB3E5"/>
          </a:solidFill>
          <a:ln w="0">
            <a:noFill/>
          </a:ln>
        </p:spPr>
      </p:sp>
      <p:sp>
        <p:nvSpPr>
          <p:cNvPr id="39" name="Rectangle 38"/>
          <p:cNvSpPr>
            <a:spLocks noGrp="1"/>
          </p:cNvSpPr>
          <p:nvPr/>
        </p:nvSpPr>
        <p:spPr>
          <a:xfrm>
            <a:off x="6667500" y="1819275"/>
            <a:ext cx="6668" cy="904875"/>
          </a:xfrm>
          <a:prstGeom prst="rect">
            <a:avLst/>
          </a:prstGeom>
          <a:solidFill>
            <a:srgbClr val="8CB3E5"/>
          </a:solidFill>
          <a:ln w="0">
            <a:noFill/>
          </a:ln>
        </p:spPr>
      </p:sp>
      <p:sp>
        <p:nvSpPr>
          <p:cNvPr id="40" name="Rectangle 39"/>
          <p:cNvSpPr>
            <a:spLocks noGrp="1"/>
          </p:cNvSpPr>
          <p:nvPr/>
        </p:nvSpPr>
        <p:spPr>
          <a:xfrm>
            <a:off x="6829425" y="1819275"/>
            <a:ext cx="6668" cy="904875"/>
          </a:xfrm>
          <a:prstGeom prst="rect">
            <a:avLst/>
          </a:prstGeom>
          <a:solidFill>
            <a:srgbClr val="8CB3E5"/>
          </a:solidFill>
          <a:ln w="0">
            <a:noFill/>
          </a:ln>
        </p:spPr>
      </p:sp>
      <p:sp>
        <p:nvSpPr>
          <p:cNvPr id="41" name="Rectangle 40"/>
          <p:cNvSpPr>
            <a:spLocks noGrp="1"/>
          </p:cNvSpPr>
          <p:nvPr/>
        </p:nvSpPr>
        <p:spPr>
          <a:xfrm>
            <a:off x="6991350" y="1819275"/>
            <a:ext cx="6668" cy="904875"/>
          </a:xfrm>
          <a:prstGeom prst="rect">
            <a:avLst/>
          </a:prstGeom>
          <a:solidFill>
            <a:srgbClr val="8CB3E5"/>
          </a:solidFill>
          <a:ln w="0">
            <a:noFill/>
          </a:ln>
        </p:spPr>
      </p:sp>
      <p:sp>
        <p:nvSpPr>
          <p:cNvPr id="42" name="Right Arrow 41"/>
          <p:cNvSpPr>
            <a:spLocks noGrp="1"/>
          </p:cNvSpPr>
          <p:nvPr/>
        </p:nvSpPr>
        <p:spPr>
          <a:xfrm>
            <a:off x="4686300" y="2219325"/>
            <a:ext cx="333375" cy="209550"/>
          </a:xfrm>
          <a:prstGeom prst="rightArrow">
            <a:avLst/>
          </a:prstGeom>
          <a:solidFill>
            <a:srgbClr val="4A78C2"/>
          </a:solidFill>
          <a:ln w="0">
            <a:solidFill>
              <a:srgbClr val="4A78C2"/>
            </a:solidFill>
          </a:ln>
        </p:spPr>
      </p:sp>
      <p:sp>
        <p:nvSpPr>
          <p:cNvPr id="43" name="Right Arrow 42"/>
          <p:cNvSpPr>
            <a:spLocks noGrp="1"/>
          </p:cNvSpPr>
          <p:nvPr/>
        </p:nvSpPr>
        <p:spPr>
          <a:xfrm>
            <a:off x="6067425" y="2219325"/>
            <a:ext cx="333375" cy="209550"/>
          </a:xfrm>
          <a:prstGeom prst="rightArrow">
            <a:avLst/>
          </a:prstGeom>
          <a:solidFill>
            <a:srgbClr val="4A78C2"/>
          </a:solidFill>
          <a:ln w="0">
            <a:solidFill>
              <a:srgbClr val="4A78C2"/>
            </a:solidFill>
          </a:ln>
        </p:spPr>
      </p:sp>
      <p:sp>
        <p:nvSpPr>
          <p:cNvPr id="44" name="Rectangle 43"/>
          <p:cNvSpPr>
            <a:spLocks noGrp="1"/>
          </p:cNvSpPr>
          <p:nvPr/>
        </p:nvSpPr>
        <p:spPr>
          <a:xfrm>
            <a:off x="3667125" y="2847975"/>
            <a:ext cx="1076325" cy="2108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Conv block 1</a:t>
            </a:r>
            <a:endParaRPr sz="1200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5" name="Rectangle 44"/>
          <p:cNvSpPr>
            <a:spLocks noGrp="1"/>
          </p:cNvSpPr>
          <p:nvPr/>
        </p:nvSpPr>
        <p:spPr>
          <a:xfrm>
            <a:off x="3779520" y="3081020"/>
            <a:ext cx="1000125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125" b="0">
                <a:solidFill>
                  <a:srgbClr val="55555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25" b="0">
                <a:solidFill>
                  <a:srgbClr val="FF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edges</a:t>
            </a:r>
            <a:endParaRPr sz="1125" b="0"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6" name="Rectangle 45"/>
          <p:cNvSpPr>
            <a:spLocks noGrp="1"/>
          </p:cNvSpPr>
          <p:nvPr/>
        </p:nvSpPr>
        <p:spPr>
          <a:xfrm>
            <a:off x="5038725" y="2847975"/>
            <a:ext cx="1095375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Conv block 2</a:t>
            </a:r>
            <a:endParaRPr sz="1200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7" name="Rectangle 46"/>
          <p:cNvSpPr>
            <a:spLocks noGrp="1"/>
          </p:cNvSpPr>
          <p:nvPr/>
        </p:nvSpPr>
        <p:spPr>
          <a:xfrm>
            <a:off x="4953000" y="3086100"/>
            <a:ext cx="1285875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125" b="0">
                <a:solidFill>
                  <a:srgbClr val="55555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25" b="0">
                <a:solidFill>
                  <a:srgbClr val="FF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textures + parts</a:t>
            </a:r>
            <a:endParaRPr sz="1125" b="0"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8" name="Rectangle 47"/>
          <p:cNvSpPr>
            <a:spLocks noGrp="1"/>
          </p:cNvSpPr>
          <p:nvPr/>
        </p:nvSpPr>
        <p:spPr>
          <a:xfrm>
            <a:off x="6410325" y="2847975"/>
            <a:ext cx="1095375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Conv block 3</a:t>
            </a:r>
            <a:endParaRPr sz="1200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9" name="Rectangle 48"/>
          <p:cNvSpPr>
            <a:spLocks noGrp="1"/>
          </p:cNvSpPr>
          <p:nvPr/>
        </p:nvSpPr>
        <p:spPr>
          <a:xfrm>
            <a:off x="6343650" y="3086100"/>
            <a:ext cx="12382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125" b="0">
                <a:solidFill>
                  <a:srgbClr val="55555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25" b="0">
                <a:solidFill>
                  <a:srgbClr val="FF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object features</a:t>
            </a:r>
            <a:endParaRPr sz="1125" b="0"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0" name="Rectangle 49"/>
          <p:cNvSpPr>
            <a:spLocks noGrp="1"/>
          </p:cNvSpPr>
          <p:nvPr/>
        </p:nvSpPr>
        <p:spPr>
          <a:xfrm>
            <a:off x="3905250" y="3476625"/>
            <a:ext cx="3286125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Each block contains convolution, activation, and often pooling.</a:t>
            </a:r>
            <a:endParaRPr sz="1200" b="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1" name="Right Arrow 50"/>
          <p:cNvSpPr>
            <a:spLocks noGrp="1"/>
          </p:cNvSpPr>
          <p:nvPr/>
        </p:nvSpPr>
        <p:spPr>
          <a:xfrm>
            <a:off x="7600950" y="2076450"/>
            <a:ext cx="323850" cy="209550"/>
          </a:xfrm>
          <a:prstGeom prst="rightArrow">
            <a:avLst/>
          </a:prstGeom>
          <a:solidFill>
            <a:srgbClr val="4A78C2"/>
          </a:solidFill>
          <a:ln w="0">
            <a:solidFill>
              <a:srgbClr val="4A78C2"/>
            </a:solidFill>
          </a:ln>
        </p:spPr>
      </p:sp>
      <p:sp>
        <p:nvSpPr>
          <p:cNvPr id="52" name="Rounded Rectangle 51"/>
          <p:cNvSpPr>
            <a:spLocks noGrp="1"/>
          </p:cNvSpPr>
          <p:nvPr/>
        </p:nvSpPr>
        <p:spPr>
          <a:xfrm>
            <a:off x="7962900" y="1762125"/>
            <a:ext cx="781050" cy="857250"/>
          </a:xfrm>
          <a:prstGeom prst="roundRect">
            <a:avLst>
              <a:gd name="adj" fmla="val 9756"/>
            </a:avLst>
          </a:prstGeom>
          <a:solidFill>
            <a:srgbClr val="FFF3DF"/>
          </a:solidFill>
          <a:ln w="11430">
            <a:solidFill>
              <a:srgbClr val="C58B35"/>
            </a:solidFill>
          </a:ln>
        </p:spPr>
        <p:txBody>
          <a:bodyPr anchor="ctr">
            <a:noAutofit/>
          </a:bodyPr>
          <a:lstStyle/>
          <a:p>
            <a:pPr algn="ctr">
              <a:defRPr sz="1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Global</a:t>
            </a:r>
            <a:endParaRPr sz="1200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defRPr sz="1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Pooling</a:t>
            </a:r>
            <a:endParaRPr sz="1200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3" name="Down Arrow 52"/>
          <p:cNvSpPr>
            <a:spLocks noGrp="1"/>
          </p:cNvSpPr>
          <p:nvPr/>
        </p:nvSpPr>
        <p:spPr>
          <a:xfrm>
            <a:off x="8210550" y="2733675"/>
            <a:ext cx="266700" cy="419100"/>
          </a:xfrm>
          <a:prstGeom prst="downArrow">
            <a:avLst/>
          </a:prstGeom>
          <a:solidFill>
            <a:srgbClr val="4A78C2"/>
          </a:solidFill>
          <a:ln w="0">
            <a:solidFill>
              <a:srgbClr val="4A78C2"/>
            </a:solidFill>
          </a:ln>
        </p:spPr>
      </p:sp>
      <p:sp>
        <p:nvSpPr>
          <p:cNvPr id="54" name="Rounded Rectangle 53"/>
          <p:cNvSpPr>
            <a:spLocks noGrp="1"/>
          </p:cNvSpPr>
          <p:nvPr/>
        </p:nvSpPr>
        <p:spPr>
          <a:xfrm>
            <a:off x="7143750" y="3333750"/>
            <a:ext cx="160020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1430">
            <a:solidFill>
              <a:srgbClr val="555555"/>
            </a:solidFill>
          </a:ln>
        </p:spPr>
        <p:txBody>
          <a:bodyPr anchor="ctr">
            <a:noAutofit/>
          </a:bodyPr>
          <a:lstStyle/>
          <a:p>
            <a:pPr algn="ctr">
              <a:defRPr sz="1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Class scores</a:t>
            </a:r>
            <a:endParaRPr sz="1200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defRPr sz="1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Dog   0.86</a:t>
            </a:r>
            <a:endParaRPr sz="1200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defRPr sz="1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Cat    0.09</a:t>
            </a:r>
            <a:endParaRPr sz="1200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defRPr sz="1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Other 0.05</a:t>
            </a:r>
            <a:endParaRPr sz="1200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5" name="Rectangle 54"/>
          <p:cNvSpPr>
            <a:spLocks noGrp="1"/>
          </p:cNvSpPr>
          <p:nvPr/>
        </p:nvSpPr>
        <p:spPr>
          <a:xfrm>
            <a:off x="666750" y="4219575"/>
            <a:ext cx="4572000" cy="2762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1">
                <a:solidFill>
                  <a:srgbClr val="2F68B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1">
                <a:solidFill>
                  <a:srgbClr val="2F68B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Why convolution dominates the diagram</a:t>
            </a:r>
            <a:endParaRPr sz="1425" b="1">
              <a:solidFill>
                <a:srgbClr val="2F68B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6" name="Rectangle 55"/>
          <p:cNvSpPr>
            <a:spLocks noGrp="1"/>
          </p:cNvSpPr>
          <p:nvPr/>
        </p:nvSpPr>
        <p:spPr>
          <a:xfrm>
            <a:off x="838200" y="4543425"/>
            <a:ext cx="5810250" cy="981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• CNNs spend </a:t>
            </a:r>
            <a:r>
              <a:rPr sz="1350" b="1">
                <a:solidFill>
                  <a:srgbClr val="222222"/>
                </a:solidFill>
                <a:latin typeface="Arial" panose="020B0604020202090204" pitchFamily="34" charset="0"/>
                <a:ea typeface="Arial" panose="020B0604020202090204"/>
                <a:cs typeface="Arial" panose="020B0604020202090204" pitchFamily="34" charset="0"/>
              </a:rPr>
              <a:t>most layers</a:t>
            </a:r>
            <a:r>
              <a:rPr sz="1350" b="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building </a:t>
            </a:r>
            <a:r>
              <a:rPr sz="1350" b="1">
                <a:solidFill>
                  <a:srgbClr val="222222"/>
                </a:solidFill>
                <a:latin typeface="Arial" panose="020B0604020202090204" pitchFamily="34" charset="0"/>
                <a:ea typeface="Arial" panose="020B0604020202090204"/>
                <a:cs typeface="Arial" panose="020B0604020202090204" pitchFamily="34" charset="0"/>
              </a:rPr>
              <a:t>feature maps</a:t>
            </a:r>
            <a:r>
              <a:rPr sz="1350" b="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.</a:t>
            </a:r>
            <a:endParaRPr sz="1350" b="0">
              <a:solidFill>
                <a:srgbClr val="22222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defRPr sz="1350" b="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• </a:t>
            </a:r>
            <a:r>
              <a:rPr sz="1350" b="1">
                <a:solidFill>
                  <a:srgbClr val="222222"/>
                </a:solidFill>
                <a:latin typeface="Arial" panose="020B0604020202090204" pitchFamily="34" charset="0"/>
                <a:ea typeface="Arial" panose="020B0604020202090204"/>
                <a:cs typeface="Arial" panose="020B0604020202090204" pitchFamily="34" charset="0"/>
              </a:rPr>
              <a:t>Early layers</a:t>
            </a:r>
            <a:r>
              <a:rPr sz="1350" b="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detect </a:t>
            </a:r>
            <a:r>
              <a:rPr sz="1350" b="1">
                <a:solidFill>
                  <a:srgbClr val="222222"/>
                </a:solidFill>
                <a:latin typeface="Arial" panose="020B0604020202090204" pitchFamily="34" charset="0"/>
                <a:ea typeface="Arial" panose="020B0604020202090204"/>
                <a:cs typeface="Arial" panose="020B0604020202090204" pitchFamily="34" charset="0"/>
              </a:rPr>
              <a:t>simple local</a:t>
            </a:r>
            <a:r>
              <a:rPr sz="1350" b="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patterns.</a:t>
            </a:r>
            <a:r>
              <a:rPr lang="en-US" sz="1350" b="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(</a:t>
            </a:r>
            <a:r>
              <a:rPr lang="en-US" sz="1350" b="0">
                <a:solidFill>
                  <a:srgbClr val="FF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Low-level</a:t>
            </a:r>
            <a:r>
              <a:rPr lang="en-US" sz="1350" b="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)</a:t>
            </a:r>
            <a:endParaRPr sz="1350" b="0">
              <a:solidFill>
                <a:srgbClr val="22222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defRPr sz="1350" b="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• </a:t>
            </a:r>
            <a:r>
              <a:rPr sz="1350" b="1">
                <a:solidFill>
                  <a:srgbClr val="222222"/>
                </a:solidFill>
                <a:latin typeface="Arial" panose="020B0604020202090204" pitchFamily="34" charset="0"/>
                <a:ea typeface="Arial" panose="020B0604020202090204"/>
                <a:cs typeface="Arial" panose="020B0604020202090204" pitchFamily="34" charset="0"/>
              </a:rPr>
              <a:t>Deeper layers</a:t>
            </a:r>
            <a:r>
              <a:rPr sz="1350" b="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combine them into </a:t>
            </a:r>
            <a:r>
              <a:rPr sz="1350" b="1">
                <a:solidFill>
                  <a:srgbClr val="222222"/>
                </a:solidFill>
                <a:latin typeface="Arial" panose="020B0604020202090204" pitchFamily="34" charset="0"/>
                <a:ea typeface="Arial" panose="020B0604020202090204"/>
                <a:cs typeface="Arial" panose="020B0604020202090204" pitchFamily="34" charset="0"/>
              </a:rPr>
              <a:t>object-level evidence</a:t>
            </a:r>
            <a:r>
              <a:rPr sz="1350" b="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.</a:t>
            </a:r>
            <a:r>
              <a:rPr lang="en-US" sz="1350" b="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(</a:t>
            </a:r>
            <a:r>
              <a:rPr lang="en-US" sz="1350" b="0">
                <a:solidFill>
                  <a:srgbClr val="FF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High-level</a:t>
            </a:r>
            <a:r>
              <a:rPr lang="en-US" sz="1350" b="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)</a:t>
            </a:r>
            <a:endParaRPr lang="en-US" sz="1350" b="0">
              <a:solidFill>
                <a:srgbClr val="22222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7" name="Rectangle 56"/>
          <p:cNvSpPr>
            <a:spLocks noGrp="1"/>
          </p:cNvSpPr>
          <p:nvPr/>
        </p:nvSpPr>
        <p:spPr>
          <a:xfrm>
            <a:off x="6772275" y="4772025"/>
            <a:ext cx="1971675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725" b="1">
                <a:solidFill>
                  <a:srgbClr val="2F68B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725" b="1">
                <a:solidFill>
                  <a:srgbClr val="2F68B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Prediction: DOG</a:t>
            </a:r>
            <a:endParaRPr sz="1725" b="1">
              <a:solidFill>
                <a:srgbClr val="2F68B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8" name="Rectangle 57"/>
          <p:cNvSpPr>
            <a:spLocks noGrp="1"/>
          </p:cNvSpPr>
          <p:nvPr/>
        </p:nvSpPr>
        <p:spPr>
          <a:xfrm>
            <a:off x="904875" y="5753100"/>
            <a:ext cx="73342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The classifier is short. The convolutional trunk does most of the visual processing.</a:t>
            </a:r>
            <a:endParaRPr sz="1350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9" name="Rectangle 58"/>
          <p:cNvSpPr>
            <a:spLocks noGrp="1"/>
          </p:cNvSpPr>
          <p:nvPr/>
        </p:nvSpPr>
        <p:spPr>
          <a:xfrm>
            <a:off x="514350" y="6477000"/>
            <a:ext cx="8115300" cy="19050"/>
          </a:xfrm>
          <a:prstGeom prst="rect">
            <a:avLst/>
          </a:prstGeom>
          <a:solidFill>
            <a:srgbClr val="555555"/>
          </a:solidFill>
          <a:ln w="0">
            <a:solidFill>
              <a:srgbClr val="555555"/>
            </a:solidFill>
          </a:ln>
        </p:spPr>
      </p:sp>
      <p:sp>
        <p:nvSpPr>
          <p:cNvPr id="60" name="Rectangle 59"/>
          <p:cNvSpPr>
            <a:spLocks noGrp="1"/>
          </p:cNvSpPr>
          <p:nvPr/>
        </p:nvSpPr>
        <p:spPr>
          <a:xfrm>
            <a:off x="8496300" y="6496050"/>
            <a:ext cx="11430" cy="285750"/>
          </a:xfrm>
          <a:prstGeom prst="rect">
            <a:avLst/>
          </a:prstGeom>
          <a:solidFill>
            <a:srgbClr val="555555"/>
          </a:solidFill>
          <a:ln w="0">
            <a:solidFill>
              <a:srgbClr val="555555"/>
            </a:solidFill>
          </a:ln>
        </p:spPr>
      </p:sp>
      <p:sp>
        <p:nvSpPr>
          <p:cNvPr id="61" name="Rectangle 60"/>
          <p:cNvSpPr>
            <a:spLocks noGrp="1"/>
          </p:cNvSpPr>
          <p:nvPr/>
        </p:nvSpPr>
        <p:spPr>
          <a:xfrm>
            <a:off x="8524875" y="6515100"/>
            <a:ext cx="333375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825" b="0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825" b="0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</a:t>
            </a:r>
            <a:endParaRPr sz="825" b="0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0" name="Rectangle 89"/>
          <p:cNvSpPr>
            <a:spLocks noGrp="1"/>
          </p:cNvSpPr>
          <p:nvPr/>
        </p:nvSpPr>
        <p:spPr>
          <a:xfrm>
            <a:off x="590550" y="238125"/>
            <a:ext cx="7953375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25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25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Inside One CNN Block</a:t>
            </a:r>
            <a:endParaRPr sz="2250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14350" y="781050"/>
            <a:ext cx="8115300" cy="28575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609600" y="914400"/>
            <a:ext cx="7810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 block first detects a local pattern, keeps useful responses, then reduces spatial size.</a:t>
            </a:r>
            <a:endParaRPr sz="1350" b="1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590550" y="1323975"/>
            <a:ext cx="2135505" cy="2762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00" b="1">
                <a:solidFill>
                  <a:srgbClr val="2F68B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2F68B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1. Input feature map</a:t>
            </a:r>
            <a:endParaRPr sz="1500" b="1">
              <a:solidFill>
                <a:srgbClr val="2F68B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742950" y="1781175"/>
            <a:ext cx="295275" cy="295275"/>
          </a:xfrm>
          <a:prstGeom prst="rect">
            <a:avLst/>
          </a:prstGeom>
          <a:solidFill>
            <a:srgbClr val="FFFFFF"/>
          </a:solidFill>
          <a:ln w="7620">
            <a:solidFill>
              <a:srgbClr val="888888"/>
            </a:solidFill>
          </a:ln>
        </p:spPr>
        <p:txBody>
          <a:bodyPr anchor="ctr">
            <a:noAutofit/>
          </a:bodyPr>
          <a:lstStyle/>
          <a:p>
            <a:pPr algn="ctr">
              <a:defRPr sz="975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</a:t>
            </a:r>
            <a:endParaRPr sz="975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1038225" y="1781175"/>
            <a:ext cx="295275" cy="295275"/>
          </a:xfrm>
          <a:prstGeom prst="rect">
            <a:avLst/>
          </a:prstGeom>
          <a:solidFill>
            <a:srgbClr val="FFFFFF"/>
          </a:solidFill>
          <a:ln w="7620">
            <a:solidFill>
              <a:srgbClr val="888888"/>
            </a:solidFill>
          </a:ln>
        </p:spPr>
        <p:txBody>
          <a:bodyPr anchor="ctr">
            <a:noAutofit/>
          </a:bodyPr>
          <a:lstStyle/>
          <a:p>
            <a:pPr algn="ctr">
              <a:defRPr sz="975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</a:t>
            </a:r>
            <a:endParaRPr sz="975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1333500" y="1781175"/>
            <a:ext cx="295275" cy="295275"/>
          </a:xfrm>
          <a:prstGeom prst="rect">
            <a:avLst/>
          </a:prstGeom>
          <a:solidFill>
            <a:srgbClr val="FFFFFF"/>
          </a:solidFill>
          <a:ln w="7620">
            <a:solidFill>
              <a:srgbClr val="888888"/>
            </a:solidFill>
          </a:ln>
        </p:spPr>
        <p:txBody>
          <a:bodyPr anchor="ctr">
            <a:noAutofit/>
          </a:bodyPr>
          <a:lstStyle/>
          <a:p>
            <a:pPr algn="ctr">
              <a:defRPr sz="975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4</a:t>
            </a:r>
            <a:endParaRPr sz="975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1628775" y="1781175"/>
            <a:ext cx="295275" cy="295275"/>
          </a:xfrm>
          <a:prstGeom prst="rect">
            <a:avLst/>
          </a:prstGeom>
          <a:solidFill>
            <a:srgbClr val="FFFFFF"/>
          </a:solidFill>
          <a:ln w="7620">
            <a:solidFill>
              <a:srgbClr val="888888"/>
            </a:solidFill>
          </a:ln>
        </p:spPr>
        <p:txBody>
          <a:bodyPr anchor="ctr">
            <a:noAutofit/>
          </a:bodyPr>
          <a:lstStyle/>
          <a:p>
            <a:pPr algn="ctr">
              <a:defRPr sz="975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6</a:t>
            </a:r>
            <a:endParaRPr sz="975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1924050" y="1781175"/>
            <a:ext cx="295275" cy="295275"/>
          </a:xfrm>
          <a:prstGeom prst="rect">
            <a:avLst/>
          </a:prstGeom>
          <a:solidFill>
            <a:srgbClr val="FFFFFF"/>
          </a:solidFill>
          <a:ln w="7620">
            <a:solidFill>
              <a:srgbClr val="888888"/>
            </a:solidFill>
          </a:ln>
        </p:spPr>
        <p:txBody>
          <a:bodyPr anchor="ctr">
            <a:noAutofit/>
          </a:bodyPr>
          <a:lstStyle/>
          <a:p>
            <a:pPr algn="ctr">
              <a:defRPr sz="975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8</a:t>
            </a:r>
            <a:endParaRPr sz="975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2219325" y="1781175"/>
            <a:ext cx="295275" cy="295275"/>
          </a:xfrm>
          <a:prstGeom prst="rect">
            <a:avLst/>
          </a:prstGeom>
          <a:solidFill>
            <a:srgbClr val="FFFFFF"/>
          </a:solidFill>
          <a:ln w="7620">
            <a:solidFill>
              <a:srgbClr val="888888"/>
            </a:solidFill>
          </a:ln>
        </p:spPr>
        <p:txBody>
          <a:bodyPr anchor="ctr">
            <a:noAutofit/>
          </a:bodyPr>
          <a:lstStyle/>
          <a:p>
            <a:pPr algn="ctr">
              <a:defRPr sz="975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</a:t>
            </a:r>
            <a:endParaRPr sz="975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742950" y="2076450"/>
            <a:ext cx="295275" cy="295275"/>
          </a:xfrm>
          <a:prstGeom prst="rect">
            <a:avLst/>
          </a:prstGeom>
          <a:solidFill>
            <a:srgbClr val="FFFFFF"/>
          </a:solidFill>
          <a:ln w="7620">
            <a:solidFill>
              <a:srgbClr val="888888"/>
            </a:solidFill>
          </a:ln>
        </p:spPr>
        <p:txBody>
          <a:bodyPr anchor="ctr">
            <a:noAutofit/>
          </a:bodyPr>
          <a:lstStyle/>
          <a:p>
            <a:pPr algn="ctr">
              <a:defRPr sz="975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</a:t>
            </a:r>
            <a:endParaRPr sz="975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1038225" y="2076450"/>
            <a:ext cx="295275" cy="295275"/>
          </a:xfrm>
          <a:prstGeom prst="rect">
            <a:avLst/>
          </a:prstGeom>
          <a:solidFill>
            <a:srgbClr val="DCEBFA"/>
          </a:solidFill>
          <a:ln w="17145">
            <a:solidFill>
              <a:srgbClr val="2F75B5"/>
            </a:solidFill>
          </a:ln>
        </p:spPr>
        <p:txBody>
          <a:bodyPr anchor="ctr">
            <a:noAutofit/>
          </a:bodyPr>
          <a:lstStyle/>
          <a:p>
            <a:pPr algn="ctr">
              <a:defRPr sz="975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5</a:t>
            </a:r>
            <a:endParaRPr sz="975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1333500" y="2076450"/>
            <a:ext cx="295275" cy="295275"/>
          </a:xfrm>
          <a:prstGeom prst="rect">
            <a:avLst/>
          </a:prstGeom>
          <a:solidFill>
            <a:srgbClr val="DCEBFA"/>
          </a:solidFill>
          <a:ln w="17145">
            <a:solidFill>
              <a:srgbClr val="2F75B5"/>
            </a:solidFill>
          </a:ln>
        </p:spPr>
        <p:txBody>
          <a:bodyPr anchor="ctr">
            <a:noAutofit/>
          </a:bodyPr>
          <a:lstStyle/>
          <a:p>
            <a:pPr algn="ctr">
              <a:defRPr sz="975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7</a:t>
            </a:r>
            <a:endParaRPr sz="975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1628775" y="2076450"/>
            <a:ext cx="295275" cy="295275"/>
          </a:xfrm>
          <a:prstGeom prst="rect">
            <a:avLst/>
          </a:prstGeom>
          <a:solidFill>
            <a:srgbClr val="DCEBFA"/>
          </a:solidFill>
          <a:ln w="17145">
            <a:solidFill>
              <a:srgbClr val="2F75B5"/>
            </a:solidFill>
          </a:ln>
        </p:spPr>
        <p:txBody>
          <a:bodyPr anchor="ctr">
            <a:noAutofit/>
          </a:bodyPr>
          <a:lstStyle/>
          <a:p>
            <a:pPr algn="ctr">
              <a:defRPr sz="975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</a:t>
            </a:r>
            <a:endParaRPr sz="975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1924050" y="2076450"/>
            <a:ext cx="295275" cy="295275"/>
          </a:xfrm>
          <a:prstGeom prst="rect">
            <a:avLst/>
          </a:prstGeom>
          <a:solidFill>
            <a:srgbClr val="FFFFFF"/>
          </a:solidFill>
          <a:ln w="7620">
            <a:solidFill>
              <a:srgbClr val="888888"/>
            </a:solidFill>
          </a:ln>
        </p:spPr>
        <p:txBody>
          <a:bodyPr anchor="ctr">
            <a:noAutofit/>
          </a:bodyPr>
          <a:lstStyle/>
          <a:p>
            <a:pPr algn="ctr">
              <a:defRPr sz="975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</a:t>
            </a:r>
            <a:endParaRPr sz="975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2219325" y="2076450"/>
            <a:ext cx="295275" cy="295275"/>
          </a:xfrm>
          <a:prstGeom prst="rect">
            <a:avLst/>
          </a:prstGeom>
          <a:solidFill>
            <a:srgbClr val="FFFFFF"/>
          </a:solidFill>
          <a:ln w="7620">
            <a:solidFill>
              <a:srgbClr val="888888"/>
            </a:solidFill>
          </a:ln>
        </p:spPr>
        <p:txBody>
          <a:bodyPr anchor="ctr">
            <a:noAutofit/>
          </a:bodyPr>
          <a:lstStyle/>
          <a:p>
            <a:pPr algn="ctr">
              <a:defRPr sz="975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4</a:t>
            </a:r>
            <a:endParaRPr sz="975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742950" y="2371725"/>
            <a:ext cx="295275" cy="295275"/>
          </a:xfrm>
          <a:prstGeom prst="rect">
            <a:avLst/>
          </a:prstGeom>
          <a:solidFill>
            <a:srgbClr val="FFFFFF"/>
          </a:solidFill>
          <a:ln w="7620">
            <a:solidFill>
              <a:srgbClr val="888888"/>
            </a:solidFill>
          </a:ln>
        </p:spPr>
        <p:txBody>
          <a:bodyPr anchor="ctr">
            <a:noAutofit/>
          </a:bodyPr>
          <a:lstStyle/>
          <a:p>
            <a:pPr algn="ctr">
              <a:defRPr sz="975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6</a:t>
            </a:r>
            <a:endParaRPr sz="975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8" name="Rectangle 17"/>
          <p:cNvSpPr>
            <a:spLocks noGrp="1"/>
          </p:cNvSpPr>
          <p:nvPr/>
        </p:nvSpPr>
        <p:spPr>
          <a:xfrm>
            <a:off x="1038225" y="2371725"/>
            <a:ext cx="295275" cy="295275"/>
          </a:xfrm>
          <a:prstGeom prst="rect">
            <a:avLst/>
          </a:prstGeom>
          <a:solidFill>
            <a:srgbClr val="DCEBFA"/>
          </a:solidFill>
          <a:ln w="17145">
            <a:solidFill>
              <a:srgbClr val="2F75B5"/>
            </a:solidFill>
          </a:ln>
        </p:spPr>
        <p:txBody>
          <a:bodyPr anchor="ctr">
            <a:noAutofit/>
          </a:bodyPr>
          <a:lstStyle/>
          <a:p>
            <a:pPr algn="ctr">
              <a:defRPr sz="975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8</a:t>
            </a:r>
            <a:endParaRPr sz="975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1333500" y="2371725"/>
            <a:ext cx="295275" cy="295275"/>
          </a:xfrm>
          <a:prstGeom prst="rect">
            <a:avLst/>
          </a:prstGeom>
          <a:solidFill>
            <a:srgbClr val="DCEBFA"/>
          </a:solidFill>
          <a:ln w="17145">
            <a:solidFill>
              <a:srgbClr val="2F75B5"/>
            </a:solidFill>
          </a:ln>
        </p:spPr>
        <p:txBody>
          <a:bodyPr anchor="ctr">
            <a:noAutofit/>
          </a:bodyPr>
          <a:lstStyle/>
          <a:p>
            <a:pPr algn="ctr">
              <a:defRPr sz="975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</a:t>
            </a:r>
            <a:endParaRPr sz="975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1628775" y="2371725"/>
            <a:ext cx="295275" cy="295275"/>
          </a:xfrm>
          <a:prstGeom prst="rect">
            <a:avLst/>
          </a:prstGeom>
          <a:solidFill>
            <a:srgbClr val="DCEBFA"/>
          </a:solidFill>
          <a:ln w="17145">
            <a:solidFill>
              <a:srgbClr val="2F75B5"/>
            </a:solidFill>
          </a:ln>
        </p:spPr>
        <p:txBody>
          <a:bodyPr anchor="ctr">
            <a:noAutofit/>
          </a:bodyPr>
          <a:lstStyle/>
          <a:p>
            <a:pPr algn="ctr">
              <a:defRPr sz="975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</a:t>
            </a:r>
            <a:endParaRPr sz="975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1" name="Rectangle 20"/>
          <p:cNvSpPr>
            <a:spLocks noGrp="1"/>
          </p:cNvSpPr>
          <p:nvPr/>
        </p:nvSpPr>
        <p:spPr>
          <a:xfrm>
            <a:off x="1924050" y="2371725"/>
            <a:ext cx="295275" cy="295275"/>
          </a:xfrm>
          <a:prstGeom prst="rect">
            <a:avLst/>
          </a:prstGeom>
          <a:solidFill>
            <a:srgbClr val="FFFFFF"/>
          </a:solidFill>
          <a:ln w="7620">
            <a:solidFill>
              <a:srgbClr val="888888"/>
            </a:solidFill>
          </a:ln>
        </p:spPr>
        <p:txBody>
          <a:bodyPr anchor="ctr">
            <a:noAutofit/>
          </a:bodyPr>
          <a:lstStyle/>
          <a:p>
            <a:pPr algn="ctr">
              <a:defRPr sz="975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5</a:t>
            </a:r>
            <a:endParaRPr sz="975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2" name="Rectangle 21"/>
          <p:cNvSpPr>
            <a:spLocks noGrp="1"/>
          </p:cNvSpPr>
          <p:nvPr/>
        </p:nvSpPr>
        <p:spPr>
          <a:xfrm>
            <a:off x="2219325" y="2371725"/>
            <a:ext cx="295275" cy="295275"/>
          </a:xfrm>
          <a:prstGeom prst="rect">
            <a:avLst/>
          </a:prstGeom>
          <a:solidFill>
            <a:srgbClr val="FFFFFF"/>
          </a:solidFill>
          <a:ln w="7620">
            <a:solidFill>
              <a:srgbClr val="888888"/>
            </a:solidFill>
          </a:ln>
        </p:spPr>
        <p:txBody>
          <a:bodyPr anchor="ctr">
            <a:noAutofit/>
          </a:bodyPr>
          <a:lstStyle/>
          <a:p>
            <a:pPr algn="ctr">
              <a:defRPr sz="975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7</a:t>
            </a:r>
            <a:endParaRPr sz="975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3" name="Rectangle 22"/>
          <p:cNvSpPr>
            <a:spLocks noGrp="1"/>
          </p:cNvSpPr>
          <p:nvPr/>
        </p:nvSpPr>
        <p:spPr>
          <a:xfrm>
            <a:off x="742950" y="2667000"/>
            <a:ext cx="295275" cy="295275"/>
          </a:xfrm>
          <a:prstGeom prst="rect">
            <a:avLst/>
          </a:prstGeom>
          <a:solidFill>
            <a:srgbClr val="FFFFFF"/>
          </a:solidFill>
          <a:ln w="7620">
            <a:solidFill>
              <a:srgbClr val="888888"/>
            </a:solidFill>
          </a:ln>
        </p:spPr>
        <p:txBody>
          <a:bodyPr anchor="ctr">
            <a:noAutofit/>
          </a:bodyPr>
          <a:lstStyle/>
          <a:p>
            <a:pPr algn="ctr">
              <a:defRPr sz="975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</a:t>
            </a:r>
            <a:endParaRPr sz="975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4" name="Rectangle 23"/>
          <p:cNvSpPr>
            <a:spLocks noGrp="1"/>
          </p:cNvSpPr>
          <p:nvPr/>
        </p:nvSpPr>
        <p:spPr>
          <a:xfrm>
            <a:off x="1038225" y="2667000"/>
            <a:ext cx="295275" cy="295275"/>
          </a:xfrm>
          <a:prstGeom prst="rect">
            <a:avLst/>
          </a:prstGeom>
          <a:solidFill>
            <a:srgbClr val="DCEBFA"/>
          </a:solidFill>
          <a:ln w="17145">
            <a:solidFill>
              <a:srgbClr val="2F75B5"/>
            </a:solidFill>
          </a:ln>
        </p:spPr>
        <p:txBody>
          <a:bodyPr anchor="ctr">
            <a:noAutofit/>
          </a:bodyPr>
          <a:lstStyle/>
          <a:p>
            <a:pPr algn="ctr">
              <a:defRPr sz="975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</a:t>
            </a:r>
            <a:endParaRPr sz="975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5" name="Rectangle 24"/>
          <p:cNvSpPr>
            <a:spLocks noGrp="1"/>
          </p:cNvSpPr>
          <p:nvPr/>
        </p:nvSpPr>
        <p:spPr>
          <a:xfrm>
            <a:off x="1333500" y="2667000"/>
            <a:ext cx="295275" cy="295275"/>
          </a:xfrm>
          <a:prstGeom prst="rect">
            <a:avLst/>
          </a:prstGeom>
          <a:solidFill>
            <a:srgbClr val="DCEBFA"/>
          </a:solidFill>
          <a:ln w="17145">
            <a:solidFill>
              <a:srgbClr val="2F75B5"/>
            </a:solidFill>
          </a:ln>
        </p:spPr>
        <p:txBody>
          <a:bodyPr anchor="ctr">
            <a:noAutofit/>
          </a:bodyPr>
          <a:lstStyle/>
          <a:p>
            <a:pPr algn="ctr">
              <a:defRPr sz="975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4</a:t>
            </a:r>
            <a:endParaRPr sz="975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6" name="Rectangle 25"/>
          <p:cNvSpPr>
            <a:spLocks noGrp="1"/>
          </p:cNvSpPr>
          <p:nvPr/>
        </p:nvSpPr>
        <p:spPr>
          <a:xfrm>
            <a:off x="1628775" y="2667000"/>
            <a:ext cx="295275" cy="295275"/>
          </a:xfrm>
          <a:prstGeom prst="rect">
            <a:avLst/>
          </a:prstGeom>
          <a:solidFill>
            <a:srgbClr val="DCEBFA"/>
          </a:solidFill>
          <a:ln w="17145">
            <a:solidFill>
              <a:srgbClr val="2F75B5"/>
            </a:solidFill>
          </a:ln>
        </p:spPr>
        <p:txBody>
          <a:bodyPr anchor="ctr">
            <a:noAutofit/>
          </a:bodyPr>
          <a:lstStyle/>
          <a:p>
            <a:pPr algn="ctr">
              <a:defRPr sz="975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6</a:t>
            </a:r>
            <a:endParaRPr sz="975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7" name="Rectangle 26"/>
          <p:cNvSpPr>
            <a:spLocks noGrp="1"/>
          </p:cNvSpPr>
          <p:nvPr/>
        </p:nvSpPr>
        <p:spPr>
          <a:xfrm>
            <a:off x="1924050" y="2667000"/>
            <a:ext cx="295275" cy="295275"/>
          </a:xfrm>
          <a:prstGeom prst="rect">
            <a:avLst/>
          </a:prstGeom>
          <a:solidFill>
            <a:srgbClr val="FFFFFF"/>
          </a:solidFill>
          <a:ln w="7620">
            <a:solidFill>
              <a:srgbClr val="888888"/>
            </a:solidFill>
          </a:ln>
        </p:spPr>
        <p:txBody>
          <a:bodyPr anchor="ctr">
            <a:noAutofit/>
          </a:bodyPr>
          <a:lstStyle/>
          <a:p>
            <a:pPr algn="ctr">
              <a:defRPr sz="975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8</a:t>
            </a:r>
            <a:endParaRPr sz="975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8" name="Rectangle 27"/>
          <p:cNvSpPr>
            <a:spLocks noGrp="1"/>
          </p:cNvSpPr>
          <p:nvPr/>
        </p:nvSpPr>
        <p:spPr>
          <a:xfrm>
            <a:off x="2219325" y="2667000"/>
            <a:ext cx="295275" cy="295275"/>
          </a:xfrm>
          <a:prstGeom prst="rect">
            <a:avLst/>
          </a:prstGeom>
          <a:solidFill>
            <a:srgbClr val="FFFFFF"/>
          </a:solidFill>
          <a:ln w="7620">
            <a:solidFill>
              <a:srgbClr val="888888"/>
            </a:solidFill>
          </a:ln>
        </p:spPr>
        <p:txBody>
          <a:bodyPr anchor="ctr">
            <a:noAutofit/>
          </a:bodyPr>
          <a:lstStyle/>
          <a:p>
            <a:pPr algn="ctr">
              <a:defRPr sz="975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</a:t>
            </a:r>
            <a:endParaRPr sz="975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9" name="Rectangle 28"/>
          <p:cNvSpPr>
            <a:spLocks noGrp="1"/>
          </p:cNvSpPr>
          <p:nvPr/>
        </p:nvSpPr>
        <p:spPr>
          <a:xfrm>
            <a:off x="742950" y="2962275"/>
            <a:ext cx="295275" cy="295275"/>
          </a:xfrm>
          <a:prstGeom prst="rect">
            <a:avLst/>
          </a:prstGeom>
          <a:solidFill>
            <a:srgbClr val="FFFFFF"/>
          </a:solidFill>
          <a:ln w="7620">
            <a:solidFill>
              <a:srgbClr val="888888"/>
            </a:solidFill>
          </a:ln>
        </p:spPr>
        <p:txBody>
          <a:bodyPr anchor="ctr">
            <a:noAutofit/>
          </a:bodyPr>
          <a:lstStyle/>
          <a:p>
            <a:pPr algn="ctr">
              <a:defRPr sz="975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</a:t>
            </a:r>
            <a:endParaRPr sz="975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0" name="Rectangle 29"/>
          <p:cNvSpPr>
            <a:spLocks noGrp="1"/>
          </p:cNvSpPr>
          <p:nvPr/>
        </p:nvSpPr>
        <p:spPr>
          <a:xfrm>
            <a:off x="1038225" y="2962275"/>
            <a:ext cx="295275" cy="295275"/>
          </a:xfrm>
          <a:prstGeom prst="rect">
            <a:avLst/>
          </a:prstGeom>
          <a:solidFill>
            <a:srgbClr val="FFFFFF"/>
          </a:solidFill>
          <a:ln w="7620">
            <a:solidFill>
              <a:srgbClr val="888888"/>
            </a:solidFill>
          </a:ln>
        </p:spPr>
        <p:txBody>
          <a:bodyPr anchor="ctr">
            <a:noAutofit/>
          </a:bodyPr>
          <a:lstStyle/>
          <a:p>
            <a:pPr algn="ctr">
              <a:defRPr sz="975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5</a:t>
            </a:r>
            <a:endParaRPr sz="975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1" name="Rectangle 30"/>
          <p:cNvSpPr>
            <a:spLocks noGrp="1"/>
          </p:cNvSpPr>
          <p:nvPr/>
        </p:nvSpPr>
        <p:spPr>
          <a:xfrm>
            <a:off x="1333500" y="2962275"/>
            <a:ext cx="295275" cy="295275"/>
          </a:xfrm>
          <a:prstGeom prst="rect">
            <a:avLst/>
          </a:prstGeom>
          <a:solidFill>
            <a:srgbClr val="FFFFFF"/>
          </a:solidFill>
          <a:ln w="7620">
            <a:solidFill>
              <a:srgbClr val="888888"/>
            </a:solidFill>
          </a:ln>
        </p:spPr>
        <p:txBody>
          <a:bodyPr anchor="ctr">
            <a:noAutofit/>
          </a:bodyPr>
          <a:lstStyle/>
          <a:p>
            <a:pPr algn="ctr">
              <a:defRPr sz="975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7</a:t>
            </a:r>
            <a:endParaRPr sz="975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2" name="Rectangle 31"/>
          <p:cNvSpPr>
            <a:spLocks noGrp="1"/>
          </p:cNvSpPr>
          <p:nvPr/>
        </p:nvSpPr>
        <p:spPr>
          <a:xfrm>
            <a:off x="1628775" y="2962275"/>
            <a:ext cx="295275" cy="295275"/>
          </a:xfrm>
          <a:prstGeom prst="rect">
            <a:avLst/>
          </a:prstGeom>
          <a:solidFill>
            <a:srgbClr val="FFFFFF"/>
          </a:solidFill>
          <a:ln w="7620">
            <a:solidFill>
              <a:srgbClr val="888888"/>
            </a:solidFill>
          </a:ln>
        </p:spPr>
        <p:txBody>
          <a:bodyPr anchor="ctr">
            <a:noAutofit/>
          </a:bodyPr>
          <a:lstStyle/>
          <a:p>
            <a:pPr algn="ctr">
              <a:defRPr sz="975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</a:t>
            </a:r>
            <a:endParaRPr sz="975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3" name="Rectangle 32"/>
          <p:cNvSpPr>
            <a:spLocks noGrp="1"/>
          </p:cNvSpPr>
          <p:nvPr/>
        </p:nvSpPr>
        <p:spPr>
          <a:xfrm>
            <a:off x="1924050" y="2962275"/>
            <a:ext cx="295275" cy="295275"/>
          </a:xfrm>
          <a:prstGeom prst="rect">
            <a:avLst/>
          </a:prstGeom>
          <a:solidFill>
            <a:srgbClr val="FFFFFF"/>
          </a:solidFill>
          <a:ln w="7620">
            <a:solidFill>
              <a:srgbClr val="888888"/>
            </a:solidFill>
          </a:ln>
        </p:spPr>
        <p:txBody>
          <a:bodyPr anchor="ctr">
            <a:noAutofit/>
          </a:bodyPr>
          <a:lstStyle/>
          <a:p>
            <a:pPr algn="ctr">
              <a:defRPr sz="975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</a:t>
            </a:r>
            <a:endParaRPr sz="975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4" name="Rectangle 33"/>
          <p:cNvSpPr>
            <a:spLocks noGrp="1"/>
          </p:cNvSpPr>
          <p:nvPr/>
        </p:nvSpPr>
        <p:spPr>
          <a:xfrm>
            <a:off x="2219325" y="2962275"/>
            <a:ext cx="295275" cy="295275"/>
          </a:xfrm>
          <a:prstGeom prst="rect">
            <a:avLst/>
          </a:prstGeom>
          <a:solidFill>
            <a:srgbClr val="FFFFFF"/>
          </a:solidFill>
          <a:ln w="7620">
            <a:solidFill>
              <a:srgbClr val="888888"/>
            </a:solidFill>
          </a:ln>
        </p:spPr>
        <p:txBody>
          <a:bodyPr anchor="ctr">
            <a:noAutofit/>
          </a:bodyPr>
          <a:lstStyle/>
          <a:p>
            <a:pPr algn="ctr">
              <a:defRPr sz="975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4</a:t>
            </a:r>
            <a:endParaRPr sz="975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5" name="Rectangle 34"/>
          <p:cNvSpPr>
            <a:spLocks noGrp="1"/>
          </p:cNvSpPr>
          <p:nvPr/>
        </p:nvSpPr>
        <p:spPr>
          <a:xfrm>
            <a:off x="742950" y="3257550"/>
            <a:ext cx="295275" cy="295275"/>
          </a:xfrm>
          <a:prstGeom prst="rect">
            <a:avLst/>
          </a:prstGeom>
          <a:solidFill>
            <a:srgbClr val="FFFFFF"/>
          </a:solidFill>
          <a:ln w="7620">
            <a:solidFill>
              <a:srgbClr val="888888"/>
            </a:solidFill>
          </a:ln>
        </p:spPr>
        <p:txBody>
          <a:bodyPr anchor="ctr">
            <a:noAutofit/>
          </a:bodyPr>
          <a:lstStyle/>
          <a:p>
            <a:pPr algn="ctr">
              <a:defRPr sz="975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6</a:t>
            </a:r>
            <a:endParaRPr sz="975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6" name="Rectangle 35"/>
          <p:cNvSpPr>
            <a:spLocks noGrp="1"/>
          </p:cNvSpPr>
          <p:nvPr/>
        </p:nvSpPr>
        <p:spPr>
          <a:xfrm>
            <a:off x="1038225" y="3257550"/>
            <a:ext cx="295275" cy="295275"/>
          </a:xfrm>
          <a:prstGeom prst="rect">
            <a:avLst/>
          </a:prstGeom>
          <a:solidFill>
            <a:srgbClr val="FFFFFF"/>
          </a:solidFill>
          <a:ln w="7620">
            <a:solidFill>
              <a:srgbClr val="888888"/>
            </a:solidFill>
          </a:ln>
        </p:spPr>
        <p:txBody>
          <a:bodyPr anchor="ctr">
            <a:noAutofit/>
          </a:bodyPr>
          <a:lstStyle/>
          <a:p>
            <a:pPr algn="ctr">
              <a:defRPr sz="975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8</a:t>
            </a:r>
            <a:endParaRPr sz="975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7" name="Rectangle 36"/>
          <p:cNvSpPr>
            <a:spLocks noGrp="1"/>
          </p:cNvSpPr>
          <p:nvPr/>
        </p:nvSpPr>
        <p:spPr>
          <a:xfrm>
            <a:off x="1333500" y="3257550"/>
            <a:ext cx="295275" cy="295275"/>
          </a:xfrm>
          <a:prstGeom prst="rect">
            <a:avLst/>
          </a:prstGeom>
          <a:solidFill>
            <a:srgbClr val="FFFFFF"/>
          </a:solidFill>
          <a:ln w="7620">
            <a:solidFill>
              <a:srgbClr val="888888"/>
            </a:solidFill>
          </a:ln>
        </p:spPr>
        <p:txBody>
          <a:bodyPr anchor="ctr">
            <a:noAutofit/>
          </a:bodyPr>
          <a:lstStyle/>
          <a:p>
            <a:pPr algn="ctr">
              <a:defRPr sz="975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</a:t>
            </a:r>
            <a:endParaRPr sz="975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8" name="Rectangle 37"/>
          <p:cNvSpPr>
            <a:spLocks noGrp="1"/>
          </p:cNvSpPr>
          <p:nvPr/>
        </p:nvSpPr>
        <p:spPr>
          <a:xfrm>
            <a:off x="1628775" y="3257550"/>
            <a:ext cx="295275" cy="295275"/>
          </a:xfrm>
          <a:prstGeom prst="rect">
            <a:avLst/>
          </a:prstGeom>
          <a:solidFill>
            <a:srgbClr val="FFFFFF"/>
          </a:solidFill>
          <a:ln w="7620">
            <a:solidFill>
              <a:srgbClr val="888888"/>
            </a:solidFill>
          </a:ln>
        </p:spPr>
        <p:txBody>
          <a:bodyPr anchor="ctr">
            <a:noAutofit/>
          </a:bodyPr>
          <a:lstStyle/>
          <a:p>
            <a:pPr algn="ctr">
              <a:defRPr sz="975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</a:t>
            </a:r>
            <a:endParaRPr sz="975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9" name="Rectangle 38"/>
          <p:cNvSpPr>
            <a:spLocks noGrp="1"/>
          </p:cNvSpPr>
          <p:nvPr/>
        </p:nvSpPr>
        <p:spPr>
          <a:xfrm>
            <a:off x="1924050" y="3257550"/>
            <a:ext cx="295275" cy="295275"/>
          </a:xfrm>
          <a:prstGeom prst="rect">
            <a:avLst/>
          </a:prstGeom>
          <a:solidFill>
            <a:srgbClr val="FFFFFF"/>
          </a:solidFill>
          <a:ln w="7620">
            <a:solidFill>
              <a:srgbClr val="888888"/>
            </a:solidFill>
          </a:ln>
        </p:spPr>
        <p:txBody>
          <a:bodyPr anchor="ctr">
            <a:noAutofit/>
          </a:bodyPr>
          <a:lstStyle/>
          <a:p>
            <a:pPr algn="ctr">
              <a:defRPr sz="975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5</a:t>
            </a:r>
            <a:endParaRPr sz="975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0" name="Rectangle 39"/>
          <p:cNvSpPr>
            <a:spLocks noGrp="1"/>
          </p:cNvSpPr>
          <p:nvPr/>
        </p:nvSpPr>
        <p:spPr>
          <a:xfrm>
            <a:off x="2219325" y="3257550"/>
            <a:ext cx="295275" cy="295275"/>
          </a:xfrm>
          <a:prstGeom prst="rect">
            <a:avLst/>
          </a:prstGeom>
          <a:solidFill>
            <a:srgbClr val="FFFFFF"/>
          </a:solidFill>
          <a:ln w="7620">
            <a:solidFill>
              <a:srgbClr val="888888"/>
            </a:solidFill>
          </a:ln>
        </p:spPr>
        <p:txBody>
          <a:bodyPr anchor="ctr">
            <a:noAutofit/>
          </a:bodyPr>
          <a:lstStyle/>
          <a:p>
            <a:pPr algn="ctr">
              <a:defRPr sz="975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7</a:t>
            </a:r>
            <a:endParaRPr sz="975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1" name="Rectangle 40"/>
          <p:cNvSpPr>
            <a:spLocks noGrp="1"/>
          </p:cNvSpPr>
          <p:nvPr/>
        </p:nvSpPr>
        <p:spPr>
          <a:xfrm>
            <a:off x="561975" y="3686175"/>
            <a:ext cx="2238375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 3 × 3 kernel looks at </a:t>
            </a:r>
            <a:r>
              <a:rPr lang="en-US" sz="1200" b="1">
                <a:solidFill>
                  <a:srgbClr val="111111"/>
                </a:solidFill>
                <a:latin typeface="Arial" panose="020B0604020202090204" pitchFamily="34" charset="0"/>
                <a:ea typeface="Arial" panose="020B0604020202090204"/>
                <a:cs typeface="Arial" panose="020B0604020202090204" pitchFamily="34" charset="0"/>
              </a:rPr>
              <a:t>every </a:t>
            </a:r>
            <a:r>
              <a:rPr sz="1200" b="1">
                <a:solidFill>
                  <a:srgbClr val="111111"/>
                </a:solidFill>
                <a:latin typeface="Arial" panose="020B0604020202090204" pitchFamily="34" charset="0"/>
                <a:ea typeface="Arial" panose="020B0604020202090204"/>
                <a:cs typeface="Arial" panose="020B0604020202090204" pitchFamily="34" charset="0"/>
              </a:rPr>
              <a:t>local window</a:t>
            </a:r>
            <a:r>
              <a:rPr sz="1200" b="0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.</a:t>
            </a:r>
            <a:endParaRPr sz="1200" b="0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2" name="Right Arrow 41"/>
          <p:cNvSpPr>
            <a:spLocks noGrp="1"/>
          </p:cNvSpPr>
          <p:nvPr/>
        </p:nvSpPr>
        <p:spPr>
          <a:xfrm>
            <a:off x="2705100" y="2476500"/>
            <a:ext cx="400050" cy="209550"/>
          </a:xfrm>
          <a:prstGeom prst="rightArrow">
            <a:avLst/>
          </a:prstGeom>
          <a:solidFill>
            <a:srgbClr val="4A78C2"/>
          </a:solidFill>
          <a:ln w="0">
            <a:solidFill>
              <a:srgbClr val="4A78C2"/>
            </a:solidFill>
          </a:ln>
        </p:spPr>
      </p:sp>
      <p:sp>
        <p:nvSpPr>
          <p:cNvPr id="43" name="Rectangle 42"/>
          <p:cNvSpPr>
            <a:spLocks noGrp="1"/>
          </p:cNvSpPr>
          <p:nvPr/>
        </p:nvSpPr>
        <p:spPr>
          <a:xfrm>
            <a:off x="3200400" y="1323975"/>
            <a:ext cx="2133600" cy="2762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00" b="1">
                <a:solidFill>
                  <a:srgbClr val="2F68B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2F68B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2. Convolution</a:t>
            </a:r>
            <a:r>
              <a:rPr lang="en-US" sz="1500" b="1">
                <a:solidFill>
                  <a:srgbClr val="2F68B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lang="en-US" sz="1500" b="1">
                <a:solidFill>
                  <a:srgbClr val="2F68B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kernel</a:t>
            </a:r>
            <a:endParaRPr lang="en-US" sz="1500" b="1">
              <a:solidFill>
                <a:srgbClr val="2F68B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4" name="Rectangle 43"/>
          <p:cNvSpPr>
            <a:spLocks noGrp="1"/>
          </p:cNvSpPr>
          <p:nvPr/>
        </p:nvSpPr>
        <p:spPr>
          <a:xfrm>
            <a:off x="3438525" y="1962150"/>
            <a:ext cx="352425" cy="352425"/>
          </a:xfrm>
          <a:prstGeom prst="rect">
            <a:avLst/>
          </a:prstGeom>
          <a:solidFill>
            <a:srgbClr val="FFF3DF"/>
          </a:solidFill>
          <a:ln w="9525">
            <a:solidFill>
              <a:srgbClr val="C58B35"/>
            </a:solidFill>
          </a:ln>
        </p:spPr>
        <p:txBody>
          <a:bodyPr anchor="ctr">
            <a:noAutofit/>
          </a:bodyPr>
          <a:lstStyle/>
          <a:p>
            <a:pPr algn="ctr">
              <a:defRPr sz="1125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25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</a:t>
            </a:r>
            <a:endParaRPr sz="1125" b="1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5" name="Rectangle 44"/>
          <p:cNvSpPr>
            <a:spLocks noGrp="1"/>
          </p:cNvSpPr>
          <p:nvPr/>
        </p:nvSpPr>
        <p:spPr>
          <a:xfrm>
            <a:off x="3790950" y="1962150"/>
            <a:ext cx="352425" cy="352425"/>
          </a:xfrm>
          <a:prstGeom prst="rect">
            <a:avLst/>
          </a:prstGeom>
          <a:solidFill>
            <a:srgbClr val="FFF3DF"/>
          </a:solidFill>
          <a:ln w="9525">
            <a:solidFill>
              <a:srgbClr val="C58B35"/>
            </a:solidFill>
          </a:ln>
        </p:spPr>
        <p:txBody>
          <a:bodyPr anchor="ctr">
            <a:noAutofit/>
          </a:bodyPr>
          <a:lstStyle/>
          <a:p>
            <a:pPr algn="ctr">
              <a:defRPr sz="1125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25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</a:t>
            </a:r>
            <a:endParaRPr sz="1125" b="1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6" name="Rectangle 45"/>
          <p:cNvSpPr>
            <a:spLocks noGrp="1"/>
          </p:cNvSpPr>
          <p:nvPr/>
        </p:nvSpPr>
        <p:spPr>
          <a:xfrm>
            <a:off x="4143375" y="1962150"/>
            <a:ext cx="352425" cy="352425"/>
          </a:xfrm>
          <a:prstGeom prst="rect">
            <a:avLst/>
          </a:prstGeom>
          <a:solidFill>
            <a:srgbClr val="FFF3DF"/>
          </a:solidFill>
          <a:ln w="9525">
            <a:solidFill>
              <a:srgbClr val="C58B35"/>
            </a:solidFill>
          </a:ln>
        </p:spPr>
        <p:txBody>
          <a:bodyPr anchor="ctr">
            <a:noAutofit/>
          </a:bodyPr>
          <a:lstStyle/>
          <a:p>
            <a:pPr algn="ctr">
              <a:defRPr sz="1125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25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-1</a:t>
            </a:r>
            <a:endParaRPr sz="1125" b="1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7" name="Rectangle 46"/>
          <p:cNvSpPr>
            <a:spLocks noGrp="1"/>
          </p:cNvSpPr>
          <p:nvPr/>
        </p:nvSpPr>
        <p:spPr>
          <a:xfrm>
            <a:off x="3438525" y="2314575"/>
            <a:ext cx="352425" cy="352425"/>
          </a:xfrm>
          <a:prstGeom prst="rect">
            <a:avLst/>
          </a:prstGeom>
          <a:solidFill>
            <a:srgbClr val="FFF3DF"/>
          </a:solidFill>
          <a:ln w="9525">
            <a:solidFill>
              <a:srgbClr val="C58B35"/>
            </a:solidFill>
          </a:ln>
        </p:spPr>
        <p:txBody>
          <a:bodyPr anchor="ctr">
            <a:noAutofit/>
          </a:bodyPr>
          <a:lstStyle/>
          <a:p>
            <a:pPr algn="ctr">
              <a:defRPr sz="1125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25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</a:t>
            </a:r>
            <a:endParaRPr sz="1125" b="1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8" name="Rectangle 47"/>
          <p:cNvSpPr>
            <a:spLocks noGrp="1"/>
          </p:cNvSpPr>
          <p:nvPr/>
        </p:nvSpPr>
        <p:spPr>
          <a:xfrm>
            <a:off x="3790950" y="2314575"/>
            <a:ext cx="352425" cy="352425"/>
          </a:xfrm>
          <a:prstGeom prst="rect">
            <a:avLst/>
          </a:prstGeom>
          <a:solidFill>
            <a:srgbClr val="FFF3DF"/>
          </a:solidFill>
          <a:ln w="9525">
            <a:solidFill>
              <a:srgbClr val="C58B35"/>
            </a:solidFill>
          </a:ln>
        </p:spPr>
        <p:txBody>
          <a:bodyPr anchor="ctr">
            <a:noAutofit/>
          </a:bodyPr>
          <a:lstStyle/>
          <a:p>
            <a:pPr algn="ctr">
              <a:defRPr sz="1125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25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</a:t>
            </a:r>
            <a:endParaRPr sz="1125" b="1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9" name="Rectangle 48"/>
          <p:cNvSpPr>
            <a:spLocks noGrp="1"/>
          </p:cNvSpPr>
          <p:nvPr/>
        </p:nvSpPr>
        <p:spPr>
          <a:xfrm>
            <a:off x="4143375" y="2314575"/>
            <a:ext cx="352425" cy="352425"/>
          </a:xfrm>
          <a:prstGeom prst="rect">
            <a:avLst/>
          </a:prstGeom>
          <a:solidFill>
            <a:srgbClr val="FFF3DF"/>
          </a:solidFill>
          <a:ln w="9525">
            <a:solidFill>
              <a:srgbClr val="C58B35"/>
            </a:solidFill>
          </a:ln>
        </p:spPr>
        <p:txBody>
          <a:bodyPr anchor="ctr">
            <a:noAutofit/>
          </a:bodyPr>
          <a:lstStyle/>
          <a:p>
            <a:pPr algn="ctr">
              <a:defRPr sz="1125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25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-1</a:t>
            </a:r>
            <a:endParaRPr sz="1125" b="1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0" name="Rectangle 49"/>
          <p:cNvSpPr>
            <a:spLocks noGrp="1"/>
          </p:cNvSpPr>
          <p:nvPr/>
        </p:nvSpPr>
        <p:spPr>
          <a:xfrm>
            <a:off x="3438525" y="2667000"/>
            <a:ext cx="352425" cy="352425"/>
          </a:xfrm>
          <a:prstGeom prst="rect">
            <a:avLst/>
          </a:prstGeom>
          <a:solidFill>
            <a:srgbClr val="FFF3DF"/>
          </a:solidFill>
          <a:ln w="9525">
            <a:solidFill>
              <a:srgbClr val="C58B35"/>
            </a:solidFill>
          </a:ln>
        </p:spPr>
        <p:txBody>
          <a:bodyPr anchor="ctr">
            <a:noAutofit/>
          </a:bodyPr>
          <a:lstStyle/>
          <a:p>
            <a:pPr algn="ctr">
              <a:defRPr sz="1125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25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</a:t>
            </a:r>
            <a:endParaRPr sz="1125" b="1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1" name="Rectangle 50"/>
          <p:cNvSpPr>
            <a:spLocks noGrp="1"/>
          </p:cNvSpPr>
          <p:nvPr/>
        </p:nvSpPr>
        <p:spPr>
          <a:xfrm>
            <a:off x="3790950" y="2667000"/>
            <a:ext cx="352425" cy="352425"/>
          </a:xfrm>
          <a:prstGeom prst="rect">
            <a:avLst/>
          </a:prstGeom>
          <a:solidFill>
            <a:srgbClr val="FFF3DF"/>
          </a:solidFill>
          <a:ln w="9525">
            <a:solidFill>
              <a:srgbClr val="C58B35"/>
            </a:solidFill>
          </a:ln>
        </p:spPr>
        <p:txBody>
          <a:bodyPr anchor="ctr">
            <a:noAutofit/>
          </a:bodyPr>
          <a:lstStyle/>
          <a:p>
            <a:pPr algn="ctr">
              <a:defRPr sz="1125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25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</a:t>
            </a:r>
            <a:endParaRPr sz="1125" b="1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2" name="Rectangle 51"/>
          <p:cNvSpPr>
            <a:spLocks noGrp="1"/>
          </p:cNvSpPr>
          <p:nvPr/>
        </p:nvSpPr>
        <p:spPr>
          <a:xfrm>
            <a:off x="4143375" y="2667000"/>
            <a:ext cx="352425" cy="352425"/>
          </a:xfrm>
          <a:prstGeom prst="rect">
            <a:avLst/>
          </a:prstGeom>
          <a:solidFill>
            <a:srgbClr val="FFF3DF"/>
          </a:solidFill>
          <a:ln w="9525">
            <a:solidFill>
              <a:srgbClr val="C58B35"/>
            </a:solidFill>
          </a:ln>
        </p:spPr>
        <p:txBody>
          <a:bodyPr anchor="ctr">
            <a:noAutofit/>
          </a:bodyPr>
          <a:lstStyle/>
          <a:p>
            <a:pPr algn="ctr">
              <a:defRPr sz="1125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25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-1</a:t>
            </a:r>
            <a:endParaRPr sz="1125" b="1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3" name="Rectangle 52"/>
          <p:cNvSpPr>
            <a:spLocks noGrp="1"/>
          </p:cNvSpPr>
          <p:nvPr/>
        </p:nvSpPr>
        <p:spPr>
          <a:xfrm>
            <a:off x="3400425" y="3105150"/>
            <a:ext cx="1477645" cy="2762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multiply + add</a:t>
            </a:r>
            <a:endParaRPr sz="1200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4" name="Rounded Rectangle 53"/>
          <p:cNvSpPr>
            <a:spLocks noGrp="1"/>
          </p:cNvSpPr>
          <p:nvPr/>
        </p:nvSpPr>
        <p:spPr>
          <a:xfrm>
            <a:off x="4619625" y="2152650"/>
            <a:ext cx="723900" cy="666750"/>
          </a:xfrm>
          <a:prstGeom prst="roundRect">
            <a:avLst>
              <a:gd name="adj" fmla="val 11429"/>
            </a:avLst>
          </a:prstGeom>
          <a:solidFill>
            <a:srgbClr val="E9F4E7"/>
          </a:solidFill>
          <a:ln w="11430">
            <a:solidFill>
              <a:srgbClr val="4D9B55"/>
            </a:solidFill>
          </a:ln>
        </p:spPr>
        <p:txBody>
          <a:bodyPr anchor="ctr">
            <a:noAutofit/>
          </a:bodyPr>
          <a:lstStyle/>
          <a:p>
            <a:pPr algn="ctr">
              <a:defRPr sz="1275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Output</a:t>
            </a:r>
            <a:endParaRPr sz="1275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defRPr sz="1275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6.2</a:t>
            </a:r>
            <a:endParaRPr sz="1275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5" name="Rectangle 54"/>
          <p:cNvSpPr>
            <a:spLocks noGrp="1"/>
          </p:cNvSpPr>
          <p:nvPr/>
        </p:nvSpPr>
        <p:spPr>
          <a:xfrm>
            <a:off x="3143250" y="3686175"/>
            <a:ext cx="22860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The same kernel </a:t>
            </a:r>
            <a:r>
              <a:rPr sz="1200" b="1">
                <a:solidFill>
                  <a:srgbClr val="111111"/>
                </a:solidFill>
                <a:latin typeface="Arial" panose="020B0604020202090204" pitchFamily="34" charset="0"/>
                <a:ea typeface="Arial" panose="020B0604020202090204"/>
                <a:cs typeface="Arial" panose="020B0604020202090204" pitchFamily="34" charset="0"/>
              </a:rPr>
              <a:t>slides </a:t>
            </a:r>
            <a:r>
              <a:rPr sz="1200" b="0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across </a:t>
            </a:r>
            <a:r>
              <a:rPr sz="1200" b="1">
                <a:solidFill>
                  <a:srgbClr val="111111"/>
                </a:solidFill>
                <a:latin typeface="Arial" panose="020B0604020202090204" pitchFamily="34" charset="0"/>
                <a:ea typeface="Arial" panose="020B0604020202090204"/>
                <a:cs typeface="Arial" panose="020B0604020202090204" pitchFamily="34" charset="0"/>
              </a:rPr>
              <a:t>the whole map</a:t>
            </a:r>
            <a:r>
              <a:rPr sz="1200" b="0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.</a:t>
            </a:r>
            <a:endParaRPr sz="1200" b="0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6" name="Right Arrow 55"/>
          <p:cNvSpPr>
            <a:spLocks noGrp="1"/>
          </p:cNvSpPr>
          <p:nvPr/>
        </p:nvSpPr>
        <p:spPr>
          <a:xfrm>
            <a:off x="5429250" y="2476500"/>
            <a:ext cx="400050" cy="209550"/>
          </a:xfrm>
          <a:prstGeom prst="rightArrow">
            <a:avLst/>
          </a:prstGeom>
          <a:solidFill>
            <a:srgbClr val="4A78C2"/>
          </a:solidFill>
          <a:ln w="0">
            <a:solidFill>
              <a:srgbClr val="4A78C2"/>
            </a:solidFill>
          </a:ln>
        </p:spPr>
      </p:sp>
      <p:sp>
        <p:nvSpPr>
          <p:cNvPr id="57" name="Rectangle 56"/>
          <p:cNvSpPr>
            <a:spLocks noGrp="1"/>
          </p:cNvSpPr>
          <p:nvPr/>
        </p:nvSpPr>
        <p:spPr>
          <a:xfrm>
            <a:off x="5876925" y="1323975"/>
            <a:ext cx="2667000" cy="2762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00" b="1">
                <a:solidFill>
                  <a:srgbClr val="2F68B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2F68B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3. Activation + Pooling</a:t>
            </a:r>
            <a:endParaRPr sz="1500" b="1">
              <a:solidFill>
                <a:srgbClr val="2F68B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8" name="Rectangle 57"/>
          <p:cNvSpPr>
            <a:spLocks noGrp="1"/>
          </p:cNvSpPr>
          <p:nvPr/>
        </p:nvSpPr>
        <p:spPr>
          <a:xfrm>
            <a:off x="5981700" y="1847850"/>
            <a:ext cx="342900" cy="342900"/>
          </a:xfrm>
          <a:prstGeom prst="rect">
            <a:avLst/>
          </a:prstGeom>
          <a:solidFill>
            <a:srgbClr val="EDF4FB"/>
          </a:solidFill>
          <a:ln w="7620">
            <a:solidFill>
              <a:srgbClr val="6F93B8"/>
            </a:solidFill>
          </a:ln>
        </p:spPr>
        <p:txBody>
          <a:bodyPr anchor="ctr">
            <a:noAutofit/>
          </a:bodyPr>
          <a:lstStyle/>
          <a:p>
            <a:pPr algn="ctr">
              <a:defRPr sz="105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</a:t>
            </a:r>
            <a:endParaRPr sz="1050">
              <a:solidFill>
                <a:srgbClr val="22222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9" name="Rectangle 58"/>
          <p:cNvSpPr>
            <a:spLocks noGrp="1"/>
          </p:cNvSpPr>
          <p:nvPr/>
        </p:nvSpPr>
        <p:spPr>
          <a:xfrm>
            <a:off x="6324600" y="1847850"/>
            <a:ext cx="342900" cy="342900"/>
          </a:xfrm>
          <a:prstGeom prst="rect">
            <a:avLst/>
          </a:prstGeom>
          <a:solidFill>
            <a:srgbClr val="EDF4FB"/>
          </a:solidFill>
          <a:ln w="7620">
            <a:solidFill>
              <a:srgbClr val="6F93B8"/>
            </a:solidFill>
          </a:ln>
        </p:spPr>
        <p:txBody>
          <a:bodyPr anchor="ctr">
            <a:noAutofit/>
          </a:bodyPr>
          <a:lstStyle/>
          <a:p>
            <a:pPr algn="ctr">
              <a:defRPr sz="105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</a:t>
            </a:r>
            <a:endParaRPr sz="1050">
              <a:solidFill>
                <a:srgbClr val="22222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0" name="Rectangle 59"/>
          <p:cNvSpPr>
            <a:spLocks noGrp="1"/>
          </p:cNvSpPr>
          <p:nvPr/>
        </p:nvSpPr>
        <p:spPr>
          <a:xfrm>
            <a:off x="6667500" y="1847850"/>
            <a:ext cx="342900" cy="342900"/>
          </a:xfrm>
          <a:prstGeom prst="rect">
            <a:avLst/>
          </a:prstGeom>
          <a:solidFill>
            <a:srgbClr val="EDF4FB"/>
          </a:solidFill>
          <a:ln w="7620">
            <a:solidFill>
              <a:srgbClr val="6F93B8"/>
            </a:solidFill>
          </a:ln>
        </p:spPr>
        <p:txBody>
          <a:bodyPr anchor="ctr">
            <a:noAutofit/>
          </a:bodyPr>
          <a:lstStyle/>
          <a:p>
            <a:pPr algn="ctr">
              <a:defRPr sz="105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</a:t>
            </a:r>
            <a:endParaRPr sz="1050">
              <a:solidFill>
                <a:srgbClr val="22222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1" name="Rectangle 60"/>
          <p:cNvSpPr>
            <a:spLocks noGrp="1"/>
          </p:cNvSpPr>
          <p:nvPr/>
        </p:nvSpPr>
        <p:spPr>
          <a:xfrm>
            <a:off x="7010400" y="1847850"/>
            <a:ext cx="342900" cy="342900"/>
          </a:xfrm>
          <a:prstGeom prst="rect">
            <a:avLst/>
          </a:prstGeom>
          <a:solidFill>
            <a:srgbClr val="B9D8F5"/>
          </a:solidFill>
          <a:ln w="7620">
            <a:solidFill>
              <a:srgbClr val="6F93B8"/>
            </a:solidFill>
          </a:ln>
        </p:spPr>
        <p:txBody>
          <a:bodyPr anchor="ctr">
            <a:noAutofit/>
          </a:bodyPr>
          <a:lstStyle/>
          <a:p>
            <a:pPr algn="ctr">
              <a:defRPr sz="105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</a:t>
            </a:r>
            <a:endParaRPr sz="1050">
              <a:solidFill>
                <a:srgbClr val="22222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2" name="Rectangle 61"/>
          <p:cNvSpPr>
            <a:spLocks noGrp="1"/>
          </p:cNvSpPr>
          <p:nvPr/>
        </p:nvSpPr>
        <p:spPr>
          <a:xfrm>
            <a:off x="5981700" y="2190750"/>
            <a:ext cx="342900" cy="342900"/>
          </a:xfrm>
          <a:prstGeom prst="rect">
            <a:avLst/>
          </a:prstGeom>
          <a:solidFill>
            <a:srgbClr val="EDF4FB"/>
          </a:solidFill>
          <a:ln w="7620">
            <a:solidFill>
              <a:srgbClr val="6F93B8"/>
            </a:solidFill>
          </a:ln>
        </p:spPr>
        <p:txBody>
          <a:bodyPr anchor="ctr">
            <a:noAutofit/>
          </a:bodyPr>
          <a:lstStyle/>
          <a:p>
            <a:pPr algn="ctr">
              <a:defRPr sz="105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</a:t>
            </a:r>
            <a:endParaRPr sz="1050">
              <a:solidFill>
                <a:srgbClr val="22222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3" name="Rectangle 62"/>
          <p:cNvSpPr>
            <a:spLocks noGrp="1"/>
          </p:cNvSpPr>
          <p:nvPr/>
        </p:nvSpPr>
        <p:spPr>
          <a:xfrm>
            <a:off x="6324600" y="2190750"/>
            <a:ext cx="342900" cy="342900"/>
          </a:xfrm>
          <a:prstGeom prst="rect">
            <a:avLst/>
          </a:prstGeom>
          <a:solidFill>
            <a:srgbClr val="B9D8F5"/>
          </a:solidFill>
          <a:ln w="7620">
            <a:solidFill>
              <a:srgbClr val="6F93B8"/>
            </a:solidFill>
          </a:ln>
        </p:spPr>
        <p:txBody>
          <a:bodyPr anchor="ctr">
            <a:noAutofit/>
          </a:bodyPr>
          <a:lstStyle/>
          <a:p>
            <a:pPr algn="ctr">
              <a:defRPr sz="105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</a:t>
            </a:r>
            <a:endParaRPr sz="1050">
              <a:solidFill>
                <a:srgbClr val="22222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4" name="Rectangle 63"/>
          <p:cNvSpPr>
            <a:spLocks noGrp="1"/>
          </p:cNvSpPr>
          <p:nvPr/>
        </p:nvSpPr>
        <p:spPr>
          <a:xfrm>
            <a:off x="6667500" y="2190750"/>
            <a:ext cx="342900" cy="342900"/>
          </a:xfrm>
          <a:prstGeom prst="rect">
            <a:avLst/>
          </a:prstGeom>
          <a:solidFill>
            <a:srgbClr val="79AEE3"/>
          </a:solidFill>
          <a:ln w="7620">
            <a:solidFill>
              <a:srgbClr val="6F93B8"/>
            </a:solidFill>
          </a:ln>
        </p:spPr>
        <p:txBody>
          <a:bodyPr anchor="ctr">
            <a:noAutofit/>
          </a:bodyPr>
          <a:lstStyle/>
          <a:p>
            <a:pPr algn="ctr">
              <a:defRPr sz="105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5</a:t>
            </a:r>
            <a:endParaRPr sz="1050">
              <a:solidFill>
                <a:srgbClr val="22222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5" name="Rectangle 64"/>
          <p:cNvSpPr>
            <a:spLocks noGrp="1"/>
          </p:cNvSpPr>
          <p:nvPr/>
        </p:nvSpPr>
        <p:spPr>
          <a:xfrm>
            <a:off x="7010400" y="2190750"/>
            <a:ext cx="342900" cy="342900"/>
          </a:xfrm>
          <a:prstGeom prst="rect">
            <a:avLst/>
          </a:prstGeom>
          <a:solidFill>
            <a:srgbClr val="EDF4FB"/>
          </a:solidFill>
          <a:ln w="7620">
            <a:solidFill>
              <a:srgbClr val="6F93B8"/>
            </a:solidFill>
          </a:ln>
        </p:spPr>
        <p:txBody>
          <a:bodyPr anchor="ctr">
            <a:noAutofit/>
          </a:bodyPr>
          <a:lstStyle/>
          <a:p>
            <a:pPr algn="ctr">
              <a:defRPr sz="105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</a:t>
            </a:r>
            <a:endParaRPr sz="1050">
              <a:solidFill>
                <a:srgbClr val="22222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6" name="Rectangle 65"/>
          <p:cNvSpPr>
            <a:spLocks noGrp="1"/>
          </p:cNvSpPr>
          <p:nvPr/>
        </p:nvSpPr>
        <p:spPr>
          <a:xfrm>
            <a:off x="5981700" y="2533650"/>
            <a:ext cx="342900" cy="342900"/>
          </a:xfrm>
          <a:prstGeom prst="rect">
            <a:avLst/>
          </a:prstGeom>
          <a:solidFill>
            <a:srgbClr val="EDF4FB"/>
          </a:solidFill>
          <a:ln w="7620">
            <a:solidFill>
              <a:srgbClr val="6F93B8"/>
            </a:solidFill>
          </a:ln>
        </p:spPr>
        <p:txBody>
          <a:bodyPr anchor="ctr">
            <a:noAutofit/>
          </a:bodyPr>
          <a:lstStyle/>
          <a:p>
            <a:pPr algn="ctr">
              <a:defRPr sz="105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</a:t>
            </a:r>
            <a:endParaRPr sz="1050">
              <a:solidFill>
                <a:srgbClr val="22222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7" name="Rectangle 66"/>
          <p:cNvSpPr>
            <a:spLocks noGrp="1"/>
          </p:cNvSpPr>
          <p:nvPr/>
        </p:nvSpPr>
        <p:spPr>
          <a:xfrm>
            <a:off x="6324600" y="2533650"/>
            <a:ext cx="342900" cy="342900"/>
          </a:xfrm>
          <a:prstGeom prst="rect">
            <a:avLst/>
          </a:prstGeom>
          <a:solidFill>
            <a:srgbClr val="B9D8F5"/>
          </a:solidFill>
          <a:ln w="7620">
            <a:solidFill>
              <a:srgbClr val="6F93B8"/>
            </a:solidFill>
          </a:ln>
        </p:spPr>
        <p:txBody>
          <a:bodyPr anchor="ctr">
            <a:noAutofit/>
          </a:bodyPr>
          <a:lstStyle/>
          <a:p>
            <a:pPr algn="ctr">
              <a:defRPr sz="105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</a:t>
            </a:r>
            <a:endParaRPr sz="1050">
              <a:solidFill>
                <a:srgbClr val="22222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8" name="Rectangle 67"/>
          <p:cNvSpPr>
            <a:spLocks noGrp="1"/>
          </p:cNvSpPr>
          <p:nvPr/>
        </p:nvSpPr>
        <p:spPr>
          <a:xfrm>
            <a:off x="6667500" y="2533650"/>
            <a:ext cx="342900" cy="342900"/>
          </a:xfrm>
          <a:prstGeom prst="rect">
            <a:avLst/>
          </a:prstGeom>
          <a:solidFill>
            <a:srgbClr val="79AEE3"/>
          </a:solidFill>
          <a:ln w="7620">
            <a:solidFill>
              <a:srgbClr val="6F93B8"/>
            </a:solidFill>
          </a:ln>
        </p:spPr>
        <p:txBody>
          <a:bodyPr anchor="ctr">
            <a:noAutofit/>
          </a:bodyPr>
          <a:lstStyle/>
          <a:p>
            <a:pPr algn="ctr">
              <a:defRPr sz="105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4</a:t>
            </a:r>
            <a:endParaRPr sz="1050">
              <a:solidFill>
                <a:srgbClr val="22222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9" name="Rectangle 68"/>
          <p:cNvSpPr>
            <a:spLocks noGrp="1"/>
          </p:cNvSpPr>
          <p:nvPr/>
        </p:nvSpPr>
        <p:spPr>
          <a:xfrm>
            <a:off x="7010400" y="2533650"/>
            <a:ext cx="342900" cy="342900"/>
          </a:xfrm>
          <a:prstGeom prst="rect">
            <a:avLst/>
          </a:prstGeom>
          <a:solidFill>
            <a:srgbClr val="EDF4FB"/>
          </a:solidFill>
          <a:ln w="7620">
            <a:solidFill>
              <a:srgbClr val="6F93B8"/>
            </a:solidFill>
          </a:ln>
        </p:spPr>
        <p:txBody>
          <a:bodyPr anchor="ctr">
            <a:noAutofit/>
          </a:bodyPr>
          <a:lstStyle/>
          <a:p>
            <a:pPr algn="ctr">
              <a:defRPr sz="105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</a:t>
            </a:r>
            <a:endParaRPr sz="1050">
              <a:solidFill>
                <a:srgbClr val="22222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0" name="Rectangle 69"/>
          <p:cNvSpPr>
            <a:spLocks noGrp="1"/>
          </p:cNvSpPr>
          <p:nvPr/>
        </p:nvSpPr>
        <p:spPr>
          <a:xfrm>
            <a:off x="5981700" y="2876550"/>
            <a:ext cx="342900" cy="342900"/>
          </a:xfrm>
          <a:prstGeom prst="rect">
            <a:avLst/>
          </a:prstGeom>
          <a:solidFill>
            <a:srgbClr val="EDF4FB"/>
          </a:solidFill>
          <a:ln w="7620">
            <a:solidFill>
              <a:srgbClr val="6F93B8"/>
            </a:solidFill>
          </a:ln>
        </p:spPr>
        <p:txBody>
          <a:bodyPr anchor="ctr">
            <a:noAutofit/>
          </a:bodyPr>
          <a:lstStyle/>
          <a:p>
            <a:pPr algn="ctr">
              <a:defRPr sz="105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</a:t>
            </a:r>
            <a:endParaRPr sz="1050">
              <a:solidFill>
                <a:srgbClr val="22222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1" name="Rectangle 70"/>
          <p:cNvSpPr>
            <a:spLocks noGrp="1"/>
          </p:cNvSpPr>
          <p:nvPr/>
        </p:nvSpPr>
        <p:spPr>
          <a:xfrm>
            <a:off x="6324600" y="2876550"/>
            <a:ext cx="342900" cy="342900"/>
          </a:xfrm>
          <a:prstGeom prst="rect">
            <a:avLst/>
          </a:prstGeom>
          <a:solidFill>
            <a:srgbClr val="EDF4FB"/>
          </a:solidFill>
          <a:ln w="7620">
            <a:solidFill>
              <a:srgbClr val="6F93B8"/>
            </a:solidFill>
          </a:ln>
        </p:spPr>
        <p:txBody>
          <a:bodyPr anchor="ctr">
            <a:noAutofit/>
          </a:bodyPr>
          <a:lstStyle/>
          <a:p>
            <a:pPr algn="ctr">
              <a:defRPr sz="105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</a:t>
            </a:r>
            <a:endParaRPr sz="1050">
              <a:solidFill>
                <a:srgbClr val="22222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2" name="Rectangle 71"/>
          <p:cNvSpPr>
            <a:spLocks noGrp="1"/>
          </p:cNvSpPr>
          <p:nvPr/>
        </p:nvSpPr>
        <p:spPr>
          <a:xfrm>
            <a:off x="6667500" y="2876550"/>
            <a:ext cx="342900" cy="342900"/>
          </a:xfrm>
          <a:prstGeom prst="rect">
            <a:avLst/>
          </a:prstGeom>
          <a:solidFill>
            <a:srgbClr val="B9D8F5"/>
          </a:solidFill>
          <a:ln w="7620">
            <a:solidFill>
              <a:srgbClr val="6F93B8"/>
            </a:solidFill>
          </a:ln>
        </p:spPr>
        <p:txBody>
          <a:bodyPr anchor="ctr">
            <a:noAutofit/>
          </a:bodyPr>
          <a:lstStyle/>
          <a:p>
            <a:pPr algn="ctr">
              <a:defRPr sz="105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</a:t>
            </a:r>
            <a:endParaRPr sz="1050">
              <a:solidFill>
                <a:srgbClr val="22222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3" name="Rectangle 72"/>
          <p:cNvSpPr>
            <a:spLocks noGrp="1"/>
          </p:cNvSpPr>
          <p:nvPr/>
        </p:nvSpPr>
        <p:spPr>
          <a:xfrm>
            <a:off x="7010400" y="2876550"/>
            <a:ext cx="342900" cy="342900"/>
          </a:xfrm>
          <a:prstGeom prst="rect">
            <a:avLst/>
          </a:prstGeom>
          <a:solidFill>
            <a:srgbClr val="EDF4FB"/>
          </a:solidFill>
          <a:ln w="7620">
            <a:solidFill>
              <a:srgbClr val="6F93B8"/>
            </a:solidFill>
          </a:ln>
        </p:spPr>
        <p:txBody>
          <a:bodyPr anchor="ctr">
            <a:noAutofit/>
          </a:bodyPr>
          <a:lstStyle/>
          <a:p>
            <a:pPr algn="ctr">
              <a:defRPr sz="105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</a:t>
            </a:r>
            <a:endParaRPr sz="1050">
              <a:solidFill>
                <a:srgbClr val="22222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4" name="Rectangle 73"/>
          <p:cNvSpPr>
            <a:spLocks noGrp="1"/>
          </p:cNvSpPr>
          <p:nvPr/>
        </p:nvSpPr>
        <p:spPr>
          <a:xfrm>
            <a:off x="5580380" y="3314700"/>
            <a:ext cx="2135505" cy="294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ReLU keeps positive evidence</a:t>
            </a:r>
            <a:endParaRPr sz="1200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5" name="Right Arrow 74"/>
          <p:cNvSpPr>
            <a:spLocks noGrp="1"/>
          </p:cNvSpPr>
          <p:nvPr/>
        </p:nvSpPr>
        <p:spPr>
          <a:xfrm>
            <a:off x="7543800" y="2362200"/>
            <a:ext cx="323850" cy="209550"/>
          </a:xfrm>
          <a:prstGeom prst="rightArrow">
            <a:avLst/>
          </a:prstGeom>
          <a:solidFill>
            <a:srgbClr val="4A78C2"/>
          </a:solidFill>
          <a:ln w="0">
            <a:solidFill>
              <a:srgbClr val="4A78C2"/>
            </a:solidFill>
          </a:ln>
        </p:spPr>
      </p:sp>
      <p:sp>
        <p:nvSpPr>
          <p:cNvPr id="76" name="Rectangle 75"/>
          <p:cNvSpPr>
            <a:spLocks noGrp="1"/>
          </p:cNvSpPr>
          <p:nvPr/>
        </p:nvSpPr>
        <p:spPr>
          <a:xfrm>
            <a:off x="7981950" y="2152650"/>
            <a:ext cx="361950" cy="361950"/>
          </a:xfrm>
          <a:prstGeom prst="rect">
            <a:avLst/>
          </a:prstGeom>
          <a:solidFill>
            <a:srgbClr val="DDEEDB"/>
          </a:solidFill>
          <a:ln w="9525">
            <a:solidFill>
              <a:srgbClr val="4D9B55"/>
            </a:solidFill>
          </a:ln>
        </p:spPr>
        <p:txBody>
          <a:bodyPr anchor="ctr">
            <a:noAutofit/>
          </a:bodyPr>
          <a:lstStyle/>
          <a:p>
            <a:pPr algn="ctr">
              <a:defRPr sz="1125" b="1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25" b="1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</a:t>
            </a:r>
            <a:endParaRPr sz="1125" b="1">
              <a:solidFill>
                <a:srgbClr val="22222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7" name="Rectangle 76"/>
          <p:cNvSpPr>
            <a:spLocks noGrp="1"/>
          </p:cNvSpPr>
          <p:nvPr/>
        </p:nvSpPr>
        <p:spPr>
          <a:xfrm>
            <a:off x="8343900" y="2152650"/>
            <a:ext cx="361950" cy="361950"/>
          </a:xfrm>
          <a:prstGeom prst="rect">
            <a:avLst/>
          </a:prstGeom>
          <a:solidFill>
            <a:srgbClr val="DDEEDB"/>
          </a:solidFill>
          <a:ln w="9525">
            <a:solidFill>
              <a:srgbClr val="4D9B55"/>
            </a:solidFill>
          </a:ln>
        </p:spPr>
        <p:txBody>
          <a:bodyPr anchor="ctr">
            <a:noAutofit/>
          </a:bodyPr>
          <a:lstStyle/>
          <a:p>
            <a:pPr algn="ctr">
              <a:defRPr sz="1125" b="1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25" b="1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5</a:t>
            </a:r>
            <a:endParaRPr sz="1125" b="1">
              <a:solidFill>
                <a:srgbClr val="22222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8" name="Rectangle 77"/>
          <p:cNvSpPr>
            <a:spLocks noGrp="1"/>
          </p:cNvSpPr>
          <p:nvPr/>
        </p:nvSpPr>
        <p:spPr>
          <a:xfrm>
            <a:off x="7981950" y="2514600"/>
            <a:ext cx="361950" cy="361950"/>
          </a:xfrm>
          <a:prstGeom prst="rect">
            <a:avLst/>
          </a:prstGeom>
          <a:solidFill>
            <a:srgbClr val="DDEEDB"/>
          </a:solidFill>
          <a:ln w="9525">
            <a:solidFill>
              <a:srgbClr val="4D9B55"/>
            </a:solidFill>
          </a:ln>
        </p:spPr>
        <p:txBody>
          <a:bodyPr anchor="ctr">
            <a:noAutofit/>
          </a:bodyPr>
          <a:lstStyle/>
          <a:p>
            <a:pPr algn="ctr">
              <a:defRPr sz="1125" b="1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25" b="1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</a:t>
            </a:r>
            <a:endParaRPr sz="1125" b="1">
              <a:solidFill>
                <a:srgbClr val="22222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9" name="Rectangle 78"/>
          <p:cNvSpPr>
            <a:spLocks noGrp="1"/>
          </p:cNvSpPr>
          <p:nvPr/>
        </p:nvSpPr>
        <p:spPr>
          <a:xfrm>
            <a:off x="8343900" y="2514600"/>
            <a:ext cx="361950" cy="361950"/>
          </a:xfrm>
          <a:prstGeom prst="rect">
            <a:avLst/>
          </a:prstGeom>
          <a:solidFill>
            <a:srgbClr val="DDEEDB"/>
          </a:solidFill>
          <a:ln w="9525">
            <a:solidFill>
              <a:srgbClr val="4D9B55"/>
            </a:solidFill>
          </a:ln>
        </p:spPr>
        <p:txBody>
          <a:bodyPr anchor="ctr">
            <a:noAutofit/>
          </a:bodyPr>
          <a:lstStyle/>
          <a:p>
            <a:pPr algn="ctr">
              <a:defRPr sz="1125" b="1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25" b="1">
                <a:solidFill>
                  <a:srgbClr val="22222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4</a:t>
            </a:r>
            <a:endParaRPr sz="1125" b="1">
              <a:solidFill>
                <a:srgbClr val="22222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0" name="Rectangle 79"/>
          <p:cNvSpPr>
            <a:spLocks noGrp="1"/>
          </p:cNvSpPr>
          <p:nvPr/>
        </p:nvSpPr>
        <p:spPr>
          <a:xfrm>
            <a:off x="6286500" y="3789045"/>
            <a:ext cx="2333625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00" b="0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1">
                <a:solidFill>
                  <a:srgbClr val="111111"/>
                </a:solidFill>
                <a:latin typeface="Arial" panose="020B0604020202090204" pitchFamily="34" charset="0"/>
                <a:ea typeface="Arial" panose="020B0604020202090204"/>
                <a:cs typeface="Arial" panose="020B0604020202090204" pitchFamily="34" charset="0"/>
              </a:rPr>
              <a:t>Max</a:t>
            </a:r>
            <a:r>
              <a:rPr sz="1200" b="0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pooling keeps the </a:t>
            </a:r>
            <a:r>
              <a:rPr sz="1200" b="1">
                <a:solidFill>
                  <a:srgbClr val="111111"/>
                </a:solidFill>
                <a:latin typeface="Arial" panose="020B0604020202090204" pitchFamily="34" charset="0"/>
                <a:ea typeface="Arial" panose="020B0604020202090204"/>
                <a:cs typeface="Arial" panose="020B0604020202090204" pitchFamily="34" charset="0"/>
              </a:rPr>
              <a:t>strongest value</a:t>
            </a:r>
            <a:r>
              <a:rPr sz="1200" b="0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in each region.</a:t>
            </a:r>
            <a:endParaRPr sz="1200" b="0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1" name="Rectangle 80"/>
          <p:cNvSpPr>
            <a:spLocks noGrp="1"/>
          </p:cNvSpPr>
          <p:nvPr/>
        </p:nvSpPr>
        <p:spPr>
          <a:xfrm>
            <a:off x="590550" y="4419600"/>
            <a:ext cx="7962900" cy="14288"/>
          </a:xfrm>
          <a:prstGeom prst="rect">
            <a:avLst/>
          </a:prstGeom>
          <a:solidFill>
            <a:srgbClr val="BBBBBB"/>
          </a:solidFill>
          <a:ln w="0">
            <a:noFill/>
          </a:ln>
        </p:spPr>
      </p:sp>
      <p:sp>
        <p:nvSpPr>
          <p:cNvPr id="82" name="Rectangle 81"/>
          <p:cNvSpPr>
            <a:spLocks noGrp="1"/>
          </p:cNvSpPr>
          <p:nvPr/>
        </p:nvSpPr>
        <p:spPr>
          <a:xfrm>
            <a:off x="666750" y="4572000"/>
            <a:ext cx="2857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What changes after the block?</a:t>
            </a:r>
            <a:endParaRPr sz="1500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3" name="Rounded Rectangle 82"/>
          <p:cNvSpPr>
            <a:spLocks noGrp="1"/>
          </p:cNvSpPr>
          <p:nvPr/>
        </p:nvSpPr>
        <p:spPr>
          <a:xfrm>
            <a:off x="885825" y="5057775"/>
            <a:ext cx="1714500" cy="704850"/>
          </a:xfrm>
          <a:prstGeom prst="roundRect">
            <a:avLst>
              <a:gd name="adj" fmla="val 10811"/>
            </a:avLst>
          </a:prstGeom>
          <a:solidFill>
            <a:srgbClr val="F5F5F5"/>
          </a:solidFill>
          <a:ln w="11430">
            <a:solidFill>
              <a:srgbClr val="666666"/>
            </a:solidFill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Spatial size</a:t>
            </a:r>
            <a:endParaRPr sz="1350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defRPr sz="135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smaller</a:t>
            </a:r>
            <a:endParaRPr sz="1350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4" name="Rounded Rectangle 83"/>
          <p:cNvSpPr>
            <a:spLocks noGrp="1"/>
          </p:cNvSpPr>
          <p:nvPr/>
        </p:nvSpPr>
        <p:spPr>
          <a:xfrm>
            <a:off x="3714750" y="5057775"/>
            <a:ext cx="1714500" cy="704850"/>
          </a:xfrm>
          <a:prstGeom prst="roundRect">
            <a:avLst>
              <a:gd name="adj" fmla="val 10811"/>
            </a:avLst>
          </a:prstGeom>
          <a:solidFill>
            <a:srgbClr val="EAF2FC"/>
          </a:solidFill>
          <a:ln w="11430">
            <a:solidFill>
              <a:srgbClr val="4A78C2"/>
            </a:solidFill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Channels</a:t>
            </a:r>
            <a:endParaRPr sz="1350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defRPr sz="135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usually larger</a:t>
            </a:r>
            <a:endParaRPr sz="1350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5" name="Rounded Rectangle 84"/>
          <p:cNvSpPr>
            <a:spLocks noGrp="1"/>
          </p:cNvSpPr>
          <p:nvPr/>
        </p:nvSpPr>
        <p:spPr>
          <a:xfrm>
            <a:off x="6543675" y="5057775"/>
            <a:ext cx="1714500" cy="704850"/>
          </a:xfrm>
          <a:prstGeom prst="roundRect">
            <a:avLst>
              <a:gd name="adj" fmla="val 10811"/>
            </a:avLst>
          </a:prstGeom>
          <a:solidFill>
            <a:srgbClr val="FFF3DF"/>
          </a:solidFill>
          <a:ln w="11430">
            <a:solidFill>
              <a:srgbClr val="C58B35"/>
            </a:solidFill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Features</a:t>
            </a:r>
            <a:endParaRPr sz="1350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defRPr sz="135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more meaningful</a:t>
            </a:r>
            <a:endParaRPr sz="1350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6" name="Rectangle 85"/>
          <p:cNvSpPr>
            <a:spLocks noGrp="1"/>
          </p:cNvSpPr>
          <p:nvPr/>
        </p:nvSpPr>
        <p:spPr>
          <a:xfrm>
            <a:off x="1657350" y="5943600"/>
            <a:ext cx="58293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2F68B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1">
                <a:solidFill>
                  <a:srgbClr val="2F68B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The next block repeats the same process on the new feature maps.</a:t>
            </a:r>
            <a:endParaRPr sz="1350" b="1">
              <a:solidFill>
                <a:srgbClr val="2F68B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7" name="Rectangle 86"/>
          <p:cNvSpPr>
            <a:spLocks noGrp="1"/>
          </p:cNvSpPr>
          <p:nvPr/>
        </p:nvSpPr>
        <p:spPr>
          <a:xfrm>
            <a:off x="514350" y="6477000"/>
            <a:ext cx="8115300" cy="19050"/>
          </a:xfrm>
          <a:prstGeom prst="rect">
            <a:avLst/>
          </a:prstGeom>
          <a:solidFill>
            <a:srgbClr val="555555"/>
          </a:solidFill>
          <a:ln w="0">
            <a:solidFill>
              <a:srgbClr val="555555"/>
            </a:solidFill>
          </a:ln>
        </p:spPr>
      </p:sp>
      <p:sp>
        <p:nvSpPr>
          <p:cNvPr id="91" name="Rectangle 90"/>
          <p:cNvSpPr>
            <a:spLocks noGrp="1"/>
          </p:cNvSpPr>
          <p:nvPr/>
        </p:nvSpPr>
        <p:spPr>
          <a:xfrm>
            <a:off x="7596505" y="3285490"/>
            <a:ext cx="1612265" cy="294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lang="en-US" sz="1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Pooling reduces the spatial resolution</a:t>
            </a:r>
            <a:endParaRPr lang="en-US" sz="1200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Rectangle 8"/>
          <p:cNvSpPr>
            <a:spLocks noGrp="1"/>
          </p:cNvSpPr>
          <p:nvPr/>
        </p:nvSpPr>
        <p:spPr>
          <a:xfrm>
            <a:off x="457200" y="190500"/>
            <a:ext cx="59436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000"/>
          </a:bodyPr>
          <a:lstStyle/>
          <a:p>
            <a:pPr algn="l">
              <a:defRPr sz="225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25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Convolution</a:t>
            </a:r>
            <a:r>
              <a:rPr lang="en-US" sz="225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Computation over Sliding Window</a:t>
            </a:r>
            <a:endParaRPr lang="en-US" sz="2250" b="1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381000" y="628650"/>
            <a:ext cx="6096000" cy="19050"/>
          </a:xfrm>
          <a:prstGeom prst="rect">
            <a:avLst/>
          </a:prstGeom>
          <a:solidFill>
            <a:srgbClr val="222222"/>
          </a:solidFill>
          <a:ln w="0">
            <a:noFill/>
          </a:ln>
        </p:spPr>
      </p:sp>
      <p:sp>
        <p:nvSpPr>
          <p:cNvPr id="5" name="Rectangle 4"/>
          <p:cNvSpPr>
            <a:spLocks noGrp="1"/>
          </p:cNvSpPr>
          <p:nvPr/>
        </p:nvSpPr>
        <p:spPr>
          <a:xfrm>
            <a:off x="628650" y="723900"/>
            <a:ext cx="56197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6369"/>
          </a:bodyPr>
          <a:lstStyle/>
          <a:p>
            <a:pPr algn="l">
              <a:def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Multiply nine input values by nine kernel weights, add the products, then add the bias.</a:t>
            </a:r>
            <a:endParaRPr sz="1575" b="1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3940" y="1085850"/>
            <a:ext cx="6742430" cy="5057140"/>
          </a:xfrm>
          <a:prstGeom prst="rect">
            <a:avLst/>
          </a:prstGeom>
        </p:spPr>
      </p:pic>
      <p:sp>
        <p:nvSpPr>
          <p:cNvPr id="7" name="Rectangle 6"/>
          <p:cNvSpPr>
            <a:spLocks noGrp="1"/>
          </p:cNvSpPr>
          <p:nvPr/>
        </p:nvSpPr>
        <p:spPr>
          <a:xfrm>
            <a:off x="1475740" y="6268720"/>
            <a:ext cx="5524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000"/>
          </a:bodyPr>
          <a:lstStyle/>
          <a:p>
            <a:pPr algn="ctr">
              <a:defRPr sz="1350" b="1">
                <a:solidFill>
                  <a:srgbClr val="3F78C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lang="en-US" sz="1350" b="1">
                <a:solidFill>
                  <a:srgbClr val="3F78C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At each time, t</a:t>
            </a:r>
            <a:r>
              <a:rPr sz="1350" b="1">
                <a:solidFill>
                  <a:srgbClr val="3F78C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he result fills one position in the output feature map</a:t>
            </a:r>
            <a:endParaRPr sz="1350" b="1">
              <a:solidFill>
                <a:srgbClr val="3F78C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6" name="Rectangle 245"/>
          <p:cNvSpPr>
            <a:spLocks noGrp="1"/>
          </p:cNvSpPr>
          <p:nvPr/>
        </p:nvSpPr>
        <p:spPr>
          <a:xfrm>
            <a:off x="609600" y="254000"/>
            <a:ext cx="792480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32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32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Padding and Stride</a:t>
            </a:r>
            <a:endParaRPr sz="2325" b="1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08000" y="838200"/>
            <a:ext cx="8128000" cy="25400"/>
          </a:xfrm>
          <a:prstGeom prst="rect">
            <a:avLst/>
          </a:prstGeom>
          <a:solidFill>
            <a:srgbClr val="222222"/>
          </a:solidFill>
          <a:ln w="0">
            <a:noFill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660400" y="863600"/>
            <a:ext cx="7823200" cy="6172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3F78C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>
                <a:solidFill>
                  <a:srgbClr val="3F78C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Padding adds a border around the input</a:t>
            </a:r>
            <a:r>
              <a:rPr lang="en-US" sz="1575" b="1">
                <a:solidFill>
                  <a:srgbClr val="3F78C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, making sure every pixel can be in the center of a sliding window</a:t>
            </a:r>
            <a:endParaRPr lang="en-US" sz="1575" b="1">
              <a:solidFill>
                <a:srgbClr val="3F78C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863600" y="1371600"/>
            <a:ext cx="2222500" cy="355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Original 5 × 5 input</a:t>
            </a:r>
            <a:endParaRPr sz="1350" b="1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1270000" y="1752600"/>
            <a:ext cx="279400" cy="2794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1549400" y="1752600"/>
            <a:ext cx="279400" cy="2794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1828800" y="1752600"/>
            <a:ext cx="279400" cy="2794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</p:sp>
      <p:sp>
        <p:nvSpPr>
          <p:cNvPr id="8" name="Rectangle 7"/>
          <p:cNvSpPr>
            <a:spLocks noGrp="1"/>
          </p:cNvSpPr>
          <p:nvPr/>
        </p:nvSpPr>
        <p:spPr>
          <a:xfrm>
            <a:off x="2108200" y="1752600"/>
            <a:ext cx="279400" cy="2794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2387600" y="1752600"/>
            <a:ext cx="279400" cy="2794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1270000" y="2032000"/>
            <a:ext cx="279400" cy="2794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</p:sp>
      <p:sp>
        <p:nvSpPr>
          <p:cNvPr id="11" name="Rectangle 10"/>
          <p:cNvSpPr>
            <a:spLocks noGrp="1"/>
          </p:cNvSpPr>
          <p:nvPr/>
        </p:nvSpPr>
        <p:spPr>
          <a:xfrm>
            <a:off x="1549400" y="2032000"/>
            <a:ext cx="279400" cy="2794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</p:sp>
      <p:sp>
        <p:nvSpPr>
          <p:cNvPr id="12" name="Rectangle 11"/>
          <p:cNvSpPr>
            <a:spLocks noGrp="1"/>
          </p:cNvSpPr>
          <p:nvPr/>
        </p:nvSpPr>
        <p:spPr>
          <a:xfrm>
            <a:off x="1828800" y="2032000"/>
            <a:ext cx="279400" cy="2794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2108200" y="2032000"/>
            <a:ext cx="279400" cy="2794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2387600" y="2032000"/>
            <a:ext cx="279400" cy="2794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1270000" y="2311400"/>
            <a:ext cx="279400" cy="2794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</p:sp>
      <p:sp>
        <p:nvSpPr>
          <p:cNvPr id="16" name="Rectangle 15"/>
          <p:cNvSpPr>
            <a:spLocks noGrp="1"/>
          </p:cNvSpPr>
          <p:nvPr/>
        </p:nvSpPr>
        <p:spPr>
          <a:xfrm>
            <a:off x="1549400" y="2311400"/>
            <a:ext cx="279400" cy="2794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</p:sp>
      <p:sp>
        <p:nvSpPr>
          <p:cNvPr id="17" name="Rectangle 16"/>
          <p:cNvSpPr>
            <a:spLocks noGrp="1"/>
          </p:cNvSpPr>
          <p:nvPr/>
        </p:nvSpPr>
        <p:spPr>
          <a:xfrm>
            <a:off x="1828800" y="2311400"/>
            <a:ext cx="279400" cy="2794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2108200" y="2311400"/>
            <a:ext cx="279400" cy="2794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</p:sp>
      <p:sp>
        <p:nvSpPr>
          <p:cNvPr id="19" name="Rectangle 18"/>
          <p:cNvSpPr>
            <a:spLocks noGrp="1"/>
          </p:cNvSpPr>
          <p:nvPr/>
        </p:nvSpPr>
        <p:spPr>
          <a:xfrm>
            <a:off x="2387600" y="2311400"/>
            <a:ext cx="279400" cy="2794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</p:sp>
      <p:sp>
        <p:nvSpPr>
          <p:cNvPr id="20" name="Rectangle 19"/>
          <p:cNvSpPr>
            <a:spLocks noGrp="1"/>
          </p:cNvSpPr>
          <p:nvPr/>
        </p:nvSpPr>
        <p:spPr>
          <a:xfrm>
            <a:off x="1270000" y="2590800"/>
            <a:ext cx="279400" cy="2794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</p:sp>
      <p:sp>
        <p:nvSpPr>
          <p:cNvPr id="21" name="Rectangle 20"/>
          <p:cNvSpPr>
            <a:spLocks noGrp="1"/>
          </p:cNvSpPr>
          <p:nvPr/>
        </p:nvSpPr>
        <p:spPr>
          <a:xfrm>
            <a:off x="1549400" y="2590800"/>
            <a:ext cx="279400" cy="2794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</p:sp>
      <p:sp>
        <p:nvSpPr>
          <p:cNvPr id="22" name="Rectangle 21"/>
          <p:cNvSpPr>
            <a:spLocks noGrp="1"/>
          </p:cNvSpPr>
          <p:nvPr/>
        </p:nvSpPr>
        <p:spPr>
          <a:xfrm>
            <a:off x="1828800" y="2590800"/>
            <a:ext cx="279400" cy="2794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</p:sp>
      <p:sp>
        <p:nvSpPr>
          <p:cNvPr id="23" name="Rectangle 22"/>
          <p:cNvSpPr>
            <a:spLocks noGrp="1"/>
          </p:cNvSpPr>
          <p:nvPr/>
        </p:nvSpPr>
        <p:spPr>
          <a:xfrm>
            <a:off x="2108200" y="2590800"/>
            <a:ext cx="279400" cy="2794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</p:sp>
      <p:sp>
        <p:nvSpPr>
          <p:cNvPr id="24" name="Rectangle 23"/>
          <p:cNvSpPr>
            <a:spLocks noGrp="1"/>
          </p:cNvSpPr>
          <p:nvPr/>
        </p:nvSpPr>
        <p:spPr>
          <a:xfrm>
            <a:off x="2387600" y="2590800"/>
            <a:ext cx="279400" cy="2794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</p:sp>
      <p:sp>
        <p:nvSpPr>
          <p:cNvPr id="25" name="Rectangle 24"/>
          <p:cNvSpPr>
            <a:spLocks noGrp="1"/>
          </p:cNvSpPr>
          <p:nvPr/>
        </p:nvSpPr>
        <p:spPr>
          <a:xfrm>
            <a:off x="1270000" y="2870200"/>
            <a:ext cx="279400" cy="2794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</p:sp>
      <p:sp>
        <p:nvSpPr>
          <p:cNvPr id="26" name="Rectangle 25"/>
          <p:cNvSpPr>
            <a:spLocks noGrp="1"/>
          </p:cNvSpPr>
          <p:nvPr/>
        </p:nvSpPr>
        <p:spPr>
          <a:xfrm>
            <a:off x="1549400" y="2870200"/>
            <a:ext cx="279400" cy="2794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</p:sp>
      <p:sp>
        <p:nvSpPr>
          <p:cNvPr id="27" name="Rectangle 26"/>
          <p:cNvSpPr>
            <a:spLocks noGrp="1"/>
          </p:cNvSpPr>
          <p:nvPr/>
        </p:nvSpPr>
        <p:spPr>
          <a:xfrm>
            <a:off x="1828800" y="2870200"/>
            <a:ext cx="279400" cy="2794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</p:sp>
      <p:sp>
        <p:nvSpPr>
          <p:cNvPr id="28" name="Rectangle 27"/>
          <p:cNvSpPr>
            <a:spLocks noGrp="1"/>
          </p:cNvSpPr>
          <p:nvPr/>
        </p:nvSpPr>
        <p:spPr>
          <a:xfrm>
            <a:off x="2108200" y="2870200"/>
            <a:ext cx="279400" cy="2794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</p:sp>
      <p:sp>
        <p:nvSpPr>
          <p:cNvPr id="29" name="Rectangle 28"/>
          <p:cNvSpPr>
            <a:spLocks noGrp="1"/>
          </p:cNvSpPr>
          <p:nvPr/>
        </p:nvSpPr>
        <p:spPr>
          <a:xfrm>
            <a:off x="2387600" y="2870200"/>
            <a:ext cx="279400" cy="2794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</p:sp>
      <p:sp>
        <p:nvSpPr>
          <p:cNvPr id="30" name="Rectangle 29"/>
          <p:cNvSpPr>
            <a:spLocks noGrp="1"/>
          </p:cNvSpPr>
          <p:nvPr/>
        </p:nvSpPr>
        <p:spPr>
          <a:xfrm>
            <a:off x="3175000" y="2209800"/>
            <a:ext cx="889000" cy="406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3F78C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1">
                <a:solidFill>
                  <a:srgbClr val="3F78C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 = 1</a:t>
            </a:r>
            <a:endParaRPr sz="1425" b="1">
              <a:solidFill>
                <a:srgbClr val="3F78C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1" name="Rectangle 30"/>
          <p:cNvSpPr>
            <a:spLocks noGrp="1"/>
          </p:cNvSpPr>
          <p:nvPr/>
        </p:nvSpPr>
        <p:spPr>
          <a:xfrm>
            <a:off x="4000500" y="2209800"/>
            <a:ext cx="482600" cy="406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00" b="1">
                <a:solidFill>
                  <a:srgbClr val="55555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800" b="1">
                <a:solidFill>
                  <a:srgbClr val="55555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→</a:t>
            </a:r>
            <a:endParaRPr sz="1800" b="1">
              <a:solidFill>
                <a:srgbClr val="55555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2" name="Rectangle 31"/>
          <p:cNvSpPr>
            <a:spLocks noGrp="1"/>
          </p:cNvSpPr>
          <p:nvPr/>
        </p:nvSpPr>
        <p:spPr>
          <a:xfrm>
            <a:off x="4686300" y="1371600"/>
            <a:ext cx="2413000" cy="355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7 × 7 padded input</a:t>
            </a:r>
            <a:endParaRPr sz="1350" b="1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3" name="Rectangle 32"/>
          <p:cNvSpPr>
            <a:spLocks noGrp="1"/>
          </p:cNvSpPr>
          <p:nvPr/>
        </p:nvSpPr>
        <p:spPr>
          <a:xfrm>
            <a:off x="4953000" y="1651000"/>
            <a:ext cx="241300" cy="241300"/>
          </a:xfrm>
          <a:prstGeom prst="rect">
            <a:avLst/>
          </a:prstGeom>
          <a:solidFill>
            <a:srgbClr val="E6E6E6"/>
          </a:solidFill>
          <a:ln w="9525">
            <a:solidFill>
              <a:srgbClr val="AAAAAA"/>
            </a:solidFill>
          </a:ln>
        </p:spPr>
      </p:sp>
      <p:sp>
        <p:nvSpPr>
          <p:cNvPr id="34" name="Rectangle 33"/>
          <p:cNvSpPr>
            <a:spLocks noGrp="1"/>
          </p:cNvSpPr>
          <p:nvPr/>
        </p:nvSpPr>
        <p:spPr>
          <a:xfrm>
            <a:off x="5194300" y="1651000"/>
            <a:ext cx="241300" cy="241300"/>
          </a:xfrm>
          <a:prstGeom prst="rect">
            <a:avLst/>
          </a:prstGeom>
          <a:solidFill>
            <a:srgbClr val="E6E6E6"/>
          </a:solidFill>
          <a:ln w="9525">
            <a:solidFill>
              <a:srgbClr val="AAAAAA"/>
            </a:solidFill>
          </a:ln>
        </p:spPr>
      </p:sp>
      <p:sp>
        <p:nvSpPr>
          <p:cNvPr id="35" name="Rectangle 34"/>
          <p:cNvSpPr>
            <a:spLocks noGrp="1"/>
          </p:cNvSpPr>
          <p:nvPr/>
        </p:nvSpPr>
        <p:spPr>
          <a:xfrm>
            <a:off x="5435600" y="1651000"/>
            <a:ext cx="241300" cy="241300"/>
          </a:xfrm>
          <a:prstGeom prst="rect">
            <a:avLst/>
          </a:prstGeom>
          <a:solidFill>
            <a:srgbClr val="E6E6E6"/>
          </a:solidFill>
          <a:ln w="9525">
            <a:solidFill>
              <a:srgbClr val="AAAAAA"/>
            </a:solidFill>
          </a:ln>
        </p:spPr>
      </p:sp>
      <p:sp>
        <p:nvSpPr>
          <p:cNvPr id="36" name="Rectangle 35"/>
          <p:cNvSpPr>
            <a:spLocks noGrp="1"/>
          </p:cNvSpPr>
          <p:nvPr/>
        </p:nvSpPr>
        <p:spPr>
          <a:xfrm>
            <a:off x="5676900" y="1651000"/>
            <a:ext cx="241300" cy="241300"/>
          </a:xfrm>
          <a:prstGeom prst="rect">
            <a:avLst/>
          </a:prstGeom>
          <a:solidFill>
            <a:srgbClr val="E6E6E6"/>
          </a:solidFill>
          <a:ln w="9525">
            <a:solidFill>
              <a:srgbClr val="AAAAAA"/>
            </a:solidFill>
          </a:ln>
        </p:spPr>
      </p:sp>
      <p:sp>
        <p:nvSpPr>
          <p:cNvPr id="37" name="Rectangle 36"/>
          <p:cNvSpPr>
            <a:spLocks noGrp="1"/>
          </p:cNvSpPr>
          <p:nvPr/>
        </p:nvSpPr>
        <p:spPr>
          <a:xfrm>
            <a:off x="5918200" y="1651000"/>
            <a:ext cx="241300" cy="241300"/>
          </a:xfrm>
          <a:prstGeom prst="rect">
            <a:avLst/>
          </a:prstGeom>
          <a:solidFill>
            <a:srgbClr val="E6E6E6"/>
          </a:solidFill>
          <a:ln w="9525">
            <a:solidFill>
              <a:srgbClr val="AAAAAA"/>
            </a:solidFill>
          </a:ln>
        </p:spPr>
      </p:sp>
      <p:sp>
        <p:nvSpPr>
          <p:cNvPr id="38" name="Rectangle 37"/>
          <p:cNvSpPr>
            <a:spLocks noGrp="1"/>
          </p:cNvSpPr>
          <p:nvPr/>
        </p:nvSpPr>
        <p:spPr>
          <a:xfrm>
            <a:off x="6159500" y="1651000"/>
            <a:ext cx="241300" cy="241300"/>
          </a:xfrm>
          <a:prstGeom prst="rect">
            <a:avLst/>
          </a:prstGeom>
          <a:solidFill>
            <a:srgbClr val="E6E6E6"/>
          </a:solidFill>
          <a:ln w="9525">
            <a:solidFill>
              <a:srgbClr val="AAAAAA"/>
            </a:solidFill>
          </a:ln>
        </p:spPr>
      </p:sp>
      <p:sp>
        <p:nvSpPr>
          <p:cNvPr id="39" name="Rectangle 38"/>
          <p:cNvSpPr>
            <a:spLocks noGrp="1"/>
          </p:cNvSpPr>
          <p:nvPr/>
        </p:nvSpPr>
        <p:spPr>
          <a:xfrm>
            <a:off x="6400800" y="1651000"/>
            <a:ext cx="241300" cy="241300"/>
          </a:xfrm>
          <a:prstGeom prst="rect">
            <a:avLst/>
          </a:prstGeom>
          <a:solidFill>
            <a:srgbClr val="E6E6E6"/>
          </a:solidFill>
          <a:ln w="9525">
            <a:solidFill>
              <a:srgbClr val="AAAAAA"/>
            </a:solidFill>
          </a:ln>
        </p:spPr>
      </p:sp>
      <p:sp>
        <p:nvSpPr>
          <p:cNvPr id="40" name="Rectangle 39"/>
          <p:cNvSpPr>
            <a:spLocks noGrp="1"/>
          </p:cNvSpPr>
          <p:nvPr/>
        </p:nvSpPr>
        <p:spPr>
          <a:xfrm>
            <a:off x="4953000" y="1892300"/>
            <a:ext cx="241300" cy="241300"/>
          </a:xfrm>
          <a:prstGeom prst="rect">
            <a:avLst/>
          </a:prstGeom>
          <a:solidFill>
            <a:srgbClr val="E6E6E6"/>
          </a:solidFill>
          <a:ln w="9525">
            <a:solidFill>
              <a:srgbClr val="AAAAAA"/>
            </a:solidFill>
          </a:ln>
        </p:spPr>
      </p:sp>
      <p:sp>
        <p:nvSpPr>
          <p:cNvPr id="41" name="Rectangle 40"/>
          <p:cNvSpPr>
            <a:spLocks noGrp="1"/>
          </p:cNvSpPr>
          <p:nvPr/>
        </p:nvSpPr>
        <p:spPr>
          <a:xfrm>
            <a:off x="5194300" y="1892300"/>
            <a:ext cx="241300" cy="2413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</p:sp>
      <p:sp>
        <p:nvSpPr>
          <p:cNvPr id="42" name="Rectangle 41"/>
          <p:cNvSpPr>
            <a:spLocks noGrp="1"/>
          </p:cNvSpPr>
          <p:nvPr/>
        </p:nvSpPr>
        <p:spPr>
          <a:xfrm>
            <a:off x="5435600" y="1892300"/>
            <a:ext cx="241300" cy="2413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</p:sp>
      <p:sp>
        <p:nvSpPr>
          <p:cNvPr id="43" name="Rectangle 42"/>
          <p:cNvSpPr>
            <a:spLocks noGrp="1"/>
          </p:cNvSpPr>
          <p:nvPr/>
        </p:nvSpPr>
        <p:spPr>
          <a:xfrm>
            <a:off x="5676900" y="1892300"/>
            <a:ext cx="241300" cy="2413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</p:sp>
      <p:sp>
        <p:nvSpPr>
          <p:cNvPr id="44" name="Rectangle 43"/>
          <p:cNvSpPr>
            <a:spLocks noGrp="1"/>
          </p:cNvSpPr>
          <p:nvPr/>
        </p:nvSpPr>
        <p:spPr>
          <a:xfrm>
            <a:off x="5918200" y="1892300"/>
            <a:ext cx="241300" cy="2413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</p:sp>
      <p:sp>
        <p:nvSpPr>
          <p:cNvPr id="45" name="Rectangle 44"/>
          <p:cNvSpPr>
            <a:spLocks noGrp="1"/>
          </p:cNvSpPr>
          <p:nvPr/>
        </p:nvSpPr>
        <p:spPr>
          <a:xfrm>
            <a:off x="6159500" y="1892300"/>
            <a:ext cx="241300" cy="2413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</p:sp>
      <p:sp>
        <p:nvSpPr>
          <p:cNvPr id="46" name="Rectangle 45"/>
          <p:cNvSpPr>
            <a:spLocks noGrp="1"/>
          </p:cNvSpPr>
          <p:nvPr/>
        </p:nvSpPr>
        <p:spPr>
          <a:xfrm>
            <a:off x="6400800" y="1892300"/>
            <a:ext cx="241300" cy="241300"/>
          </a:xfrm>
          <a:prstGeom prst="rect">
            <a:avLst/>
          </a:prstGeom>
          <a:solidFill>
            <a:srgbClr val="E6E6E6"/>
          </a:solidFill>
          <a:ln w="9525">
            <a:solidFill>
              <a:srgbClr val="AAAAAA"/>
            </a:solidFill>
          </a:ln>
        </p:spPr>
      </p:sp>
      <p:sp>
        <p:nvSpPr>
          <p:cNvPr id="47" name="Rectangle 46"/>
          <p:cNvSpPr>
            <a:spLocks noGrp="1"/>
          </p:cNvSpPr>
          <p:nvPr/>
        </p:nvSpPr>
        <p:spPr>
          <a:xfrm>
            <a:off x="4953000" y="2133600"/>
            <a:ext cx="241300" cy="241300"/>
          </a:xfrm>
          <a:prstGeom prst="rect">
            <a:avLst/>
          </a:prstGeom>
          <a:solidFill>
            <a:srgbClr val="E6E6E6"/>
          </a:solidFill>
          <a:ln w="9525">
            <a:solidFill>
              <a:srgbClr val="AAAAAA"/>
            </a:solidFill>
          </a:ln>
        </p:spPr>
      </p:sp>
      <p:sp>
        <p:nvSpPr>
          <p:cNvPr id="48" name="Rectangle 47"/>
          <p:cNvSpPr>
            <a:spLocks noGrp="1"/>
          </p:cNvSpPr>
          <p:nvPr/>
        </p:nvSpPr>
        <p:spPr>
          <a:xfrm>
            <a:off x="5194300" y="2133600"/>
            <a:ext cx="241300" cy="2413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</p:sp>
      <p:sp>
        <p:nvSpPr>
          <p:cNvPr id="49" name="Rectangle 48"/>
          <p:cNvSpPr>
            <a:spLocks noGrp="1"/>
          </p:cNvSpPr>
          <p:nvPr/>
        </p:nvSpPr>
        <p:spPr>
          <a:xfrm>
            <a:off x="5435600" y="2133600"/>
            <a:ext cx="241300" cy="2413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</p:sp>
      <p:sp>
        <p:nvSpPr>
          <p:cNvPr id="50" name="Rectangle 49"/>
          <p:cNvSpPr>
            <a:spLocks noGrp="1"/>
          </p:cNvSpPr>
          <p:nvPr/>
        </p:nvSpPr>
        <p:spPr>
          <a:xfrm>
            <a:off x="5676900" y="2133600"/>
            <a:ext cx="241300" cy="2413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</p:sp>
      <p:sp>
        <p:nvSpPr>
          <p:cNvPr id="51" name="Rectangle 50"/>
          <p:cNvSpPr>
            <a:spLocks noGrp="1"/>
          </p:cNvSpPr>
          <p:nvPr/>
        </p:nvSpPr>
        <p:spPr>
          <a:xfrm>
            <a:off x="5918200" y="2133600"/>
            <a:ext cx="241300" cy="2413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</p:sp>
      <p:sp>
        <p:nvSpPr>
          <p:cNvPr id="52" name="Rectangle 51"/>
          <p:cNvSpPr>
            <a:spLocks noGrp="1"/>
          </p:cNvSpPr>
          <p:nvPr/>
        </p:nvSpPr>
        <p:spPr>
          <a:xfrm>
            <a:off x="6159500" y="2133600"/>
            <a:ext cx="241300" cy="2413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</p:sp>
      <p:sp>
        <p:nvSpPr>
          <p:cNvPr id="53" name="Rectangle 52"/>
          <p:cNvSpPr>
            <a:spLocks noGrp="1"/>
          </p:cNvSpPr>
          <p:nvPr/>
        </p:nvSpPr>
        <p:spPr>
          <a:xfrm>
            <a:off x="6400800" y="2133600"/>
            <a:ext cx="241300" cy="241300"/>
          </a:xfrm>
          <a:prstGeom prst="rect">
            <a:avLst/>
          </a:prstGeom>
          <a:solidFill>
            <a:srgbClr val="E6E6E6"/>
          </a:solidFill>
          <a:ln w="9525">
            <a:solidFill>
              <a:srgbClr val="AAAAAA"/>
            </a:solidFill>
          </a:ln>
        </p:spPr>
      </p:sp>
      <p:sp>
        <p:nvSpPr>
          <p:cNvPr id="54" name="Rectangle 53"/>
          <p:cNvSpPr>
            <a:spLocks noGrp="1"/>
          </p:cNvSpPr>
          <p:nvPr/>
        </p:nvSpPr>
        <p:spPr>
          <a:xfrm>
            <a:off x="4953000" y="2374900"/>
            <a:ext cx="241300" cy="241300"/>
          </a:xfrm>
          <a:prstGeom prst="rect">
            <a:avLst/>
          </a:prstGeom>
          <a:solidFill>
            <a:srgbClr val="E6E6E6"/>
          </a:solidFill>
          <a:ln w="9525">
            <a:solidFill>
              <a:srgbClr val="AAAAAA"/>
            </a:solidFill>
          </a:ln>
        </p:spPr>
      </p:sp>
      <p:sp>
        <p:nvSpPr>
          <p:cNvPr id="55" name="Rectangle 54"/>
          <p:cNvSpPr>
            <a:spLocks noGrp="1"/>
          </p:cNvSpPr>
          <p:nvPr/>
        </p:nvSpPr>
        <p:spPr>
          <a:xfrm>
            <a:off x="5194300" y="2374900"/>
            <a:ext cx="241300" cy="2413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</p:sp>
      <p:sp>
        <p:nvSpPr>
          <p:cNvPr id="56" name="Rectangle 55"/>
          <p:cNvSpPr>
            <a:spLocks noGrp="1"/>
          </p:cNvSpPr>
          <p:nvPr/>
        </p:nvSpPr>
        <p:spPr>
          <a:xfrm>
            <a:off x="5435600" y="2374900"/>
            <a:ext cx="241300" cy="2413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</p:sp>
      <p:sp>
        <p:nvSpPr>
          <p:cNvPr id="57" name="Rectangle 56"/>
          <p:cNvSpPr>
            <a:spLocks noGrp="1"/>
          </p:cNvSpPr>
          <p:nvPr/>
        </p:nvSpPr>
        <p:spPr>
          <a:xfrm>
            <a:off x="5676900" y="2374900"/>
            <a:ext cx="241300" cy="2413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</p:sp>
      <p:sp>
        <p:nvSpPr>
          <p:cNvPr id="58" name="Rectangle 57"/>
          <p:cNvSpPr>
            <a:spLocks noGrp="1"/>
          </p:cNvSpPr>
          <p:nvPr/>
        </p:nvSpPr>
        <p:spPr>
          <a:xfrm>
            <a:off x="5918200" y="2374900"/>
            <a:ext cx="241300" cy="2413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</p:sp>
      <p:sp>
        <p:nvSpPr>
          <p:cNvPr id="59" name="Rectangle 58"/>
          <p:cNvSpPr>
            <a:spLocks noGrp="1"/>
          </p:cNvSpPr>
          <p:nvPr/>
        </p:nvSpPr>
        <p:spPr>
          <a:xfrm>
            <a:off x="6159500" y="2374900"/>
            <a:ext cx="241300" cy="2413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</p:sp>
      <p:sp>
        <p:nvSpPr>
          <p:cNvPr id="60" name="Rectangle 59"/>
          <p:cNvSpPr>
            <a:spLocks noGrp="1"/>
          </p:cNvSpPr>
          <p:nvPr/>
        </p:nvSpPr>
        <p:spPr>
          <a:xfrm>
            <a:off x="6400800" y="2374900"/>
            <a:ext cx="241300" cy="241300"/>
          </a:xfrm>
          <a:prstGeom prst="rect">
            <a:avLst/>
          </a:prstGeom>
          <a:solidFill>
            <a:srgbClr val="E6E6E6"/>
          </a:solidFill>
          <a:ln w="9525">
            <a:solidFill>
              <a:srgbClr val="AAAAAA"/>
            </a:solidFill>
          </a:ln>
        </p:spPr>
      </p:sp>
      <p:sp>
        <p:nvSpPr>
          <p:cNvPr id="61" name="Rectangle 60"/>
          <p:cNvSpPr>
            <a:spLocks noGrp="1"/>
          </p:cNvSpPr>
          <p:nvPr/>
        </p:nvSpPr>
        <p:spPr>
          <a:xfrm>
            <a:off x="4953000" y="2616200"/>
            <a:ext cx="241300" cy="241300"/>
          </a:xfrm>
          <a:prstGeom prst="rect">
            <a:avLst/>
          </a:prstGeom>
          <a:solidFill>
            <a:srgbClr val="E6E6E6"/>
          </a:solidFill>
          <a:ln w="9525">
            <a:solidFill>
              <a:srgbClr val="AAAAAA"/>
            </a:solidFill>
          </a:ln>
        </p:spPr>
      </p:sp>
      <p:sp>
        <p:nvSpPr>
          <p:cNvPr id="62" name="Rectangle 61"/>
          <p:cNvSpPr>
            <a:spLocks noGrp="1"/>
          </p:cNvSpPr>
          <p:nvPr/>
        </p:nvSpPr>
        <p:spPr>
          <a:xfrm>
            <a:off x="5194300" y="2616200"/>
            <a:ext cx="241300" cy="2413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</p:sp>
      <p:sp>
        <p:nvSpPr>
          <p:cNvPr id="63" name="Rectangle 62"/>
          <p:cNvSpPr>
            <a:spLocks noGrp="1"/>
          </p:cNvSpPr>
          <p:nvPr/>
        </p:nvSpPr>
        <p:spPr>
          <a:xfrm>
            <a:off x="5435600" y="2616200"/>
            <a:ext cx="241300" cy="2413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</p:sp>
      <p:sp>
        <p:nvSpPr>
          <p:cNvPr id="64" name="Rectangle 63"/>
          <p:cNvSpPr>
            <a:spLocks noGrp="1"/>
          </p:cNvSpPr>
          <p:nvPr/>
        </p:nvSpPr>
        <p:spPr>
          <a:xfrm>
            <a:off x="5676900" y="2616200"/>
            <a:ext cx="241300" cy="2413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</p:sp>
      <p:sp>
        <p:nvSpPr>
          <p:cNvPr id="65" name="Rectangle 64"/>
          <p:cNvSpPr>
            <a:spLocks noGrp="1"/>
          </p:cNvSpPr>
          <p:nvPr/>
        </p:nvSpPr>
        <p:spPr>
          <a:xfrm>
            <a:off x="5918200" y="2616200"/>
            <a:ext cx="241300" cy="2413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</p:sp>
      <p:sp>
        <p:nvSpPr>
          <p:cNvPr id="66" name="Rectangle 65"/>
          <p:cNvSpPr>
            <a:spLocks noGrp="1"/>
          </p:cNvSpPr>
          <p:nvPr/>
        </p:nvSpPr>
        <p:spPr>
          <a:xfrm>
            <a:off x="6159500" y="2616200"/>
            <a:ext cx="241300" cy="2413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</p:sp>
      <p:sp>
        <p:nvSpPr>
          <p:cNvPr id="67" name="Rectangle 66"/>
          <p:cNvSpPr>
            <a:spLocks noGrp="1"/>
          </p:cNvSpPr>
          <p:nvPr/>
        </p:nvSpPr>
        <p:spPr>
          <a:xfrm>
            <a:off x="6400800" y="2616200"/>
            <a:ext cx="241300" cy="241300"/>
          </a:xfrm>
          <a:prstGeom prst="rect">
            <a:avLst/>
          </a:prstGeom>
          <a:solidFill>
            <a:srgbClr val="E6E6E6"/>
          </a:solidFill>
          <a:ln w="9525">
            <a:solidFill>
              <a:srgbClr val="AAAAAA"/>
            </a:solidFill>
          </a:ln>
        </p:spPr>
      </p:sp>
      <p:sp>
        <p:nvSpPr>
          <p:cNvPr id="68" name="Rectangle 67"/>
          <p:cNvSpPr>
            <a:spLocks noGrp="1"/>
          </p:cNvSpPr>
          <p:nvPr/>
        </p:nvSpPr>
        <p:spPr>
          <a:xfrm>
            <a:off x="4953000" y="2857500"/>
            <a:ext cx="241300" cy="241300"/>
          </a:xfrm>
          <a:prstGeom prst="rect">
            <a:avLst/>
          </a:prstGeom>
          <a:solidFill>
            <a:srgbClr val="E6E6E6"/>
          </a:solidFill>
          <a:ln w="9525">
            <a:solidFill>
              <a:srgbClr val="AAAAAA"/>
            </a:solidFill>
          </a:ln>
        </p:spPr>
      </p:sp>
      <p:sp>
        <p:nvSpPr>
          <p:cNvPr id="69" name="Rectangle 68"/>
          <p:cNvSpPr>
            <a:spLocks noGrp="1"/>
          </p:cNvSpPr>
          <p:nvPr/>
        </p:nvSpPr>
        <p:spPr>
          <a:xfrm>
            <a:off x="5194300" y="2857500"/>
            <a:ext cx="241300" cy="2413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</p:sp>
      <p:sp>
        <p:nvSpPr>
          <p:cNvPr id="70" name="Rectangle 69"/>
          <p:cNvSpPr>
            <a:spLocks noGrp="1"/>
          </p:cNvSpPr>
          <p:nvPr/>
        </p:nvSpPr>
        <p:spPr>
          <a:xfrm>
            <a:off x="5435600" y="2857500"/>
            <a:ext cx="241300" cy="2413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</p:sp>
      <p:sp>
        <p:nvSpPr>
          <p:cNvPr id="71" name="Rectangle 70"/>
          <p:cNvSpPr>
            <a:spLocks noGrp="1"/>
          </p:cNvSpPr>
          <p:nvPr/>
        </p:nvSpPr>
        <p:spPr>
          <a:xfrm>
            <a:off x="5676900" y="2857500"/>
            <a:ext cx="241300" cy="2413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</p:sp>
      <p:sp>
        <p:nvSpPr>
          <p:cNvPr id="72" name="Rectangle 71"/>
          <p:cNvSpPr>
            <a:spLocks noGrp="1"/>
          </p:cNvSpPr>
          <p:nvPr/>
        </p:nvSpPr>
        <p:spPr>
          <a:xfrm>
            <a:off x="5918200" y="2857500"/>
            <a:ext cx="241300" cy="2413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</p:sp>
      <p:sp>
        <p:nvSpPr>
          <p:cNvPr id="73" name="Rectangle 72"/>
          <p:cNvSpPr>
            <a:spLocks noGrp="1"/>
          </p:cNvSpPr>
          <p:nvPr/>
        </p:nvSpPr>
        <p:spPr>
          <a:xfrm>
            <a:off x="6159500" y="2857500"/>
            <a:ext cx="241300" cy="2413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</p:sp>
      <p:sp>
        <p:nvSpPr>
          <p:cNvPr id="74" name="Rectangle 73"/>
          <p:cNvSpPr>
            <a:spLocks noGrp="1"/>
          </p:cNvSpPr>
          <p:nvPr/>
        </p:nvSpPr>
        <p:spPr>
          <a:xfrm>
            <a:off x="6400800" y="2857500"/>
            <a:ext cx="241300" cy="241300"/>
          </a:xfrm>
          <a:prstGeom prst="rect">
            <a:avLst/>
          </a:prstGeom>
          <a:solidFill>
            <a:srgbClr val="E6E6E6"/>
          </a:solidFill>
          <a:ln w="9525">
            <a:solidFill>
              <a:srgbClr val="AAAAAA"/>
            </a:solidFill>
          </a:ln>
        </p:spPr>
      </p:sp>
      <p:sp>
        <p:nvSpPr>
          <p:cNvPr id="75" name="Rectangle 74"/>
          <p:cNvSpPr>
            <a:spLocks noGrp="1"/>
          </p:cNvSpPr>
          <p:nvPr/>
        </p:nvSpPr>
        <p:spPr>
          <a:xfrm>
            <a:off x="4953000" y="3098800"/>
            <a:ext cx="241300" cy="241300"/>
          </a:xfrm>
          <a:prstGeom prst="rect">
            <a:avLst/>
          </a:prstGeom>
          <a:solidFill>
            <a:srgbClr val="E6E6E6"/>
          </a:solidFill>
          <a:ln w="9525">
            <a:solidFill>
              <a:srgbClr val="AAAAAA"/>
            </a:solidFill>
          </a:ln>
        </p:spPr>
      </p:sp>
      <p:sp>
        <p:nvSpPr>
          <p:cNvPr id="76" name="Rectangle 75"/>
          <p:cNvSpPr>
            <a:spLocks noGrp="1"/>
          </p:cNvSpPr>
          <p:nvPr/>
        </p:nvSpPr>
        <p:spPr>
          <a:xfrm>
            <a:off x="5194300" y="3098800"/>
            <a:ext cx="241300" cy="241300"/>
          </a:xfrm>
          <a:prstGeom prst="rect">
            <a:avLst/>
          </a:prstGeom>
          <a:solidFill>
            <a:srgbClr val="E6E6E6"/>
          </a:solidFill>
          <a:ln w="9525">
            <a:solidFill>
              <a:srgbClr val="AAAAAA"/>
            </a:solidFill>
          </a:ln>
        </p:spPr>
      </p:sp>
      <p:sp>
        <p:nvSpPr>
          <p:cNvPr id="77" name="Rectangle 76"/>
          <p:cNvSpPr>
            <a:spLocks noGrp="1"/>
          </p:cNvSpPr>
          <p:nvPr/>
        </p:nvSpPr>
        <p:spPr>
          <a:xfrm>
            <a:off x="5435600" y="3098800"/>
            <a:ext cx="241300" cy="241300"/>
          </a:xfrm>
          <a:prstGeom prst="rect">
            <a:avLst/>
          </a:prstGeom>
          <a:solidFill>
            <a:srgbClr val="E6E6E6"/>
          </a:solidFill>
          <a:ln w="9525">
            <a:solidFill>
              <a:srgbClr val="AAAAAA"/>
            </a:solidFill>
          </a:ln>
        </p:spPr>
      </p:sp>
      <p:sp>
        <p:nvSpPr>
          <p:cNvPr id="78" name="Rectangle 77"/>
          <p:cNvSpPr>
            <a:spLocks noGrp="1"/>
          </p:cNvSpPr>
          <p:nvPr/>
        </p:nvSpPr>
        <p:spPr>
          <a:xfrm>
            <a:off x="5676900" y="3098800"/>
            <a:ext cx="241300" cy="241300"/>
          </a:xfrm>
          <a:prstGeom prst="rect">
            <a:avLst/>
          </a:prstGeom>
          <a:solidFill>
            <a:srgbClr val="E6E6E6"/>
          </a:solidFill>
          <a:ln w="9525">
            <a:solidFill>
              <a:srgbClr val="AAAAAA"/>
            </a:solidFill>
          </a:ln>
        </p:spPr>
      </p:sp>
      <p:sp>
        <p:nvSpPr>
          <p:cNvPr id="79" name="Rectangle 78"/>
          <p:cNvSpPr>
            <a:spLocks noGrp="1"/>
          </p:cNvSpPr>
          <p:nvPr/>
        </p:nvSpPr>
        <p:spPr>
          <a:xfrm>
            <a:off x="5918200" y="3098800"/>
            <a:ext cx="241300" cy="241300"/>
          </a:xfrm>
          <a:prstGeom prst="rect">
            <a:avLst/>
          </a:prstGeom>
          <a:solidFill>
            <a:srgbClr val="E6E6E6"/>
          </a:solidFill>
          <a:ln w="9525">
            <a:solidFill>
              <a:srgbClr val="AAAAAA"/>
            </a:solidFill>
          </a:ln>
        </p:spPr>
      </p:sp>
      <p:sp>
        <p:nvSpPr>
          <p:cNvPr id="80" name="Rectangle 79"/>
          <p:cNvSpPr>
            <a:spLocks noGrp="1"/>
          </p:cNvSpPr>
          <p:nvPr/>
        </p:nvSpPr>
        <p:spPr>
          <a:xfrm>
            <a:off x="6159500" y="3098800"/>
            <a:ext cx="241300" cy="241300"/>
          </a:xfrm>
          <a:prstGeom prst="rect">
            <a:avLst/>
          </a:prstGeom>
          <a:solidFill>
            <a:srgbClr val="E6E6E6"/>
          </a:solidFill>
          <a:ln w="9525">
            <a:solidFill>
              <a:srgbClr val="AAAAAA"/>
            </a:solidFill>
          </a:ln>
        </p:spPr>
      </p:sp>
      <p:sp>
        <p:nvSpPr>
          <p:cNvPr id="81" name="Rectangle 80"/>
          <p:cNvSpPr>
            <a:spLocks noGrp="1"/>
          </p:cNvSpPr>
          <p:nvPr/>
        </p:nvSpPr>
        <p:spPr>
          <a:xfrm>
            <a:off x="6400800" y="3098800"/>
            <a:ext cx="241300" cy="241300"/>
          </a:xfrm>
          <a:prstGeom prst="rect">
            <a:avLst/>
          </a:prstGeom>
          <a:solidFill>
            <a:srgbClr val="E6E6E6"/>
          </a:solidFill>
          <a:ln w="9525">
            <a:solidFill>
              <a:srgbClr val="AAAAAA"/>
            </a:solidFill>
          </a:ln>
        </p:spPr>
      </p:sp>
      <p:sp>
        <p:nvSpPr>
          <p:cNvPr id="82" name="Rectangle 81"/>
          <p:cNvSpPr>
            <a:spLocks noGrp="1"/>
          </p:cNvSpPr>
          <p:nvPr/>
        </p:nvSpPr>
        <p:spPr>
          <a:xfrm>
            <a:off x="6858000" y="1930400"/>
            <a:ext cx="1676400" cy="736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55555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1">
                <a:solidFill>
                  <a:srgbClr val="55555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Gray cells are the added border</a:t>
            </a:r>
            <a:endParaRPr sz="1275" b="1">
              <a:solidFill>
                <a:srgbClr val="55555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3" name="Rectangle 82"/>
          <p:cNvSpPr>
            <a:spLocks noGrp="1"/>
          </p:cNvSpPr>
          <p:nvPr/>
        </p:nvSpPr>
        <p:spPr>
          <a:xfrm>
            <a:off x="660400" y="3530600"/>
            <a:ext cx="7823200" cy="12700"/>
          </a:xfrm>
          <a:prstGeom prst="rect">
            <a:avLst/>
          </a:prstGeom>
          <a:solidFill>
            <a:srgbClr val="BBBBBB"/>
          </a:solidFill>
          <a:ln w="0">
            <a:noFill/>
          </a:ln>
        </p:spPr>
      </p:sp>
      <p:sp>
        <p:nvSpPr>
          <p:cNvPr id="84" name="Rectangle 83"/>
          <p:cNvSpPr>
            <a:spLocks noGrp="1"/>
          </p:cNvSpPr>
          <p:nvPr/>
        </p:nvSpPr>
        <p:spPr>
          <a:xfrm>
            <a:off x="660400" y="3683000"/>
            <a:ext cx="78232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3F78C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>
                <a:solidFill>
                  <a:srgbClr val="3F78C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Stride controls how far the kernel moves</a:t>
            </a:r>
            <a:endParaRPr sz="1575" b="1">
              <a:solidFill>
                <a:srgbClr val="3F78C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5" name="Rectangle 84"/>
          <p:cNvSpPr>
            <a:spLocks noGrp="1"/>
          </p:cNvSpPr>
          <p:nvPr/>
        </p:nvSpPr>
        <p:spPr>
          <a:xfrm>
            <a:off x="787400" y="4064000"/>
            <a:ext cx="1524000" cy="330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Start</a:t>
            </a:r>
            <a:endParaRPr sz="1350" b="1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6" name="Rectangle 85"/>
          <p:cNvSpPr>
            <a:spLocks noGrp="1"/>
          </p:cNvSpPr>
          <p:nvPr/>
        </p:nvSpPr>
        <p:spPr>
          <a:xfrm>
            <a:off x="800100" y="4445000"/>
            <a:ext cx="266700" cy="266700"/>
          </a:xfrm>
          <a:prstGeom prst="rect">
            <a:avLst/>
          </a:prstGeom>
          <a:solidFill>
            <a:srgbClr val="DCEBFA"/>
          </a:solidFill>
          <a:ln w="19050">
            <a:solidFill>
              <a:srgbClr val="2F75B5"/>
            </a:solidFill>
          </a:ln>
        </p:spPr>
      </p:sp>
      <p:sp>
        <p:nvSpPr>
          <p:cNvPr id="87" name="Rectangle 86"/>
          <p:cNvSpPr>
            <a:spLocks noGrp="1"/>
          </p:cNvSpPr>
          <p:nvPr/>
        </p:nvSpPr>
        <p:spPr>
          <a:xfrm>
            <a:off x="800100" y="4445000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</a:t>
            </a:r>
            <a:endParaRPr sz="9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8" name="Rectangle 87"/>
          <p:cNvSpPr>
            <a:spLocks noGrp="1"/>
          </p:cNvSpPr>
          <p:nvPr/>
        </p:nvSpPr>
        <p:spPr>
          <a:xfrm>
            <a:off x="1066800" y="4445000"/>
            <a:ext cx="266700" cy="266700"/>
          </a:xfrm>
          <a:prstGeom prst="rect">
            <a:avLst/>
          </a:prstGeom>
          <a:solidFill>
            <a:srgbClr val="DCEBFA"/>
          </a:solidFill>
          <a:ln w="19050">
            <a:solidFill>
              <a:srgbClr val="2F75B5"/>
            </a:solidFill>
          </a:ln>
        </p:spPr>
      </p:sp>
      <p:sp>
        <p:nvSpPr>
          <p:cNvPr id="89" name="Rectangle 88"/>
          <p:cNvSpPr>
            <a:spLocks noGrp="1"/>
          </p:cNvSpPr>
          <p:nvPr/>
        </p:nvSpPr>
        <p:spPr>
          <a:xfrm>
            <a:off x="1066800" y="4445000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</a:t>
            </a:r>
            <a:endParaRPr sz="9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0" name="Rectangle 89"/>
          <p:cNvSpPr>
            <a:spLocks noGrp="1"/>
          </p:cNvSpPr>
          <p:nvPr/>
        </p:nvSpPr>
        <p:spPr>
          <a:xfrm>
            <a:off x="1333500" y="4445000"/>
            <a:ext cx="266700" cy="266700"/>
          </a:xfrm>
          <a:prstGeom prst="rect">
            <a:avLst/>
          </a:prstGeom>
          <a:solidFill>
            <a:srgbClr val="DCEBFA"/>
          </a:solidFill>
          <a:ln w="19050">
            <a:solidFill>
              <a:srgbClr val="2F75B5"/>
            </a:solidFill>
          </a:ln>
        </p:spPr>
      </p:sp>
      <p:sp>
        <p:nvSpPr>
          <p:cNvPr id="91" name="Rectangle 90"/>
          <p:cNvSpPr>
            <a:spLocks noGrp="1"/>
          </p:cNvSpPr>
          <p:nvPr/>
        </p:nvSpPr>
        <p:spPr>
          <a:xfrm>
            <a:off x="1333500" y="4445000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</a:t>
            </a:r>
            <a:endParaRPr sz="9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2" name="Rectangle 91"/>
          <p:cNvSpPr>
            <a:spLocks noGrp="1"/>
          </p:cNvSpPr>
          <p:nvPr/>
        </p:nvSpPr>
        <p:spPr>
          <a:xfrm>
            <a:off x="1600200" y="4445000"/>
            <a:ext cx="2667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</p:sp>
      <p:sp>
        <p:nvSpPr>
          <p:cNvPr id="93" name="Rectangle 92"/>
          <p:cNvSpPr>
            <a:spLocks noGrp="1"/>
          </p:cNvSpPr>
          <p:nvPr/>
        </p:nvSpPr>
        <p:spPr>
          <a:xfrm>
            <a:off x="1600200" y="4445000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</a:t>
            </a:r>
            <a:endParaRPr sz="9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4" name="Rectangle 93"/>
          <p:cNvSpPr>
            <a:spLocks noGrp="1"/>
          </p:cNvSpPr>
          <p:nvPr/>
        </p:nvSpPr>
        <p:spPr>
          <a:xfrm>
            <a:off x="1866900" y="4445000"/>
            <a:ext cx="2667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</p:sp>
      <p:sp>
        <p:nvSpPr>
          <p:cNvPr id="95" name="Rectangle 94"/>
          <p:cNvSpPr>
            <a:spLocks noGrp="1"/>
          </p:cNvSpPr>
          <p:nvPr/>
        </p:nvSpPr>
        <p:spPr>
          <a:xfrm>
            <a:off x="1866900" y="4445000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</a:t>
            </a:r>
            <a:endParaRPr sz="9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6" name="Rectangle 95"/>
          <p:cNvSpPr>
            <a:spLocks noGrp="1"/>
          </p:cNvSpPr>
          <p:nvPr/>
        </p:nvSpPr>
        <p:spPr>
          <a:xfrm>
            <a:off x="800100" y="4711700"/>
            <a:ext cx="266700" cy="266700"/>
          </a:xfrm>
          <a:prstGeom prst="rect">
            <a:avLst/>
          </a:prstGeom>
          <a:solidFill>
            <a:srgbClr val="DCEBFA"/>
          </a:solidFill>
          <a:ln w="19050">
            <a:solidFill>
              <a:srgbClr val="2F75B5"/>
            </a:solidFill>
          </a:ln>
        </p:spPr>
      </p:sp>
      <p:sp>
        <p:nvSpPr>
          <p:cNvPr id="97" name="Rectangle 96"/>
          <p:cNvSpPr>
            <a:spLocks noGrp="1"/>
          </p:cNvSpPr>
          <p:nvPr/>
        </p:nvSpPr>
        <p:spPr>
          <a:xfrm>
            <a:off x="800100" y="4711700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</a:t>
            </a:r>
            <a:endParaRPr sz="9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8" name="Rectangle 97"/>
          <p:cNvSpPr>
            <a:spLocks noGrp="1"/>
          </p:cNvSpPr>
          <p:nvPr/>
        </p:nvSpPr>
        <p:spPr>
          <a:xfrm>
            <a:off x="1066800" y="4711700"/>
            <a:ext cx="266700" cy="266700"/>
          </a:xfrm>
          <a:prstGeom prst="rect">
            <a:avLst/>
          </a:prstGeom>
          <a:solidFill>
            <a:srgbClr val="DCEBFA"/>
          </a:solidFill>
          <a:ln w="19050">
            <a:solidFill>
              <a:srgbClr val="2F75B5"/>
            </a:solidFill>
          </a:ln>
        </p:spPr>
      </p:sp>
      <p:sp>
        <p:nvSpPr>
          <p:cNvPr id="99" name="Rectangle 98"/>
          <p:cNvSpPr>
            <a:spLocks noGrp="1"/>
          </p:cNvSpPr>
          <p:nvPr/>
        </p:nvSpPr>
        <p:spPr>
          <a:xfrm>
            <a:off x="1066800" y="4711700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</a:t>
            </a:r>
            <a:endParaRPr sz="9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0" name="Rectangle 99"/>
          <p:cNvSpPr>
            <a:spLocks noGrp="1"/>
          </p:cNvSpPr>
          <p:nvPr/>
        </p:nvSpPr>
        <p:spPr>
          <a:xfrm>
            <a:off x="1333500" y="4711700"/>
            <a:ext cx="266700" cy="266700"/>
          </a:xfrm>
          <a:prstGeom prst="rect">
            <a:avLst/>
          </a:prstGeom>
          <a:solidFill>
            <a:srgbClr val="DCEBFA"/>
          </a:solidFill>
          <a:ln w="19050">
            <a:solidFill>
              <a:srgbClr val="2F75B5"/>
            </a:solidFill>
          </a:ln>
        </p:spPr>
      </p:sp>
      <p:sp>
        <p:nvSpPr>
          <p:cNvPr id="101" name="Rectangle 100"/>
          <p:cNvSpPr>
            <a:spLocks noGrp="1"/>
          </p:cNvSpPr>
          <p:nvPr/>
        </p:nvSpPr>
        <p:spPr>
          <a:xfrm>
            <a:off x="1333500" y="4711700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</a:t>
            </a:r>
            <a:endParaRPr sz="9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2" name="Rectangle 101"/>
          <p:cNvSpPr>
            <a:spLocks noGrp="1"/>
          </p:cNvSpPr>
          <p:nvPr/>
        </p:nvSpPr>
        <p:spPr>
          <a:xfrm>
            <a:off x="1600200" y="4711700"/>
            <a:ext cx="2667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</p:sp>
      <p:sp>
        <p:nvSpPr>
          <p:cNvPr id="103" name="Rectangle 102"/>
          <p:cNvSpPr>
            <a:spLocks noGrp="1"/>
          </p:cNvSpPr>
          <p:nvPr/>
        </p:nvSpPr>
        <p:spPr>
          <a:xfrm>
            <a:off x="1600200" y="4711700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</a:t>
            </a:r>
            <a:endParaRPr sz="9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4" name="Rectangle 103"/>
          <p:cNvSpPr>
            <a:spLocks noGrp="1"/>
          </p:cNvSpPr>
          <p:nvPr/>
        </p:nvSpPr>
        <p:spPr>
          <a:xfrm>
            <a:off x="1866900" y="4711700"/>
            <a:ext cx="2667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</p:sp>
      <p:sp>
        <p:nvSpPr>
          <p:cNvPr id="105" name="Rectangle 104"/>
          <p:cNvSpPr>
            <a:spLocks noGrp="1"/>
          </p:cNvSpPr>
          <p:nvPr/>
        </p:nvSpPr>
        <p:spPr>
          <a:xfrm>
            <a:off x="1866900" y="4711700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</a:t>
            </a:r>
            <a:endParaRPr sz="9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6" name="Rectangle 105"/>
          <p:cNvSpPr>
            <a:spLocks noGrp="1"/>
          </p:cNvSpPr>
          <p:nvPr/>
        </p:nvSpPr>
        <p:spPr>
          <a:xfrm>
            <a:off x="800100" y="4978400"/>
            <a:ext cx="266700" cy="266700"/>
          </a:xfrm>
          <a:prstGeom prst="rect">
            <a:avLst/>
          </a:prstGeom>
          <a:solidFill>
            <a:srgbClr val="DCEBFA"/>
          </a:solidFill>
          <a:ln w="19050">
            <a:solidFill>
              <a:srgbClr val="2F75B5"/>
            </a:solidFill>
          </a:ln>
        </p:spPr>
      </p:sp>
      <p:sp>
        <p:nvSpPr>
          <p:cNvPr id="107" name="Rectangle 106"/>
          <p:cNvSpPr>
            <a:spLocks noGrp="1"/>
          </p:cNvSpPr>
          <p:nvPr/>
        </p:nvSpPr>
        <p:spPr>
          <a:xfrm>
            <a:off x="800100" y="4978400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</a:t>
            </a:r>
            <a:endParaRPr sz="9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8" name="Rectangle 107"/>
          <p:cNvSpPr>
            <a:spLocks noGrp="1"/>
          </p:cNvSpPr>
          <p:nvPr/>
        </p:nvSpPr>
        <p:spPr>
          <a:xfrm>
            <a:off x="1066800" y="4978400"/>
            <a:ext cx="266700" cy="266700"/>
          </a:xfrm>
          <a:prstGeom prst="rect">
            <a:avLst/>
          </a:prstGeom>
          <a:solidFill>
            <a:srgbClr val="DCEBFA"/>
          </a:solidFill>
          <a:ln w="19050">
            <a:solidFill>
              <a:srgbClr val="2F75B5"/>
            </a:solidFill>
          </a:ln>
        </p:spPr>
      </p:sp>
      <p:sp>
        <p:nvSpPr>
          <p:cNvPr id="109" name="Rectangle 108"/>
          <p:cNvSpPr>
            <a:spLocks noGrp="1"/>
          </p:cNvSpPr>
          <p:nvPr/>
        </p:nvSpPr>
        <p:spPr>
          <a:xfrm>
            <a:off x="1066800" y="4978400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</a:t>
            </a:r>
            <a:endParaRPr sz="9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0" name="Rectangle 109"/>
          <p:cNvSpPr>
            <a:spLocks noGrp="1"/>
          </p:cNvSpPr>
          <p:nvPr/>
        </p:nvSpPr>
        <p:spPr>
          <a:xfrm>
            <a:off x="1333500" y="4978400"/>
            <a:ext cx="266700" cy="266700"/>
          </a:xfrm>
          <a:prstGeom prst="rect">
            <a:avLst/>
          </a:prstGeom>
          <a:solidFill>
            <a:srgbClr val="DCEBFA"/>
          </a:solidFill>
          <a:ln w="19050">
            <a:solidFill>
              <a:srgbClr val="2F75B5"/>
            </a:solidFill>
          </a:ln>
        </p:spPr>
      </p:sp>
      <p:sp>
        <p:nvSpPr>
          <p:cNvPr id="111" name="Rectangle 110"/>
          <p:cNvSpPr>
            <a:spLocks noGrp="1"/>
          </p:cNvSpPr>
          <p:nvPr/>
        </p:nvSpPr>
        <p:spPr>
          <a:xfrm>
            <a:off x="1333500" y="4978400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</a:t>
            </a:r>
            <a:endParaRPr sz="9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2" name="Rectangle 111"/>
          <p:cNvSpPr>
            <a:spLocks noGrp="1"/>
          </p:cNvSpPr>
          <p:nvPr/>
        </p:nvSpPr>
        <p:spPr>
          <a:xfrm>
            <a:off x="1600200" y="4978400"/>
            <a:ext cx="2667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</p:sp>
      <p:sp>
        <p:nvSpPr>
          <p:cNvPr id="113" name="Rectangle 112"/>
          <p:cNvSpPr>
            <a:spLocks noGrp="1"/>
          </p:cNvSpPr>
          <p:nvPr/>
        </p:nvSpPr>
        <p:spPr>
          <a:xfrm>
            <a:off x="1600200" y="4978400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</a:t>
            </a:r>
            <a:endParaRPr sz="9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4" name="Rectangle 113"/>
          <p:cNvSpPr>
            <a:spLocks noGrp="1"/>
          </p:cNvSpPr>
          <p:nvPr/>
        </p:nvSpPr>
        <p:spPr>
          <a:xfrm>
            <a:off x="1866900" y="4978400"/>
            <a:ext cx="2667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</p:sp>
      <p:sp>
        <p:nvSpPr>
          <p:cNvPr id="115" name="Rectangle 114"/>
          <p:cNvSpPr>
            <a:spLocks noGrp="1"/>
          </p:cNvSpPr>
          <p:nvPr/>
        </p:nvSpPr>
        <p:spPr>
          <a:xfrm>
            <a:off x="1866900" y="4978400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</a:t>
            </a:r>
            <a:endParaRPr sz="9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6" name="Rectangle 115"/>
          <p:cNvSpPr>
            <a:spLocks noGrp="1"/>
          </p:cNvSpPr>
          <p:nvPr/>
        </p:nvSpPr>
        <p:spPr>
          <a:xfrm>
            <a:off x="800100" y="5245100"/>
            <a:ext cx="2667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</p:sp>
      <p:sp>
        <p:nvSpPr>
          <p:cNvPr id="117" name="Rectangle 116"/>
          <p:cNvSpPr>
            <a:spLocks noGrp="1"/>
          </p:cNvSpPr>
          <p:nvPr/>
        </p:nvSpPr>
        <p:spPr>
          <a:xfrm>
            <a:off x="800100" y="5245100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</a:t>
            </a:r>
            <a:endParaRPr sz="9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8" name="Rectangle 117"/>
          <p:cNvSpPr>
            <a:spLocks noGrp="1"/>
          </p:cNvSpPr>
          <p:nvPr/>
        </p:nvSpPr>
        <p:spPr>
          <a:xfrm>
            <a:off x="1066800" y="5245100"/>
            <a:ext cx="2667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</p:sp>
      <p:sp>
        <p:nvSpPr>
          <p:cNvPr id="119" name="Rectangle 118"/>
          <p:cNvSpPr>
            <a:spLocks noGrp="1"/>
          </p:cNvSpPr>
          <p:nvPr/>
        </p:nvSpPr>
        <p:spPr>
          <a:xfrm>
            <a:off x="1066800" y="5245100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</a:t>
            </a:r>
            <a:endParaRPr sz="9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0" name="Rectangle 119"/>
          <p:cNvSpPr>
            <a:spLocks noGrp="1"/>
          </p:cNvSpPr>
          <p:nvPr/>
        </p:nvSpPr>
        <p:spPr>
          <a:xfrm>
            <a:off x="1333500" y="5245100"/>
            <a:ext cx="2667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</p:sp>
      <p:sp>
        <p:nvSpPr>
          <p:cNvPr id="121" name="Rectangle 120"/>
          <p:cNvSpPr>
            <a:spLocks noGrp="1"/>
          </p:cNvSpPr>
          <p:nvPr/>
        </p:nvSpPr>
        <p:spPr>
          <a:xfrm>
            <a:off x="1333500" y="5245100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</a:t>
            </a:r>
            <a:endParaRPr sz="9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2" name="Rectangle 121"/>
          <p:cNvSpPr>
            <a:spLocks noGrp="1"/>
          </p:cNvSpPr>
          <p:nvPr/>
        </p:nvSpPr>
        <p:spPr>
          <a:xfrm>
            <a:off x="1600200" y="5245100"/>
            <a:ext cx="2667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</p:sp>
      <p:sp>
        <p:nvSpPr>
          <p:cNvPr id="123" name="Rectangle 122"/>
          <p:cNvSpPr>
            <a:spLocks noGrp="1"/>
          </p:cNvSpPr>
          <p:nvPr/>
        </p:nvSpPr>
        <p:spPr>
          <a:xfrm>
            <a:off x="1600200" y="5245100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</a:t>
            </a:r>
            <a:endParaRPr sz="9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4" name="Rectangle 123"/>
          <p:cNvSpPr>
            <a:spLocks noGrp="1"/>
          </p:cNvSpPr>
          <p:nvPr/>
        </p:nvSpPr>
        <p:spPr>
          <a:xfrm>
            <a:off x="1866900" y="5245100"/>
            <a:ext cx="2667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</p:sp>
      <p:sp>
        <p:nvSpPr>
          <p:cNvPr id="125" name="Rectangle 124"/>
          <p:cNvSpPr>
            <a:spLocks noGrp="1"/>
          </p:cNvSpPr>
          <p:nvPr/>
        </p:nvSpPr>
        <p:spPr>
          <a:xfrm>
            <a:off x="1866900" y="5245100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</a:t>
            </a:r>
            <a:endParaRPr sz="9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6" name="Rectangle 125"/>
          <p:cNvSpPr>
            <a:spLocks noGrp="1"/>
          </p:cNvSpPr>
          <p:nvPr/>
        </p:nvSpPr>
        <p:spPr>
          <a:xfrm>
            <a:off x="800100" y="5511800"/>
            <a:ext cx="2667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</p:sp>
      <p:sp>
        <p:nvSpPr>
          <p:cNvPr id="127" name="Rectangle 126"/>
          <p:cNvSpPr>
            <a:spLocks noGrp="1"/>
          </p:cNvSpPr>
          <p:nvPr/>
        </p:nvSpPr>
        <p:spPr>
          <a:xfrm>
            <a:off x="800100" y="5511800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</a:t>
            </a:r>
            <a:endParaRPr sz="9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8" name="Rectangle 127"/>
          <p:cNvSpPr>
            <a:spLocks noGrp="1"/>
          </p:cNvSpPr>
          <p:nvPr/>
        </p:nvSpPr>
        <p:spPr>
          <a:xfrm>
            <a:off x="1066800" y="5511800"/>
            <a:ext cx="2667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</p:sp>
      <p:sp>
        <p:nvSpPr>
          <p:cNvPr id="129" name="Rectangle 128"/>
          <p:cNvSpPr>
            <a:spLocks noGrp="1"/>
          </p:cNvSpPr>
          <p:nvPr/>
        </p:nvSpPr>
        <p:spPr>
          <a:xfrm>
            <a:off x="1066800" y="5511800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</a:t>
            </a:r>
            <a:endParaRPr sz="9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0" name="Rectangle 129"/>
          <p:cNvSpPr>
            <a:spLocks noGrp="1"/>
          </p:cNvSpPr>
          <p:nvPr/>
        </p:nvSpPr>
        <p:spPr>
          <a:xfrm>
            <a:off x="1333500" y="5511800"/>
            <a:ext cx="2667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</p:sp>
      <p:sp>
        <p:nvSpPr>
          <p:cNvPr id="131" name="Rectangle 130"/>
          <p:cNvSpPr>
            <a:spLocks noGrp="1"/>
          </p:cNvSpPr>
          <p:nvPr/>
        </p:nvSpPr>
        <p:spPr>
          <a:xfrm>
            <a:off x="1333500" y="5511800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</a:t>
            </a:r>
            <a:endParaRPr sz="9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2" name="Rectangle 131"/>
          <p:cNvSpPr>
            <a:spLocks noGrp="1"/>
          </p:cNvSpPr>
          <p:nvPr/>
        </p:nvSpPr>
        <p:spPr>
          <a:xfrm>
            <a:off x="1600200" y="5511800"/>
            <a:ext cx="2667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</p:sp>
      <p:sp>
        <p:nvSpPr>
          <p:cNvPr id="133" name="Rectangle 132"/>
          <p:cNvSpPr>
            <a:spLocks noGrp="1"/>
          </p:cNvSpPr>
          <p:nvPr/>
        </p:nvSpPr>
        <p:spPr>
          <a:xfrm>
            <a:off x="1600200" y="5511800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</a:t>
            </a:r>
            <a:endParaRPr sz="9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4" name="Rectangle 133"/>
          <p:cNvSpPr>
            <a:spLocks noGrp="1"/>
          </p:cNvSpPr>
          <p:nvPr/>
        </p:nvSpPr>
        <p:spPr>
          <a:xfrm>
            <a:off x="1866900" y="5511800"/>
            <a:ext cx="2667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</p:sp>
      <p:sp>
        <p:nvSpPr>
          <p:cNvPr id="135" name="Rectangle 134"/>
          <p:cNvSpPr>
            <a:spLocks noGrp="1"/>
          </p:cNvSpPr>
          <p:nvPr/>
        </p:nvSpPr>
        <p:spPr>
          <a:xfrm>
            <a:off x="1866900" y="5511800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</a:t>
            </a:r>
            <a:endParaRPr sz="9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6" name="Rectangle 135"/>
          <p:cNvSpPr>
            <a:spLocks noGrp="1"/>
          </p:cNvSpPr>
          <p:nvPr/>
        </p:nvSpPr>
        <p:spPr>
          <a:xfrm>
            <a:off x="2489200" y="4699000"/>
            <a:ext cx="787400" cy="355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3F78C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1">
                <a:solidFill>
                  <a:srgbClr val="3F78C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 = 1</a:t>
            </a:r>
            <a:endParaRPr sz="1350" b="1">
              <a:solidFill>
                <a:srgbClr val="3F78C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7" name="Rectangle 136"/>
          <p:cNvSpPr>
            <a:spLocks noGrp="1"/>
          </p:cNvSpPr>
          <p:nvPr/>
        </p:nvSpPr>
        <p:spPr>
          <a:xfrm>
            <a:off x="3175000" y="4699000"/>
            <a:ext cx="355600" cy="355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2243"/>
          </a:bodyPr>
          <a:lstStyle/>
          <a:p>
            <a:pPr algn="ctr">
              <a:defRPr sz="1650" b="1">
                <a:solidFill>
                  <a:srgbClr val="55555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650" b="1">
                <a:solidFill>
                  <a:srgbClr val="55555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→</a:t>
            </a:r>
            <a:endParaRPr sz="1650" b="1">
              <a:solidFill>
                <a:srgbClr val="55555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8" name="Rectangle 137"/>
          <p:cNvSpPr>
            <a:spLocks noGrp="1"/>
          </p:cNvSpPr>
          <p:nvPr/>
        </p:nvSpPr>
        <p:spPr>
          <a:xfrm>
            <a:off x="3530600" y="4064000"/>
            <a:ext cx="1651000" cy="330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Move 1 cell</a:t>
            </a:r>
            <a:endParaRPr sz="1350" b="1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9" name="Rectangle 138"/>
          <p:cNvSpPr>
            <a:spLocks noGrp="1"/>
          </p:cNvSpPr>
          <p:nvPr/>
        </p:nvSpPr>
        <p:spPr>
          <a:xfrm>
            <a:off x="3683000" y="4445000"/>
            <a:ext cx="2667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</p:sp>
      <p:sp>
        <p:nvSpPr>
          <p:cNvPr id="140" name="Rectangle 139"/>
          <p:cNvSpPr>
            <a:spLocks noGrp="1"/>
          </p:cNvSpPr>
          <p:nvPr/>
        </p:nvSpPr>
        <p:spPr>
          <a:xfrm>
            <a:off x="3683000" y="4445000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</a:t>
            </a:r>
            <a:endParaRPr sz="9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1" name="Rectangle 140"/>
          <p:cNvSpPr>
            <a:spLocks noGrp="1"/>
          </p:cNvSpPr>
          <p:nvPr/>
        </p:nvSpPr>
        <p:spPr>
          <a:xfrm>
            <a:off x="3949700" y="4445000"/>
            <a:ext cx="266700" cy="266700"/>
          </a:xfrm>
          <a:prstGeom prst="rect">
            <a:avLst/>
          </a:prstGeom>
          <a:solidFill>
            <a:srgbClr val="DCEBFA"/>
          </a:solidFill>
          <a:ln w="19050">
            <a:solidFill>
              <a:srgbClr val="2F75B5"/>
            </a:solidFill>
          </a:ln>
        </p:spPr>
      </p:sp>
      <p:sp>
        <p:nvSpPr>
          <p:cNvPr id="142" name="Rectangle 141"/>
          <p:cNvSpPr>
            <a:spLocks noGrp="1"/>
          </p:cNvSpPr>
          <p:nvPr/>
        </p:nvSpPr>
        <p:spPr>
          <a:xfrm>
            <a:off x="3949700" y="4445000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</a:t>
            </a:r>
            <a:endParaRPr sz="9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3" name="Rectangle 142"/>
          <p:cNvSpPr>
            <a:spLocks noGrp="1"/>
          </p:cNvSpPr>
          <p:nvPr/>
        </p:nvSpPr>
        <p:spPr>
          <a:xfrm>
            <a:off x="4216400" y="4445000"/>
            <a:ext cx="266700" cy="266700"/>
          </a:xfrm>
          <a:prstGeom prst="rect">
            <a:avLst/>
          </a:prstGeom>
          <a:solidFill>
            <a:srgbClr val="DCEBFA"/>
          </a:solidFill>
          <a:ln w="19050">
            <a:solidFill>
              <a:srgbClr val="2F75B5"/>
            </a:solidFill>
          </a:ln>
        </p:spPr>
      </p:sp>
      <p:sp>
        <p:nvSpPr>
          <p:cNvPr id="144" name="Rectangle 143"/>
          <p:cNvSpPr>
            <a:spLocks noGrp="1"/>
          </p:cNvSpPr>
          <p:nvPr/>
        </p:nvSpPr>
        <p:spPr>
          <a:xfrm>
            <a:off x="4216400" y="4445000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</a:t>
            </a:r>
            <a:endParaRPr sz="9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5" name="Rectangle 144"/>
          <p:cNvSpPr>
            <a:spLocks noGrp="1"/>
          </p:cNvSpPr>
          <p:nvPr/>
        </p:nvSpPr>
        <p:spPr>
          <a:xfrm>
            <a:off x="4483100" y="4445000"/>
            <a:ext cx="266700" cy="266700"/>
          </a:xfrm>
          <a:prstGeom prst="rect">
            <a:avLst/>
          </a:prstGeom>
          <a:solidFill>
            <a:srgbClr val="DCEBFA"/>
          </a:solidFill>
          <a:ln w="19050">
            <a:solidFill>
              <a:srgbClr val="2F75B5"/>
            </a:solidFill>
          </a:ln>
        </p:spPr>
      </p:sp>
      <p:sp>
        <p:nvSpPr>
          <p:cNvPr id="146" name="Rectangle 145"/>
          <p:cNvSpPr>
            <a:spLocks noGrp="1"/>
          </p:cNvSpPr>
          <p:nvPr/>
        </p:nvSpPr>
        <p:spPr>
          <a:xfrm>
            <a:off x="4483100" y="4445000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</a:t>
            </a:r>
            <a:endParaRPr sz="9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7" name="Rectangle 146"/>
          <p:cNvSpPr>
            <a:spLocks noGrp="1"/>
          </p:cNvSpPr>
          <p:nvPr/>
        </p:nvSpPr>
        <p:spPr>
          <a:xfrm>
            <a:off x="4749800" y="4445000"/>
            <a:ext cx="2667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</p:sp>
      <p:sp>
        <p:nvSpPr>
          <p:cNvPr id="148" name="Rectangle 147"/>
          <p:cNvSpPr>
            <a:spLocks noGrp="1"/>
          </p:cNvSpPr>
          <p:nvPr/>
        </p:nvSpPr>
        <p:spPr>
          <a:xfrm>
            <a:off x="4749800" y="4445000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</a:t>
            </a:r>
            <a:endParaRPr sz="9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9" name="Rectangle 148"/>
          <p:cNvSpPr>
            <a:spLocks noGrp="1"/>
          </p:cNvSpPr>
          <p:nvPr/>
        </p:nvSpPr>
        <p:spPr>
          <a:xfrm>
            <a:off x="3683000" y="4711700"/>
            <a:ext cx="2667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</p:sp>
      <p:sp>
        <p:nvSpPr>
          <p:cNvPr id="150" name="Rectangle 149"/>
          <p:cNvSpPr>
            <a:spLocks noGrp="1"/>
          </p:cNvSpPr>
          <p:nvPr/>
        </p:nvSpPr>
        <p:spPr>
          <a:xfrm>
            <a:off x="3683000" y="4711700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</a:t>
            </a:r>
            <a:endParaRPr sz="9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1" name="Rectangle 150"/>
          <p:cNvSpPr>
            <a:spLocks noGrp="1"/>
          </p:cNvSpPr>
          <p:nvPr/>
        </p:nvSpPr>
        <p:spPr>
          <a:xfrm>
            <a:off x="3949700" y="4711700"/>
            <a:ext cx="266700" cy="266700"/>
          </a:xfrm>
          <a:prstGeom prst="rect">
            <a:avLst/>
          </a:prstGeom>
          <a:solidFill>
            <a:srgbClr val="DCEBFA"/>
          </a:solidFill>
          <a:ln w="19050">
            <a:solidFill>
              <a:srgbClr val="2F75B5"/>
            </a:solidFill>
          </a:ln>
        </p:spPr>
      </p:sp>
      <p:sp>
        <p:nvSpPr>
          <p:cNvPr id="152" name="Rectangle 151"/>
          <p:cNvSpPr>
            <a:spLocks noGrp="1"/>
          </p:cNvSpPr>
          <p:nvPr/>
        </p:nvSpPr>
        <p:spPr>
          <a:xfrm>
            <a:off x="3949700" y="4711700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</a:t>
            </a:r>
            <a:endParaRPr sz="9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3" name="Rectangle 152"/>
          <p:cNvSpPr>
            <a:spLocks noGrp="1"/>
          </p:cNvSpPr>
          <p:nvPr/>
        </p:nvSpPr>
        <p:spPr>
          <a:xfrm>
            <a:off x="4216400" y="4711700"/>
            <a:ext cx="266700" cy="266700"/>
          </a:xfrm>
          <a:prstGeom prst="rect">
            <a:avLst/>
          </a:prstGeom>
          <a:solidFill>
            <a:srgbClr val="DCEBFA"/>
          </a:solidFill>
          <a:ln w="19050">
            <a:solidFill>
              <a:srgbClr val="2F75B5"/>
            </a:solidFill>
          </a:ln>
        </p:spPr>
      </p:sp>
      <p:sp>
        <p:nvSpPr>
          <p:cNvPr id="154" name="Rectangle 153"/>
          <p:cNvSpPr>
            <a:spLocks noGrp="1"/>
          </p:cNvSpPr>
          <p:nvPr/>
        </p:nvSpPr>
        <p:spPr>
          <a:xfrm>
            <a:off x="4216400" y="4711700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</a:t>
            </a:r>
            <a:endParaRPr sz="9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5" name="Rectangle 154"/>
          <p:cNvSpPr>
            <a:spLocks noGrp="1"/>
          </p:cNvSpPr>
          <p:nvPr/>
        </p:nvSpPr>
        <p:spPr>
          <a:xfrm>
            <a:off x="4483100" y="4711700"/>
            <a:ext cx="266700" cy="266700"/>
          </a:xfrm>
          <a:prstGeom prst="rect">
            <a:avLst/>
          </a:prstGeom>
          <a:solidFill>
            <a:srgbClr val="DCEBFA"/>
          </a:solidFill>
          <a:ln w="19050">
            <a:solidFill>
              <a:srgbClr val="2F75B5"/>
            </a:solidFill>
          </a:ln>
        </p:spPr>
      </p:sp>
      <p:sp>
        <p:nvSpPr>
          <p:cNvPr id="156" name="Rectangle 155"/>
          <p:cNvSpPr>
            <a:spLocks noGrp="1"/>
          </p:cNvSpPr>
          <p:nvPr/>
        </p:nvSpPr>
        <p:spPr>
          <a:xfrm>
            <a:off x="4483100" y="4711700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</a:t>
            </a:r>
            <a:endParaRPr sz="9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7" name="Rectangle 156"/>
          <p:cNvSpPr>
            <a:spLocks noGrp="1"/>
          </p:cNvSpPr>
          <p:nvPr/>
        </p:nvSpPr>
        <p:spPr>
          <a:xfrm>
            <a:off x="4749800" y="4711700"/>
            <a:ext cx="2667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</p:sp>
      <p:sp>
        <p:nvSpPr>
          <p:cNvPr id="158" name="Rectangle 157"/>
          <p:cNvSpPr>
            <a:spLocks noGrp="1"/>
          </p:cNvSpPr>
          <p:nvPr/>
        </p:nvSpPr>
        <p:spPr>
          <a:xfrm>
            <a:off x="4749800" y="4711700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</a:t>
            </a:r>
            <a:endParaRPr sz="9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9" name="Rectangle 158"/>
          <p:cNvSpPr>
            <a:spLocks noGrp="1"/>
          </p:cNvSpPr>
          <p:nvPr/>
        </p:nvSpPr>
        <p:spPr>
          <a:xfrm>
            <a:off x="3683000" y="4978400"/>
            <a:ext cx="2667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</p:sp>
      <p:sp>
        <p:nvSpPr>
          <p:cNvPr id="160" name="Rectangle 159"/>
          <p:cNvSpPr>
            <a:spLocks noGrp="1"/>
          </p:cNvSpPr>
          <p:nvPr/>
        </p:nvSpPr>
        <p:spPr>
          <a:xfrm>
            <a:off x="3683000" y="4978400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</a:t>
            </a:r>
            <a:endParaRPr sz="9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1" name="Rectangle 160"/>
          <p:cNvSpPr>
            <a:spLocks noGrp="1"/>
          </p:cNvSpPr>
          <p:nvPr/>
        </p:nvSpPr>
        <p:spPr>
          <a:xfrm>
            <a:off x="3949700" y="4978400"/>
            <a:ext cx="266700" cy="266700"/>
          </a:xfrm>
          <a:prstGeom prst="rect">
            <a:avLst/>
          </a:prstGeom>
          <a:solidFill>
            <a:srgbClr val="DCEBFA"/>
          </a:solidFill>
          <a:ln w="19050">
            <a:solidFill>
              <a:srgbClr val="2F75B5"/>
            </a:solidFill>
          </a:ln>
        </p:spPr>
      </p:sp>
      <p:sp>
        <p:nvSpPr>
          <p:cNvPr id="162" name="Rectangle 161"/>
          <p:cNvSpPr>
            <a:spLocks noGrp="1"/>
          </p:cNvSpPr>
          <p:nvPr/>
        </p:nvSpPr>
        <p:spPr>
          <a:xfrm>
            <a:off x="3949700" y="4978400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</a:t>
            </a:r>
            <a:endParaRPr sz="9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3" name="Rectangle 162"/>
          <p:cNvSpPr>
            <a:spLocks noGrp="1"/>
          </p:cNvSpPr>
          <p:nvPr/>
        </p:nvSpPr>
        <p:spPr>
          <a:xfrm>
            <a:off x="4216400" y="4978400"/>
            <a:ext cx="266700" cy="266700"/>
          </a:xfrm>
          <a:prstGeom prst="rect">
            <a:avLst/>
          </a:prstGeom>
          <a:solidFill>
            <a:srgbClr val="DCEBFA"/>
          </a:solidFill>
          <a:ln w="19050">
            <a:solidFill>
              <a:srgbClr val="2F75B5"/>
            </a:solidFill>
          </a:ln>
        </p:spPr>
      </p:sp>
      <p:sp>
        <p:nvSpPr>
          <p:cNvPr id="164" name="Rectangle 163"/>
          <p:cNvSpPr>
            <a:spLocks noGrp="1"/>
          </p:cNvSpPr>
          <p:nvPr/>
        </p:nvSpPr>
        <p:spPr>
          <a:xfrm>
            <a:off x="4216400" y="4978400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</a:t>
            </a:r>
            <a:endParaRPr sz="9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5" name="Rectangle 164"/>
          <p:cNvSpPr>
            <a:spLocks noGrp="1"/>
          </p:cNvSpPr>
          <p:nvPr/>
        </p:nvSpPr>
        <p:spPr>
          <a:xfrm>
            <a:off x="4483100" y="4978400"/>
            <a:ext cx="266700" cy="266700"/>
          </a:xfrm>
          <a:prstGeom prst="rect">
            <a:avLst/>
          </a:prstGeom>
          <a:solidFill>
            <a:srgbClr val="DCEBFA"/>
          </a:solidFill>
          <a:ln w="19050">
            <a:solidFill>
              <a:srgbClr val="2F75B5"/>
            </a:solidFill>
          </a:ln>
        </p:spPr>
      </p:sp>
      <p:sp>
        <p:nvSpPr>
          <p:cNvPr id="166" name="Rectangle 165"/>
          <p:cNvSpPr>
            <a:spLocks noGrp="1"/>
          </p:cNvSpPr>
          <p:nvPr/>
        </p:nvSpPr>
        <p:spPr>
          <a:xfrm>
            <a:off x="4483100" y="4978400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</a:t>
            </a:r>
            <a:endParaRPr sz="9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7" name="Rectangle 166"/>
          <p:cNvSpPr>
            <a:spLocks noGrp="1"/>
          </p:cNvSpPr>
          <p:nvPr/>
        </p:nvSpPr>
        <p:spPr>
          <a:xfrm>
            <a:off x="4749800" y="4978400"/>
            <a:ext cx="2667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</p:sp>
      <p:sp>
        <p:nvSpPr>
          <p:cNvPr id="168" name="Rectangle 167"/>
          <p:cNvSpPr>
            <a:spLocks noGrp="1"/>
          </p:cNvSpPr>
          <p:nvPr/>
        </p:nvSpPr>
        <p:spPr>
          <a:xfrm>
            <a:off x="4749800" y="4978400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</a:t>
            </a:r>
            <a:endParaRPr sz="9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9" name="Rectangle 168"/>
          <p:cNvSpPr>
            <a:spLocks noGrp="1"/>
          </p:cNvSpPr>
          <p:nvPr/>
        </p:nvSpPr>
        <p:spPr>
          <a:xfrm>
            <a:off x="3683000" y="5245100"/>
            <a:ext cx="2667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</p:sp>
      <p:sp>
        <p:nvSpPr>
          <p:cNvPr id="170" name="Rectangle 169"/>
          <p:cNvSpPr>
            <a:spLocks noGrp="1"/>
          </p:cNvSpPr>
          <p:nvPr/>
        </p:nvSpPr>
        <p:spPr>
          <a:xfrm>
            <a:off x="3683000" y="5245100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</a:t>
            </a:r>
            <a:endParaRPr sz="9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1" name="Rectangle 170"/>
          <p:cNvSpPr>
            <a:spLocks noGrp="1"/>
          </p:cNvSpPr>
          <p:nvPr/>
        </p:nvSpPr>
        <p:spPr>
          <a:xfrm>
            <a:off x="3949700" y="5245100"/>
            <a:ext cx="2667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</p:sp>
      <p:sp>
        <p:nvSpPr>
          <p:cNvPr id="172" name="Rectangle 171"/>
          <p:cNvSpPr>
            <a:spLocks noGrp="1"/>
          </p:cNvSpPr>
          <p:nvPr/>
        </p:nvSpPr>
        <p:spPr>
          <a:xfrm>
            <a:off x="3949700" y="5245100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</a:t>
            </a:r>
            <a:endParaRPr sz="9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3" name="Rectangle 172"/>
          <p:cNvSpPr>
            <a:spLocks noGrp="1"/>
          </p:cNvSpPr>
          <p:nvPr/>
        </p:nvSpPr>
        <p:spPr>
          <a:xfrm>
            <a:off x="4216400" y="5245100"/>
            <a:ext cx="2667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</p:sp>
      <p:sp>
        <p:nvSpPr>
          <p:cNvPr id="174" name="Rectangle 173"/>
          <p:cNvSpPr>
            <a:spLocks noGrp="1"/>
          </p:cNvSpPr>
          <p:nvPr/>
        </p:nvSpPr>
        <p:spPr>
          <a:xfrm>
            <a:off x="4216400" y="5245100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</a:t>
            </a:r>
            <a:endParaRPr sz="9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5" name="Rectangle 174"/>
          <p:cNvSpPr>
            <a:spLocks noGrp="1"/>
          </p:cNvSpPr>
          <p:nvPr/>
        </p:nvSpPr>
        <p:spPr>
          <a:xfrm>
            <a:off x="4483100" y="5245100"/>
            <a:ext cx="2667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</p:sp>
      <p:sp>
        <p:nvSpPr>
          <p:cNvPr id="176" name="Rectangle 175"/>
          <p:cNvSpPr>
            <a:spLocks noGrp="1"/>
          </p:cNvSpPr>
          <p:nvPr/>
        </p:nvSpPr>
        <p:spPr>
          <a:xfrm>
            <a:off x="4483100" y="5245100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</a:t>
            </a:r>
            <a:endParaRPr sz="9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7" name="Rectangle 176"/>
          <p:cNvSpPr>
            <a:spLocks noGrp="1"/>
          </p:cNvSpPr>
          <p:nvPr/>
        </p:nvSpPr>
        <p:spPr>
          <a:xfrm>
            <a:off x="4749800" y="5245100"/>
            <a:ext cx="2667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</p:sp>
      <p:sp>
        <p:nvSpPr>
          <p:cNvPr id="178" name="Rectangle 177"/>
          <p:cNvSpPr>
            <a:spLocks noGrp="1"/>
          </p:cNvSpPr>
          <p:nvPr/>
        </p:nvSpPr>
        <p:spPr>
          <a:xfrm>
            <a:off x="4749800" y="5245100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</a:t>
            </a:r>
            <a:endParaRPr sz="9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9" name="Rectangle 178"/>
          <p:cNvSpPr>
            <a:spLocks noGrp="1"/>
          </p:cNvSpPr>
          <p:nvPr/>
        </p:nvSpPr>
        <p:spPr>
          <a:xfrm>
            <a:off x="3683000" y="5511800"/>
            <a:ext cx="2667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</p:sp>
      <p:sp>
        <p:nvSpPr>
          <p:cNvPr id="180" name="Rectangle 179"/>
          <p:cNvSpPr>
            <a:spLocks noGrp="1"/>
          </p:cNvSpPr>
          <p:nvPr/>
        </p:nvSpPr>
        <p:spPr>
          <a:xfrm>
            <a:off x="3683000" y="5511800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</a:t>
            </a:r>
            <a:endParaRPr sz="9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81" name="Rectangle 180"/>
          <p:cNvSpPr>
            <a:spLocks noGrp="1"/>
          </p:cNvSpPr>
          <p:nvPr/>
        </p:nvSpPr>
        <p:spPr>
          <a:xfrm>
            <a:off x="3949700" y="5511800"/>
            <a:ext cx="2667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</p:sp>
      <p:sp>
        <p:nvSpPr>
          <p:cNvPr id="182" name="Rectangle 181"/>
          <p:cNvSpPr>
            <a:spLocks noGrp="1"/>
          </p:cNvSpPr>
          <p:nvPr/>
        </p:nvSpPr>
        <p:spPr>
          <a:xfrm>
            <a:off x="3949700" y="5511800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</a:t>
            </a:r>
            <a:endParaRPr sz="9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83" name="Rectangle 182"/>
          <p:cNvSpPr>
            <a:spLocks noGrp="1"/>
          </p:cNvSpPr>
          <p:nvPr/>
        </p:nvSpPr>
        <p:spPr>
          <a:xfrm>
            <a:off x="4216400" y="5511800"/>
            <a:ext cx="2667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</p:sp>
      <p:sp>
        <p:nvSpPr>
          <p:cNvPr id="184" name="Rectangle 183"/>
          <p:cNvSpPr>
            <a:spLocks noGrp="1"/>
          </p:cNvSpPr>
          <p:nvPr/>
        </p:nvSpPr>
        <p:spPr>
          <a:xfrm>
            <a:off x="4216400" y="5511800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</a:t>
            </a:r>
            <a:endParaRPr sz="9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85" name="Rectangle 184"/>
          <p:cNvSpPr>
            <a:spLocks noGrp="1"/>
          </p:cNvSpPr>
          <p:nvPr/>
        </p:nvSpPr>
        <p:spPr>
          <a:xfrm>
            <a:off x="4483100" y="5511800"/>
            <a:ext cx="2667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</p:sp>
      <p:sp>
        <p:nvSpPr>
          <p:cNvPr id="186" name="Rectangle 185"/>
          <p:cNvSpPr>
            <a:spLocks noGrp="1"/>
          </p:cNvSpPr>
          <p:nvPr/>
        </p:nvSpPr>
        <p:spPr>
          <a:xfrm>
            <a:off x="4483100" y="5511800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</a:t>
            </a:r>
            <a:endParaRPr sz="9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87" name="Rectangle 186"/>
          <p:cNvSpPr>
            <a:spLocks noGrp="1"/>
          </p:cNvSpPr>
          <p:nvPr/>
        </p:nvSpPr>
        <p:spPr>
          <a:xfrm>
            <a:off x="4749800" y="5511800"/>
            <a:ext cx="2667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</p:sp>
      <p:sp>
        <p:nvSpPr>
          <p:cNvPr id="188" name="Rectangle 187"/>
          <p:cNvSpPr>
            <a:spLocks noGrp="1"/>
          </p:cNvSpPr>
          <p:nvPr/>
        </p:nvSpPr>
        <p:spPr>
          <a:xfrm>
            <a:off x="4749800" y="5511800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</a:t>
            </a:r>
            <a:endParaRPr sz="9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89" name="Rectangle 188"/>
          <p:cNvSpPr>
            <a:spLocks noGrp="1"/>
          </p:cNvSpPr>
          <p:nvPr/>
        </p:nvSpPr>
        <p:spPr>
          <a:xfrm>
            <a:off x="5372100" y="4699000"/>
            <a:ext cx="787400" cy="355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3F78C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1">
                <a:solidFill>
                  <a:srgbClr val="3F78C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 = 2</a:t>
            </a:r>
            <a:endParaRPr sz="1350" b="1">
              <a:solidFill>
                <a:srgbClr val="3F78C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90" name="Rectangle 189"/>
          <p:cNvSpPr>
            <a:spLocks noGrp="1"/>
          </p:cNvSpPr>
          <p:nvPr/>
        </p:nvSpPr>
        <p:spPr>
          <a:xfrm>
            <a:off x="6057900" y="4699000"/>
            <a:ext cx="355600" cy="355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2243"/>
          </a:bodyPr>
          <a:lstStyle/>
          <a:p>
            <a:pPr algn="ctr">
              <a:defRPr sz="1650" b="1">
                <a:solidFill>
                  <a:srgbClr val="55555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650" b="1">
                <a:solidFill>
                  <a:srgbClr val="55555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→</a:t>
            </a:r>
            <a:endParaRPr sz="1650" b="1">
              <a:solidFill>
                <a:srgbClr val="55555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91" name="Rectangle 190"/>
          <p:cNvSpPr>
            <a:spLocks noGrp="1"/>
          </p:cNvSpPr>
          <p:nvPr/>
        </p:nvSpPr>
        <p:spPr>
          <a:xfrm>
            <a:off x="6426200" y="4064000"/>
            <a:ext cx="1651000" cy="330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Move 2 cells</a:t>
            </a:r>
            <a:endParaRPr sz="1350" b="1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92" name="Rectangle 191"/>
          <p:cNvSpPr>
            <a:spLocks noGrp="1"/>
          </p:cNvSpPr>
          <p:nvPr/>
        </p:nvSpPr>
        <p:spPr>
          <a:xfrm>
            <a:off x="6604000" y="4445000"/>
            <a:ext cx="2667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</p:sp>
      <p:sp>
        <p:nvSpPr>
          <p:cNvPr id="193" name="Rectangle 192"/>
          <p:cNvSpPr>
            <a:spLocks noGrp="1"/>
          </p:cNvSpPr>
          <p:nvPr/>
        </p:nvSpPr>
        <p:spPr>
          <a:xfrm>
            <a:off x="6604000" y="4445000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</a:t>
            </a:r>
            <a:endParaRPr sz="9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94" name="Rectangle 193"/>
          <p:cNvSpPr>
            <a:spLocks noGrp="1"/>
          </p:cNvSpPr>
          <p:nvPr/>
        </p:nvSpPr>
        <p:spPr>
          <a:xfrm>
            <a:off x="6870700" y="4445000"/>
            <a:ext cx="2667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</p:sp>
      <p:sp>
        <p:nvSpPr>
          <p:cNvPr id="195" name="Rectangle 194"/>
          <p:cNvSpPr>
            <a:spLocks noGrp="1"/>
          </p:cNvSpPr>
          <p:nvPr/>
        </p:nvSpPr>
        <p:spPr>
          <a:xfrm>
            <a:off x="6870700" y="4445000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</a:t>
            </a:r>
            <a:endParaRPr sz="9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96" name="Rectangle 195"/>
          <p:cNvSpPr>
            <a:spLocks noGrp="1"/>
          </p:cNvSpPr>
          <p:nvPr/>
        </p:nvSpPr>
        <p:spPr>
          <a:xfrm>
            <a:off x="7137400" y="4445000"/>
            <a:ext cx="266700" cy="266700"/>
          </a:xfrm>
          <a:prstGeom prst="rect">
            <a:avLst/>
          </a:prstGeom>
          <a:solidFill>
            <a:srgbClr val="E7F3E8"/>
          </a:solidFill>
          <a:ln w="19050">
            <a:solidFill>
              <a:srgbClr val="2F75B5"/>
            </a:solidFill>
          </a:ln>
        </p:spPr>
      </p:sp>
      <p:sp>
        <p:nvSpPr>
          <p:cNvPr id="197" name="Rectangle 196"/>
          <p:cNvSpPr>
            <a:spLocks noGrp="1"/>
          </p:cNvSpPr>
          <p:nvPr/>
        </p:nvSpPr>
        <p:spPr>
          <a:xfrm>
            <a:off x="7137400" y="4445000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</a:t>
            </a:r>
            <a:endParaRPr sz="9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98" name="Rectangle 197"/>
          <p:cNvSpPr>
            <a:spLocks noGrp="1"/>
          </p:cNvSpPr>
          <p:nvPr/>
        </p:nvSpPr>
        <p:spPr>
          <a:xfrm>
            <a:off x="7404100" y="4445000"/>
            <a:ext cx="266700" cy="266700"/>
          </a:xfrm>
          <a:prstGeom prst="rect">
            <a:avLst/>
          </a:prstGeom>
          <a:solidFill>
            <a:srgbClr val="E7F3E8"/>
          </a:solidFill>
          <a:ln w="19050">
            <a:solidFill>
              <a:srgbClr val="2F75B5"/>
            </a:solidFill>
          </a:ln>
        </p:spPr>
      </p:sp>
      <p:sp>
        <p:nvSpPr>
          <p:cNvPr id="199" name="Rectangle 198"/>
          <p:cNvSpPr>
            <a:spLocks noGrp="1"/>
          </p:cNvSpPr>
          <p:nvPr/>
        </p:nvSpPr>
        <p:spPr>
          <a:xfrm>
            <a:off x="7404100" y="4445000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</a:t>
            </a:r>
            <a:endParaRPr sz="9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00" name="Rectangle 199"/>
          <p:cNvSpPr>
            <a:spLocks noGrp="1"/>
          </p:cNvSpPr>
          <p:nvPr/>
        </p:nvSpPr>
        <p:spPr>
          <a:xfrm>
            <a:off x="7670800" y="4445000"/>
            <a:ext cx="266700" cy="266700"/>
          </a:xfrm>
          <a:prstGeom prst="rect">
            <a:avLst/>
          </a:prstGeom>
          <a:solidFill>
            <a:srgbClr val="E7F3E8"/>
          </a:solidFill>
          <a:ln w="19050">
            <a:solidFill>
              <a:srgbClr val="2F75B5"/>
            </a:solidFill>
          </a:ln>
        </p:spPr>
      </p:sp>
      <p:sp>
        <p:nvSpPr>
          <p:cNvPr id="201" name="Rectangle 200"/>
          <p:cNvSpPr>
            <a:spLocks noGrp="1"/>
          </p:cNvSpPr>
          <p:nvPr/>
        </p:nvSpPr>
        <p:spPr>
          <a:xfrm>
            <a:off x="7670800" y="4445000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</a:t>
            </a:r>
            <a:endParaRPr sz="9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02" name="Rectangle 201"/>
          <p:cNvSpPr>
            <a:spLocks noGrp="1"/>
          </p:cNvSpPr>
          <p:nvPr/>
        </p:nvSpPr>
        <p:spPr>
          <a:xfrm>
            <a:off x="6604000" y="4711700"/>
            <a:ext cx="2667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</p:sp>
      <p:sp>
        <p:nvSpPr>
          <p:cNvPr id="203" name="Rectangle 202"/>
          <p:cNvSpPr>
            <a:spLocks noGrp="1"/>
          </p:cNvSpPr>
          <p:nvPr/>
        </p:nvSpPr>
        <p:spPr>
          <a:xfrm>
            <a:off x="6604000" y="4711700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</a:t>
            </a:r>
            <a:endParaRPr sz="9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04" name="Rectangle 203"/>
          <p:cNvSpPr>
            <a:spLocks noGrp="1"/>
          </p:cNvSpPr>
          <p:nvPr/>
        </p:nvSpPr>
        <p:spPr>
          <a:xfrm>
            <a:off x="6870700" y="4711700"/>
            <a:ext cx="2667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</p:sp>
      <p:sp>
        <p:nvSpPr>
          <p:cNvPr id="205" name="Rectangle 204"/>
          <p:cNvSpPr>
            <a:spLocks noGrp="1"/>
          </p:cNvSpPr>
          <p:nvPr/>
        </p:nvSpPr>
        <p:spPr>
          <a:xfrm>
            <a:off x="6870700" y="4711700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</a:t>
            </a:r>
            <a:endParaRPr sz="9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06" name="Rectangle 205"/>
          <p:cNvSpPr>
            <a:spLocks noGrp="1"/>
          </p:cNvSpPr>
          <p:nvPr/>
        </p:nvSpPr>
        <p:spPr>
          <a:xfrm>
            <a:off x="7137400" y="4711700"/>
            <a:ext cx="266700" cy="266700"/>
          </a:xfrm>
          <a:prstGeom prst="rect">
            <a:avLst/>
          </a:prstGeom>
          <a:solidFill>
            <a:srgbClr val="E7F3E8"/>
          </a:solidFill>
          <a:ln w="19050">
            <a:solidFill>
              <a:srgbClr val="2F75B5"/>
            </a:solidFill>
          </a:ln>
        </p:spPr>
      </p:sp>
      <p:sp>
        <p:nvSpPr>
          <p:cNvPr id="207" name="Rectangle 206"/>
          <p:cNvSpPr>
            <a:spLocks noGrp="1"/>
          </p:cNvSpPr>
          <p:nvPr/>
        </p:nvSpPr>
        <p:spPr>
          <a:xfrm>
            <a:off x="7137400" y="4711700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</a:t>
            </a:r>
            <a:endParaRPr sz="9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08" name="Rectangle 207"/>
          <p:cNvSpPr>
            <a:spLocks noGrp="1"/>
          </p:cNvSpPr>
          <p:nvPr/>
        </p:nvSpPr>
        <p:spPr>
          <a:xfrm>
            <a:off x="7404100" y="4711700"/>
            <a:ext cx="266700" cy="266700"/>
          </a:xfrm>
          <a:prstGeom prst="rect">
            <a:avLst/>
          </a:prstGeom>
          <a:solidFill>
            <a:srgbClr val="E7F3E8"/>
          </a:solidFill>
          <a:ln w="19050">
            <a:solidFill>
              <a:srgbClr val="2F75B5"/>
            </a:solidFill>
          </a:ln>
        </p:spPr>
      </p:sp>
      <p:sp>
        <p:nvSpPr>
          <p:cNvPr id="209" name="Rectangle 208"/>
          <p:cNvSpPr>
            <a:spLocks noGrp="1"/>
          </p:cNvSpPr>
          <p:nvPr/>
        </p:nvSpPr>
        <p:spPr>
          <a:xfrm>
            <a:off x="7404100" y="4711700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</a:t>
            </a:r>
            <a:endParaRPr sz="9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10" name="Rectangle 209"/>
          <p:cNvSpPr>
            <a:spLocks noGrp="1"/>
          </p:cNvSpPr>
          <p:nvPr/>
        </p:nvSpPr>
        <p:spPr>
          <a:xfrm>
            <a:off x="7670800" y="4711700"/>
            <a:ext cx="266700" cy="266700"/>
          </a:xfrm>
          <a:prstGeom prst="rect">
            <a:avLst/>
          </a:prstGeom>
          <a:solidFill>
            <a:srgbClr val="E7F3E8"/>
          </a:solidFill>
          <a:ln w="19050">
            <a:solidFill>
              <a:srgbClr val="2F75B5"/>
            </a:solidFill>
          </a:ln>
        </p:spPr>
      </p:sp>
      <p:sp>
        <p:nvSpPr>
          <p:cNvPr id="211" name="Rectangle 210"/>
          <p:cNvSpPr>
            <a:spLocks noGrp="1"/>
          </p:cNvSpPr>
          <p:nvPr/>
        </p:nvSpPr>
        <p:spPr>
          <a:xfrm>
            <a:off x="7670800" y="4711700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</a:t>
            </a:r>
            <a:endParaRPr sz="9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12" name="Rectangle 211"/>
          <p:cNvSpPr>
            <a:spLocks noGrp="1"/>
          </p:cNvSpPr>
          <p:nvPr/>
        </p:nvSpPr>
        <p:spPr>
          <a:xfrm>
            <a:off x="6604000" y="4978400"/>
            <a:ext cx="2667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</p:sp>
      <p:sp>
        <p:nvSpPr>
          <p:cNvPr id="213" name="Rectangle 212"/>
          <p:cNvSpPr>
            <a:spLocks noGrp="1"/>
          </p:cNvSpPr>
          <p:nvPr/>
        </p:nvSpPr>
        <p:spPr>
          <a:xfrm>
            <a:off x="6604000" y="4978400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</a:t>
            </a:r>
            <a:endParaRPr sz="9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14" name="Rectangle 213"/>
          <p:cNvSpPr>
            <a:spLocks noGrp="1"/>
          </p:cNvSpPr>
          <p:nvPr/>
        </p:nvSpPr>
        <p:spPr>
          <a:xfrm>
            <a:off x="6870700" y="4978400"/>
            <a:ext cx="2667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</p:sp>
      <p:sp>
        <p:nvSpPr>
          <p:cNvPr id="215" name="Rectangle 214"/>
          <p:cNvSpPr>
            <a:spLocks noGrp="1"/>
          </p:cNvSpPr>
          <p:nvPr/>
        </p:nvSpPr>
        <p:spPr>
          <a:xfrm>
            <a:off x="6870700" y="4978400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</a:t>
            </a:r>
            <a:endParaRPr sz="9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16" name="Rectangle 215"/>
          <p:cNvSpPr>
            <a:spLocks noGrp="1"/>
          </p:cNvSpPr>
          <p:nvPr/>
        </p:nvSpPr>
        <p:spPr>
          <a:xfrm>
            <a:off x="7137400" y="4978400"/>
            <a:ext cx="266700" cy="266700"/>
          </a:xfrm>
          <a:prstGeom prst="rect">
            <a:avLst/>
          </a:prstGeom>
          <a:solidFill>
            <a:srgbClr val="E7F3E8"/>
          </a:solidFill>
          <a:ln w="19050">
            <a:solidFill>
              <a:srgbClr val="2F75B5"/>
            </a:solidFill>
          </a:ln>
        </p:spPr>
      </p:sp>
      <p:sp>
        <p:nvSpPr>
          <p:cNvPr id="217" name="Rectangle 216"/>
          <p:cNvSpPr>
            <a:spLocks noGrp="1"/>
          </p:cNvSpPr>
          <p:nvPr/>
        </p:nvSpPr>
        <p:spPr>
          <a:xfrm>
            <a:off x="7137400" y="4978400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</a:t>
            </a:r>
            <a:endParaRPr sz="9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18" name="Rectangle 217"/>
          <p:cNvSpPr>
            <a:spLocks noGrp="1"/>
          </p:cNvSpPr>
          <p:nvPr/>
        </p:nvSpPr>
        <p:spPr>
          <a:xfrm>
            <a:off x="7404100" y="4978400"/>
            <a:ext cx="266700" cy="266700"/>
          </a:xfrm>
          <a:prstGeom prst="rect">
            <a:avLst/>
          </a:prstGeom>
          <a:solidFill>
            <a:srgbClr val="E7F3E8"/>
          </a:solidFill>
          <a:ln w="19050">
            <a:solidFill>
              <a:srgbClr val="2F75B5"/>
            </a:solidFill>
          </a:ln>
        </p:spPr>
      </p:sp>
      <p:sp>
        <p:nvSpPr>
          <p:cNvPr id="219" name="Rectangle 218"/>
          <p:cNvSpPr>
            <a:spLocks noGrp="1"/>
          </p:cNvSpPr>
          <p:nvPr/>
        </p:nvSpPr>
        <p:spPr>
          <a:xfrm>
            <a:off x="7404100" y="4978400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</a:t>
            </a:r>
            <a:endParaRPr sz="9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20" name="Rectangle 219"/>
          <p:cNvSpPr>
            <a:spLocks noGrp="1"/>
          </p:cNvSpPr>
          <p:nvPr/>
        </p:nvSpPr>
        <p:spPr>
          <a:xfrm>
            <a:off x="7670800" y="4978400"/>
            <a:ext cx="266700" cy="266700"/>
          </a:xfrm>
          <a:prstGeom prst="rect">
            <a:avLst/>
          </a:prstGeom>
          <a:solidFill>
            <a:srgbClr val="E7F3E8"/>
          </a:solidFill>
          <a:ln w="19050">
            <a:solidFill>
              <a:srgbClr val="2F75B5"/>
            </a:solidFill>
          </a:ln>
        </p:spPr>
      </p:sp>
      <p:sp>
        <p:nvSpPr>
          <p:cNvPr id="221" name="Rectangle 220"/>
          <p:cNvSpPr>
            <a:spLocks noGrp="1"/>
          </p:cNvSpPr>
          <p:nvPr/>
        </p:nvSpPr>
        <p:spPr>
          <a:xfrm>
            <a:off x="7670800" y="4978400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</a:t>
            </a:r>
            <a:endParaRPr sz="9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22" name="Rectangle 221"/>
          <p:cNvSpPr>
            <a:spLocks noGrp="1"/>
          </p:cNvSpPr>
          <p:nvPr/>
        </p:nvSpPr>
        <p:spPr>
          <a:xfrm>
            <a:off x="6604000" y="5245100"/>
            <a:ext cx="2667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</p:sp>
      <p:sp>
        <p:nvSpPr>
          <p:cNvPr id="223" name="Rectangle 222"/>
          <p:cNvSpPr>
            <a:spLocks noGrp="1"/>
          </p:cNvSpPr>
          <p:nvPr/>
        </p:nvSpPr>
        <p:spPr>
          <a:xfrm>
            <a:off x="6604000" y="5245100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</a:t>
            </a:r>
            <a:endParaRPr sz="9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24" name="Rectangle 223"/>
          <p:cNvSpPr>
            <a:spLocks noGrp="1"/>
          </p:cNvSpPr>
          <p:nvPr/>
        </p:nvSpPr>
        <p:spPr>
          <a:xfrm>
            <a:off x="6870700" y="5245100"/>
            <a:ext cx="2667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</p:sp>
      <p:sp>
        <p:nvSpPr>
          <p:cNvPr id="225" name="Rectangle 224"/>
          <p:cNvSpPr>
            <a:spLocks noGrp="1"/>
          </p:cNvSpPr>
          <p:nvPr/>
        </p:nvSpPr>
        <p:spPr>
          <a:xfrm>
            <a:off x="6870700" y="5245100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</a:t>
            </a:r>
            <a:endParaRPr sz="9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26" name="Rectangle 225"/>
          <p:cNvSpPr>
            <a:spLocks noGrp="1"/>
          </p:cNvSpPr>
          <p:nvPr/>
        </p:nvSpPr>
        <p:spPr>
          <a:xfrm>
            <a:off x="7137400" y="5245100"/>
            <a:ext cx="2667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</p:sp>
      <p:sp>
        <p:nvSpPr>
          <p:cNvPr id="227" name="Rectangle 226"/>
          <p:cNvSpPr>
            <a:spLocks noGrp="1"/>
          </p:cNvSpPr>
          <p:nvPr/>
        </p:nvSpPr>
        <p:spPr>
          <a:xfrm>
            <a:off x="7137400" y="5245100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</a:t>
            </a:r>
            <a:endParaRPr sz="9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28" name="Rectangle 227"/>
          <p:cNvSpPr>
            <a:spLocks noGrp="1"/>
          </p:cNvSpPr>
          <p:nvPr/>
        </p:nvSpPr>
        <p:spPr>
          <a:xfrm>
            <a:off x="7404100" y="5245100"/>
            <a:ext cx="2667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</p:sp>
      <p:sp>
        <p:nvSpPr>
          <p:cNvPr id="229" name="Rectangle 228"/>
          <p:cNvSpPr>
            <a:spLocks noGrp="1"/>
          </p:cNvSpPr>
          <p:nvPr/>
        </p:nvSpPr>
        <p:spPr>
          <a:xfrm>
            <a:off x="7404100" y="5245100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</a:t>
            </a:r>
            <a:endParaRPr sz="9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30" name="Rectangle 229"/>
          <p:cNvSpPr>
            <a:spLocks noGrp="1"/>
          </p:cNvSpPr>
          <p:nvPr/>
        </p:nvSpPr>
        <p:spPr>
          <a:xfrm>
            <a:off x="7670800" y="5245100"/>
            <a:ext cx="2667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</p:sp>
      <p:sp>
        <p:nvSpPr>
          <p:cNvPr id="231" name="Rectangle 230"/>
          <p:cNvSpPr>
            <a:spLocks noGrp="1"/>
          </p:cNvSpPr>
          <p:nvPr/>
        </p:nvSpPr>
        <p:spPr>
          <a:xfrm>
            <a:off x="7670800" y="5245100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</a:t>
            </a:r>
            <a:endParaRPr sz="9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32" name="Rectangle 231"/>
          <p:cNvSpPr>
            <a:spLocks noGrp="1"/>
          </p:cNvSpPr>
          <p:nvPr/>
        </p:nvSpPr>
        <p:spPr>
          <a:xfrm>
            <a:off x="6604000" y="5511800"/>
            <a:ext cx="2667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</p:sp>
      <p:sp>
        <p:nvSpPr>
          <p:cNvPr id="233" name="Rectangle 232"/>
          <p:cNvSpPr>
            <a:spLocks noGrp="1"/>
          </p:cNvSpPr>
          <p:nvPr/>
        </p:nvSpPr>
        <p:spPr>
          <a:xfrm>
            <a:off x="6604000" y="5511800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</a:t>
            </a:r>
            <a:endParaRPr sz="9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34" name="Rectangle 233"/>
          <p:cNvSpPr>
            <a:spLocks noGrp="1"/>
          </p:cNvSpPr>
          <p:nvPr/>
        </p:nvSpPr>
        <p:spPr>
          <a:xfrm>
            <a:off x="6870700" y="5511800"/>
            <a:ext cx="2667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</p:sp>
      <p:sp>
        <p:nvSpPr>
          <p:cNvPr id="235" name="Rectangle 234"/>
          <p:cNvSpPr>
            <a:spLocks noGrp="1"/>
          </p:cNvSpPr>
          <p:nvPr/>
        </p:nvSpPr>
        <p:spPr>
          <a:xfrm>
            <a:off x="6870700" y="5511800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</a:t>
            </a:r>
            <a:endParaRPr sz="9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36" name="Rectangle 235"/>
          <p:cNvSpPr>
            <a:spLocks noGrp="1"/>
          </p:cNvSpPr>
          <p:nvPr/>
        </p:nvSpPr>
        <p:spPr>
          <a:xfrm>
            <a:off x="7137400" y="5511800"/>
            <a:ext cx="2667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</p:sp>
      <p:sp>
        <p:nvSpPr>
          <p:cNvPr id="237" name="Rectangle 236"/>
          <p:cNvSpPr>
            <a:spLocks noGrp="1"/>
          </p:cNvSpPr>
          <p:nvPr/>
        </p:nvSpPr>
        <p:spPr>
          <a:xfrm>
            <a:off x="7137400" y="5511800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</a:t>
            </a:r>
            <a:endParaRPr sz="9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38" name="Rectangle 237"/>
          <p:cNvSpPr>
            <a:spLocks noGrp="1"/>
          </p:cNvSpPr>
          <p:nvPr/>
        </p:nvSpPr>
        <p:spPr>
          <a:xfrm>
            <a:off x="7404100" y="5511800"/>
            <a:ext cx="2667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</p:sp>
      <p:sp>
        <p:nvSpPr>
          <p:cNvPr id="239" name="Rectangle 238"/>
          <p:cNvSpPr>
            <a:spLocks noGrp="1"/>
          </p:cNvSpPr>
          <p:nvPr/>
        </p:nvSpPr>
        <p:spPr>
          <a:xfrm>
            <a:off x="7404100" y="5511800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</a:t>
            </a:r>
            <a:endParaRPr sz="9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40" name="Rectangle 239"/>
          <p:cNvSpPr>
            <a:spLocks noGrp="1"/>
          </p:cNvSpPr>
          <p:nvPr/>
        </p:nvSpPr>
        <p:spPr>
          <a:xfrm>
            <a:off x="7670800" y="5511800"/>
            <a:ext cx="2667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</p:spPr>
      </p:sp>
      <p:sp>
        <p:nvSpPr>
          <p:cNvPr id="241" name="Rectangle 240"/>
          <p:cNvSpPr>
            <a:spLocks noGrp="1"/>
          </p:cNvSpPr>
          <p:nvPr/>
        </p:nvSpPr>
        <p:spPr>
          <a:xfrm>
            <a:off x="7670800" y="5511800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</a:t>
            </a:r>
            <a:endParaRPr sz="9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42" name="Rectangle 241"/>
          <p:cNvSpPr>
            <a:spLocks noGrp="1"/>
          </p:cNvSpPr>
          <p:nvPr/>
        </p:nvSpPr>
        <p:spPr>
          <a:xfrm>
            <a:off x="914400" y="5943600"/>
            <a:ext cx="3429000" cy="355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774"/>
          </a:bodyPr>
          <a:lstStyle/>
          <a:p>
            <a:pPr algn="ctr">
              <a:defRPr sz="12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Stride 1 checks </a:t>
            </a:r>
            <a:r>
              <a:rPr sz="12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more overlapping locations.</a:t>
            </a:r>
            <a:endParaRPr sz="1275" b="1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43" name="Rectangle 242"/>
          <p:cNvSpPr>
            <a:spLocks noGrp="1"/>
          </p:cNvSpPr>
          <p:nvPr/>
        </p:nvSpPr>
        <p:spPr>
          <a:xfrm>
            <a:off x="4572000" y="5897245"/>
            <a:ext cx="3918585" cy="46291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9503"/>
          </a:bodyPr>
          <a:lstStyle/>
          <a:p>
            <a:pPr algn="ctr">
              <a:defRPr sz="12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Stride 2 checks </a:t>
            </a:r>
            <a:r>
              <a:rPr sz="1275">
                <a:solidFill>
                  <a:srgbClr val="000000"/>
                </a:solidFill>
                <a:latin typeface="Arial" panose="020B0604020202090204" pitchFamily="34" charset="0"/>
                <a:ea typeface="Arial" panose="020B0604020202090204"/>
                <a:cs typeface="Arial" panose="020B0604020202090204" pitchFamily="34" charset="0"/>
              </a:rPr>
              <a:t>fewer </a:t>
            </a:r>
            <a:r>
              <a:rPr sz="12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locations and gives a </a:t>
            </a:r>
            <a:r>
              <a:rPr sz="1275">
                <a:solidFill>
                  <a:srgbClr val="000000"/>
                </a:solidFill>
                <a:latin typeface="Arial" panose="020B0604020202090204" pitchFamily="34" charset="0"/>
                <a:ea typeface="Arial" panose="020B0604020202090204"/>
                <a:cs typeface="Arial" panose="020B0604020202090204" pitchFamily="34" charset="0"/>
              </a:rPr>
              <a:t>smaller </a:t>
            </a:r>
            <a:r>
              <a:rPr sz="12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output.</a:t>
            </a:r>
            <a:endParaRPr sz="1275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44" name="Rectangle 243"/>
          <p:cNvSpPr>
            <a:spLocks noGrp="1"/>
          </p:cNvSpPr>
          <p:nvPr/>
        </p:nvSpPr>
        <p:spPr>
          <a:xfrm>
            <a:off x="508000" y="6477000"/>
            <a:ext cx="8128000" cy="25400"/>
          </a:xfrm>
          <a:prstGeom prst="rect">
            <a:avLst/>
          </a:prstGeom>
          <a:solidFill>
            <a:srgbClr val="555555"/>
          </a:solidFill>
          <a:ln w="0">
            <a:noFill/>
          </a:ln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Rectangle 10"/>
          <p:cNvSpPr>
            <a:spLocks noGrp="1"/>
          </p:cNvSpPr>
          <p:nvPr/>
        </p:nvSpPr>
        <p:spPr>
          <a:xfrm>
            <a:off x="457200" y="190500"/>
            <a:ext cx="59436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8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Stride and Padding Control Output Size</a:t>
            </a:r>
            <a:endParaRPr sz="1875" b="1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381000" y="628650"/>
            <a:ext cx="6096000" cy="19050"/>
          </a:xfrm>
          <a:prstGeom prst="rect">
            <a:avLst/>
          </a:prstGeom>
          <a:solidFill>
            <a:srgbClr val="222222"/>
          </a:solidFill>
          <a:ln w="0">
            <a:noFill/>
          </a:ln>
        </p:spPr>
      </p:sp>
      <p:sp>
        <p:nvSpPr>
          <p:cNvPr id="5" name="Rectangle 4"/>
          <p:cNvSpPr>
            <a:spLocks noGrp="1"/>
          </p:cNvSpPr>
          <p:nvPr/>
        </p:nvSpPr>
        <p:spPr>
          <a:xfrm>
            <a:off x="1403350" y="857250"/>
            <a:ext cx="51435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025" b="1">
                <a:solidFill>
                  <a:srgbClr val="3F78C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25" b="1">
                <a:solidFill>
                  <a:srgbClr val="3F78C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H_out = floor((H + 2P − K) / S) + 1</a:t>
            </a:r>
            <a:endParaRPr sz="2025" b="1">
              <a:solidFill>
                <a:srgbClr val="3F78C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857250" y="1600200"/>
            <a:ext cx="2381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9046"/>
          </a:bodyPr>
          <a:lstStyle/>
          <a:p>
            <a:pPr algn="l">
              <a:defRPr sz="172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72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Example: H = 5, K = 3</a:t>
            </a:r>
            <a:endParaRPr sz="1725" b="1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539750" y="1917065"/>
            <a:ext cx="4055745" cy="2423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lnSpc>
                <a:spcPct val="150000"/>
              </a:lnSpc>
              <a:defRPr sz="172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72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 = 0, S = 1 gives H_out = 3</a:t>
            </a:r>
            <a:endParaRPr sz="1725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lnSpc>
                <a:spcPct val="150000"/>
              </a:lnSpc>
              <a:defRPr sz="172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72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 = 1, S = 1 gives H_out = 5</a:t>
            </a:r>
            <a:endParaRPr sz="1725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lnSpc>
                <a:spcPct val="150000"/>
              </a:lnSpc>
              <a:defRPr sz="172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72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 = 1, S = 2 gives H_out = 3</a:t>
            </a:r>
            <a:endParaRPr sz="1725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3923665" y="1757680"/>
            <a:ext cx="5045075" cy="275717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marL="285750" indent="-285750" algn="l">
              <a:lnSpc>
                <a:spcPct val="200000"/>
              </a:lnSpc>
              <a:buFont typeface="Arial" panose="020B0604020202090204" pitchFamily="34" charset="0"/>
              <a:buChar char="•"/>
              <a:defRPr sz="165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8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Padding </a:t>
            </a:r>
            <a:r>
              <a:rPr sz="1800" b="1">
                <a:solidFill>
                  <a:srgbClr val="000000"/>
                </a:solidFill>
                <a:latin typeface="Arial" panose="020B0604020202090204" pitchFamily="34" charset="0"/>
                <a:ea typeface="Arial" panose="020B0604020202090204"/>
                <a:cs typeface="Arial" panose="020B0604020202090204" pitchFamily="34" charset="0"/>
              </a:rPr>
              <a:t>adds border</a:t>
            </a:r>
            <a:r>
              <a:rPr sz="18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values before</a:t>
            </a:r>
            <a:r>
              <a:rPr lang="en-US" sz="18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8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convolution.</a:t>
            </a:r>
            <a:endParaRPr sz="18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85750" indent="-285750" algn="l">
              <a:lnSpc>
                <a:spcPct val="200000"/>
              </a:lnSpc>
              <a:buFont typeface="Arial" panose="020B0604020202090204" pitchFamily="34" charset="0"/>
              <a:buChar char="•"/>
              <a:defRPr sz="165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8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Stride controls </a:t>
            </a:r>
            <a:r>
              <a:rPr sz="1800" b="1">
                <a:solidFill>
                  <a:srgbClr val="000000"/>
                </a:solidFill>
                <a:latin typeface="Arial" panose="020B0604020202090204" pitchFamily="34" charset="0"/>
                <a:ea typeface="Arial" panose="020B0604020202090204"/>
                <a:cs typeface="Arial" panose="020B0604020202090204" pitchFamily="34" charset="0"/>
              </a:rPr>
              <a:t>how far</a:t>
            </a:r>
            <a:r>
              <a:rPr sz="18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the kernel moves.</a:t>
            </a:r>
            <a:endParaRPr sz="18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85750" indent="-285750" algn="l">
              <a:lnSpc>
                <a:spcPct val="200000"/>
              </a:lnSpc>
              <a:buFont typeface="Arial" panose="020B0604020202090204" pitchFamily="34" charset="0"/>
              <a:buChar char="•"/>
              <a:defRPr sz="165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8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Both change the </a:t>
            </a:r>
            <a:r>
              <a:rPr sz="1800" b="1">
                <a:solidFill>
                  <a:srgbClr val="000000"/>
                </a:solidFill>
                <a:latin typeface="Arial" panose="020B0604020202090204" pitchFamily="34" charset="0"/>
                <a:ea typeface="Arial" panose="020B0604020202090204"/>
                <a:cs typeface="Arial" panose="020B0604020202090204" pitchFamily="34" charset="0"/>
              </a:rPr>
              <a:t>spatial size</a:t>
            </a:r>
            <a:r>
              <a:rPr sz="18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of the feature map.</a:t>
            </a:r>
            <a:endParaRPr sz="18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1907540" y="5589270"/>
            <a:ext cx="5143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93"/>
          </a:bodyPr>
          <a:lstStyle/>
          <a:p>
            <a:pPr algn="ctr">
              <a:defRPr sz="165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65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“Same” padding with a 3 × 3 kernel uses P = 1 when S = 1.</a:t>
            </a:r>
            <a:endParaRPr sz="1650" b="1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Rectangle 9"/>
          <p:cNvSpPr>
            <a:spLocks noGrp="1"/>
          </p:cNvSpPr>
          <p:nvPr/>
        </p:nvSpPr>
        <p:spPr>
          <a:xfrm>
            <a:off x="457200" y="190500"/>
            <a:ext cx="59436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25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25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Channels and Multiple Filters</a:t>
            </a:r>
            <a:endParaRPr sz="2250" b="1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381000" y="628650"/>
            <a:ext cx="6096000" cy="19050"/>
          </a:xfrm>
          <a:prstGeom prst="rect">
            <a:avLst/>
          </a:prstGeom>
          <a:solidFill>
            <a:srgbClr val="222222"/>
          </a:solidFill>
          <a:ln w="0">
            <a:noFill/>
          </a:ln>
        </p:spPr>
      </p:sp>
      <p:sp>
        <p:nvSpPr>
          <p:cNvPr id="5" name="Rectangle 4"/>
          <p:cNvSpPr>
            <a:spLocks noGrp="1"/>
          </p:cNvSpPr>
          <p:nvPr/>
        </p:nvSpPr>
        <p:spPr>
          <a:xfrm>
            <a:off x="781050" y="876300"/>
            <a:ext cx="25717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00" b="1">
                <a:solidFill>
                  <a:srgbClr val="3F78C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800" b="1">
                <a:solidFill>
                  <a:srgbClr val="3F78C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Input: [B, C_in, H, W]</a:t>
            </a:r>
            <a:endParaRPr sz="1800" b="1">
              <a:solidFill>
                <a:srgbClr val="3F78C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4572000" y="908685"/>
            <a:ext cx="37147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00" b="1">
                <a:solidFill>
                  <a:srgbClr val="3F78C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800" b="1">
                <a:solidFill>
                  <a:srgbClr val="3F78C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Kernel bank: [C_out, C_in, K, K]</a:t>
            </a:r>
            <a:endParaRPr sz="1800" b="1">
              <a:solidFill>
                <a:srgbClr val="3F78C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539750" y="4933315"/>
            <a:ext cx="7747000" cy="181673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marL="285750" indent="-285750" algn="l">
              <a:buFont typeface="Arial" panose="020B0604020202090204" pitchFamily="34" charset="0"/>
              <a:buChar char="•"/>
              <a:defRPr sz="172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72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One filter </a:t>
            </a:r>
            <a:r>
              <a:rPr sz="1725" b="1">
                <a:solidFill>
                  <a:srgbClr val="000000"/>
                </a:solidFill>
                <a:latin typeface="Arial" panose="020B0604020202090204" pitchFamily="34" charset="0"/>
                <a:ea typeface="Arial" panose="020B0604020202090204"/>
                <a:cs typeface="Arial" panose="020B0604020202090204" pitchFamily="34" charset="0"/>
              </a:rPr>
              <a:t>spans all</a:t>
            </a:r>
            <a:r>
              <a:rPr sz="172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C_in </a:t>
            </a:r>
            <a:r>
              <a:rPr sz="1725" b="1">
                <a:solidFill>
                  <a:srgbClr val="000000"/>
                </a:solidFill>
                <a:latin typeface="Arial" panose="020B0604020202090204" pitchFamily="34" charset="0"/>
                <a:ea typeface="Arial" panose="020B0604020202090204"/>
                <a:cs typeface="Arial" panose="020B0604020202090204" pitchFamily="34" charset="0"/>
              </a:rPr>
              <a:t>input channels</a:t>
            </a:r>
            <a:r>
              <a:rPr sz="172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. It computes </a:t>
            </a:r>
            <a:r>
              <a:rPr sz="1725" b="1">
                <a:solidFill>
                  <a:srgbClr val="000000"/>
                </a:solidFill>
                <a:latin typeface="Arial" panose="020B0604020202090204" pitchFamily="34" charset="0"/>
                <a:ea typeface="Arial" panose="020B0604020202090204"/>
                <a:cs typeface="Arial" panose="020B0604020202090204" pitchFamily="34" charset="0"/>
              </a:rPr>
              <a:t>one spatial feature map</a:t>
            </a:r>
            <a:r>
              <a:rPr sz="172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.</a:t>
            </a:r>
            <a:endParaRPr sz="1725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endParaRPr sz="1725"/>
          </a:p>
          <a:p>
            <a:pPr marL="285750" indent="-285750" algn="l">
              <a:buFont typeface="Arial" panose="020B0604020202090204" pitchFamily="34" charset="0"/>
              <a:buChar char="•"/>
              <a:defRPr sz="172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72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C_out different filters produce </a:t>
            </a:r>
            <a:r>
              <a:rPr sz="1725" b="1">
                <a:solidFill>
                  <a:srgbClr val="000000"/>
                </a:solidFill>
                <a:latin typeface="Arial" panose="020B0604020202090204" pitchFamily="34" charset="0"/>
                <a:ea typeface="Arial" panose="020B0604020202090204"/>
                <a:cs typeface="Arial" panose="020B0604020202090204" pitchFamily="34" charset="0"/>
              </a:rPr>
              <a:t>C_out output feature maps</a:t>
            </a:r>
            <a:r>
              <a:rPr sz="172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.</a:t>
            </a:r>
            <a:endParaRPr sz="1725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endParaRPr sz="1725"/>
          </a:p>
          <a:p>
            <a:pPr marL="285750" indent="-285750" algn="l">
              <a:buFont typeface="Arial" panose="020B0604020202090204" pitchFamily="34" charset="0"/>
              <a:buChar char="•"/>
              <a:defRPr sz="172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72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The </a:t>
            </a:r>
            <a:r>
              <a:rPr sz="1725" b="1">
                <a:solidFill>
                  <a:srgbClr val="000000"/>
                </a:solidFill>
                <a:latin typeface="Arial" panose="020B0604020202090204" pitchFamily="34" charset="0"/>
                <a:ea typeface="Arial" panose="020B0604020202090204"/>
                <a:cs typeface="Arial" panose="020B0604020202090204" pitchFamily="34" charset="0"/>
              </a:rPr>
              <a:t>output</a:t>
            </a:r>
            <a:r>
              <a:rPr sz="172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tensor has </a:t>
            </a:r>
            <a:r>
              <a:rPr sz="1725" b="1">
                <a:solidFill>
                  <a:srgbClr val="000000"/>
                </a:solidFill>
                <a:latin typeface="Arial" panose="020B0604020202090204" pitchFamily="34" charset="0"/>
                <a:ea typeface="Arial" panose="020B0604020202090204"/>
                <a:cs typeface="Arial" panose="020B0604020202090204" pitchFamily="34" charset="0"/>
              </a:rPr>
              <a:t>shape </a:t>
            </a:r>
            <a:r>
              <a:rPr sz="172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[B, C_out, H_out, W_out].</a:t>
            </a:r>
            <a:endParaRPr sz="1725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4" name="Picture 3" descr="ChatGPT Image Sep 15, 2026, 04_59_38 PM"/>
          <p:cNvPicPr>
            <a:picLocks noChangeAspect="1"/>
          </p:cNvPicPr>
          <p:nvPr/>
        </p:nvPicPr>
        <p:blipFill>
          <a:blip r:embed="rId1"/>
          <a:srcRect t="18611" b="21648"/>
          <a:stretch>
            <a:fillRect/>
          </a:stretch>
        </p:blipFill>
        <p:spPr>
          <a:xfrm>
            <a:off x="539750" y="1504950"/>
            <a:ext cx="7856855" cy="352044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" name="Rectangle 17"/>
          <p:cNvSpPr>
            <a:spLocks noGrp="1"/>
          </p:cNvSpPr>
          <p:nvPr/>
        </p:nvSpPr>
        <p:spPr>
          <a:xfrm>
            <a:off x="523875" y="209550"/>
            <a:ext cx="809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40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40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CNN Tensor Shape and Channel</a:t>
            </a:r>
            <a:r>
              <a:rPr lang="en-US" sz="240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Changes</a:t>
            </a:r>
            <a:endParaRPr lang="en-US" sz="2400" b="1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23875" y="647700"/>
            <a:ext cx="8096250" cy="1905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523875" y="6477000"/>
            <a:ext cx="8096250" cy="9525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5" name="Rectangle 4"/>
          <p:cNvSpPr>
            <a:spLocks noGrp="1"/>
          </p:cNvSpPr>
          <p:nvPr/>
        </p:nvSpPr>
        <p:spPr>
          <a:xfrm>
            <a:off x="714375" y="1285875"/>
            <a:ext cx="209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Input tensor</a:t>
            </a:r>
            <a:endParaRPr sz="1500" b="1">
              <a:solidFill>
                <a:srgbClr val="111111"/>
              </a:solidFill>
            </a:endParaRPr>
          </a:p>
        </p:txBody>
      </p:sp>
      <p:sp>
        <p:nvSpPr>
          <p:cNvPr id="6" name="Rounded Rectangle 5"/>
          <p:cNvSpPr>
            <a:spLocks noGrp="1"/>
          </p:cNvSpPr>
          <p:nvPr/>
        </p:nvSpPr>
        <p:spPr>
          <a:xfrm>
            <a:off x="2905125" y="1285875"/>
            <a:ext cx="2286000" cy="495300"/>
          </a:xfrm>
          <a:prstGeom prst="roundRect">
            <a:avLst>
              <a:gd name="adj" fmla="val 15385"/>
            </a:avLst>
          </a:prstGeom>
          <a:solidFill>
            <a:srgbClr val="F2F2F2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3000375" y="1285875"/>
            <a:ext cx="2095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[B, C_in, H, W]</a:t>
            </a:r>
            <a:endParaRPr sz="1650" b="1">
              <a:solidFill>
                <a:srgbClr val="111111"/>
              </a:solidFill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5619750" y="1285875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C_in channels</a:t>
            </a:r>
            <a:endParaRPr sz="1650" b="0">
              <a:solidFill>
                <a:srgbClr val="4378C4"/>
              </a:solidFill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714375" y="2667000"/>
            <a:ext cx="209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Kernel bank</a:t>
            </a:r>
            <a:endParaRPr sz="1500" b="1">
              <a:solidFill>
                <a:srgbClr val="111111"/>
              </a:solidFill>
            </a:endParaRPr>
          </a:p>
        </p:txBody>
      </p:sp>
      <p:sp>
        <p:nvSpPr>
          <p:cNvPr id="10" name="Rounded Rectangle 9"/>
          <p:cNvSpPr>
            <a:spLocks noGrp="1"/>
          </p:cNvSpPr>
          <p:nvPr/>
        </p:nvSpPr>
        <p:spPr>
          <a:xfrm>
            <a:off x="2905125" y="2667000"/>
            <a:ext cx="2286000" cy="495300"/>
          </a:xfrm>
          <a:prstGeom prst="roundRect">
            <a:avLst>
              <a:gd name="adj" fmla="val 15385"/>
            </a:avLst>
          </a:prstGeom>
          <a:solidFill>
            <a:srgbClr val="EAF1FB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1" name="Rectangle 10"/>
          <p:cNvSpPr>
            <a:spLocks noGrp="1"/>
          </p:cNvSpPr>
          <p:nvPr/>
        </p:nvSpPr>
        <p:spPr>
          <a:xfrm>
            <a:off x="3000375" y="2667000"/>
            <a:ext cx="2095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[C_out, C_in, K, K]</a:t>
            </a:r>
            <a:endParaRPr sz="1650" b="1">
              <a:solidFill>
                <a:srgbClr val="111111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5619750" y="2667000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C_out filters</a:t>
            </a:r>
            <a:endParaRPr sz="1650" b="0">
              <a:solidFill>
                <a:srgbClr val="4378C4"/>
              </a:solidFill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714375" y="4048125"/>
            <a:ext cx="209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Output map</a:t>
            </a:r>
            <a:endParaRPr sz="1500" b="1">
              <a:solidFill>
                <a:srgbClr val="111111"/>
              </a:solidFill>
            </a:endParaRPr>
          </a:p>
        </p:txBody>
      </p:sp>
      <p:sp>
        <p:nvSpPr>
          <p:cNvPr id="14" name="Rounded Rectangle 13"/>
          <p:cNvSpPr>
            <a:spLocks noGrp="1"/>
          </p:cNvSpPr>
          <p:nvPr/>
        </p:nvSpPr>
        <p:spPr>
          <a:xfrm>
            <a:off x="2905125" y="4048125"/>
            <a:ext cx="2286000" cy="495300"/>
          </a:xfrm>
          <a:prstGeom prst="roundRect">
            <a:avLst>
              <a:gd name="adj" fmla="val 15385"/>
            </a:avLst>
          </a:prstGeom>
          <a:solidFill>
            <a:srgbClr val="F2F2F2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3000375" y="4048125"/>
            <a:ext cx="2095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[B, C_out, H′, W′]</a:t>
            </a:r>
            <a:endParaRPr sz="1650" b="1">
              <a:solidFill>
                <a:srgbClr val="111111"/>
              </a:solidFill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5619750" y="4048125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C_out feature maps</a:t>
            </a:r>
            <a:endParaRPr sz="1650" b="0">
              <a:solidFill>
                <a:srgbClr val="4378C4"/>
              </a:solidFill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809625" y="5572125"/>
            <a:ext cx="7524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E2534A"/>
                </a:solidFill>
              </a:defRPr>
            </a:pPr>
            <a:endParaRPr sz="1500" b="1">
              <a:solidFill>
                <a:srgbClr val="E2534A"/>
              </a:solidFill>
            </a:endParaRPr>
          </a:p>
        </p:txBody>
      </p:sp>
      <p:sp>
        <p:nvSpPr>
          <p:cNvPr id="19" name="Down Arrow 18"/>
          <p:cNvSpPr>
            <a:spLocks noGrp="1"/>
          </p:cNvSpPr>
          <p:nvPr/>
        </p:nvSpPr>
        <p:spPr>
          <a:xfrm>
            <a:off x="3923665" y="1917065"/>
            <a:ext cx="360045" cy="648335"/>
          </a:xfrm>
          <a:prstGeom prst="downArrow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0" name="Down Arrow 19"/>
          <p:cNvSpPr>
            <a:spLocks noGrp="1"/>
          </p:cNvSpPr>
          <p:nvPr/>
        </p:nvSpPr>
        <p:spPr>
          <a:xfrm>
            <a:off x="3924300" y="3357245"/>
            <a:ext cx="360045" cy="648335"/>
          </a:xfrm>
          <a:prstGeom prst="downArrow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1" name="Rectangle 20"/>
          <p:cNvSpPr>
            <a:spLocks noGrp="1"/>
          </p:cNvSpPr>
          <p:nvPr/>
        </p:nvSpPr>
        <p:spPr>
          <a:xfrm>
            <a:off x="6057900" y="4876800"/>
            <a:ext cx="381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2222"/>
          </a:bodyPr>
          <a:lstStyle/>
          <a:p>
            <a:pPr algn="ctr">
              <a:def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27</a:t>
            </a:r>
            <a:endParaRPr sz="9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Rectangle 8"/>
          <p:cNvSpPr>
            <a:spLocks noGrp="1"/>
          </p:cNvSpPr>
          <p:nvPr/>
        </p:nvSpPr>
        <p:spPr>
          <a:xfrm>
            <a:off x="457200" y="190500"/>
            <a:ext cx="59436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25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25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Max Pooling</a:t>
            </a:r>
            <a:endParaRPr sz="2250" b="1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381000" y="628650"/>
            <a:ext cx="6096000" cy="19050"/>
          </a:xfrm>
          <a:prstGeom prst="rect">
            <a:avLst/>
          </a:prstGeom>
          <a:solidFill>
            <a:srgbClr val="222222"/>
          </a:solidFill>
          <a:ln w="0">
            <a:noFill/>
          </a:ln>
        </p:spPr>
      </p:sp>
      <p:sp>
        <p:nvSpPr>
          <p:cNvPr id="5" name="Rectangle 4"/>
          <p:cNvSpPr>
            <a:spLocks noGrp="1"/>
          </p:cNvSpPr>
          <p:nvPr/>
        </p:nvSpPr>
        <p:spPr>
          <a:xfrm>
            <a:off x="628650" y="723900"/>
            <a:ext cx="7611110" cy="77025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80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 2 × 2 window keeps only its largest activation, then moves by the stride.</a:t>
            </a:r>
            <a:endParaRPr sz="1800" b="1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3350" y="1423670"/>
            <a:ext cx="5756910" cy="4318000"/>
          </a:xfrm>
          <a:prstGeom prst="rect">
            <a:avLst/>
          </a:prstGeom>
        </p:spPr>
      </p:pic>
      <p:sp>
        <p:nvSpPr>
          <p:cNvPr id="7" name="Rectangle 6"/>
          <p:cNvSpPr>
            <a:spLocks noGrp="1"/>
          </p:cNvSpPr>
          <p:nvPr/>
        </p:nvSpPr>
        <p:spPr>
          <a:xfrm>
            <a:off x="1259840" y="5733415"/>
            <a:ext cx="5524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3F78C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1">
                <a:solidFill>
                  <a:srgbClr val="3F78C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Pooling has </a:t>
            </a:r>
            <a:r>
              <a:rPr sz="1350" b="1">
                <a:solidFill>
                  <a:srgbClr val="FF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no learned weights</a:t>
            </a:r>
            <a:r>
              <a:rPr sz="1350" b="1">
                <a:solidFill>
                  <a:srgbClr val="3F78C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; it reduces spatial resolution</a:t>
            </a:r>
            <a:endParaRPr sz="1350" b="1">
              <a:solidFill>
                <a:srgbClr val="3F78C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1" name="Rectangle 60"/>
          <p:cNvSpPr>
            <a:spLocks noGrp="1"/>
          </p:cNvSpPr>
          <p:nvPr/>
        </p:nvSpPr>
        <p:spPr>
          <a:xfrm>
            <a:off x="457200" y="190500"/>
            <a:ext cx="59436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25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lang="en-US" sz="225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Max vs </a:t>
            </a:r>
            <a:r>
              <a:rPr sz="225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Average Pooling</a:t>
            </a:r>
            <a:endParaRPr sz="2250" b="1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381000" y="628650"/>
            <a:ext cx="6096000" cy="19050"/>
          </a:xfrm>
          <a:prstGeom prst="rect">
            <a:avLst/>
          </a:prstGeom>
          <a:solidFill>
            <a:srgbClr val="222222"/>
          </a:solidFill>
          <a:ln w="0">
            <a:noFill/>
          </a:ln>
        </p:spPr>
      </p:sp>
      <p:sp>
        <p:nvSpPr>
          <p:cNvPr id="5" name="Rectangle 4"/>
          <p:cNvSpPr>
            <a:spLocks noGrp="1"/>
          </p:cNvSpPr>
          <p:nvPr/>
        </p:nvSpPr>
        <p:spPr>
          <a:xfrm>
            <a:off x="1035685" y="1857375"/>
            <a:ext cx="1905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825"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Input feature map</a:t>
            </a:r>
            <a:endParaRPr sz="1575" b="1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1321435" y="2343150"/>
            <a:ext cx="361950" cy="361950"/>
          </a:xfrm>
          <a:prstGeom prst="rect">
            <a:avLst/>
          </a:prstGeom>
          <a:solidFill>
            <a:srgbClr val="DCEBFA"/>
          </a:solidFill>
          <a:ln w="19050">
            <a:solidFill>
              <a:srgbClr val="2F75B5"/>
            </a:solidFill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1321435" y="2343150"/>
            <a:ext cx="3619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</a:t>
            </a:r>
            <a:endParaRPr sz="12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1683385" y="2343150"/>
            <a:ext cx="361950" cy="361950"/>
          </a:xfrm>
          <a:prstGeom prst="rect">
            <a:avLst/>
          </a:prstGeom>
          <a:solidFill>
            <a:srgbClr val="DCEBFA"/>
          </a:solidFill>
          <a:ln w="19050">
            <a:solidFill>
              <a:srgbClr val="2F75B5"/>
            </a:solidFill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1683385" y="2343150"/>
            <a:ext cx="3619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5</a:t>
            </a:r>
            <a:endParaRPr sz="12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2045335" y="2343150"/>
            <a:ext cx="3619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777777"/>
            </a:solidFill>
          </a:ln>
        </p:spPr>
      </p:sp>
      <p:sp>
        <p:nvSpPr>
          <p:cNvPr id="11" name="Rectangle 10"/>
          <p:cNvSpPr>
            <a:spLocks noGrp="1"/>
          </p:cNvSpPr>
          <p:nvPr/>
        </p:nvSpPr>
        <p:spPr>
          <a:xfrm>
            <a:off x="2045335" y="2343150"/>
            <a:ext cx="3619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</a:t>
            </a:r>
            <a:endParaRPr sz="12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2407285" y="2343150"/>
            <a:ext cx="3619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777777"/>
            </a:solidFill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2407285" y="2343150"/>
            <a:ext cx="3619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4</a:t>
            </a:r>
            <a:endParaRPr sz="12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1321435" y="2705100"/>
            <a:ext cx="361950" cy="361950"/>
          </a:xfrm>
          <a:prstGeom prst="rect">
            <a:avLst/>
          </a:prstGeom>
          <a:solidFill>
            <a:srgbClr val="DCEBFA"/>
          </a:solidFill>
          <a:ln w="19050">
            <a:solidFill>
              <a:srgbClr val="2F75B5"/>
            </a:solidFill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1321435" y="2705100"/>
            <a:ext cx="3619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</a:t>
            </a:r>
            <a:endParaRPr sz="12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1683385" y="2705100"/>
            <a:ext cx="361950" cy="361950"/>
          </a:xfrm>
          <a:prstGeom prst="rect">
            <a:avLst/>
          </a:prstGeom>
          <a:solidFill>
            <a:srgbClr val="DCEBFA"/>
          </a:solidFill>
          <a:ln w="19050">
            <a:solidFill>
              <a:srgbClr val="2F75B5"/>
            </a:solidFill>
          </a:ln>
        </p:spPr>
      </p:sp>
      <p:sp>
        <p:nvSpPr>
          <p:cNvPr id="17" name="Rectangle 16"/>
          <p:cNvSpPr>
            <a:spLocks noGrp="1"/>
          </p:cNvSpPr>
          <p:nvPr/>
        </p:nvSpPr>
        <p:spPr>
          <a:xfrm>
            <a:off x="1683385" y="2705100"/>
            <a:ext cx="3619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</a:t>
            </a:r>
            <a:endParaRPr sz="12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8" name="Rectangle 17"/>
          <p:cNvSpPr>
            <a:spLocks noGrp="1"/>
          </p:cNvSpPr>
          <p:nvPr/>
        </p:nvSpPr>
        <p:spPr>
          <a:xfrm>
            <a:off x="2045335" y="2705100"/>
            <a:ext cx="3619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777777"/>
            </a:solidFill>
          </a:ln>
        </p:spPr>
      </p:sp>
      <p:sp>
        <p:nvSpPr>
          <p:cNvPr id="19" name="Rectangle 18"/>
          <p:cNvSpPr>
            <a:spLocks noGrp="1"/>
          </p:cNvSpPr>
          <p:nvPr/>
        </p:nvSpPr>
        <p:spPr>
          <a:xfrm>
            <a:off x="2045335" y="2705100"/>
            <a:ext cx="3619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6</a:t>
            </a:r>
            <a:endParaRPr sz="12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2407285" y="2705100"/>
            <a:ext cx="3619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777777"/>
            </a:solidFill>
          </a:ln>
        </p:spPr>
      </p:sp>
      <p:sp>
        <p:nvSpPr>
          <p:cNvPr id="21" name="Rectangle 20"/>
          <p:cNvSpPr>
            <a:spLocks noGrp="1"/>
          </p:cNvSpPr>
          <p:nvPr/>
        </p:nvSpPr>
        <p:spPr>
          <a:xfrm>
            <a:off x="2407285" y="2705100"/>
            <a:ext cx="3619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</a:t>
            </a:r>
            <a:endParaRPr sz="12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2" name="Rectangle 21"/>
          <p:cNvSpPr>
            <a:spLocks noGrp="1"/>
          </p:cNvSpPr>
          <p:nvPr/>
        </p:nvSpPr>
        <p:spPr>
          <a:xfrm>
            <a:off x="1321435" y="3067050"/>
            <a:ext cx="3619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777777"/>
            </a:solidFill>
          </a:ln>
        </p:spPr>
      </p:sp>
      <p:sp>
        <p:nvSpPr>
          <p:cNvPr id="23" name="Rectangle 22"/>
          <p:cNvSpPr>
            <a:spLocks noGrp="1"/>
          </p:cNvSpPr>
          <p:nvPr/>
        </p:nvSpPr>
        <p:spPr>
          <a:xfrm>
            <a:off x="1321435" y="3067050"/>
            <a:ext cx="3619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8</a:t>
            </a:r>
            <a:endParaRPr sz="12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4" name="Rectangle 23"/>
          <p:cNvSpPr>
            <a:spLocks noGrp="1"/>
          </p:cNvSpPr>
          <p:nvPr/>
        </p:nvSpPr>
        <p:spPr>
          <a:xfrm>
            <a:off x="1683385" y="3067050"/>
            <a:ext cx="3619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777777"/>
            </a:solidFill>
          </a:ln>
        </p:spPr>
      </p:sp>
      <p:sp>
        <p:nvSpPr>
          <p:cNvPr id="25" name="Rectangle 24"/>
          <p:cNvSpPr>
            <a:spLocks noGrp="1"/>
          </p:cNvSpPr>
          <p:nvPr/>
        </p:nvSpPr>
        <p:spPr>
          <a:xfrm>
            <a:off x="1683385" y="3067050"/>
            <a:ext cx="3619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</a:t>
            </a:r>
            <a:endParaRPr sz="12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6" name="Rectangle 25"/>
          <p:cNvSpPr>
            <a:spLocks noGrp="1"/>
          </p:cNvSpPr>
          <p:nvPr/>
        </p:nvSpPr>
        <p:spPr>
          <a:xfrm>
            <a:off x="2045335" y="3067050"/>
            <a:ext cx="3619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777777"/>
            </a:solidFill>
          </a:ln>
        </p:spPr>
      </p:sp>
      <p:sp>
        <p:nvSpPr>
          <p:cNvPr id="27" name="Rectangle 26"/>
          <p:cNvSpPr>
            <a:spLocks noGrp="1"/>
          </p:cNvSpPr>
          <p:nvPr/>
        </p:nvSpPr>
        <p:spPr>
          <a:xfrm>
            <a:off x="2045335" y="3067050"/>
            <a:ext cx="3619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</a:t>
            </a:r>
            <a:endParaRPr sz="12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8" name="Rectangle 27"/>
          <p:cNvSpPr>
            <a:spLocks noGrp="1"/>
          </p:cNvSpPr>
          <p:nvPr/>
        </p:nvSpPr>
        <p:spPr>
          <a:xfrm>
            <a:off x="2407285" y="3067050"/>
            <a:ext cx="3619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777777"/>
            </a:solidFill>
          </a:ln>
        </p:spPr>
      </p:sp>
      <p:sp>
        <p:nvSpPr>
          <p:cNvPr id="29" name="Rectangle 28"/>
          <p:cNvSpPr>
            <a:spLocks noGrp="1"/>
          </p:cNvSpPr>
          <p:nvPr/>
        </p:nvSpPr>
        <p:spPr>
          <a:xfrm>
            <a:off x="2407285" y="3067050"/>
            <a:ext cx="3619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7</a:t>
            </a:r>
            <a:endParaRPr sz="12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0" name="Rectangle 29"/>
          <p:cNvSpPr>
            <a:spLocks noGrp="1"/>
          </p:cNvSpPr>
          <p:nvPr/>
        </p:nvSpPr>
        <p:spPr>
          <a:xfrm>
            <a:off x="1321435" y="3429000"/>
            <a:ext cx="3619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777777"/>
            </a:solidFill>
          </a:ln>
        </p:spPr>
      </p:sp>
      <p:sp>
        <p:nvSpPr>
          <p:cNvPr id="31" name="Rectangle 30"/>
          <p:cNvSpPr>
            <a:spLocks noGrp="1"/>
          </p:cNvSpPr>
          <p:nvPr/>
        </p:nvSpPr>
        <p:spPr>
          <a:xfrm>
            <a:off x="1321435" y="3429000"/>
            <a:ext cx="3619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</a:t>
            </a:r>
            <a:endParaRPr sz="12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2" name="Rectangle 31"/>
          <p:cNvSpPr>
            <a:spLocks noGrp="1"/>
          </p:cNvSpPr>
          <p:nvPr/>
        </p:nvSpPr>
        <p:spPr>
          <a:xfrm>
            <a:off x="1683385" y="3429000"/>
            <a:ext cx="3619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777777"/>
            </a:solidFill>
          </a:ln>
        </p:spPr>
      </p:sp>
      <p:sp>
        <p:nvSpPr>
          <p:cNvPr id="33" name="Rectangle 32"/>
          <p:cNvSpPr>
            <a:spLocks noGrp="1"/>
          </p:cNvSpPr>
          <p:nvPr/>
        </p:nvSpPr>
        <p:spPr>
          <a:xfrm>
            <a:off x="1683385" y="3429000"/>
            <a:ext cx="3619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4</a:t>
            </a:r>
            <a:endParaRPr sz="12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4" name="Rectangle 33"/>
          <p:cNvSpPr>
            <a:spLocks noGrp="1"/>
          </p:cNvSpPr>
          <p:nvPr/>
        </p:nvSpPr>
        <p:spPr>
          <a:xfrm>
            <a:off x="2045335" y="3429000"/>
            <a:ext cx="3619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777777"/>
            </a:solidFill>
          </a:ln>
        </p:spPr>
      </p:sp>
      <p:sp>
        <p:nvSpPr>
          <p:cNvPr id="35" name="Rectangle 34"/>
          <p:cNvSpPr>
            <a:spLocks noGrp="1"/>
          </p:cNvSpPr>
          <p:nvPr/>
        </p:nvSpPr>
        <p:spPr>
          <a:xfrm>
            <a:off x="2045335" y="3429000"/>
            <a:ext cx="3619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5</a:t>
            </a:r>
            <a:endParaRPr sz="12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6" name="Rectangle 35"/>
          <p:cNvSpPr>
            <a:spLocks noGrp="1"/>
          </p:cNvSpPr>
          <p:nvPr/>
        </p:nvSpPr>
        <p:spPr>
          <a:xfrm>
            <a:off x="2407285" y="3429000"/>
            <a:ext cx="3619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777777"/>
            </a:solidFill>
          </a:ln>
        </p:spPr>
      </p:sp>
      <p:sp>
        <p:nvSpPr>
          <p:cNvPr id="37" name="Rectangle 36"/>
          <p:cNvSpPr>
            <a:spLocks noGrp="1"/>
          </p:cNvSpPr>
          <p:nvPr/>
        </p:nvSpPr>
        <p:spPr>
          <a:xfrm>
            <a:off x="2407285" y="3429000"/>
            <a:ext cx="3619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</a:t>
            </a:r>
            <a:endParaRPr sz="12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8" name="Rectangle 37"/>
          <p:cNvSpPr>
            <a:spLocks noGrp="1"/>
          </p:cNvSpPr>
          <p:nvPr/>
        </p:nvSpPr>
        <p:spPr>
          <a:xfrm>
            <a:off x="1407160" y="3933825"/>
            <a:ext cx="1285875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246"/>
          </a:bodyPr>
          <a:lstStyle/>
          <a:p>
            <a:pPr algn="ctr">
              <a:defRPr sz="1425" b="1">
                <a:solidFill>
                  <a:srgbClr val="3F78C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1">
                <a:solidFill>
                  <a:srgbClr val="3F78C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 × 2 window</a:t>
            </a:r>
            <a:endParaRPr sz="1425" b="1">
              <a:solidFill>
                <a:srgbClr val="3F78C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9" name="Rectangle 38"/>
          <p:cNvSpPr>
            <a:spLocks noGrp="1"/>
          </p:cNvSpPr>
          <p:nvPr/>
        </p:nvSpPr>
        <p:spPr>
          <a:xfrm>
            <a:off x="3359785" y="1933575"/>
            <a:ext cx="1524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424"/>
          </a:bodyPr>
          <a:lstStyle/>
          <a:p>
            <a:pPr algn="ctr">
              <a:defRPr sz="1650" b="1">
                <a:solidFill>
                  <a:srgbClr val="3F78C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650" b="1">
                <a:solidFill>
                  <a:srgbClr val="3F78C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Max Pooling</a:t>
            </a:r>
            <a:endParaRPr sz="1650" b="1">
              <a:solidFill>
                <a:srgbClr val="3F78C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0" name="Rectangle 39"/>
          <p:cNvSpPr>
            <a:spLocks noGrp="1"/>
          </p:cNvSpPr>
          <p:nvPr/>
        </p:nvSpPr>
        <p:spPr>
          <a:xfrm>
            <a:off x="3550285" y="2505075"/>
            <a:ext cx="514350" cy="514350"/>
          </a:xfrm>
          <a:prstGeom prst="rect">
            <a:avLst/>
          </a:prstGeom>
          <a:solidFill>
            <a:srgbClr val="DCEBFA"/>
          </a:solidFill>
          <a:ln w="9525">
            <a:solidFill>
              <a:srgbClr val="777777"/>
            </a:solidFill>
          </a:ln>
        </p:spPr>
      </p:sp>
      <p:sp>
        <p:nvSpPr>
          <p:cNvPr id="41" name="Rectangle 40"/>
          <p:cNvSpPr>
            <a:spLocks noGrp="1"/>
          </p:cNvSpPr>
          <p:nvPr/>
        </p:nvSpPr>
        <p:spPr>
          <a:xfrm>
            <a:off x="3550285" y="2505075"/>
            <a:ext cx="51435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5</a:t>
            </a:r>
            <a:endParaRPr sz="15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2" name="Rectangle 41"/>
          <p:cNvSpPr>
            <a:spLocks noGrp="1"/>
          </p:cNvSpPr>
          <p:nvPr/>
        </p:nvSpPr>
        <p:spPr>
          <a:xfrm>
            <a:off x="4064635" y="2505075"/>
            <a:ext cx="514350" cy="514350"/>
          </a:xfrm>
          <a:prstGeom prst="rect">
            <a:avLst/>
          </a:prstGeom>
          <a:solidFill>
            <a:srgbClr val="DCEBFA"/>
          </a:solidFill>
          <a:ln w="9525">
            <a:solidFill>
              <a:srgbClr val="777777"/>
            </a:solidFill>
          </a:ln>
        </p:spPr>
      </p:sp>
      <p:sp>
        <p:nvSpPr>
          <p:cNvPr id="43" name="Rectangle 42"/>
          <p:cNvSpPr>
            <a:spLocks noGrp="1"/>
          </p:cNvSpPr>
          <p:nvPr/>
        </p:nvSpPr>
        <p:spPr>
          <a:xfrm>
            <a:off x="4064635" y="2505075"/>
            <a:ext cx="51435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6</a:t>
            </a:r>
            <a:endParaRPr sz="15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4" name="Rectangle 43"/>
          <p:cNvSpPr>
            <a:spLocks noGrp="1"/>
          </p:cNvSpPr>
          <p:nvPr/>
        </p:nvSpPr>
        <p:spPr>
          <a:xfrm>
            <a:off x="3550285" y="3019425"/>
            <a:ext cx="514350" cy="514350"/>
          </a:xfrm>
          <a:prstGeom prst="rect">
            <a:avLst/>
          </a:prstGeom>
          <a:solidFill>
            <a:srgbClr val="DCEBFA"/>
          </a:solidFill>
          <a:ln w="9525">
            <a:solidFill>
              <a:srgbClr val="777777"/>
            </a:solidFill>
          </a:ln>
        </p:spPr>
      </p:sp>
      <p:sp>
        <p:nvSpPr>
          <p:cNvPr id="45" name="Rectangle 44"/>
          <p:cNvSpPr>
            <a:spLocks noGrp="1"/>
          </p:cNvSpPr>
          <p:nvPr/>
        </p:nvSpPr>
        <p:spPr>
          <a:xfrm>
            <a:off x="3550285" y="3019425"/>
            <a:ext cx="51435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8</a:t>
            </a:r>
            <a:endParaRPr sz="15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6" name="Rectangle 45"/>
          <p:cNvSpPr>
            <a:spLocks noGrp="1"/>
          </p:cNvSpPr>
          <p:nvPr/>
        </p:nvSpPr>
        <p:spPr>
          <a:xfrm>
            <a:off x="4064635" y="3019425"/>
            <a:ext cx="514350" cy="514350"/>
          </a:xfrm>
          <a:prstGeom prst="rect">
            <a:avLst/>
          </a:prstGeom>
          <a:solidFill>
            <a:srgbClr val="DCEBFA"/>
          </a:solidFill>
          <a:ln w="9525">
            <a:solidFill>
              <a:srgbClr val="777777"/>
            </a:solidFill>
          </a:ln>
        </p:spPr>
      </p:sp>
      <p:sp>
        <p:nvSpPr>
          <p:cNvPr id="47" name="Rectangle 46"/>
          <p:cNvSpPr>
            <a:spLocks noGrp="1"/>
          </p:cNvSpPr>
          <p:nvPr/>
        </p:nvSpPr>
        <p:spPr>
          <a:xfrm>
            <a:off x="4064635" y="3019425"/>
            <a:ext cx="51435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7</a:t>
            </a:r>
            <a:endParaRPr sz="15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8" name="Rectangle 47"/>
          <p:cNvSpPr>
            <a:spLocks noGrp="1"/>
          </p:cNvSpPr>
          <p:nvPr/>
        </p:nvSpPr>
        <p:spPr>
          <a:xfrm>
            <a:off x="3226435" y="3762375"/>
            <a:ext cx="18097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9561"/>
          </a:bodyPr>
          <a:lstStyle/>
          <a:p>
            <a:pPr algn="ctr">
              <a:defRPr sz="142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Keeps the strongest response</a:t>
            </a:r>
            <a:endParaRPr sz="1425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9" name="Rectangle 48"/>
          <p:cNvSpPr>
            <a:spLocks noGrp="1"/>
          </p:cNvSpPr>
          <p:nvPr/>
        </p:nvSpPr>
        <p:spPr>
          <a:xfrm>
            <a:off x="5264785" y="1933575"/>
            <a:ext cx="1619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575"/>
          </a:bodyPr>
          <a:lstStyle/>
          <a:p>
            <a:pPr algn="ctr">
              <a:defRPr sz="1650" b="1">
                <a:solidFill>
                  <a:srgbClr val="3F78C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650" b="1">
                <a:solidFill>
                  <a:srgbClr val="3F78C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Average Pooling</a:t>
            </a:r>
            <a:endParaRPr sz="1650" b="1">
              <a:solidFill>
                <a:srgbClr val="3F78C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0" name="Rectangle 49"/>
          <p:cNvSpPr>
            <a:spLocks noGrp="1"/>
          </p:cNvSpPr>
          <p:nvPr/>
        </p:nvSpPr>
        <p:spPr>
          <a:xfrm>
            <a:off x="5550535" y="2505075"/>
            <a:ext cx="514350" cy="514350"/>
          </a:xfrm>
          <a:prstGeom prst="rect">
            <a:avLst/>
          </a:prstGeom>
          <a:solidFill>
            <a:srgbClr val="E7F3E8"/>
          </a:solidFill>
          <a:ln w="9525">
            <a:solidFill>
              <a:srgbClr val="777777"/>
            </a:solidFill>
          </a:ln>
        </p:spPr>
      </p:sp>
      <p:sp>
        <p:nvSpPr>
          <p:cNvPr id="51" name="Rectangle 50"/>
          <p:cNvSpPr>
            <a:spLocks noGrp="1"/>
          </p:cNvSpPr>
          <p:nvPr/>
        </p:nvSpPr>
        <p:spPr>
          <a:xfrm>
            <a:off x="5550535" y="2505075"/>
            <a:ext cx="51435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2.75</a:t>
            </a:r>
            <a:endParaRPr sz="105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2" name="Rectangle 51"/>
          <p:cNvSpPr>
            <a:spLocks noGrp="1"/>
          </p:cNvSpPr>
          <p:nvPr/>
        </p:nvSpPr>
        <p:spPr>
          <a:xfrm>
            <a:off x="6064885" y="2505075"/>
            <a:ext cx="514350" cy="514350"/>
          </a:xfrm>
          <a:prstGeom prst="rect">
            <a:avLst/>
          </a:prstGeom>
          <a:solidFill>
            <a:srgbClr val="E7F3E8"/>
          </a:solidFill>
          <a:ln w="9525">
            <a:solidFill>
              <a:srgbClr val="777777"/>
            </a:solidFill>
          </a:ln>
        </p:spPr>
      </p:sp>
      <p:sp>
        <p:nvSpPr>
          <p:cNvPr id="53" name="Rectangle 52"/>
          <p:cNvSpPr>
            <a:spLocks noGrp="1"/>
          </p:cNvSpPr>
          <p:nvPr/>
        </p:nvSpPr>
        <p:spPr>
          <a:xfrm>
            <a:off x="6064885" y="2505075"/>
            <a:ext cx="51435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</a:t>
            </a:r>
            <a:endParaRPr sz="105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4" name="Rectangle 53"/>
          <p:cNvSpPr>
            <a:spLocks noGrp="1"/>
          </p:cNvSpPr>
          <p:nvPr/>
        </p:nvSpPr>
        <p:spPr>
          <a:xfrm>
            <a:off x="5550535" y="3019425"/>
            <a:ext cx="514350" cy="514350"/>
          </a:xfrm>
          <a:prstGeom prst="rect">
            <a:avLst/>
          </a:prstGeom>
          <a:solidFill>
            <a:srgbClr val="E7F3E8"/>
          </a:solidFill>
          <a:ln w="9525">
            <a:solidFill>
              <a:srgbClr val="777777"/>
            </a:solidFill>
          </a:ln>
        </p:spPr>
      </p:sp>
      <p:sp>
        <p:nvSpPr>
          <p:cNvPr id="55" name="Rectangle 54"/>
          <p:cNvSpPr>
            <a:spLocks noGrp="1"/>
          </p:cNvSpPr>
          <p:nvPr/>
        </p:nvSpPr>
        <p:spPr>
          <a:xfrm>
            <a:off x="5550535" y="3019425"/>
            <a:ext cx="51435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3.75</a:t>
            </a:r>
            <a:endParaRPr sz="105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6" name="Rectangle 55"/>
          <p:cNvSpPr>
            <a:spLocks noGrp="1"/>
          </p:cNvSpPr>
          <p:nvPr/>
        </p:nvSpPr>
        <p:spPr>
          <a:xfrm>
            <a:off x="6064885" y="3019425"/>
            <a:ext cx="514350" cy="514350"/>
          </a:xfrm>
          <a:prstGeom prst="rect">
            <a:avLst/>
          </a:prstGeom>
          <a:solidFill>
            <a:srgbClr val="E7F3E8"/>
          </a:solidFill>
          <a:ln w="9525">
            <a:solidFill>
              <a:srgbClr val="777777"/>
            </a:solidFill>
          </a:ln>
        </p:spPr>
      </p:sp>
      <p:sp>
        <p:nvSpPr>
          <p:cNvPr id="57" name="Rectangle 56"/>
          <p:cNvSpPr>
            <a:spLocks noGrp="1"/>
          </p:cNvSpPr>
          <p:nvPr/>
        </p:nvSpPr>
        <p:spPr>
          <a:xfrm>
            <a:off x="6064885" y="3019425"/>
            <a:ext cx="51435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4</a:t>
            </a:r>
            <a:endParaRPr sz="105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8" name="Rectangle 57"/>
          <p:cNvSpPr>
            <a:spLocks noGrp="1"/>
          </p:cNvSpPr>
          <p:nvPr/>
        </p:nvSpPr>
        <p:spPr>
          <a:xfrm>
            <a:off x="5188585" y="3762375"/>
            <a:ext cx="18669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9561"/>
          </a:bodyPr>
          <a:lstStyle/>
          <a:p>
            <a:pPr algn="ctr">
              <a:defRPr sz="142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Keeps the average response</a:t>
            </a:r>
            <a:endParaRPr sz="1425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9" name="Rectangle 58"/>
          <p:cNvSpPr>
            <a:spLocks noGrp="1"/>
          </p:cNvSpPr>
          <p:nvPr/>
        </p:nvSpPr>
        <p:spPr>
          <a:xfrm>
            <a:off x="1763395" y="5877560"/>
            <a:ext cx="52197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985"/>
          </a:bodyPr>
          <a:lstStyle/>
          <a:p>
            <a:pPr algn="ctr">
              <a:defRPr sz="165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65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Pooling processes each window independently and reduces width and height.</a:t>
            </a:r>
            <a:endParaRPr sz="1650" b="1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Rectangle 8"/>
          <p:cNvSpPr>
            <a:spLocks noGrp="1"/>
          </p:cNvSpPr>
          <p:nvPr/>
        </p:nvSpPr>
        <p:spPr>
          <a:xfrm>
            <a:off x="457200" y="190500"/>
            <a:ext cx="59436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25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25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 Complete CNN Inference Pipeline</a:t>
            </a:r>
            <a:endParaRPr sz="2250" b="1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381000" y="628650"/>
            <a:ext cx="6096000" cy="19050"/>
          </a:xfrm>
          <a:prstGeom prst="rect">
            <a:avLst/>
          </a:prstGeom>
          <a:solidFill>
            <a:srgbClr val="222222"/>
          </a:solidFill>
          <a:ln w="0">
            <a:noFill/>
          </a:ln>
        </p:spPr>
      </p:sp>
      <p:sp>
        <p:nvSpPr>
          <p:cNvPr id="5" name="Rectangle 4"/>
          <p:cNvSpPr>
            <a:spLocks noGrp="1"/>
          </p:cNvSpPr>
          <p:nvPr/>
        </p:nvSpPr>
        <p:spPr>
          <a:xfrm>
            <a:off x="628650" y="723900"/>
            <a:ext cx="56197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2855"/>
          </a:bodyPr>
          <a:lstStyle/>
          <a:p>
            <a:pPr algn="l">
              <a:def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Spatial resolution decreases while feature channels increase.</a:t>
            </a:r>
            <a:endParaRPr sz="1575" b="1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885" y="1125220"/>
            <a:ext cx="5436235" cy="4077335"/>
          </a:xfrm>
          <a:prstGeom prst="rect">
            <a:avLst/>
          </a:prstGeom>
        </p:spPr>
      </p:pic>
      <p:sp>
        <p:nvSpPr>
          <p:cNvPr id="7" name="Rectangle 6"/>
          <p:cNvSpPr>
            <a:spLocks noGrp="1"/>
          </p:cNvSpPr>
          <p:nvPr/>
        </p:nvSpPr>
        <p:spPr>
          <a:xfrm>
            <a:off x="1475740" y="6237605"/>
            <a:ext cx="5524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3F78C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1">
                <a:solidFill>
                  <a:srgbClr val="3F78C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Image → feature maps → deep features → class logits</a:t>
            </a:r>
            <a:endParaRPr sz="1350" b="1">
              <a:solidFill>
                <a:srgbClr val="3F78C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2" name="Rectangle 21"/>
          <p:cNvSpPr>
            <a:spLocks noGrp="1"/>
          </p:cNvSpPr>
          <p:nvPr/>
        </p:nvSpPr>
        <p:spPr>
          <a:xfrm>
            <a:off x="899795" y="4940935"/>
            <a:ext cx="7239000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200000"/>
              </a:lnSpc>
              <a:buNone/>
              <a:defRPr sz="15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 classifier</a:t>
            </a:r>
            <a:r>
              <a:rPr lang="en-US" sz="15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(MLP)</a:t>
            </a:r>
            <a:r>
              <a:rPr sz="15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head </a:t>
            </a:r>
            <a:r>
              <a:rPr sz="1575" b="1">
                <a:solidFill>
                  <a:srgbClr val="000000"/>
                </a:solidFill>
                <a:latin typeface="Arial" panose="020B0604020202090204" pitchFamily="34" charset="0"/>
                <a:ea typeface="Arial" panose="020B0604020202090204"/>
                <a:cs typeface="Arial" panose="020B0604020202090204" pitchFamily="34" charset="0"/>
              </a:rPr>
              <a:t>maps the pooled feature vector to logits</a:t>
            </a:r>
            <a:r>
              <a:rPr sz="15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. </a:t>
            </a:r>
            <a:endParaRPr sz="1575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lnSpc>
                <a:spcPct val="200000"/>
              </a:lnSpc>
              <a:buNone/>
              <a:defRPr sz="15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>
                <a:solidFill>
                  <a:srgbClr val="000000"/>
                </a:solidFill>
                <a:latin typeface="Arial" panose="020B0604020202090204" pitchFamily="34" charset="0"/>
                <a:ea typeface="Arial" panose="020B0604020202090204"/>
                <a:cs typeface="Arial" panose="020B0604020202090204" pitchFamily="34" charset="0"/>
              </a:rPr>
              <a:t>Spatial </a:t>
            </a:r>
            <a:r>
              <a:rPr sz="15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dimensions usually </a:t>
            </a:r>
            <a:r>
              <a:rPr lang="en-US" sz="1575" b="1">
                <a:solidFill>
                  <a:srgbClr val="000000"/>
                </a:solidFill>
                <a:latin typeface="Arial" panose="020B0604020202090204" pitchFamily="34" charset="0"/>
                <a:ea typeface="Arial" panose="020B0604020202090204"/>
                <a:cs typeface="Arial" panose="020B0604020202090204" pitchFamily="34" charset="0"/>
              </a:rPr>
              <a:t>decrease </a:t>
            </a:r>
            <a:r>
              <a:rPr sz="15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while the number of </a:t>
            </a:r>
            <a:r>
              <a:rPr sz="1575" b="1">
                <a:solidFill>
                  <a:srgbClr val="000000"/>
                </a:solidFill>
                <a:latin typeface="Arial" panose="020B0604020202090204" pitchFamily="34" charset="0"/>
                <a:ea typeface="Arial" panose="020B0604020202090204"/>
                <a:cs typeface="Arial" panose="020B0604020202090204" pitchFamily="34" charset="0"/>
              </a:rPr>
              <a:t>channels increases</a:t>
            </a:r>
            <a:r>
              <a:rPr sz="15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.</a:t>
            </a:r>
            <a:endParaRPr sz="1575" b="0">
              <a:solidFill>
                <a:srgbClr val="111111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" name="textbox 40"/>
          <p:cNvSpPr>
            <a:spLocks noGrp="1"/>
          </p:cNvSpPr>
          <p:nvPr/>
        </p:nvSpPr>
        <p:spPr>
          <a:xfrm>
            <a:off x="427963" y="982955"/>
            <a:ext cx="8443393" cy="540625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vert="horz" wrap="square" lIns="0" tIns="0" rIns="0" bIns="0"/>
          <a:lstStyle/>
          <a:p>
            <a:pPr marL="288290" indent="-175895" algn="l">
              <a:lnSpc>
                <a:spcPct val="108000"/>
              </a:lnSpc>
              <a:spcBef>
                <a:spcPts val="450"/>
              </a:spcBef>
              <a:buClrTx/>
              <a:buSzTx/>
              <a:buFontTx/>
              <a:buNone/>
              <a:defRPr sz="1575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 spc="-1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Part I   Neural-network foundations ✓</a:t>
            </a:r>
            <a:endParaRPr sz="1985" b="1" spc="-10">
              <a:solidFill>
                <a:schemeClr val="tx1">
                  <a:alpha val="100000"/>
                </a:scheme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lnSpc>
                <a:spcPct val="80000"/>
              </a:lnSpc>
              <a:buNone/>
            </a:pPr>
            <a:endParaRPr sz="1985" spc="-10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88290" indent="-175895" algn="l">
              <a:lnSpc>
                <a:spcPct val="108000"/>
              </a:lnSpc>
              <a:spcBef>
                <a:spcPts val="450"/>
              </a:spcBef>
              <a:buNone/>
              <a:defRPr sz="1575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 spc="-10">
                <a:solidFill>
                  <a:srgbClr val="000000"/>
                </a:solidFill>
                <a:latin typeface="Arial" panose="020B0604020202090204" pitchFamily="34" charset="0"/>
                <a:ea typeface="Arial" panose="020B0604020202090204"/>
                <a:cs typeface="Arial" panose="020B0604020202090204" pitchFamily="34" charset="0"/>
              </a:rPr>
              <a:t>Part II  Multilayer Perceptrons</a:t>
            </a:r>
            <a:r>
              <a:rPr sz="1575" spc="-1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✓</a:t>
            </a:r>
            <a:endParaRPr sz="1985" spc="-10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88290" indent="-175895" algn="l">
              <a:lnSpc>
                <a:spcPct val="108000"/>
              </a:lnSpc>
              <a:spcBef>
                <a:spcPts val="450"/>
              </a:spcBef>
              <a:buNone/>
            </a:pPr>
            <a:endParaRPr sz="1985" spc="-10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88290" indent="-175895" algn="l">
              <a:lnSpc>
                <a:spcPct val="108000"/>
              </a:lnSpc>
              <a:spcBef>
                <a:spcPts val="450"/>
              </a:spcBef>
              <a:buNone/>
              <a:defRPr sz="1575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 spc="0">
                <a:solidFill>
                  <a:srgbClr val="000000"/>
                </a:solidFill>
                <a:latin typeface="Arial" panose="020B0604020202090204" pitchFamily="34" charset="0"/>
                <a:ea typeface="Arial" panose="020B0604020202090204"/>
                <a:cs typeface="Arial" panose="020B0604020202090204" pitchFamily="34" charset="0"/>
              </a:rPr>
              <a:t>Part III Convolutional Neural Networks</a:t>
            </a:r>
            <a:r>
              <a:rPr sz="1575" spc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✓</a:t>
            </a:r>
            <a:endParaRPr sz="1985" spc="0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88290" indent="-175895" algn="l">
              <a:lnSpc>
                <a:spcPct val="108000"/>
              </a:lnSpc>
              <a:spcBef>
                <a:spcPts val="450"/>
              </a:spcBef>
              <a:buNone/>
            </a:pPr>
            <a:endParaRPr sz="1985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87655" indent="-182245" algn="l">
              <a:lnSpc>
                <a:spcPct val="107000"/>
              </a:lnSpc>
              <a:spcBef>
                <a:spcPts val="1285"/>
              </a:spcBef>
              <a:buNone/>
              <a:defRPr sz="1575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spc="-1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Part IV  Transformers and architecture comparison</a:t>
            </a:r>
            <a:endParaRPr sz="1985" spc="-10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2" name="textbox 42"/>
          <p:cNvSpPr>
            <a:spLocks noGrp="1"/>
          </p:cNvSpPr>
          <p:nvPr/>
        </p:nvSpPr>
        <p:spPr>
          <a:xfrm>
            <a:off x="604518" y="236288"/>
            <a:ext cx="7939250" cy="58599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vert="horz" wrap="square" lIns="0" tIns="0" rIns="0" bIns="0"/>
          <a:lstStyle/>
          <a:p>
            <a:pPr algn="l">
              <a:lnSpc>
                <a:spcPct val="80000"/>
              </a:lnSpc>
              <a:buNone/>
              <a:defRPr sz="2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40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Roadmap</a:t>
            </a:r>
            <a:endParaRPr sz="20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4" name="path 44"/>
          <p:cNvSpPr>
            <a:spLocks noGrp="1"/>
          </p:cNvSpPr>
          <p:nvPr/>
        </p:nvSpPr>
        <p:spPr>
          <a:xfrm>
            <a:off x="0" y="661301"/>
            <a:ext cx="9144881" cy="25103"/>
          </a:xfrm>
          <a:custGeom>
            <a:avLst/>
            <a:gdLst/>
            <a:ahLst/>
            <a:cxnLst/>
            <a:rect l="0" t="0" r="0" b="0"/>
            <a:pathLst>
              <a:path w="7256" h="19">
                <a:moveTo>
                  <a:pt x="0" y="9"/>
                </a:moveTo>
                <a:lnTo>
                  <a:pt x="7256" y="9"/>
                </a:lnTo>
              </a:path>
            </a:pathLst>
          </a:custGeom>
          <a:noFill/>
          <a:ln w="12649">
            <a:solidFill>
              <a:srgbClr val="000000"/>
            </a:solidFill>
            <a:prstDash val="solid"/>
          </a:ln>
        </p:spPr>
        <p:txBody>
          <a:bodyPr/>
          <a:lstStyle/>
          <a:p>
            <a:pPr algn="ctr">
              <a:buNone/>
            </a:pPr>
            <a:endParaRPr sz="3570"/>
          </a:p>
        </p:txBody>
      </p:sp>
      <p:sp>
        <p:nvSpPr>
          <p:cNvPr id="46" name="path 46"/>
          <p:cNvSpPr>
            <a:spLocks noGrp="1"/>
          </p:cNvSpPr>
          <p:nvPr/>
        </p:nvSpPr>
        <p:spPr>
          <a:xfrm>
            <a:off x="0" y="6561349"/>
            <a:ext cx="9144881" cy="25103"/>
          </a:xfrm>
          <a:custGeom>
            <a:avLst/>
            <a:gdLst/>
            <a:ahLst/>
            <a:cxnLst/>
            <a:rect l="0" t="0" r="0" b="0"/>
            <a:pathLst>
              <a:path w="7256" h="19">
                <a:moveTo>
                  <a:pt x="0" y="9"/>
                </a:moveTo>
                <a:lnTo>
                  <a:pt x="7256" y="9"/>
                </a:lnTo>
              </a:path>
            </a:pathLst>
          </a:custGeom>
          <a:noFill/>
          <a:ln w="12649">
            <a:solidFill>
              <a:srgbClr val="000000"/>
            </a:solidFill>
            <a:prstDash val="solid"/>
          </a:ln>
        </p:spPr>
        <p:txBody>
          <a:bodyPr/>
          <a:lstStyle/>
          <a:p>
            <a:pPr algn="ctr">
              <a:buNone/>
            </a:pPr>
            <a:endParaRPr sz="3570"/>
          </a:p>
        </p:txBody>
      </p:sp>
      <p:sp>
        <p:nvSpPr>
          <p:cNvPr id="50" name="path 50"/>
          <p:cNvSpPr>
            <a:spLocks noGrp="1"/>
          </p:cNvSpPr>
          <p:nvPr/>
        </p:nvSpPr>
        <p:spPr>
          <a:xfrm>
            <a:off x="8515816" y="6586452"/>
            <a:ext cx="10030" cy="272203"/>
          </a:xfrm>
          <a:custGeom>
            <a:avLst/>
            <a:gdLst/>
            <a:ahLst/>
            <a:cxnLst/>
            <a:rect l="0" t="0" r="0" b="0"/>
            <a:pathLst>
              <a:path w="7" h="216">
                <a:moveTo>
                  <a:pt x="3" y="216"/>
                </a:moveTo>
                <a:lnTo>
                  <a:pt x="3" y="0"/>
                </a:lnTo>
              </a:path>
            </a:pathLst>
          </a:custGeom>
          <a:noFill/>
          <a:ln w="5054">
            <a:solidFill>
              <a:srgbClr val="000000"/>
            </a:solidFill>
            <a:prstDash val="solid"/>
          </a:ln>
        </p:spPr>
        <p:txBody>
          <a:bodyPr/>
          <a:lstStyle/>
          <a:p>
            <a:pPr algn="ctr">
              <a:buNone/>
            </a:pPr>
            <a:endParaRPr sz="357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Rectangle 6"/>
          <p:cNvSpPr>
            <a:spLocks noGrp="1"/>
          </p:cNvSpPr>
          <p:nvPr/>
        </p:nvSpPr>
        <p:spPr>
          <a:xfrm>
            <a:off x="523875" y="209550"/>
            <a:ext cx="809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40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40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Part IV — Transformers</a:t>
            </a:r>
            <a:endParaRPr sz="1950" b="1">
              <a:solidFill>
                <a:srgbClr val="111111"/>
              </a:solidFill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23875" y="647700"/>
            <a:ext cx="8096250" cy="1905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523875" y="6477000"/>
            <a:ext cx="8096250" cy="9525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5" name="Rectangle 4"/>
          <p:cNvSpPr>
            <a:spLocks noGrp="1"/>
          </p:cNvSpPr>
          <p:nvPr/>
        </p:nvSpPr>
        <p:spPr>
          <a:xfrm>
            <a:off x="904875" y="2381250"/>
            <a:ext cx="73342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How can every </a:t>
            </a:r>
            <a:r>
              <a:rPr lang="en-US"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patch</a:t>
            </a:r>
            <a:r>
              <a: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directly gather information from others</a:t>
            </a:r>
            <a:endParaRPr sz="1575" b="1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buNone/>
              <a:def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endParaRPr sz="1575" b="1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buNone/>
              <a:def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lang="en-US"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gobally and more easily</a:t>
            </a:r>
            <a:r>
              <a: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?</a:t>
            </a:r>
            <a:endParaRPr sz="2550" b="1">
              <a:solidFill>
                <a:srgbClr val="111111"/>
              </a:solidFill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3190875" y="3762375"/>
            <a:ext cx="2762250" cy="38100"/>
          </a:xfrm>
          <a:prstGeom prst="rect">
            <a:avLst/>
          </a:prstGeom>
          <a:solidFill>
            <a:srgbClr val="4378C4"/>
          </a:solidFill>
          <a:ln w="9525">
            <a:solidFill>
              <a:srgbClr val="4378C4"/>
            </a:solidFill>
            <a:prstDash val="solid"/>
          </a:ln>
        </p:spPr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9" name="Rectangle 28"/>
          <p:cNvSpPr>
            <a:spLocks noGrp="1"/>
          </p:cNvSpPr>
          <p:nvPr/>
        </p:nvSpPr>
        <p:spPr>
          <a:xfrm>
            <a:off x="523875" y="209550"/>
            <a:ext cx="809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40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lang="en-US" sz="240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Pipeline O</a:t>
            </a:r>
            <a:r>
              <a:rPr lang="en-US" sz="240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verview</a:t>
            </a:r>
            <a:endParaRPr lang="en-US" sz="2400" b="1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23875" y="647700"/>
            <a:ext cx="8096250" cy="1905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pic>
        <p:nvPicPr>
          <p:cNvPr id="3" name="Picture 2" descr="ChatGPT Image Sep 22, 2026, 10_46_36 AM"/>
          <p:cNvPicPr>
            <a:picLocks noChangeAspect="1"/>
          </p:cNvPicPr>
          <p:nvPr/>
        </p:nvPicPr>
        <p:blipFill>
          <a:blip r:embed="rId1"/>
          <a:srcRect t="20619" r="12201" b="20607"/>
          <a:stretch>
            <a:fillRect/>
          </a:stretch>
        </p:blipFill>
        <p:spPr>
          <a:xfrm>
            <a:off x="0" y="1596390"/>
            <a:ext cx="8989695" cy="338709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9" name="Rectangle 28"/>
          <p:cNvSpPr>
            <a:spLocks noGrp="1"/>
          </p:cNvSpPr>
          <p:nvPr/>
        </p:nvSpPr>
        <p:spPr>
          <a:xfrm>
            <a:off x="523875" y="209550"/>
            <a:ext cx="809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40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40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Three Steps</a:t>
            </a:r>
            <a:r>
              <a:rPr lang="en-US" sz="240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of Attention</a:t>
            </a:r>
            <a:endParaRPr lang="en-US" sz="2400" b="1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7410" y="981075"/>
            <a:ext cx="7409180" cy="5556885"/>
          </a:xfrm>
          <a:prstGeom prst="rect">
            <a:avLst/>
          </a:prstGeom>
        </p:spPr>
      </p:pic>
      <p:sp>
        <p:nvSpPr>
          <p:cNvPr id="2" name="Rectangle 1"/>
          <p:cNvSpPr>
            <a:spLocks noGrp="1"/>
          </p:cNvSpPr>
          <p:nvPr/>
        </p:nvSpPr>
        <p:spPr>
          <a:xfrm>
            <a:off x="523875" y="647700"/>
            <a:ext cx="8096250" cy="1905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Rectangle 18"/>
          <p:cNvSpPr>
            <a:spLocks noGrp="1"/>
          </p:cNvSpPr>
          <p:nvPr/>
        </p:nvSpPr>
        <p:spPr>
          <a:xfrm>
            <a:off x="523875" y="209550"/>
            <a:ext cx="809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40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lang="en-US" sz="1950" b="1">
                <a:solidFill>
                  <a:srgbClr val="111111"/>
                </a:solidFill>
              </a:rPr>
              <a:t>Token Evolving Process</a:t>
            </a:r>
            <a:endParaRPr lang="en-US" sz="1950" b="1">
              <a:solidFill>
                <a:srgbClr val="111111"/>
              </a:solidFill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23875" y="647700"/>
            <a:ext cx="8096250" cy="1905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523875" y="6477000"/>
            <a:ext cx="8096250" cy="9525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5" name="Rectangle 4"/>
          <p:cNvSpPr>
            <a:spLocks noGrp="1"/>
          </p:cNvSpPr>
          <p:nvPr/>
        </p:nvSpPr>
        <p:spPr>
          <a:xfrm>
            <a:off x="762000" y="1047750"/>
            <a:ext cx="7620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Current token</a:t>
            </a:r>
            <a:endParaRPr sz="1800" b="1">
              <a:solidFill>
                <a:srgbClr val="111111"/>
              </a:solidFill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2514600" y="2371725"/>
            <a:ext cx="171450" cy="38100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4486275" y="2371725"/>
            <a:ext cx="171450" cy="38100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8" name="Rectangle 7"/>
          <p:cNvSpPr>
            <a:spLocks noGrp="1"/>
          </p:cNvSpPr>
          <p:nvPr/>
        </p:nvSpPr>
        <p:spPr>
          <a:xfrm>
            <a:off x="6457950" y="2371725"/>
            <a:ext cx="171450" cy="38100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9" name="Rounded Rectangle 8"/>
          <p:cNvSpPr>
            <a:spLocks noGrp="1"/>
          </p:cNvSpPr>
          <p:nvPr/>
        </p:nvSpPr>
        <p:spPr>
          <a:xfrm>
            <a:off x="714375" y="2000250"/>
            <a:ext cx="1800225" cy="742950"/>
          </a:xfrm>
          <a:prstGeom prst="roundRect">
            <a:avLst>
              <a:gd name="adj" fmla="val 10256"/>
            </a:avLst>
          </a:prstGeom>
          <a:solidFill>
            <a:srgbClr val="F2F2F2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790575" y="2095500"/>
            <a:ext cx="16478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lang="en-US" sz="1275" b="1">
                <a:solidFill>
                  <a:srgbClr val="000000"/>
                </a:solidFill>
                <a:latin typeface="Arial" panose="020B0604020202090204" pitchFamily="34" charset="0"/>
                <a:ea typeface="Arial" panose="020B0604020202090204"/>
                <a:cs typeface="Arial" panose="020B0604020202090204" pitchFamily="34" charset="0"/>
              </a:rPr>
              <a:t>Learn</a:t>
            </a:r>
            <a:r>
              <a:rPr sz="1275" b="1">
                <a:solidFill>
                  <a:srgbClr val="000000"/>
                </a:solidFill>
                <a:latin typeface="Arial" panose="020B0604020202090204" pitchFamily="34" charset="0"/>
                <a:ea typeface="Arial" panose="020B0604020202090204"/>
                <a:cs typeface="Arial" panose="020B0604020202090204" pitchFamily="34" charset="0"/>
              </a:rPr>
              <a:t> what matters</a:t>
            </a:r>
            <a:r>
              <a:rPr lang="en-US" sz="12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from data </a:t>
            </a:r>
            <a:r>
              <a:rPr lang="en-US" sz="1275" b="1">
                <a:solidFill>
                  <a:srgbClr val="000000"/>
                </a:solidFill>
                <a:latin typeface="Arial" panose="020B0604020202090204" pitchFamily="34" charset="0"/>
                <a:ea typeface="Arial" panose="020B0604020202090204"/>
                <a:cs typeface="Arial" panose="020B0604020202090204" pitchFamily="34" charset="0"/>
              </a:rPr>
              <a:t>individually</a:t>
            </a:r>
            <a:endParaRPr lang="en-US" sz="1275" b="1">
              <a:solidFill>
                <a:srgbClr val="000000"/>
              </a:solidFill>
              <a:latin typeface="Arial" panose="020B0604020202090204" pitchFamily="34" charset="0"/>
              <a:ea typeface="Arial" panose="020B0604020202090204"/>
              <a:cs typeface="Arial" panose="020B0604020202090204" pitchFamily="34" charset="0"/>
            </a:endParaRPr>
          </a:p>
        </p:txBody>
      </p:sp>
      <p:sp>
        <p:nvSpPr>
          <p:cNvPr id="11" name="Rounded Rectangle 10"/>
          <p:cNvSpPr>
            <a:spLocks noGrp="1"/>
          </p:cNvSpPr>
          <p:nvPr/>
        </p:nvSpPr>
        <p:spPr>
          <a:xfrm>
            <a:off x="2686050" y="2000250"/>
            <a:ext cx="1800225" cy="742950"/>
          </a:xfrm>
          <a:prstGeom prst="roundRect">
            <a:avLst>
              <a:gd name="adj" fmla="val 10256"/>
            </a:avLst>
          </a:prstGeom>
          <a:solidFill>
            <a:srgbClr val="F2F2F2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2" name="Rectangle 11"/>
          <p:cNvSpPr>
            <a:spLocks noGrp="1"/>
          </p:cNvSpPr>
          <p:nvPr/>
        </p:nvSpPr>
        <p:spPr>
          <a:xfrm>
            <a:off x="2762250" y="2095500"/>
            <a:ext cx="16478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lang="en-US" sz="1275" b="1">
                <a:solidFill>
                  <a:srgbClr val="000000"/>
                </a:solidFill>
                <a:latin typeface="Arial" panose="020B0604020202090204" pitchFamily="34" charset="0"/>
                <a:ea typeface="Arial" panose="020B0604020202090204"/>
                <a:cs typeface="Arial" panose="020B0604020202090204" pitchFamily="34" charset="0"/>
              </a:rPr>
              <a:t>Communiate </a:t>
            </a:r>
            <a:r>
              <a:rPr lang="en-US" sz="12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with o</a:t>
            </a:r>
            <a:r>
              <a:rPr sz="12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ther tokens</a:t>
            </a:r>
            <a:endParaRPr sz="1275" b="0">
              <a:solidFill>
                <a:srgbClr val="111111"/>
              </a:solidFill>
            </a:endParaRPr>
          </a:p>
        </p:txBody>
      </p:sp>
      <p:sp>
        <p:nvSpPr>
          <p:cNvPr id="13" name="Rounded Rectangle 12"/>
          <p:cNvSpPr>
            <a:spLocks noGrp="1"/>
          </p:cNvSpPr>
          <p:nvPr/>
        </p:nvSpPr>
        <p:spPr>
          <a:xfrm>
            <a:off x="4657725" y="2000250"/>
            <a:ext cx="1800225" cy="742950"/>
          </a:xfrm>
          <a:prstGeom prst="roundRect">
            <a:avLst>
              <a:gd name="adj" fmla="val 10256"/>
            </a:avLst>
          </a:prstGeom>
          <a:solidFill>
            <a:srgbClr val="F2F2F2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4733925" y="2095500"/>
            <a:ext cx="16478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lang="en-US" b="1">
                <a:sym typeface="+mn-ea"/>
              </a:rPr>
              <a:t>Normalize </a:t>
            </a:r>
            <a:r>
              <a:rPr lang="en-US">
                <a:sym typeface="+mn-ea"/>
              </a:rPr>
              <a:t>the r</a:t>
            </a:r>
            <a:r>
              <a:rPr>
                <a:sym typeface="+mn-ea"/>
              </a:rPr>
              <a:t>elevance scores</a:t>
            </a:r>
            <a:r>
              <a:rPr lang="en-US">
                <a:sym typeface="+mn-ea"/>
              </a:rPr>
              <a:t> with</a:t>
            </a:r>
            <a:r>
              <a:rPr lang="en-US" b="1">
                <a:sym typeface="+mn-ea"/>
              </a:rPr>
              <a:t> all tokens</a:t>
            </a:r>
            <a:endParaRPr lang="en-US" sz="1275" b="1">
              <a:solidFill>
                <a:srgbClr val="111111"/>
              </a:solidFill>
              <a:sym typeface="+mn-ea"/>
            </a:endParaRPr>
          </a:p>
        </p:txBody>
      </p:sp>
      <p:sp>
        <p:nvSpPr>
          <p:cNvPr id="15" name="Rounded Rectangle 14"/>
          <p:cNvSpPr>
            <a:spLocks noGrp="1"/>
          </p:cNvSpPr>
          <p:nvPr/>
        </p:nvSpPr>
        <p:spPr>
          <a:xfrm>
            <a:off x="6629400" y="2000250"/>
            <a:ext cx="1800225" cy="742950"/>
          </a:xfrm>
          <a:prstGeom prst="roundRect">
            <a:avLst>
              <a:gd name="adj" fmla="val 10256"/>
            </a:avLst>
          </a:prstGeom>
          <a:solidFill>
            <a:srgbClr val="EAF1FB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6" name="Rectangle 15"/>
          <p:cNvSpPr>
            <a:spLocks noGrp="1"/>
          </p:cNvSpPr>
          <p:nvPr/>
        </p:nvSpPr>
        <p:spPr>
          <a:xfrm>
            <a:off x="6705600" y="2095500"/>
            <a:ext cx="16478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lang="en-US" b="1">
                <a:latin typeface="Arial" panose="020B0604020202090204" pitchFamily="34" charset="0"/>
                <a:cs typeface="Arial" panose="020B0604020202090204" pitchFamily="34" charset="0"/>
                <a:sym typeface="+mn-ea"/>
              </a:rPr>
              <a:t>Update </a:t>
            </a:r>
            <a:r>
              <a:rPr lang="en-US">
                <a:sym typeface="+mn-ea"/>
              </a:rPr>
              <a:t>its own embeddings with </a:t>
            </a:r>
            <a:r>
              <a:rPr lang="en-US" b="1">
                <a:latin typeface="Arial" panose="020B0604020202090204" pitchFamily="34" charset="0"/>
                <a:cs typeface="Arial" panose="020B0604020202090204" pitchFamily="34" charset="0"/>
                <a:sym typeface="+mn-ea"/>
              </a:rPr>
              <a:t>weighted sum</a:t>
            </a:r>
            <a:endParaRPr lang="en-US" sz="1275" b="1">
              <a:solidFill>
                <a:srgbClr val="111111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1047750" y="3381375"/>
            <a:ext cx="70485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lang="en-US"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</a:t>
            </a:r>
            <a:r>
              <a: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arger </a:t>
            </a:r>
            <a:r>
              <a:rPr lang="en-US"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weights </a:t>
            </a:r>
            <a:r>
              <a: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means more </a:t>
            </a:r>
            <a:r>
              <a:rPr lang="en-US"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related</a:t>
            </a:r>
            <a:endParaRPr lang="en-US" sz="1575" b="1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" name="Rectangle 23"/>
          <p:cNvSpPr>
            <a:spLocks noGrp="1"/>
          </p:cNvSpPr>
          <p:nvPr/>
        </p:nvSpPr>
        <p:spPr>
          <a:xfrm>
            <a:off x="523875" y="209550"/>
            <a:ext cx="809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40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40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Context Changes Token Meaning</a:t>
            </a:r>
            <a:endParaRPr sz="1950" b="1">
              <a:solidFill>
                <a:srgbClr val="111111"/>
              </a:solidFill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23875" y="647700"/>
            <a:ext cx="8096250" cy="1905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523875" y="6477000"/>
            <a:ext cx="8096250" cy="9525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23" name="Rectangle 22"/>
          <p:cNvSpPr>
            <a:spLocks noGrp="1"/>
          </p:cNvSpPr>
          <p:nvPr/>
        </p:nvSpPr>
        <p:spPr>
          <a:xfrm>
            <a:off x="952500" y="5381625"/>
            <a:ext cx="723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650" b="1">
                <a:solidFill>
                  <a:srgbClr val="4378C4"/>
                </a:solidFill>
              </a:defRPr>
            </a:pPr>
            <a:endParaRPr sz="1650" b="1">
              <a:solidFill>
                <a:srgbClr val="4378C4"/>
              </a:solidFill>
            </a:endParaRPr>
          </a:p>
        </p:txBody>
      </p:sp>
      <p:sp>
        <p:nvSpPr>
          <p:cNvPr id="25" name="Rectangle 24"/>
          <p:cNvSpPr>
            <a:spLocks noGrp="1"/>
          </p:cNvSpPr>
          <p:nvPr/>
        </p:nvSpPr>
        <p:spPr>
          <a:xfrm>
            <a:off x="6057900" y="4876800"/>
            <a:ext cx="381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2222"/>
          </a:bodyPr>
          <a:lstStyle/>
          <a:p>
            <a:pPr algn="ctr">
              <a:def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48</a:t>
            </a:r>
            <a:endParaRPr sz="9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4" name="Picture 3" descr="ChatGPT Image Sep 16, 2026, 11_19_43 AM"/>
          <p:cNvPicPr>
            <a:picLocks noChangeAspect="1"/>
          </p:cNvPicPr>
          <p:nvPr/>
        </p:nvPicPr>
        <p:blipFill>
          <a:blip r:embed="rId1"/>
          <a:srcRect t="9292" b="3936"/>
          <a:stretch>
            <a:fillRect/>
          </a:stretch>
        </p:blipFill>
        <p:spPr>
          <a:xfrm>
            <a:off x="443230" y="1412875"/>
            <a:ext cx="8256905" cy="4032250"/>
          </a:xfrm>
          <a:prstGeom prst="rect">
            <a:avLst/>
          </a:prstGeom>
        </p:spPr>
      </p:pic>
      <p:sp>
        <p:nvSpPr>
          <p:cNvPr id="12" name="Rectangle 11"/>
          <p:cNvSpPr>
            <a:spLocks noGrp="1"/>
          </p:cNvSpPr>
          <p:nvPr/>
        </p:nvSpPr>
        <p:spPr>
          <a:xfrm>
            <a:off x="1226820" y="2780665"/>
            <a:ext cx="247269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lang="en-US" sz="1600" b="0">
                <a:solidFill>
                  <a:srgbClr val="111111"/>
                </a:solidFill>
              </a:rPr>
              <a:t>Exactly the same initial token embeddings</a:t>
            </a:r>
            <a:r>
              <a:rPr lang="en-US" sz="1275" b="0">
                <a:solidFill>
                  <a:srgbClr val="111111"/>
                </a:solidFill>
              </a:rPr>
              <a:t> </a:t>
            </a:r>
            <a:endParaRPr lang="en-US" sz="1275" b="0">
              <a:solidFill>
                <a:srgbClr val="111111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Rectangle 8"/>
          <p:cNvSpPr>
            <a:spLocks noGrp="1"/>
          </p:cNvSpPr>
          <p:nvPr/>
        </p:nvSpPr>
        <p:spPr>
          <a:xfrm>
            <a:off x="609600" y="180975"/>
            <a:ext cx="800100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475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lang="en-US" sz="2475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How to Perform Self-Attention</a:t>
            </a:r>
            <a:endParaRPr lang="zh-CN" altLang="en-US" sz="2475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04825" y="819150"/>
            <a:ext cx="8134350" cy="28575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504825" y="6477000"/>
            <a:ext cx="8134350" cy="19050"/>
          </a:xfrm>
          <a:prstGeom prst="rect">
            <a:avLst/>
          </a:prstGeom>
          <a:solidFill>
            <a:srgbClr val="555555"/>
          </a:solidFill>
          <a:ln w="0">
            <a:solidFill>
              <a:srgbClr val="555555"/>
            </a:solidFill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685800" y="933450"/>
            <a:ext cx="77724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The same token participates in attention through three different roles.</a:t>
            </a:r>
            <a:endParaRPr sz="1500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714" y="1314450"/>
            <a:ext cx="7700573" cy="4333875"/>
          </a:xfrm>
          <a:prstGeom prst="rect">
            <a:avLst/>
          </a:prstGeom>
        </p:spPr>
      </p:pic>
      <p:sp>
        <p:nvSpPr>
          <p:cNvPr id="8" name="Rectangle 7"/>
          <p:cNvSpPr>
            <a:spLocks noGrp="1"/>
          </p:cNvSpPr>
          <p:nvPr/>
        </p:nvSpPr>
        <p:spPr>
          <a:xfrm>
            <a:off x="762000" y="5810250"/>
            <a:ext cx="76200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425" b="1">
                <a:solidFill>
                  <a:srgbClr val="3978C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1">
                <a:solidFill>
                  <a:srgbClr val="3978C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Query searches, Keys support matching, and Values carry the information that will be collected.</a:t>
            </a:r>
            <a:endParaRPr sz="1425" b="1">
              <a:solidFill>
                <a:srgbClr val="3978C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971550" y="5156835"/>
            <a:ext cx="70485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lang="en-US" sz="1575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Why does each token compute similarity with its own?</a:t>
            </a:r>
            <a:endParaRPr lang="en-US" sz="1575" b="1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Rectangle 8"/>
          <p:cNvSpPr>
            <a:spLocks noGrp="1"/>
          </p:cNvSpPr>
          <p:nvPr/>
        </p:nvSpPr>
        <p:spPr>
          <a:xfrm>
            <a:off x="609600" y="180975"/>
            <a:ext cx="800100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475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lang="en-US" sz="2475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Step 0: </a:t>
            </a:r>
            <a:r>
              <a:rPr sz="2475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Creating Query, Key, and Value Vectors</a:t>
            </a:r>
            <a:endParaRPr sz="2475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04825" y="819150"/>
            <a:ext cx="8134350" cy="28575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504825" y="6477000"/>
            <a:ext cx="8134350" cy="19050"/>
          </a:xfrm>
          <a:prstGeom prst="rect">
            <a:avLst/>
          </a:prstGeom>
          <a:solidFill>
            <a:srgbClr val="555555"/>
          </a:solidFill>
          <a:ln w="0">
            <a:solidFill>
              <a:srgbClr val="555555"/>
            </a:solidFill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685800" y="933450"/>
            <a:ext cx="77724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Each input embedding passes through three learned linear projections.</a:t>
            </a:r>
            <a:endParaRPr sz="1500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1025" y="1301946"/>
            <a:ext cx="7981950" cy="4492234"/>
          </a:xfrm>
          <a:prstGeom prst="rect">
            <a:avLst/>
          </a:prstGeom>
        </p:spPr>
      </p:pic>
      <p:sp>
        <p:nvSpPr>
          <p:cNvPr id="8" name="Rectangle 7"/>
          <p:cNvSpPr>
            <a:spLocks noGrp="1"/>
          </p:cNvSpPr>
          <p:nvPr/>
        </p:nvSpPr>
        <p:spPr>
          <a:xfrm>
            <a:off x="809625" y="5867400"/>
            <a:ext cx="75247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425" b="1">
                <a:solidFill>
                  <a:srgbClr val="3978C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1">
                <a:solidFill>
                  <a:srgbClr val="3978C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Every token creates its own q, k, and v vectors before the attention comparison begins.</a:t>
            </a:r>
            <a:endParaRPr sz="1425" b="1">
              <a:solidFill>
                <a:srgbClr val="3978C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" name="Rectangle 13"/>
          <p:cNvSpPr>
            <a:spLocks noGrp="1"/>
          </p:cNvSpPr>
          <p:nvPr/>
        </p:nvSpPr>
        <p:spPr>
          <a:xfrm>
            <a:off x="609600" y="180975"/>
            <a:ext cx="800100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475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475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Step 1: Query–Key Similarity</a:t>
            </a:r>
            <a:endParaRPr sz="2475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04825" y="819150"/>
            <a:ext cx="8134350" cy="28575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504825" y="6477000"/>
            <a:ext cx="8134350" cy="19050"/>
          </a:xfrm>
          <a:prstGeom prst="rect">
            <a:avLst/>
          </a:prstGeom>
          <a:solidFill>
            <a:srgbClr val="555555"/>
          </a:solidFill>
          <a:ln w="0">
            <a:solidFill>
              <a:srgbClr val="555555"/>
            </a:solidFill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685800" y="933450"/>
            <a:ext cx="77724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The current token uses its Query to </a:t>
            </a:r>
            <a:r>
              <a:rPr lang="en-US" sz="15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match</a:t>
            </a:r>
            <a:r>
              <a:rPr sz="15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every candidate Key.</a:t>
            </a:r>
            <a:endParaRPr sz="1500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952500" y="4476750"/>
            <a:ext cx="2238375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1">
                <a:solidFill>
                  <a:srgbClr val="3978C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>
                <a:solidFill>
                  <a:srgbClr val="3978C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One candidate, one score</a:t>
            </a:r>
            <a:endParaRPr sz="1575" b="1">
              <a:solidFill>
                <a:srgbClr val="3978C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3048000" y="4457700"/>
            <a:ext cx="5095875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0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Six candidate tokens produce six relevance scores.</a:t>
            </a:r>
            <a:endParaRPr sz="1350" b="0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952500" y="4981575"/>
            <a:ext cx="2238375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1">
                <a:solidFill>
                  <a:srgbClr val="3978C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lang="en-US" sz="1575" b="1">
                <a:solidFill>
                  <a:srgbClr val="3978C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</a:t>
            </a:r>
            <a:r>
              <a:rPr lang="en-US" sz="1575" b="1">
                <a:solidFill>
                  <a:srgbClr val="3978C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hanging scores</a:t>
            </a:r>
            <a:endParaRPr lang="en-US" sz="1575" b="1">
              <a:solidFill>
                <a:srgbClr val="3978C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3048000" y="4962525"/>
            <a:ext cx="5095875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0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The </a:t>
            </a:r>
            <a:r>
              <a:rPr sz="1350" b="1">
                <a:solidFill>
                  <a:srgbClr val="111111"/>
                </a:solidFill>
                <a:latin typeface="Arial" panose="020B0604020202090204" pitchFamily="34" charset="0"/>
                <a:ea typeface="Arial" panose="020B0604020202090204"/>
                <a:cs typeface="Arial" panose="020B0604020202090204" pitchFamily="34" charset="0"/>
              </a:rPr>
              <a:t>scores change</a:t>
            </a:r>
            <a:r>
              <a:rPr sz="1350" b="0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when the sentence or the current token changes.</a:t>
            </a:r>
            <a:endParaRPr sz="1350" b="0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952500" y="5486400"/>
            <a:ext cx="2238375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1">
                <a:solidFill>
                  <a:srgbClr val="3978C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>
                <a:solidFill>
                  <a:srgbClr val="3978C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Larger means closer</a:t>
            </a:r>
            <a:endParaRPr sz="1575" b="1">
              <a:solidFill>
                <a:srgbClr val="3978C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3048000" y="5467350"/>
            <a:ext cx="5095875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0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 </a:t>
            </a:r>
            <a:r>
              <a:rPr sz="1350" b="1">
                <a:solidFill>
                  <a:srgbClr val="111111"/>
                </a:solidFill>
                <a:latin typeface="Arial" panose="020B0604020202090204" pitchFamily="34" charset="0"/>
                <a:ea typeface="Arial" panose="020B0604020202090204"/>
                <a:cs typeface="Arial" panose="020B0604020202090204" pitchFamily="34" charset="0"/>
              </a:rPr>
              <a:t>larger score</a:t>
            </a:r>
            <a:r>
              <a:rPr sz="1350" b="0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indicates a </a:t>
            </a:r>
            <a:r>
              <a:rPr sz="1350" b="1">
                <a:solidFill>
                  <a:srgbClr val="111111"/>
                </a:solidFill>
                <a:latin typeface="Arial" panose="020B0604020202090204" pitchFamily="34" charset="0"/>
                <a:ea typeface="Arial" panose="020B0604020202090204"/>
                <a:cs typeface="Arial" panose="020B0604020202090204" pitchFamily="34" charset="0"/>
              </a:rPr>
              <a:t>stronger </a:t>
            </a:r>
            <a:r>
              <a:rPr sz="1350" b="0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Query–Key match before normalization.</a:t>
            </a:r>
            <a:endParaRPr sz="1350" b="0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5" name="Picture 4" descr="query_key_similarity_clea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657350"/>
            <a:ext cx="9144000" cy="21336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" name="Rectangle 13"/>
          <p:cNvSpPr>
            <a:spLocks noGrp="1"/>
          </p:cNvSpPr>
          <p:nvPr/>
        </p:nvSpPr>
        <p:spPr>
          <a:xfrm>
            <a:off x="609600" y="180975"/>
            <a:ext cx="800100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475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475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Step 2: Softmax Attention Weights</a:t>
            </a:r>
            <a:endParaRPr sz="2475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04825" y="819150"/>
            <a:ext cx="8134350" cy="28575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504825" y="6477000"/>
            <a:ext cx="8134350" cy="19050"/>
          </a:xfrm>
          <a:prstGeom prst="rect">
            <a:avLst/>
          </a:prstGeom>
          <a:solidFill>
            <a:srgbClr val="555555"/>
          </a:solidFill>
          <a:ln w="0">
            <a:solidFill>
              <a:srgbClr val="555555"/>
            </a:solidFill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685800" y="933450"/>
            <a:ext cx="77724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5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Softmax turns arbitrary relevance scores into usable weights.</a:t>
            </a:r>
            <a:endParaRPr sz="1500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2087593"/>
            <a:ext cx="7886700" cy="1320739"/>
          </a:xfrm>
          <a:prstGeom prst="rect">
            <a:avLst/>
          </a:prstGeom>
        </p:spPr>
      </p:pic>
      <p:sp>
        <p:nvSpPr>
          <p:cNvPr id="8" name="Rectangle 7"/>
          <p:cNvSpPr>
            <a:spLocks noGrp="1"/>
          </p:cNvSpPr>
          <p:nvPr/>
        </p:nvSpPr>
        <p:spPr>
          <a:xfrm>
            <a:off x="952500" y="4343400"/>
            <a:ext cx="2238375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575" b="1">
                <a:solidFill>
                  <a:srgbClr val="3978C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>
                <a:solidFill>
                  <a:srgbClr val="3978C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Positive weights</a:t>
            </a:r>
            <a:endParaRPr sz="1575" b="1">
              <a:solidFill>
                <a:srgbClr val="3978C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3048000" y="4324350"/>
            <a:ext cx="5095875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350" b="0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0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Every candidate receives a </a:t>
            </a:r>
            <a:r>
              <a:rPr sz="1350" b="1">
                <a:solidFill>
                  <a:srgbClr val="111111"/>
                </a:solidFill>
                <a:latin typeface="Arial" panose="020B0604020202090204" pitchFamily="34" charset="0"/>
                <a:ea typeface="Arial" panose="020B0604020202090204"/>
                <a:cs typeface="Arial" panose="020B0604020202090204" pitchFamily="34" charset="0"/>
              </a:rPr>
              <a:t>weight greater than zero</a:t>
            </a:r>
            <a:r>
              <a:rPr sz="1350" b="0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.</a:t>
            </a:r>
            <a:endParaRPr sz="1350" b="0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952500" y="4848225"/>
            <a:ext cx="2238375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575" b="1">
                <a:solidFill>
                  <a:srgbClr val="3978C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>
                <a:solidFill>
                  <a:srgbClr val="3978C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Sum equals 1</a:t>
            </a:r>
            <a:endParaRPr sz="1575" b="1">
              <a:solidFill>
                <a:srgbClr val="3978C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3048000" y="4829175"/>
            <a:ext cx="5095875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350" b="0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0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The weights form a </a:t>
            </a:r>
            <a:r>
              <a:rPr sz="1350" b="1">
                <a:solidFill>
                  <a:srgbClr val="111111"/>
                </a:solidFill>
                <a:latin typeface="Arial" panose="020B0604020202090204" pitchFamily="34" charset="0"/>
                <a:ea typeface="Arial" panose="020B0604020202090204"/>
                <a:cs typeface="Arial" panose="020B0604020202090204" pitchFamily="34" charset="0"/>
              </a:rPr>
              <a:t>distribution </a:t>
            </a:r>
            <a:r>
              <a:rPr sz="1350" b="0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over candidate tokens.</a:t>
            </a:r>
            <a:endParaRPr sz="1350" b="0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952500" y="5353050"/>
            <a:ext cx="2238375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575" b="1">
                <a:solidFill>
                  <a:srgbClr val="3978C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>
                <a:solidFill>
                  <a:srgbClr val="3978C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Relative importance</a:t>
            </a:r>
            <a:endParaRPr sz="1575" b="1">
              <a:solidFill>
                <a:srgbClr val="3978C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3048000" y="5334000"/>
            <a:ext cx="5095875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350" b="0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0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 </a:t>
            </a:r>
            <a:r>
              <a:rPr sz="1350" b="1">
                <a:solidFill>
                  <a:srgbClr val="111111"/>
                </a:solidFill>
                <a:latin typeface="Arial" panose="020B0604020202090204" pitchFamily="34" charset="0"/>
                <a:ea typeface="Arial" panose="020B0604020202090204"/>
                <a:cs typeface="Arial" panose="020B0604020202090204" pitchFamily="34" charset="0"/>
              </a:rPr>
              <a:t>high score receives more weight</a:t>
            </a:r>
            <a:r>
              <a:rPr sz="1350" b="0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, but every score is considered together.</a:t>
            </a:r>
            <a:endParaRPr sz="1350" b="0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523875" y="1381125"/>
            <a:ext cx="8096250" cy="271462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graphicFrame>
        <p:nvGraphicFramePr>
          <p:cNvPr id="34" name="Chart"/>
          <p:cNvGraphicFramePr/>
          <p:nvPr/>
        </p:nvGraphicFramePr>
        <p:xfrm>
          <a:off x="876300" y="1428750"/>
          <a:ext cx="7334250" cy="1809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8" name="Rectangle 17"/>
          <p:cNvSpPr>
            <a:spLocks noGrp="1"/>
          </p:cNvSpPr>
          <p:nvPr/>
        </p:nvSpPr>
        <p:spPr>
          <a:xfrm>
            <a:off x="1000125" y="3333750"/>
            <a:ext cx="71437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875" b="1">
                <a:solidFill>
                  <a:srgbClr val="3978C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875" b="1">
                <a:solidFill>
                  <a:srgbClr val="3978C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αᵢ = Softmax(sᵢ) = exp(sᵢ) / Σexp(sⱼ)</a:t>
            </a:r>
            <a:r>
              <a:rPr lang="en-US" sz="1875" b="1">
                <a:solidFill>
                  <a:srgbClr val="3978C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, j=1...n</a:t>
            </a:r>
            <a:endParaRPr lang="en-US" sz="1875" b="1">
              <a:solidFill>
                <a:srgbClr val="3978C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762000" y="3762375"/>
            <a:ext cx="7620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0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 = [0.2, 1.5, 0.8, 0.1, 0.3, 0.6]    α ≈ [0.10, 0.37, 0.18, 0.09, 0.11, 0.15]</a:t>
            </a:r>
            <a:endParaRPr sz="120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" name="Rectangle 13"/>
          <p:cNvSpPr>
            <a:spLocks noGrp="1"/>
          </p:cNvSpPr>
          <p:nvPr/>
        </p:nvSpPr>
        <p:spPr>
          <a:xfrm>
            <a:off x="609600" y="180975"/>
            <a:ext cx="800100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475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475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Step 3: Weighted Sum of Values</a:t>
            </a:r>
            <a:endParaRPr sz="2475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04825" y="819150"/>
            <a:ext cx="8134350" cy="28575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504825" y="6477000"/>
            <a:ext cx="8134350" cy="19050"/>
          </a:xfrm>
          <a:prstGeom prst="rect">
            <a:avLst/>
          </a:prstGeom>
          <a:solidFill>
            <a:srgbClr val="555555"/>
          </a:solidFill>
          <a:ln w="0">
            <a:solidFill>
              <a:srgbClr val="555555"/>
            </a:solidFill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685800" y="933450"/>
            <a:ext cx="77724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Attention weights decide how much information to take from each Value.</a:t>
            </a:r>
            <a:endParaRPr sz="1500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550" y="1962150"/>
            <a:ext cx="7962900" cy="1647825"/>
          </a:xfrm>
          <a:prstGeom prst="rect">
            <a:avLst/>
          </a:prstGeom>
        </p:spPr>
      </p:pic>
      <p:sp>
        <p:nvSpPr>
          <p:cNvPr id="8" name="Rectangle 7"/>
          <p:cNvSpPr>
            <a:spLocks noGrp="1"/>
          </p:cNvSpPr>
          <p:nvPr/>
        </p:nvSpPr>
        <p:spPr>
          <a:xfrm>
            <a:off x="952500" y="4476750"/>
            <a:ext cx="2238375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1">
                <a:solidFill>
                  <a:srgbClr val="3978C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>
                <a:solidFill>
                  <a:srgbClr val="3978C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Scale</a:t>
            </a:r>
            <a:endParaRPr sz="1575" b="1">
              <a:solidFill>
                <a:srgbClr val="3978C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3048000" y="4457700"/>
            <a:ext cx="5095875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0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Each Value vector is </a:t>
            </a:r>
            <a:r>
              <a:rPr sz="1350" b="1">
                <a:solidFill>
                  <a:srgbClr val="111111"/>
                </a:solidFill>
                <a:latin typeface="Arial" panose="020B0604020202090204" pitchFamily="34" charset="0"/>
                <a:ea typeface="Arial" panose="020B0604020202090204"/>
                <a:cs typeface="Arial" panose="020B0604020202090204" pitchFamily="34" charset="0"/>
              </a:rPr>
              <a:t>multiplied </a:t>
            </a:r>
            <a:r>
              <a:rPr sz="1350" b="0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by its attention </a:t>
            </a:r>
            <a:r>
              <a:rPr sz="1350" b="1">
                <a:solidFill>
                  <a:srgbClr val="111111"/>
                </a:solidFill>
                <a:latin typeface="Arial" panose="020B0604020202090204" pitchFamily="34" charset="0"/>
                <a:ea typeface="Arial" panose="020B0604020202090204"/>
                <a:cs typeface="Arial" panose="020B0604020202090204" pitchFamily="34" charset="0"/>
              </a:rPr>
              <a:t>weight</a:t>
            </a:r>
            <a:r>
              <a:rPr sz="1350" b="0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.</a:t>
            </a:r>
            <a:endParaRPr sz="1350" b="0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952500" y="4981575"/>
            <a:ext cx="2238375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1">
                <a:solidFill>
                  <a:srgbClr val="3978C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>
                <a:solidFill>
                  <a:srgbClr val="3978C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Add</a:t>
            </a:r>
            <a:endParaRPr sz="1575" b="1">
              <a:solidFill>
                <a:srgbClr val="3978C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3048000" y="4962525"/>
            <a:ext cx="5095875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0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The weighted Value vectors are </a:t>
            </a:r>
            <a:r>
              <a:rPr sz="1350" b="1">
                <a:solidFill>
                  <a:srgbClr val="111111"/>
                </a:solidFill>
                <a:latin typeface="Arial" panose="020B0604020202090204" pitchFamily="34" charset="0"/>
                <a:ea typeface="Arial" panose="020B0604020202090204"/>
                <a:cs typeface="Arial" panose="020B0604020202090204" pitchFamily="34" charset="0"/>
              </a:rPr>
              <a:t>added element </a:t>
            </a:r>
            <a:r>
              <a:rPr sz="1350" b="0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by element.</a:t>
            </a:r>
            <a:endParaRPr sz="1350" b="0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952500" y="5486400"/>
            <a:ext cx="2238375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1">
                <a:solidFill>
                  <a:srgbClr val="3978C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lang="en-US" sz="1575" b="1">
                <a:solidFill>
                  <a:srgbClr val="3978C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The same</a:t>
            </a:r>
            <a:r>
              <a:rPr sz="1575" b="1">
                <a:solidFill>
                  <a:srgbClr val="3978C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output</a:t>
            </a:r>
            <a:r>
              <a:rPr lang="en-US" sz="1575" b="1">
                <a:solidFill>
                  <a:srgbClr val="3978C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shape</a:t>
            </a:r>
            <a:endParaRPr lang="en-US" sz="1575" b="1">
              <a:solidFill>
                <a:srgbClr val="3978C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3048000" y="5467350"/>
            <a:ext cx="5409565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0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The result has </a:t>
            </a:r>
            <a:r>
              <a:rPr sz="1350" b="1">
                <a:solidFill>
                  <a:srgbClr val="111111"/>
                </a:solidFill>
                <a:latin typeface="Arial" panose="020B0604020202090204" pitchFamily="34" charset="0"/>
                <a:ea typeface="Arial" panose="020B0604020202090204"/>
                <a:cs typeface="Arial" panose="020B0604020202090204" pitchFamily="34" charset="0"/>
              </a:rPr>
              <a:t>one vector per target token</a:t>
            </a:r>
            <a:r>
              <a:rPr sz="1350" b="0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and the Value feature dimension.</a:t>
            </a:r>
            <a:endParaRPr sz="1350" b="0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Rectangle 9"/>
          <p:cNvSpPr>
            <a:spLocks noGrp="1"/>
          </p:cNvSpPr>
          <p:nvPr/>
        </p:nvSpPr>
        <p:spPr>
          <a:xfrm>
            <a:off x="609600" y="180975"/>
            <a:ext cx="800100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475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475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Every Token Has Its Own Attention Distribution</a:t>
            </a:r>
            <a:endParaRPr sz="2475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04825" y="819150"/>
            <a:ext cx="8134350" cy="28575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504825" y="6477000"/>
            <a:ext cx="8134350" cy="19050"/>
          </a:xfrm>
          <a:prstGeom prst="rect">
            <a:avLst/>
          </a:prstGeom>
          <a:solidFill>
            <a:srgbClr val="555555"/>
          </a:solidFill>
          <a:ln w="0">
            <a:solidFill>
              <a:srgbClr val="555555"/>
            </a:solidFill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685800" y="933450"/>
            <a:ext cx="77724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The model repeats Compare, Normalize, and Gather for every Query token.</a:t>
            </a:r>
            <a:endParaRPr sz="1500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graphicFrame>
        <p:nvGraphicFramePr>
          <p:cNvPr id="16" name="Table 15"/>
          <p:cNvGraphicFramePr/>
          <p:nvPr/>
        </p:nvGraphicFramePr>
        <p:xfrm>
          <a:off x="1143000" y="1543050"/>
          <a:ext cx="6858000" cy="3333750"/>
        </p:xfrm>
        <a:graphic>
          <a:graphicData uri="http://schemas.openxmlformats.org/drawingml/2006/table">
            <a:tbl>
              <a:tblPr/>
              <a:tblGrid>
                <a:gridCol w="1257300"/>
                <a:gridCol w="933450"/>
                <a:gridCol w="933450"/>
                <a:gridCol w="933450"/>
                <a:gridCol w="933450"/>
                <a:gridCol w="933450"/>
                <a:gridCol w="933450"/>
              </a:tblGrid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Query / Key</a:t>
                      </a:r>
                      <a:endParaRPr sz="1200" b="1">
                        <a:solidFill>
                          <a:srgbClr val="FFFFFF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3978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The</a:t>
                      </a:r>
                      <a:endParaRPr sz="1200" b="1">
                        <a:solidFill>
                          <a:srgbClr val="FFFFFF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3978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cat</a:t>
                      </a:r>
                      <a:endParaRPr sz="1200" b="1">
                        <a:solidFill>
                          <a:srgbClr val="FFFFFF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3978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sat</a:t>
                      </a:r>
                      <a:endParaRPr sz="1200" b="1">
                        <a:solidFill>
                          <a:srgbClr val="FFFFFF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3978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on</a:t>
                      </a:r>
                      <a:endParaRPr sz="1200" b="1">
                        <a:solidFill>
                          <a:srgbClr val="FFFFFF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3978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the</a:t>
                      </a:r>
                      <a:endParaRPr sz="1200" b="1">
                        <a:solidFill>
                          <a:srgbClr val="FFFFFF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3978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mat</a:t>
                      </a:r>
                      <a:endParaRPr sz="1200" b="1">
                        <a:solidFill>
                          <a:srgbClr val="FFFFFF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3978C9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11111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The</a:t>
                      </a:r>
                      <a:endParaRPr sz="1200" b="1">
                        <a:solidFill>
                          <a:srgbClr val="111111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11111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0.38</a:t>
                      </a:r>
                      <a:endParaRPr sz="1200" b="1">
                        <a:solidFill>
                          <a:srgbClr val="111111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solidFill>
                      <a:srgbClr val="F6B3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11111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0.12</a:t>
                      </a:r>
                      <a:endParaRPr sz="1200" b="0">
                        <a:solidFill>
                          <a:srgbClr val="111111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11111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0.16</a:t>
                      </a:r>
                      <a:endParaRPr sz="1200" b="0">
                        <a:solidFill>
                          <a:srgbClr val="111111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solidFill>
                      <a:srgbClr val="D8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11111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0.08</a:t>
                      </a:r>
                      <a:endParaRPr sz="1200" b="0">
                        <a:solidFill>
                          <a:srgbClr val="111111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11111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0.10</a:t>
                      </a:r>
                      <a:endParaRPr sz="1200" b="0">
                        <a:solidFill>
                          <a:srgbClr val="111111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11111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0.16</a:t>
                      </a:r>
                      <a:endParaRPr sz="1200" b="0">
                        <a:solidFill>
                          <a:srgbClr val="111111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solidFill>
                      <a:srgbClr val="D8E8FA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11111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cat</a:t>
                      </a:r>
                      <a:endParaRPr sz="1200" b="1">
                        <a:solidFill>
                          <a:srgbClr val="111111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11111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0.06</a:t>
                      </a:r>
                      <a:endParaRPr sz="1200" b="0">
                        <a:solidFill>
                          <a:srgbClr val="111111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11111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0.45</a:t>
                      </a:r>
                      <a:endParaRPr sz="1200" b="1">
                        <a:solidFill>
                          <a:srgbClr val="111111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solidFill>
                      <a:srgbClr val="F6B3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11111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0.24</a:t>
                      </a:r>
                      <a:endParaRPr sz="1200" b="0">
                        <a:solidFill>
                          <a:srgbClr val="111111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solidFill>
                      <a:srgbClr val="FAD7B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11111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0.03</a:t>
                      </a:r>
                      <a:endParaRPr sz="1200" b="0">
                        <a:solidFill>
                          <a:srgbClr val="111111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11111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0.09</a:t>
                      </a:r>
                      <a:endParaRPr sz="1200" b="0">
                        <a:solidFill>
                          <a:srgbClr val="111111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11111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0.13</a:t>
                      </a:r>
                      <a:endParaRPr sz="1200" b="0">
                        <a:solidFill>
                          <a:srgbClr val="111111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solidFill>
                      <a:srgbClr val="F3F7FC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11111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sat</a:t>
                      </a:r>
                      <a:endParaRPr sz="1200" b="1">
                        <a:solidFill>
                          <a:srgbClr val="111111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11111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0.05</a:t>
                      </a:r>
                      <a:endParaRPr sz="1200" b="0">
                        <a:solidFill>
                          <a:srgbClr val="111111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11111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0.28</a:t>
                      </a:r>
                      <a:endParaRPr sz="1200" b="0">
                        <a:solidFill>
                          <a:srgbClr val="111111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solidFill>
                      <a:srgbClr val="FAD7B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11111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0.34</a:t>
                      </a:r>
                      <a:endParaRPr sz="1200" b="1">
                        <a:solidFill>
                          <a:srgbClr val="111111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solidFill>
                      <a:srgbClr val="F6B3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11111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0.08</a:t>
                      </a:r>
                      <a:endParaRPr sz="1200" b="0">
                        <a:solidFill>
                          <a:srgbClr val="111111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11111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0.09</a:t>
                      </a:r>
                      <a:endParaRPr sz="1200" b="0">
                        <a:solidFill>
                          <a:srgbClr val="111111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11111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0.16</a:t>
                      </a:r>
                      <a:endParaRPr sz="1200" b="0">
                        <a:solidFill>
                          <a:srgbClr val="111111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solidFill>
                      <a:srgbClr val="D8E8FA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11111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on</a:t>
                      </a:r>
                      <a:endParaRPr sz="1200" b="1">
                        <a:solidFill>
                          <a:srgbClr val="111111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11111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0.09</a:t>
                      </a:r>
                      <a:endParaRPr sz="1200" b="0">
                        <a:solidFill>
                          <a:srgbClr val="111111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11111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0.07</a:t>
                      </a:r>
                      <a:endParaRPr sz="1200" b="0">
                        <a:solidFill>
                          <a:srgbClr val="111111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11111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0.12</a:t>
                      </a:r>
                      <a:endParaRPr sz="1200" b="0">
                        <a:solidFill>
                          <a:srgbClr val="111111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11111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0.27</a:t>
                      </a:r>
                      <a:endParaRPr sz="1200" b="0">
                        <a:solidFill>
                          <a:srgbClr val="111111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solidFill>
                      <a:srgbClr val="FAD7B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11111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0.18</a:t>
                      </a:r>
                      <a:endParaRPr sz="1200" b="0">
                        <a:solidFill>
                          <a:srgbClr val="111111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solidFill>
                      <a:srgbClr val="D8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11111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0.27</a:t>
                      </a:r>
                      <a:endParaRPr sz="1200" b="0">
                        <a:solidFill>
                          <a:srgbClr val="111111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solidFill>
                      <a:srgbClr val="FAD7B1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11111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the</a:t>
                      </a:r>
                      <a:endParaRPr sz="1200" b="1">
                        <a:solidFill>
                          <a:srgbClr val="111111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11111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0.13</a:t>
                      </a:r>
                      <a:endParaRPr sz="1200" b="0">
                        <a:solidFill>
                          <a:srgbClr val="111111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11111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0.12</a:t>
                      </a:r>
                      <a:endParaRPr sz="1200" b="0">
                        <a:solidFill>
                          <a:srgbClr val="111111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11111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0.10</a:t>
                      </a:r>
                      <a:endParaRPr sz="1200" b="0">
                        <a:solidFill>
                          <a:srgbClr val="111111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11111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0.16</a:t>
                      </a:r>
                      <a:endParaRPr sz="1200" b="0">
                        <a:solidFill>
                          <a:srgbClr val="111111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solidFill>
                      <a:srgbClr val="D8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11111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0.31</a:t>
                      </a:r>
                      <a:endParaRPr sz="1200" b="0">
                        <a:solidFill>
                          <a:srgbClr val="111111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solidFill>
                      <a:srgbClr val="FAD7B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11111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0.18</a:t>
                      </a:r>
                      <a:endParaRPr sz="1200" b="0">
                        <a:solidFill>
                          <a:srgbClr val="111111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solidFill>
                      <a:srgbClr val="D8E8FA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11111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mat</a:t>
                      </a:r>
                      <a:endParaRPr sz="1200" b="1">
                        <a:solidFill>
                          <a:srgbClr val="111111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11111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0.07</a:t>
                      </a:r>
                      <a:endParaRPr sz="1200" b="0">
                        <a:solidFill>
                          <a:srgbClr val="111111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11111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0.14</a:t>
                      </a:r>
                      <a:endParaRPr sz="1200" b="0">
                        <a:solidFill>
                          <a:srgbClr val="111111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solidFill>
                      <a:srgbClr val="D8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11111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0.17</a:t>
                      </a:r>
                      <a:endParaRPr sz="1200" b="0">
                        <a:solidFill>
                          <a:srgbClr val="111111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solidFill>
                      <a:srgbClr val="D8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11111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0.14</a:t>
                      </a:r>
                      <a:endParaRPr sz="1200" b="0">
                        <a:solidFill>
                          <a:srgbClr val="111111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solidFill>
                      <a:srgbClr val="D8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11111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0.13</a:t>
                      </a:r>
                      <a:endParaRPr sz="1200" b="0">
                        <a:solidFill>
                          <a:srgbClr val="111111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11111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0.35</a:t>
                      </a:r>
                      <a:endParaRPr sz="1200" b="1">
                        <a:solidFill>
                          <a:srgbClr val="111111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>
                    <a:solidFill>
                      <a:srgbClr val="F6B36E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>
            <a:spLocks noGrp="1"/>
          </p:cNvSpPr>
          <p:nvPr/>
        </p:nvSpPr>
        <p:spPr>
          <a:xfrm>
            <a:off x="1190625" y="5162550"/>
            <a:ext cx="67627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500" b="1">
                <a:solidFill>
                  <a:srgbClr val="3978C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3978C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Each row sums to 1 and produces one contextual output token.</a:t>
            </a:r>
            <a:endParaRPr sz="1500" b="1">
              <a:solidFill>
                <a:srgbClr val="3978C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1905000" y="5629275"/>
            <a:ext cx="5334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75" b="0">
                <a:solidFill>
                  <a:srgbClr val="58585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0">
                <a:solidFill>
                  <a:srgbClr val="58585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Rows are Queries. Columns are Keys.</a:t>
            </a:r>
            <a:endParaRPr sz="1275" b="0">
              <a:solidFill>
                <a:srgbClr val="58585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" name="Rectangle 29"/>
          <p:cNvSpPr>
            <a:spLocks noGrp="1"/>
          </p:cNvSpPr>
          <p:nvPr/>
        </p:nvSpPr>
        <p:spPr>
          <a:xfrm>
            <a:off x="609600" y="180975"/>
            <a:ext cx="800100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475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475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What Changes After Attention?</a:t>
            </a:r>
            <a:endParaRPr sz="2475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04825" y="819150"/>
            <a:ext cx="8134350" cy="28575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504825" y="6477000"/>
            <a:ext cx="8134350" cy="19050"/>
          </a:xfrm>
          <a:prstGeom prst="rect">
            <a:avLst/>
          </a:prstGeom>
          <a:solidFill>
            <a:srgbClr val="555555"/>
          </a:solidFill>
          <a:ln w="0">
            <a:solidFill>
              <a:srgbClr val="555555"/>
            </a:solidFill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685800" y="933450"/>
            <a:ext cx="77724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Attention preserves the sequence length but changes the meaning carried by each token vector.</a:t>
            </a:r>
            <a:endParaRPr sz="1500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952500" y="1476375"/>
            <a:ext cx="1714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575" b="1">
                <a:solidFill>
                  <a:srgbClr val="3978C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>
                <a:solidFill>
                  <a:srgbClr val="3978C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Input tokens</a:t>
            </a:r>
            <a:endParaRPr sz="1575" b="1">
              <a:solidFill>
                <a:srgbClr val="3978C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Rounded Rectangle 7"/>
          <p:cNvSpPr>
            <a:spLocks noGrp="1"/>
          </p:cNvSpPr>
          <p:nvPr/>
        </p:nvSpPr>
        <p:spPr>
          <a:xfrm>
            <a:off x="952500" y="1952625"/>
            <a:ext cx="1714500" cy="1524000"/>
          </a:xfrm>
          <a:prstGeom prst="roundRect">
            <a:avLst>
              <a:gd name="adj" fmla="val 5000"/>
            </a:avLst>
          </a:prstGeom>
          <a:solidFill>
            <a:srgbClr val="EAF2FC"/>
          </a:solidFill>
          <a:ln w="9525">
            <a:solidFill>
              <a:srgbClr val="7D7D7D"/>
            </a:solidFill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1181100" y="2162175"/>
            <a:ext cx="1257300" cy="152400"/>
          </a:xfrm>
          <a:prstGeom prst="rect">
            <a:avLst/>
          </a:prstGeom>
          <a:solidFill>
            <a:srgbClr val="D8E9FB"/>
          </a:solidFill>
          <a:ln w="7620">
            <a:solidFill>
              <a:srgbClr val="78A1CC"/>
            </a:solidFill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1181100" y="2400300"/>
            <a:ext cx="1257300" cy="152400"/>
          </a:xfrm>
          <a:prstGeom prst="rect">
            <a:avLst/>
          </a:prstGeom>
          <a:solidFill>
            <a:srgbClr val="D8E9FB"/>
          </a:solidFill>
          <a:ln w="7620">
            <a:solidFill>
              <a:srgbClr val="78A1CC"/>
            </a:solidFill>
          </a:ln>
        </p:spPr>
      </p:sp>
      <p:sp>
        <p:nvSpPr>
          <p:cNvPr id="11" name="Rectangle 10"/>
          <p:cNvSpPr>
            <a:spLocks noGrp="1"/>
          </p:cNvSpPr>
          <p:nvPr/>
        </p:nvSpPr>
        <p:spPr>
          <a:xfrm>
            <a:off x="1181100" y="2638425"/>
            <a:ext cx="1257300" cy="152400"/>
          </a:xfrm>
          <a:prstGeom prst="rect">
            <a:avLst/>
          </a:prstGeom>
          <a:solidFill>
            <a:srgbClr val="D8E9FB"/>
          </a:solidFill>
          <a:ln w="7620">
            <a:solidFill>
              <a:srgbClr val="78A1CC"/>
            </a:solidFill>
          </a:ln>
        </p:spPr>
      </p:sp>
      <p:sp>
        <p:nvSpPr>
          <p:cNvPr id="12" name="Rectangle 11"/>
          <p:cNvSpPr>
            <a:spLocks noGrp="1"/>
          </p:cNvSpPr>
          <p:nvPr/>
        </p:nvSpPr>
        <p:spPr>
          <a:xfrm>
            <a:off x="1181100" y="2876550"/>
            <a:ext cx="1257300" cy="152400"/>
          </a:xfrm>
          <a:prstGeom prst="rect">
            <a:avLst/>
          </a:prstGeom>
          <a:solidFill>
            <a:srgbClr val="D8E9FB"/>
          </a:solidFill>
          <a:ln w="7620">
            <a:solidFill>
              <a:srgbClr val="78A1CC"/>
            </a:solidFill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1181100" y="3114675"/>
            <a:ext cx="1257300" cy="152400"/>
          </a:xfrm>
          <a:prstGeom prst="rect">
            <a:avLst/>
          </a:prstGeom>
          <a:solidFill>
            <a:srgbClr val="D8E9FB"/>
          </a:solidFill>
          <a:ln w="7620">
            <a:solidFill>
              <a:srgbClr val="78A1CC"/>
            </a:solidFill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2933700" y="2447925"/>
            <a:ext cx="5143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325" b="1">
                <a:solidFill>
                  <a:srgbClr val="3978C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325" b="1">
                <a:solidFill>
                  <a:srgbClr val="3978C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→</a:t>
            </a:r>
            <a:endParaRPr sz="2325" b="1">
              <a:solidFill>
                <a:srgbClr val="3978C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3714750" y="1476375"/>
            <a:ext cx="1714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575" b="1">
                <a:solidFill>
                  <a:srgbClr val="F39A3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>
                <a:solidFill>
                  <a:srgbClr val="F39A3C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Self-Attention</a:t>
            </a:r>
            <a:endParaRPr sz="1575" b="1">
              <a:solidFill>
                <a:srgbClr val="F39A3C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" name="Rounded Rectangle 15"/>
          <p:cNvSpPr>
            <a:spLocks noGrp="1"/>
          </p:cNvSpPr>
          <p:nvPr/>
        </p:nvSpPr>
        <p:spPr>
          <a:xfrm>
            <a:off x="3714750" y="1952625"/>
            <a:ext cx="1714500" cy="1524000"/>
          </a:xfrm>
          <a:prstGeom prst="roundRect">
            <a:avLst>
              <a:gd name="adj" fmla="val 5000"/>
            </a:avLst>
          </a:prstGeom>
          <a:solidFill>
            <a:srgbClr val="FFF0DF"/>
          </a:solidFill>
          <a:ln w="9525">
            <a:solidFill>
              <a:srgbClr val="7D7D7D"/>
            </a:solidFill>
          </a:ln>
        </p:spPr>
      </p:sp>
      <p:sp>
        <p:nvSpPr>
          <p:cNvPr id="17" name="Rectangle 16"/>
          <p:cNvSpPr>
            <a:spLocks noGrp="1"/>
          </p:cNvSpPr>
          <p:nvPr/>
        </p:nvSpPr>
        <p:spPr>
          <a:xfrm>
            <a:off x="3857625" y="2238375"/>
            <a:ext cx="1428750" cy="904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Every token gathers</a:t>
            </a:r>
            <a:endParaRPr sz="1350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defRPr sz="135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weighted information</a:t>
            </a:r>
            <a:endParaRPr sz="1350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defRPr sz="135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from the sequence</a:t>
            </a:r>
            <a:endParaRPr sz="1350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8" name="Rectangle 17"/>
          <p:cNvSpPr>
            <a:spLocks noGrp="1"/>
          </p:cNvSpPr>
          <p:nvPr/>
        </p:nvSpPr>
        <p:spPr>
          <a:xfrm>
            <a:off x="5695950" y="2447925"/>
            <a:ext cx="5143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325" b="1">
                <a:solidFill>
                  <a:srgbClr val="3978C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325" b="1">
                <a:solidFill>
                  <a:srgbClr val="3978C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→</a:t>
            </a:r>
            <a:endParaRPr sz="2325" b="1">
              <a:solidFill>
                <a:srgbClr val="3978C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6477000" y="1476375"/>
            <a:ext cx="1714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575" b="1">
                <a:solidFill>
                  <a:srgbClr val="3978C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>
                <a:solidFill>
                  <a:srgbClr val="3978C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Contextual tokens</a:t>
            </a:r>
            <a:endParaRPr sz="1575" b="1">
              <a:solidFill>
                <a:srgbClr val="3978C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0" name="Rounded Rectangle 19"/>
          <p:cNvSpPr>
            <a:spLocks noGrp="1"/>
          </p:cNvSpPr>
          <p:nvPr/>
        </p:nvSpPr>
        <p:spPr>
          <a:xfrm>
            <a:off x="6477000" y="1952625"/>
            <a:ext cx="1714500" cy="1524000"/>
          </a:xfrm>
          <a:prstGeom prst="roundRect">
            <a:avLst>
              <a:gd name="adj" fmla="val 5000"/>
            </a:avLst>
          </a:prstGeom>
          <a:solidFill>
            <a:srgbClr val="EAF2FC"/>
          </a:solidFill>
          <a:ln w="9525">
            <a:solidFill>
              <a:srgbClr val="7D7D7D"/>
            </a:solidFill>
          </a:ln>
        </p:spPr>
      </p:sp>
      <p:sp>
        <p:nvSpPr>
          <p:cNvPr id="21" name="Rectangle 20"/>
          <p:cNvSpPr>
            <a:spLocks noGrp="1"/>
          </p:cNvSpPr>
          <p:nvPr/>
        </p:nvSpPr>
        <p:spPr>
          <a:xfrm>
            <a:off x="6705600" y="2162175"/>
            <a:ext cx="1257300" cy="152400"/>
          </a:xfrm>
          <a:prstGeom prst="rect">
            <a:avLst/>
          </a:prstGeom>
          <a:solidFill>
            <a:srgbClr val="8DBBEF"/>
          </a:solidFill>
          <a:ln w="7620">
            <a:solidFill>
              <a:srgbClr val="78A1CC"/>
            </a:solidFill>
          </a:ln>
        </p:spPr>
      </p:sp>
      <p:sp>
        <p:nvSpPr>
          <p:cNvPr id="22" name="Rectangle 21"/>
          <p:cNvSpPr>
            <a:spLocks noGrp="1"/>
          </p:cNvSpPr>
          <p:nvPr/>
        </p:nvSpPr>
        <p:spPr>
          <a:xfrm>
            <a:off x="6705600" y="2400300"/>
            <a:ext cx="1257300" cy="152400"/>
          </a:xfrm>
          <a:prstGeom prst="rect">
            <a:avLst/>
          </a:prstGeom>
          <a:solidFill>
            <a:srgbClr val="F5B36D"/>
          </a:solidFill>
          <a:ln w="7620">
            <a:solidFill>
              <a:srgbClr val="78A1CC"/>
            </a:solidFill>
          </a:ln>
        </p:spPr>
      </p:sp>
      <p:sp>
        <p:nvSpPr>
          <p:cNvPr id="23" name="Rectangle 22"/>
          <p:cNvSpPr>
            <a:spLocks noGrp="1"/>
          </p:cNvSpPr>
          <p:nvPr/>
        </p:nvSpPr>
        <p:spPr>
          <a:xfrm>
            <a:off x="6705600" y="2638425"/>
            <a:ext cx="1257300" cy="152400"/>
          </a:xfrm>
          <a:prstGeom prst="rect">
            <a:avLst/>
          </a:prstGeom>
          <a:solidFill>
            <a:srgbClr val="8DBBEF"/>
          </a:solidFill>
          <a:ln w="7620">
            <a:solidFill>
              <a:srgbClr val="78A1CC"/>
            </a:solidFill>
          </a:ln>
        </p:spPr>
      </p:sp>
      <p:sp>
        <p:nvSpPr>
          <p:cNvPr id="24" name="Rectangle 23"/>
          <p:cNvSpPr>
            <a:spLocks noGrp="1"/>
          </p:cNvSpPr>
          <p:nvPr/>
        </p:nvSpPr>
        <p:spPr>
          <a:xfrm>
            <a:off x="6705600" y="2876550"/>
            <a:ext cx="1257300" cy="152400"/>
          </a:xfrm>
          <a:prstGeom prst="rect">
            <a:avLst/>
          </a:prstGeom>
          <a:solidFill>
            <a:srgbClr val="F5B36D"/>
          </a:solidFill>
          <a:ln w="7620">
            <a:solidFill>
              <a:srgbClr val="78A1CC"/>
            </a:solidFill>
          </a:ln>
        </p:spPr>
      </p:sp>
      <p:sp>
        <p:nvSpPr>
          <p:cNvPr id="25" name="Rectangle 24"/>
          <p:cNvSpPr>
            <a:spLocks noGrp="1"/>
          </p:cNvSpPr>
          <p:nvPr/>
        </p:nvSpPr>
        <p:spPr>
          <a:xfrm>
            <a:off x="6705600" y="3114675"/>
            <a:ext cx="1257300" cy="152400"/>
          </a:xfrm>
          <a:prstGeom prst="rect">
            <a:avLst/>
          </a:prstGeom>
          <a:solidFill>
            <a:srgbClr val="8DBBEF"/>
          </a:solidFill>
          <a:ln w="7620">
            <a:solidFill>
              <a:srgbClr val="78A1CC"/>
            </a:solidFill>
          </a:ln>
        </p:spPr>
      </p:sp>
      <p:sp>
        <p:nvSpPr>
          <p:cNvPr id="26" name="Rectangle 25"/>
          <p:cNvSpPr>
            <a:spLocks noGrp="1"/>
          </p:cNvSpPr>
          <p:nvPr/>
        </p:nvSpPr>
        <p:spPr>
          <a:xfrm>
            <a:off x="1047750" y="390525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425" b="1">
                <a:solidFill>
                  <a:srgbClr val="3978C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1">
                <a:solidFill>
                  <a:srgbClr val="3978C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Same number of tokens</a:t>
            </a:r>
            <a:endParaRPr sz="1425" b="1">
              <a:solidFill>
                <a:srgbClr val="3978C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7" name="Rectangle 26"/>
          <p:cNvSpPr>
            <a:spLocks noGrp="1"/>
          </p:cNvSpPr>
          <p:nvPr/>
        </p:nvSpPr>
        <p:spPr>
          <a:xfrm>
            <a:off x="3381375" y="3905250"/>
            <a:ext cx="2857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425" b="1">
                <a:solidFill>
                  <a:srgbClr val="3978C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1">
                <a:solidFill>
                  <a:srgbClr val="3978C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Same output dimension per token</a:t>
            </a:r>
            <a:endParaRPr sz="1425" b="1">
              <a:solidFill>
                <a:srgbClr val="3978C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8" name="Rectangle 27"/>
          <p:cNvSpPr>
            <a:spLocks noGrp="1"/>
          </p:cNvSpPr>
          <p:nvPr/>
        </p:nvSpPr>
        <p:spPr>
          <a:xfrm>
            <a:off x="5953125" y="3905250"/>
            <a:ext cx="2381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425" b="1">
                <a:solidFill>
                  <a:srgbClr val="3978C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1">
                <a:solidFill>
                  <a:srgbClr val="3978C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Different contextual representation</a:t>
            </a:r>
            <a:endParaRPr sz="1425" b="1">
              <a:solidFill>
                <a:srgbClr val="3978C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9" name="Rectangle 28"/>
          <p:cNvSpPr>
            <a:spLocks noGrp="1"/>
          </p:cNvSpPr>
          <p:nvPr/>
        </p:nvSpPr>
        <p:spPr>
          <a:xfrm>
            <a:off x="952500" y="5095875"/>
            <a:ext cx="72390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5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Attention updates what each token represents. It does not automatically reduce the sequence length.</a:t>
            </a:r>
            <a:endParaRPr sz="1500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Rectangle 8"/>
          <p:cNvSpPr>
            <a:spLocks noGrp="1"/>
          </p:cNvSpPr>
          <p:nvPr/>
        </p:nvSpPr>
        <p:spPr>
          <a:xfrm>
            <a:off x="609600" y="180975"/>
            <a:ext cx="800100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475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475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Transformer Layer</a:t>
            </a:r>
            <a:r>
              <a:rPr lang="en-US" sz="2475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Overview</a:t>
            </a:r>
            <a:endParaRPr lang="en-US" sz="2475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04825" y="819150"/>
            <a:ext cx="8134350" cy="28575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504825" y="6477000"/>
            <a:ext cx="8134350" cy="19050"/>
          </a:xfrm>
          <a:prstGeom prst="rect">
            <a:avLst/>
          </a:prstGeom>
          <a:solidFill>
            <a:srgbClr val="555555"/>
          </a:solidFill>
          <a:ln w="0">
            <a:solidFill>
              <a:srgbClr val="555555"/>
            </a:solidFill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685800" y="933450"/>
            <a:ext cx="77724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 Transformer layer contains two main sublayers and two residual updates.</a:t>
            </a:r>
            <a:endParaRPr sz="1500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4375" y="1477007"/>
            <a:ext cx="7715250" cy="4342135"/>
          </a:xfrm>
          <a:prstGeom prst="rect">
            <a:avLst/>
          </a:prstGeom>
        </p:spPr>
      </p:pic>
      <p:sp>
        <p:nvSpPr>
          <p:cNvPr id="8" name="Rectangle 7"/>
          <p:cNvSpPr>
            <a:spLocks noGrp="1"/>
          </p:cNvSpPr>
          <p:nvPr/>
        </p:nvSpPr>
        <p:spPr>
          <a:xfrm>
            <a:off x="857250" y="5924550"/>
            <a:ext cx="74295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425" b="1">
                <a:solidFill>
                  <a:srgbClr val="3978C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1">
                <a:solidFill>
                  <a:srgbClr val="3978C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Attention mixes information across tokens. The MLP transforms features inside each token.</a:t>
            </a:r>
            <a:endParaRPr sz="1425" b="1">
              <a:solidFill>
                <a:srgbClr val="3978C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Rectangle 8"/>
          <p:cNvSpPr>
            <a:spLocks noGrp="1"/>
          </p:cNvSpPr>
          <p:nvPr/>
        </p:nvSpPr>
        <p:spPr>
          <a:xfrm>
            <a:off x="609600" y="180975"/>
            <a:ext cx="800100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475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475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Layer Normalization</a:t>
            </a:r>
            <a:endParaRPr sz="2475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04825" y="819150"/>
            <a:ext cx="8134350" cy="28575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504825" y="6477000"/>
            <a:ext cx="8134350" cy="19050"/>
          </a:xfrm>
          <a:prstGeom prst="rect">
            <a:avLst/>
          </a:prstGeom>
          <a:solidFill>
            <a:srgbClr val="555555"/>
          </a:solidFill>
          <a:ln w="0">
            <a:solidFill>
              <a:srgbClr val="555555"/>
            </a:solidFill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685800" y="933450"/>
            <a:ext cx="77724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LayerNorm stabilizes the feature scale of each token before a sublayer.</a:t>
            </a:r>
            <a:endParaRPr sz="1500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949" y="1381125"/>
            <a:ext cx="7582102" cy="4267200"/>
          </a:xfrm>
          <a:prstGeom prst="rect">
            <a:avLst/>
          </a:prstGeom>
        </p:spPr>
      </p:pic>
      <p:sp>
        <p:nvSpPr>
          <p:cNvPr id="8" name="Rectangle 7"/>
          <p:cNvSpPr>
            <a:spLocks noGrp="1"/>
          </p:cNvSpPr>
          <p:nvPr/>
        </p:nvSpPr>
        <p:spPr>
          <a:xfrm>
            <a:off x="904875" y="5810250"/>
            <a:ext cx="73342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425" b="1">
                <a:solidFill>
                  <a:srgbClr val="3978C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1">
                <a:solidFill>
                  <a:srgbClr val="3978C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LayerNorm changes feature values, not the number of tokens or the feature dimension.</a:t>
            </a:r>
            <a:endParaRPr sz="1425" b="1">
              <a:solidFill>
                <a:srgbClr val="3978C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Rectangle 8"/>
          <p:cNvSpPr>
            <a:spLocks noGrp="1"/>
          </p:cNvSpPr>
          <p:nvPr/>
        </p:nvSpPr>
        <p:spPr>
          <a:xfrm>
            <a:off x="609600" y="180975"/>
            <a:ext cx="800100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475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475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Residual Connections</a:t>
            </a:r>
            <a:endParaRPr sz="2475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04825" y="819150"/>
            <a:ext cx="8134350" cy="28575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504825" y="6477000"/>
            <a:ext cx="8134350" cy="19050"/>
          </a:xfrm>
          <a:prstGeom prst="rect">
            <a:avLst/>
          </a:prstGeom>
          <a:solidFill>
            <a:srgbClr val="555555"/>
          </a:solidFill>
          <a:ln w="0">
            <a:solidFill>
              <a:srgbClr val="555555"/>
            </a:solidFill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685800" y="933450"/>
            <a:ext cx="77724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 residual path carries the input forward while the sublayer contributes an update.</a:t>
            </a:r>
            <a:endParaRPr sz="1500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335" y="1381125"/>
            <a:ext cx="7531329" cy="4238625"/>
          </a:xfrm>
          <a:prstGeom prst="rect">
            <a:avLst/>
          </a:prstGeom>
        </p:spPr>
      </p:pic>
      <p:sp>
        <p:nvSpPr>
          <p:cNvPr id="8" name="Rectangle 7"/>
          <p:cNvSpPr>
            <a:spLocks noGrp="1"/>
          </p:cNvSpPr>
          <p:nvPr/>
        </p:nvSpPr>
        <p:spPr>
          <a:xfrm>
            <a:off x="952500" y="5810250"/>
            <a:ext cx="7239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425" b="1">
                <a:solidFill>
                  <a:srgbClr val="3978C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1">
                <a:solidFill>
                  <a:srgbClr val="3978C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The output retains earlier information and adds the new result from attention or the MLP.</a:t>
            </a:r>
            <a:endParaRPr sz="1425" b="1">
              <a:solidFill>
                <a:srgbClr val="3978C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" name="Rectangle 36"/>
          <p:cNvSpPr>
            <a:spLocks noGrp="1"/>
          </p:cNvSpPr>
          <p:nvPr/>
        </p:nvSpPr>
        <p:spPr>
          <a:xfrm>
            <a:off x="609600" y="180975"/>
            <a:ext cx="800100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475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475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Complete Transformer Layer Data Flow</a:t>
            </a:r>
            <a:endParaRPr sz="2475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04825" y="819150"/>
            <a:ext cx="8134350" cy="28575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504825" y="6477000"/>
            <a:ext cx="8134350" cy="19050"/>
          </a:xfrm>
          <a:prstGeom prst="rect">
            <a:avLst/>
          </a:prstGeom>
          <a:solidFill>
            <a:srgbClr val="555555"/>
          </a:solidFill>
          <a:ln w="0">
            <a:solidFill>
              <a:srgbClr val="555555"/>
            </a:solidFill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685800" y="933450"/>
            <a:ext cx="77724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Follow one token sequence through a complete layer.</a:t>
            </a:r>
            <a:endParaRPr sz="1500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Oval 6"/>
          <p:cNvSpPr>
            <a:spLocks noGrp="1"/>
          </p:cNvSpPr>
          <p:nvPr/>
        </p:nvSpPr>
        <p:spPr>
          <a:xfrm>
            <a:off x="762000" y="1438275"/>
            <a:ext cx="457200" cy="457200"/>
          </a:xfrm>
          <a:prstGeom prst="ellipse">
            <a:avLst/>
          </a:prstGeom>
          <a:solidFill>
            <a:srgbClr val="3978C9"/>
          </a:solidFill>
          <a:ln w="9525">
            <a:solidFill>
              <a:srgbClr val="3978C9"/>
            </a:solidFill>
          </a:ln>
        </p:spPr>
      </p:sp>
      <p:sp>
        <p:nvSpPr>
          <p:cNvPr id="8" name="Rectangle 7"/>
          <p:cNvSpPr>
            <a:spLocks noGrp="1"/>
          </p:cNvSpPr>
          <p:nvPr/>
        </p:nvSpPr>
        <p:spPr>
          <a:xfrm>
            <a:off x="762000" y="143827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</a:t>
            </a:r>
            <a:endParaRPr sz="1425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1476375" y="1419225"/>
            <a:ext cx="2190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00" b="1">
                <a:solidFill>
                  <a:srgbClr val="3978C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3978C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Input tokens</a:t>
            </a:r>
            <a:endParaRPr sz="1500" b="1">
              <a:solidFill>
                <a:srgbClr val="3978C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3619500" y="1419225"/>
            <a:ext cx="45720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0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N tokens, each with D features</a:t>
            </a:r>
            <a:endParaRPr sz="1350" b="0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981075" y="1905000"/>
            <a:ext cx="19050" cy="228600"/>
          </a:xfrm>
          <a:prstGeom prst="rect">
            <a:avLst/>
          </a:prstGeom>
          <a:solidFill>
            <a:srgbClr val="AAAAAA"/>
          </a:solidFill>
          <a:ln w="0">
            <a:solidFill>
              <a:srgbClr val="AAAAAA"/>
            </a:solidFill>
          </a:ln>
        </p:spPr>
      </p:sp>
      <p:sp>
        <p:nvSpPr>
          <p:cNvPr id="12" name="Oval 11"/>
          <p:cNvSpPr>
            <a:spLocks noGrp="1"/>
          </p:cNvSpPr>
          <p:nvPr/>
        </p:nvSpPr>
        <p:spPr>
          <a:xfrm>
            <a:off x="762000" y="2152650"/>
            <a:ext cx="457200" cy="457200"/>
          </a:xfrm>
          <a:prstGeom prst="ellipse">
            <a:avLst/>
          </a:prstGeom>
          <a:solidFill>
            <a:srgbClr val="3978C9"/>
          </a:solidFill>
          <a:ln w="9525">
            <a:solidFill>
              <a:srgbClr val="3978C9"/>
            </a:solidFill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762000" y="215265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</a:t>
            </a:r>
            <a:endParaRPr sz="1425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1476375" y="2133600"/>
            <a:ext cx="2190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00" b="1">
                <a:solidFill>
                  <a:srgbClr val="3978C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3978C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LayerNorm</a:t>
            </a:r>
            <a:endParaRPr sz="1500" b="1">
              <a:solidFill>
                <a:srgbClr val="3978C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3619500" y="2133600"/>
            <a:ext cx="45720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0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Normalize features inside each token</a:t>
            </a:r>
            <a:endParaRPr sz="1350" b="0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981075" y="2619375"/>
            <a:ext cx="19050" cy="228600"/>
          </a:xfrm>
          <a:prstGeom prst="rect">
            <a:avLst/>
          </a:prstGeom>
          <a:solidFill>
            <a:srgbClr val="AAAAAA"/>
          </a:solidFill>
          <a:ln w="0">
            <a:solidFill>
              <a:srgbClr val="AAAAAA"/>
            </a:solidFill>
          </a:ln>
        </p:spPr>
      </p:sp>
      <p:sp>
        <p:nvSpPr>
          <p:cNvPr id="17" name="Oval 16"/>
          <p:cNvSpPr>
            <a:spLocks noGrp="1"/>
          </p:cNvSpPr>
          <p:nvPr/>
        </p:nvSpPr>
        <p:spPr>
          <a:xfrm>
            <a:off x="762000" y="2867025"/>
            <a:ext cx="457200" cy="457200"/>
          </a:xfrm>
          <a:prstGeom prst="ellipse">
            <a:avLst/>
          </a:prstGeom>
          <a:solidFill>
            <a:srgbClr val="F39A3C"/>
          </a:solidFill>
          <a:ln w="9525">
            <a:solidFill>
              <a:srgbClr val="F39A3C"/>
            </a:solidFill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762000" y="28670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</a:t>
            </a:r>
            <a:endParaRPr sz="1425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1476375" y="2847975"/>
            <a:ext cx="2190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00" b="1">
                <a:solidFill>
                  <a:srgbClr val="D76F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D76F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Self-Attention</a:t>
            </a:r>
            <a:endParaRPr sz="1500" b="1">
              <a:solidFill>
                <a:srgbClr val="D76F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3619500" y="2847975"/>
            <a:ext cx="45720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0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Every token gathers context from the sequence</a:t>
            </a:r>
            <a:endParaRPr sz="1350" b="0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1" name="Rectangle 20"/>
          <p:cNvSpPr>
            <a:spLocks noGrp="1"/>
          </p:cNvSpPr>
          <p:nvPr/>
        </p:nvSpPr>
        <p:spPr>
          <a:xfrm>
            <a:off x="981075" y="3333750"/>
            <a:ext cx="19050" cy="228600"/>
          </a:xfrm>
          <a:prstGeom prst="rect">
            <a:avLst/>
          </a:prstGeom>
          <a:solidFill>
            <a:srgbClr val="AAAAAA"/>
          </a:solidFill>
          <a:ln w="0">
            <a:solidFill>
              <a:srgbClr val="AAAAAA"/>
            </a:solidFill>
          </a:ln>
        </p:spPr>
      </p:sp>
      <p:sp>
        <p:nvSpPr>
          <p:cNvPr id="22" name="Oval 21"/>
          <p:cNvSpPr>
            <a:spLocks noGrp="1"/>
          </p:cNvSpPr>
          <p:nvPr/>
        </p:nvSpPr>
        <p:spPr>
          <a:xfrm>
            <a:off x="762000" y="3581400"/>
            <a:ext cx="457200" cy="457200"/>
          </a:xfrm>
          <a:prstGeom prst="ellipse">
            <a:avLst/>
          </a:prstGeom>
          <a:solidFill>
            <a:srgbClr val="3978C9"/>
          </a:solidFill>
          <a:ln w="9525">
            <a:solidFill>
              <a:srgbClr val="3978C9"/>
            </a:solidFill>
          </a:ln>
        </p:spPr>
      </p:sp>
      <p:sp>
        <p:nvSpPr>
          <p:cNvPr id="23" name="Rectangle 22"/>
          <p:cNvSpPr>
            <a:spLocks noGrp="1"/>
          </p:cNvSpPr>
          <p:nvPr/>
        </p:nvSpPr>
        <p:spPr>
          <a:xfrm>
            <a:off x="762000" y="358140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4</a:t>
            </a:r>
            <a:endParaRPr sz="1425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4" name="Rectangle 23"/>
          <p:cNvSpPr>
            <a:spLocks noGrp="1"/>
          </p:cNvSpPr>
          <p:nvPr/>
        </p:nvSpPr>
        <p:spPr>
          <a:xfrm>
            <a:off x="1476375" y="3562350"/>
            <a:ext cx="2190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00" b="1">
                <a:solidFill>
                  <a:srgbClr val="3978C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3978C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Residual Add</a:t>
            </a:r>
            <a:endParaRPr sz="1500" b="1">
              <a:solidFill>
                <a:srgbClr val="3978C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5" name="Rectangle 24"/>
          <p:cNvSpPr>
            <a:spLocks noGrp="1"/>
          </p:cNvSpPr>
          <p:nvPr/>
        </p:nvSpPr>
        <p:spPr>
          <a:xfrm>
            <a:off x="3619500" y="3562350"/>
            <a:ext cx="45720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0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Add the attention update to the layer input</a:t>
            </a:r>
            <a:endParaRPr sz="1350" b="0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6" name="Rectangle 25"/>
          <p:cNvSpPr>
            <a:spLocks noGrp="1"/>
          </p:cNvSpPr>
          <p:nvPr/>
        </p:nvSpPr>
        <p:spPr>
          <a:xfrm>
            <a:off x="981075" y="4048125"/>
            <a:ext cx="19050" cy="228600"/>
          </a:xfrm>
          <a:prstGeom prst="rect">
            <a:avLst/>
          </a:prstGeom>
          <a:solidFill>
            <a:srgbClr val="AAAAAA"/>
          </a:solidFill>
          <a:ln w="0">
            <a:solidFill>
              <a:srgbClr val="AAAAAA"/>
            </a:solidFill>
          </a:ln>
        </p:spPr>
      </p:sp>
      <p:sp>
        <p:nvSpPr>
          <p:cNvPr id="27" name="Oval 26"/>
          <p:cNvSpPr>
            <a:spLocks noGrp="1"/>
          </p:cNvSpPr>
          <p:nvPr/>
        </p:nvSpPr>
        <p:spPr>
          <a:xfrm>
            <a:off x="762000" y="4295775"/>
            <a:ext cx="457200" cy="457200"/>
          </a:xfrm>
          <a:prstGeom prst="ellipse">
            <a:avLst/>
          </a:prstGeom>
          <a:solidFill>
            <a:srgbClr val="F39A3C"/>
          </a:solidFill>
          <a:ln w="9525">
            <a:solidFill>
              <a:srgbClr val="F39A3C"/>
            </a:solidFill>
          </a:ln>
        </p:spPr>
      </p:sp>
      <p:sp>
        <p:nvSpPr>
          <p:cNvPr id="28" name="Rectangle 27"/>
          <p:cNvSpPr>
            <a:spLocks noGrp="1"/>
          </p:cNvSpPr>
          <p:nvPr/>
        </p:nvSpPr>
        <p:spPr>
          <a:xfrm>
            <a:off x="762000" y="429577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5</a:t>
            </a:r>
            <a:endParaRPr sz="1425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9" name="Rectangle 28"/>
          <p:cNvSpPr>
            <a:spLocks noGrp="1"/>
          </p:cNvSpPr>
          <p:nvPr/>
        </p:nvSpPr>
        <p:spPr>
          <a:xfrm>
            <a:off x="1476375" y="4276725"/>
            <a:ext cx="2190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00" b="1">
                <a:solidFill>
                  <a:srgbClr val="D76F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D76F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LayerNorm + MLP</a:t>
            </a:r>
            <a:endParaRPr sz="1500" b="1">
              <a:solidFill>
                <a:srgbClr val="D76F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0" name="Rectangle 29"/>
          <p:cNvSpPr>
            <a:spLocks noGrp="1"/>
          </p:cNvSpPr>
          <p:nvPr/>
        </p:nvSpPr>
        <p:spPr>
          <a:xfrm>
            <a:off x="3619500" y="4276725"/>
            <a:ext cx="45720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0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Transform each token independently</a:t>
            </a:r>
            <a:endParaRPr sz="1350" b="0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1" name="Rectangle 30"/>
          <p:cNvSpPr>
            <a:spLocks noGrp="1"/>
          </p:cNvSpPr>
          <p:nvPr/>
        </p:nvSpPr>
        <p:spPr>
          <a:xfrm>
            <a:off x="981075" y="4762500"/>
            <a:ext cx="19050" cy="228600"/>
          </a:xfrm>
          <a:prstGeom prst="rect">
            <a:avLst/>
          </a:prstGeom>
          <a:solidFill>
            <a:srgbClr val="AAAAAA"/>
          </a:solidFill>
          <a:ln w="0">
            <a:solidFill>
              <a:srgbClr val="AAAAAA"/>
            </a:solidFill>
          </a:ln>
        </p:spPr>
      </p:sp>
      <p:sp>
        <p:nvSpPr>
          <p:cNvPr id="32" name="Oval 31"/>
          <p:cNvSpPr>
            <a:spLocks noGrp="1"/>
          </p:cNvSpPr>
          <p:nvPr/>
        </p:nvSpPr>
        <p:spPr>
          <a:xfrm>
            <a:off x="762000" y="5010150"/>
            <a:ext cx="457200" cy="457200"/>
          </a:xfrm>
          <a:prstGeom prst="ellipse">
            <a:avLst/>
          </a:prstGeom>
          <a:solidFill>
            <a:srgbClr val="3978C9"/>
          </a:solidFill>
          <a:ln w="9525">
            <a:solidFill>
              <a:srgbClr val="3978C9"/>
            </a:solidFill>
          </a:ln>
        </p:spPr>
      </p:sp>
      <p:sp>
        <p:nvSpPr>
          <p:cNvPr id="33" name="Rectangle 32"/>
          <p:cNvSpPr>
            <a:spLocks noGrp="1"/>
          </p:cNvSpPr>
          <p:nvPr/>
        </p:nvSpPr>
        <p:spPr>
          <a:xfrm>
            <a:off x="762000" y="501015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6</a:t>
            </a:r>
            <a:endParaRPr sz="1425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4" name="Rectangle 33"/>
          <p:cNvSpPr>
            <a:spLocks noGrp="1"/>
          </p:cNvSpPr>
          <p:nvPr/>
        </p:nvSpPr>
        <p:spPr>
          <a:xfrm>
            <a:off x="1476375" y="4991100"/>
            <a:ext cx="2190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00" b="1">
                <a:solidFill>
                  <a:srgbClr val="3978C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3978C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Residual Add</a:t>
            </a:r>
            <a:endParaRPr sz="1500" b="1">
              <a:solidFill>
                <a:srgbClr val="3978C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5" name="Rectangle 34"/>
          <p:cNvSpPr>
            <a:spLocks noGrp="1"/>
          </p:cNvSpPr>
          <p:nvPr/>
        </p:nvSpPr>
        <p:spPr>
          <a:xfrm>
            <a:off x="3619500" y="4991100"/>
            <a:ext cx="45720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0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Produce N output tokens with D features</a:t>
            </a:r>
            <a:endParaRPr sz="1350" b="0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6" name="Rectangle 35"/>
          <p:cNvSpPr>
            <a:spLocks noGrp="1"/>
          </p:cNvSpPr>
          <p:nvPr/>
        </p:nvSpPr>
        <p:spPr>
          <a:xfrm>
            <a:off x="1428750" y="5810250"/>
            <a:ext cx="62865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500" b="1">
                <a:solidFill>
                  <a:srgbClr val="3978C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3978C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Input shape [B, N, D]  =  Output shape [B, N, D]</a:t>
            </a:r>
            <a:endParaRPr sz="1500" b="1">
              <a:solidFill>
                <a:srgbClr val="3978C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Rectangle 8"/>
          <p:cNvSpPr>
            <a:spLocks noGrp="1"/>
          </p:cNvSpPr>
          <p:nvPr/>
        </p:nvSpPr>
        <p:spPr>
          <a:xfrm>
            <a:off x="609600" y="180975"/>
            <a:ext cx="800100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475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475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Stacking Transformer Layers</a:t>
            </a:r>
            <a:endParaRPr sz="2475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04825" y="819150"/>
            <a:ext cx="8134350" cy="28575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504825" y="6477000"/>
            <a:ext cx="8134350" cy="19050"/>
          </a:xfrm>
          <a:prstGeom prst="rect">
            <a:avLst/>
          </a:prstGeom>
          <a:solidFill>
            <a:srgbClr val="555555"/>
          </a:solidFill>
          <a:ln w="0">
            <a:solidFill>
              <a:srgbClr val="555555"/>
            </a:solidFill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685800" y="933450"/>
            <a:ext cx="77724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Each layer repeats context mixing and token-wise feature transformation.</a:t>
            </a:r>
            <a:endParaRPr sz="1500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2925" y="1328128"/>
            <a:ext cx="8058150" cy="4535119"/>
          </a:xfrm>
          <a:prstGeom prst="rect">
            <a:avLst/>
          </a:prstGeom>
        </p:spPr>
      </p:pic>
      <p:sp>
        <p:nvSpPr>
          <p:cNvPr id="8" name="Rectangle 7"/>
          <p:cNvSpPr>
            <a:spLocks noGrp="1"/>
          </p:cNvSpPr>
          <p:nvPr/>
        </p:nvSpPr>
        <p:spPr>
          <a:xfrm>
            <a:off x="857250" y="5905500"/>
            <a:ext cx="7429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425" b="1">
                <a:solidFill>
                  <a:srgbClr val="3978C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1">
                <a:solidFill>
                  <a:srgbClr val="3978C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Later layers can represent more abstract relationships while keeping one vector for each token.</a:t>
            </a:r>
            <a:endParaRPr sz="1425" b="1">
              <a:solidFill>
                <a:srgbClr val="3978C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Rectangle 7"/>
          <p:cNvSpPr>
            <a:spLocks noGrp="1"/>
          </p:cNvSpPr>
          <p:nvPr/>
        </p:nvSpPr>
        <p:spPr>
          <a:xfrm>
            <a:off x="609600" y="180975"/>
            <a:ext cx="800100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475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475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MLP, CNN, and Transformer: Core Differences</a:t>
            </a:r>
            <a:endParaRPr sz="2475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04825" y="819150"/>
            <a:ext cx="8134350" cy="28575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504825" y="6477000"/>
            <a:ext cx="8134350" cy="19050"/>
          </a:xfrm>
          <a:prstGeom prst="rect">
            <a:avLst/>
          </a:prstGeom>
          <a:solidFill>
            <a:srgbClr val="555555"/>
          </a:solidFill>
          <a:ln w="0">
            <a:solidFill>
              <a:srgbClr val="555555"/>
            </a:solidFill>
          </a:ln>
        </p:spPr>
      </p:sp>
      <p:graphicFrame>
        <p:nvGraphicFramePr>
          <p:cNvPr id="13" name="Table 12"/>
          <p:cNvGraphicFramePr/>
          <p:nvPr/>
        </p:nvGraphicFramePr>
        <p:xfrm>
          <a:off x="609600" y="1266825"/>
          <a:ext cx="7924800" cy="3714750"/>
        </p:xfrm>
        <a:graphic>
          <a:graphicData uri="http://schemas.openxmlformats.org/drawingml/2006/table">
            <a:tbl>
              <a:tblPr/>
              <a:tblGrid>
                <a:gridCol w="1752600"/>
                <a:gridCol w="2000250"/>
                <a:gridCol w="2000250"/>
                <a:gridCol w="2171700"/>
              </a:tblGrid>
              <a:tr h="742950"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Property</a:t>
                      </a:r>
                      <a:endParaRPr sz="1350" b="1">
                        <a:solidFill>
                          <a:srgbClr val="FFFFFF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3978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MLP</a:t>
                      </a:r>
                      <a:endParaRPr sz="1350" b="1">
                        <a:solidFill>
                          <a:srgbClr val="FFFFFF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3978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CNN</a:t>
                      </a:r>
                      <a:endParaRPr sz="1350" b="1">
                        <a:solidFill>
                          <a:srgbClr val="FFFFFF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3978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Transformer</a:t>
                      </a:r>
                      <a:endParaRPr sz="1350" b="1">
                        <a:solidFill>
                          <a:srgbClr val="FFFFFF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3978C9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l"/>
                      <a:r>
                        <a:rPr sz="1275" b="1">
                          <a:solidFill>
                            <a:srgbClr val="111111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Natural input</a:t>
                      </a:r>
                      <a:endParaRPr sz="1275" b="1">
                        <a:solidFill>
                          <a:srgbClr val="111111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Feature vector</a:t>
                      </a:r>
                      <a:endParaRPr sz="1200">
                        <a:solidFill>
                          <a:srgbClr val="111111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Spatial grid</a:t>
                      </a:r>
                      <a:endParaRPr sz="1200">
                        <a:solidFill>
                          <a:srgbClr val="111111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Token sequence</a:t>
                      </a:r>
                      <a:endParaRPr sz="1200">
                        <a:solidFill>
                          <a:srgbClr val="111111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l"/>
                      <a:r>
                        <a:rPr sz="1275" b="1">
                          <a:solidFill>
                            <a:srgbClr val="111111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Connection</a:t>
                      </a:r>
                      <a:endParaRPr sz="1275" b="1">
                        <a:solidFill>
                          <a:srgbClr val="111111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Dense</a:t>
                      </a:r>
                      <a:endParaRPr sz="1200">
                        <a:solidFill>
                          <a:srgbClr val="111111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Local, shared kernel</a:t>
                      </a:r>
                      <a:endParaRPr sz="1200">
                        <a:solidFill>
                          <a:srgbClr val="111111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Global, content dependent</a:t>
                      </a:r>
                      <a:endParaRPr sz="1200">
                        <a:solidFill>
                          <a:srgbClr val="111111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l"/>
                      <a:r>
                        <a:rPr sz="1275" b="1">
                          <a:solidFill>
                            <a:srgbClr val="111111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Built-in assumption</a:t>
                      </a:r>
                      <a:endParaRPr sz="1275" b="1">
                        <a:solidFill>
                          <a:srgbClr val="111111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No locality</a:t>
                      </a:r>
                      <a:endParaRPr sz="1200">
                        <a:solidFill>
                          <a:srgbClr val="111111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Nearby pixels matter</a:t>
                      </a:r>
                      <a:endParaRPr sz="1200">
                        <a:solidFill>
                          <a:srgbClr val="111111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Relevant tokens may be distant</a:t>
                      </a:r>
                      <a:endParaRPr sz="1200">
                        <a:solidFill>
                          <a:srgbClr val="111111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l"/>
                      <a:r>
                        <a:rPr sz="1275" b="1">
                          <a:solidFill>
                            <a:srgbClr val="111111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Output</a:t>
                      </a:r>
                      <a:endParaRPr sz="1275" b="1">
                        <a:solidFill>
                          <a:srgbClr val="111111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Feature vector</a:t>
                      </a:r>
                      <a:endParaRPr sz="1200">
                        <a:solidFill>
                          <a:srgbClr val="111111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Feature maps</a:t>
                      </a:r>
                      <a:endParaRPr sz="1200">
                        <a:solidFill>
                          <a:srgbClr val="111111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Contextual token sequence</a:t>
                      </a:r>
                      <a:endParaRPr sz="1200">
                        <a:solidFill>
                          <a:srgbClr val="111111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>
            <a:spLocks noGrp="1"/>
          </p:cNvSpPr>
          <p:nvPr/>
        </p:nvSpPr>
        <p:spPr>
          <a:xfrm>
            <a:off x="952500" y="5391150"/>
            <a:ext cx="7239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500" b="1">
                <a:solidFill>
                  <a:srgbClr val="3978C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3978C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Choose an architecture whose connection pattern matches the structure of the input.</a:t>
            </a:r>
            <a:endParaRPr sz="1500" b="1">
              <a:solidFill>
                <a:srgbClr val="3978C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" name="Rectangle 18"/>
          <p:cNvSpPr>
            <a:spLocks noGrp="1"/>
          </p:cNvSpPr>
          <p:nvPr/>
        </p:nvSpPr>
        <p:spPr>
          <a:xfrm>
            <a:off x="590550" y="228600"/>
            <a:ext cx="7953375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25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25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MLP Implementation in PyTorch</a:t>
            </a:r>
            <a:endParaRPr sz="2250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14350" y="781050"/>
            <a:ext cx="8115300" cy="28575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609600" y="895350"/>
            <a:ext cx="79057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An MLP flattens the image and applies fully connected layers.</a:t>
            </a:r>
            <a:endParaRPr sz="1350" b="1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514350" y="6477000"/>
            <a:ext cx="8115300" cy="19050"/>
          </a:xfrm>
          <a:prstGeom prst="rect">
            <a:avLst/>
          </a:prstGeom>
          <a:solidFill>
            <a:srgbClr val="555555"/>
          </a:solidFill>
          <a:ln w="0">
            <a:solidFill>
              <a:srgbClr val="555555"/>
            </a:solidFill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609600" y="1304925"/>
            <a:ext cx="361950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1">
                <a:solidFill>
                  <a:srgbClr val="2F68B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>
                <a:solidFill>
                  <a:srgbClr val="2F68B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Minimal implementation</a:t>
            </a:r>
            <a:endParaRPr sz="1575" b="1">
              <a:solidFill>
                <a:srgbClr val="2F68B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Rounded Rectangle 7"/>
          <p:cNvSpPr>
            <a:spLocks noGrp="1"/>
          </p:cNvSpPr>
          <p:nvPr/>
        </p:nvSpPr>
        <p:spPr>
          <a:xfrm>
            <a:off x="609600" y="1676400"/>
            <a:ext cx="4000500" cy="3852545"/>
          </a:xfrm>
          <a:prstGeom prst="roundRect">
            <a:avLst>
              <a:gd name="adj" fmla="val 2180"/>
            </a:avLst>
          </a:prstGeom>
          <a:solidFill>
            <a:srgbClr val="F7F7F7"/>
          </a:solidFill>
          <a:ln w="11430">
            <a:solidFill>
              <a:srgbClr val="777777"/>
            </a:solidFill>
          </a:ln>
        </p:spPr>
        <p:txBody>
          <a:bodyPr anchor="t">
            <a:noAutofit/>
          </a:bodyPr>
          <a:lstStyle/>
          <a:p>
            <a:pPr algn="l">
              <a:lnSpc>
                <a:spcPct val="150000"/>
              </a:lnSpc>
              <a:defRPr sz="1090">
                <a:solidFill>
                  <a:srgbClr val="11111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00">
                <a:solidFill>
                  <a:srgbClr val="111111"/>
                </a:solidFill>
                <a:latin typeface="DejaVu Sans Mono"/>
                <a:ea typeface="DejaVu Sans Mono"/>
                <a:cs typeface="DejaVu Sans Mono"/>
              </a:rPr>
              <a:t>class SimpleMLP(nn.Module):</a:t>
            </a:r>
            <a:endParaRPr sz="1400">
              <a:solidFill>
                <a:srgbClr val="111111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lnSpc>
                <a:spcPct val="150000"/>
              </a:lnSpc>
              <a:defRPr sz="1090">
                <a:solidFill>
                  <a:srgbClr val="11111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00">
                <a:solidFill>
                  <a:srgbClr val="111111"/>
                </a:solidFill>
                <a:latin typeface="DejaVu Sans Mono"/>
                <a:ea typeface="DejaVu Sans Mono"/>
                <a:cs typeface="DejaVu Sans Mono"/>
              </a:rPr>
              <a:t>  def __init__(self):</a:t>
            </a:r>
            <a:endParaRPr sz="1400">
              <a:solidFill>
                <a:srgbClr val="111111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lnSpc>
                <a:spcPct val="150000"/>
              </a:lnSpc>
              <a:defRPr sz="1090">
                <a:solidFill>
                  <a:srgbClr val="11111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00">
                <a:solidFill>
                  <a:srgbClr val="111111"/>
                </a:solidFill>
                <a:latin typeface="DejaVu Sans Mono"/>
                <a:ea typeface="DejaVu Sans Mono"/>
                <a:cs typeface="DejaVu Sans Mono"/>
              </a:rPr>
              <a:t>    super().__init__()</a:t>
            </a:r>
            <a:endParaRPr sz="1400">
              <a:solidFill>
                <a:srgbClr val="111111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lnSpc>
                <a:spcPct val="150000"/>
              </a:lnSpc>
              <a:defRPr sz="1090">
                <a:solidFill>
                  <a:srgbClr val="11111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00">
                <a:solidFill>
                  <a:srgbClr val="111111"/>
                </a:solidFill>
                <a:latin typeface="DejaVu Sans Mono"/>
                <a:ea typeface="DejaVu Sans Mono"/>
                <a:cs typeface="DejaVu Sans Mono"/>
              </a:rPr>
              <a:t>    self.flatten = nn.Flatten()</a:t>
            </a:r>
            <a:endParaRPr sz="1400">
              <a:solidFill>
                <a:srgbClr val="111111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lnSpc>
                <a:spcPct val="150000"/>
              </a:lnSpc>
              <a:defRPr sz="1090">
                <a:solidFill>
                  <a:srgbClr val="11111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00">
                <a:solidFill>
                  <a:srgbClr val="111111"/>
                </a:solidFill>
                <a:latin typeface="DejaVu Sans Mono"/>
                <a:ea typeface="DejaVu Sans Mono"/>
                <a:cs typeface="DejaVu Sans Mono"/>
              </a:rPr>
              <a:t>    self.fc1 = nn.Linear(784, 128)</a:t>
            </a:r>
            <a:endParaRPr sz="1400">
              <a:solidFill>
                <a:srgbClr val="111111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lnSpc>
                <a:spcPct val="150000"/>
              </a:lnSpc>
              <a:defRPr sz="1090">
                <a:solidFill>
                  <a:srgbClr val="11111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00">
                <a:solidFill>
                  <a:srgbClr val="111111"/>
                </a:solidFill>
                <a:latin typeface="DejaVu Sans Mono"/>
                <a:ea typeface="DejaVu Sans Mono"/>
                <a:cs typeface="DejaVu Sans Mono"/>
              </a:rPr>
              <a:t>    self.fc2 = nn.Linear(128, 10)</a:t>
            </a:r>
            <a:endParaRPr sz="1400">
              <a:solidFill>
                <a:srgbClr val="111111"/>
              </a:solidFill>
              <a:latin typeface="DejaVu Sans Mono"/>
              <a:ea typeface="DejaVu Sans Mono"/>
              <a:cs typeface="DejaVu Sans Mono"/>
            </a:endParaRPr>
          </a:p>
          <a:p>
            <a:pPr>
              <a:lnSpc>
                <a:spcPct val="150000"/>
              </a:lnSpc>
            </a:pPr>
            <a:endParaRPr sz="1400"/>
          </a:p>
          <a:p>
            <a:pPr algn="l">
              <a:lnSpc>
                <a:spcPct val="150000"/>
              </a:lnSpc>
              <a:defRPr sz="1090">
                <a:solidFill>
                  <a:srgbClr val="11111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00">
                <a:solidFill>
                  <a:srgbClr val="111111"/>
                </a:solidFill>
                <a:latin typeface="DejaVu Sans Mono"/>
                <a:ea typeface="DejaVu Sans Mono"/>
                <a:cs typeface="DejaVu Sans Mono"/>
              </a:rPr>
              <a:t>  def forward(self, x):</a:t>
            </a:r>
            <a:endParaRPr sz="1400">
              <a:solidFill>
                <a:srgbClr val="111111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lnSpc>
                <a:spcPct val="150000"/>
              </a:lnSpc>
              <a:defRPr sz="1090">
                <a:solidFill>
                  <a:srgbClr val="11111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00">
                <a:solidFill>
                  <a:srgbClr val="111111"/>
                </a:solidFill>
                <a:latin typeface="DejaVu Sans Mono"/>
                <a:ea typeface="DejaVu Sans Mono"/>
                <a:cs typeface="DejaVu Sans Mono"/>
              </a:rPr>
              <a:t>    x = self.flatten(x)</a:t>
            </a:r>
            <a:endParaRPr sz="1400">
              <a:solidFill>
                <a:srgbClr val="111111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lnSpc>
                <a:spcPct val="150000"/>
              </a:lnSpc>
              <a:defRPr sz="1090">
                <a:solidFill>
                  <a:srgbClr val="11111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00">
                <a:solidFill>
                  <a:srgbClr val="111111"/>
                </a:solidFill>
                <a:latin typeface="DejaVu Sans Mono"/>
                <a:ea typeface="DejaVu Sans Mono"/>
                <a:cs typeface="DejaVu Sans Mono"/>
              </a:rPr>
              <a:t>    x = F.relu(self.fc1(x))</a:t>
            </a:r>
            <a:endParaRPr sz="1400">
              <a:solidFill>
                <a:srgbClr val="111111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lnSpc>
                <a:spcPct val="150000"/>
              </a:lnSpc>
              <a:defRPr sz="1090">
                <a:solidFill>
                  <a:srgbClr val="11111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00">
                <a:solidFill>
                  <a:srgbClr val="111111"/>
                </a:solidFill>
                <a:latin typeface="DejaVu Sans Mono"/>
                <a:ea typeface="DejaVu Sans Mono"/>
                <a:cs typeface="DejaVu Sans Mono"/>
              </a:rPr>
              <a:t>    return self.fc2(x)</a:t>
            </a:r>
            <a:endParaRPr sz="1400">
              <a:solidFill>
                <a:srgbClr val="111111"/>
              </a:solidFill>
              <a:latin typeface="DejaVu Sans Mono"/>
              <a:ea typeface="DejaVu Sans Mono"/>
              <a:cs typeface="DejaVu Sans Mono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5143500" y="1304925"/>
            <a:ext cx="314325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1">
                <a:solidFill>
                  <a:srgbClr val="2F68B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>
                <a:solidFill>
                  <a:srgbClr val="2F68B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Data flow</a:t>
            </a:r>
            <a:endParaRPr sz="1575" b="1">
              <a:solidFill>
                <a:srgbClr val="2F68B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" name="Rounded Rectangle 9"/>
          <p:cNvSpPr>
            <a:spLocks noGrp="1"/>
          </p:cNvSpPr>
          <p:nvPr/>
        </p:nvSpPr>
        <p:spPr>
          <a:xfrm>
            <a:off x="5219700" y="1752600"/>
            <a:ext cx="2476500" cy="571500"/>
          </a:xfrm>
          <a:prstGeom prst="roundRect">
            <a:avLst>
              <a:gd name="adj" fmla="val 13333"/>
            </a:avLst>
          </a:prstGeom>
          <a:solidFill>
            <a:srgbClr val="EEF4FC"/>
          </a:solidFill>
          <a:ln w="11430">
            <a:solidFill>
              <a:srgbClr val="3978C9"/>
            </a:solidFill>
          </a:ln>
        </p:spPr>
        <p:txBody>
          <a:bodyPr anchor="ctr">
            <a:noAutofit/>
          </a:bodyPr>
          <a:lstStyle/>
          <a:p>
            <a:pPr algn="ctr">
              <a:defRPr sz="1275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Image batch</a:t>
            </a:r>
            <a:endParaRPr sz="1275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defRPr sz="1275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[B, 1, 28, 28]</a:t>
            </a:r>
            <a:endParaRPr sz="1275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Down Arrow 10"/>
          <p:cNvSpPr>
            <a:spLocks noGrp="1"/>
          </p:cNvSpPr>
          <p:nvPr/>
        </p:nvSpPr>
        <p:spPr>
          <a:xfrm>
            <a:off x="6296025" y="2381250"/>
            <a:ext cx="285750" cy="285750"/>
          </a:xfrm>
          <a:prstGeom prst="downArrow">
            <a:avLst/>
          </a:prstGeom>
          <a:solidFill>
            <a:srgbClr val="4A78C2"/>
          </a:solidFill>
          <a:ln w="0">
            <a:solidFill>
              <a:srgbClr val="4A78C2"/>
            </a:solidFill>
          </a:ln>
        </p:spPr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5219700" y="2724150"/>
            <a:ext cx="2476500" cy="514350"/>
          </a:xfrm>
          <a:prstGeom prst="roundRect">
            <a:avLst>
              <a:gd name="adj" fmla="val 14815"/>
            </a:avLst>
          </a:prstGeom>
          <a:solidFill>
            <a:srgbClr val="F5F5F5"/>
          </a:solidFill>
          <a:ln w="11430">
            <a:solidFill>
              <a:srgbClr val="777777"/>
            </a:solidFill>
          </a:ln>
        </p:spPr>
        <p:txBody>
          <a:bodyPr anchor="ctr">
            <a:noAutofit/>
          </a:bodyPr>
          <a:lstStyle/>
          <a:p>
            <a:pPr algn="ctr">
              <a:defRPr sz="1275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Flatten</a:t>
            </a:r>
            <a:endParaRPr sz="1275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defRPr sz="1275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[B, 784]</a:t>
            </a:r>
            <a:endParaRPr sz="1275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Down Arrow 12"/>
          <p:cNvSpPr>
            <a:spLocks noGrp="1"/>
          </p:cNvSpPr>
          <p:nvPr/>
        </p:nvSpPr>
        <p:spPr>
          <a:xfrm>
            <a:off x="6296025" y="3295650"/>
            <a:ext cx="285750" cy="285750"/>
          </a:xfrm>
          <a:prstGeom prst="downArrow">
            <a:avLst/>
          </a:prstGeom>
          <a:solidFill>
            <a:srgbClr val="4A78C2"/>
          </a:solidFill>
          <a:ln w="0">
            <a:solidFill>
              <a:srgbClr val="4A78C2"/>
            </a:solidFill>
          </a:ln>
        </p:spPr>
      </p:sp>
      <p:sp>
        <p:nvSpPr>
          <p:cNvPr id="14" name="Rounded Rectangle 13"/>
          <p:cNvSpPr>
            <a:spLocks noGrp="1"/>
          </p:cNvSpPr>
          <p:nvPr/>
        </p:nvSpPr>
        <p:spPr>
          <a:xfrm>
            <a:off x="5219700" y="3638550"/>
            <a:ext cx="2476500" cy="514350"/>
          </a:xfrm>
          <a:prstGeom prst="roundRect">
            <a:avLst>
              <a:gd name="adj" fmla="val 14815"/>
            </a:avLst>
          </a:prstGeom>
          <a:solidFill>
            <a:srgbClr val="E8F3E6"/>
          </a:solidFill>
          <a:ln w="11430">
            <a:solidFill>
              <a:srgbClr val="4D9B55"/>
            </a:solidFill>
          </a:ln>
        </p:spPr>
        <p:txBody>
          <a:bodyPr anchor="ctr">
            <a:noAutofit/>
          </a:bodyPr>
          <a:lstStyle/>
          <a:p>
            <a:pPr algn="ctr">
              <a:defRPr sz="1275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Linear + ReLU</a:t>
            </a:r>
            <a:endParaRPr sz="1275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defRPr sz="1275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[B, 128]</a:t>
            </a:r>
            <a:endParaRPr sz="1275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" name="Down Arrow 14"/>
          <p:cNvSpPr>
            <a:spLocks noGrp="1"/>
          </p:cNvSpPr>
          <p:nvPr/>
        </p:nvSpPr>
        <p:spPr>
          <a:xfrm>
            <a:off x="6296025" y="4210050"/>
            <a:ext cx="285750" cy="285750"/>
          </a:xfrm>
          <a:prstGeom prst="downArrow">
            <a:avLst/>
          </a:prstGeom>
          <a:solidFill>
            <a:srgbClr val="4A78C2"/>
          </a:solidFill>
          <a:ln w="0">
            <a:solidFill>
              <a:srgbClr val="4A78C2"/>
            </a:solidFill>
          </a:ln>
        </p:spPr>
      </p:sp>
      <p:sp>
        <p:nvSpPr>
          <p:cNvPr id="16" name="Rounded Rectangle 15"/>
          <p:cNvSpPr>
            <a:spLocks noGrp="1"/>
          </p:cNvSpPr>
          <p:nvPr/>
        </p:nvSpPr>
        <p:spPr>
          <a:xfrm>
            <a:off x="5219700" y="4552950"/>
            <a:ext cx="2476500" cy="514350"/>
          </a:xfrm>
          <a:prstGeom prst="roundRect">
            <a:avLst>
              <a:gd name="adj" fmla="val 14815"/>
            </a:avLst>
          </a:prstGeom>
          <a:solidFill>
            <a:srgbClr val="FFF3DF"/>
          </a:solidFill>
          <a:ln w="11430">
            <a:solidFill>
              <a:srgbClr val="C58B35"/>
            </a:solidFill>
          </a:ln>
        </p:spPr>
        <p:txBody>
          <a:bodyPr anchor="ctr">
            <a:noAutofit/>
          </a:bodyPr>
          <a:lstStyle/>
          <a:p>
            <a:pPr algn="ctr">
              <a:defRPr sz="1275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Class scores</a:t>
            </a:r>
            <a:endParaRPr sz="1275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defRPr sz="1275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[B, 10]</a:t>
            </a:r>
            <a:endParaRPr sz="1275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5143500" y="531495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Key details</a:t>
            </a:r>
            <a:endParaRPr sz="1425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8" name="Rectangle 17"/>
          <p:cNvSpPr>
            <a:spLocks noGrp="1"/>
          </p:cNvSpPr>
          <p:nvPr/>
        </p:nvSpPr>
        <p:spPr>
          <a:xfrm>
            <a:off x="5286375" y="5572125"/>
            <a:ext cx="28575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784 = 28 × 28 pixels</a:t>
            </a:r>
            <a:endParaRPr sz="1275" b="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defRPr sz="1275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128 = hidden features</a:t>
            </a:r>
            <a:endParaRPr sz="1275" b="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defRPr sz="1275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10 = output classes</a:t>
            </a:r>
            <a:endParaRPr sz="1275" b="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" name="Rectangle 18"/>
          <p:cNvSpPr>
            <a:spLocks noGrp="1"/>
          </p:cNvSpPr>
          <p:nvPr/>
        </p:nvSpPr>
        <p:spPr>
          <a:xfrm>
            <a:off x="590550" y="228600"/>
            <a:ext cx="7953375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25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25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CNN Implementation in PyTorch</a:t>
            </a:r>
            <a:endParaRPr sz="2250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14350" y="781050"/>
            <a:ext cx="8115300" cy="28575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609600" y="895350"/>
            <a:ext cx="79057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 CNN preserves the image grid and extracts local patterns with shared kernels.</a:t>
            </a:r>
            <a:endParaRPr sz="1350" b="1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514350" y="6477000"/>
            <a:ext cx="8115300" cy="19050"/>
          </a:xfrm>
          <a:prstGeom prst="rect">
            <a:avLst/>
          </a:prstGeom>
          <a:solidFill>
            <a:srgbClr val="555555"/>
          </a:solidFill>
          <a:ln w="0">
            <a:solidFill>
              <a:srgbClr val="555555"/>
            </a:solidFill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609600" y="1304925"/>
            <a:ext cx="361950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1">
                <a:solidFill>
                  <a:srgbClr val="2F68B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>
                <a:solidFill>
                  <a:srgbClr val="2F68B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Minimal implementation</a:t>
            </a:r>
            <a:endParaRPr sz="1575" b="1">
              <a:solidFill>
                <a:srgbClr val="2F68B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Rounded Rectangle 7"/>
          <p:cNvSpPr>
            <a:spLocks noGrp="1"/>
          </p:cNvSpPr>
          <p:nvPr/>
        </p:nvSpPr>
        <p:spPr>
          <a:xfrm>
            <a:off x="609600" y="1676400"/>
            <a:ext cx="4171950" cy="4328795"/>
          </a:xfrm>
          <a:prstGeom prst="roundRect">
            <a:avLst>
              <a:gd name="adj" fmla="val 2051"/>
            </a:avLst>
          </a:prstGeom>
          <a:solidFill>
            <a:srgbClr val="F7F7F7"/>
          </a:solidFill>
          <a:ln w="11430">
            <a:solidFill>
              <a:srgbClr val="777777"/>
            </a:solidFill>
          </a:ln>
        </p:spPr>
        <p:txBody>
          <a:bodyPr anchor="t">
            <a:noAutofit/>
          </a:bodyPr>
          <a:lstStyle/>
          <a:p>
            <a:pPr algn="l">
              <a:lnSpc>
                <a:spcPct val="150000"/>
              </a:lnSpc>
              <a:defRPr sz="1035">
                <a:solidFill>
                  <a:srgbClr val="11111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00">
                <a:solidFill>
                  <a:srgbClr val="111111"/>
                </a:solidFill>
                <a:latin typeface="DejaVu Sans Mono"/>
                <a:ea typeface="DejaVu Sans Mono"/>
                <a:cs typeface="DejaVu Sans Mono"/>
              </a:rPr>
              <a:t>class SimpleCNN(nn.Module):</a:t>
            </a:r>
            <a:endParaRPr sz="1400">
              <a:solidFill>
                <a:srgbClr val="111111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lnSpc>
                <a:spcPct val="150000"/>
              </a:lnSpc>
              <a:defRPr sz="1035">
                <a:solidFill>
                  <a:srgbClr val="11111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00">
                <a:solidFill>
                  <a:srgbClr val="111111"/>
                </a:solidFill>
                <a:latin typeface="DejaVu Sans Mono"/>
                <a:ea typeface="DejaVu Sans Mono"/>
                <a:cs typeface="DejaVu Sans Mono"/>
              </a:rPr>
              <a:t>  def __init__(self):</a:t>
            </a:r>
            <a:endParaRPr sz="1400">
              <a:solidFill>
                <a:srgbClr val="111111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lnSpc>
                <a:spcPct val="150000"/>
              </a:lnSpc>
              <a:defRPr sz="1035">
                <a:solidFill>
                  <a:srgbClr val="11111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00">
                <a:solidFill>
                  <a:srgbClr val="111111"/>
                </a:solidFill>
                <a:latin typeface="DejaVu Sans Mono"/>
                <a:ea typeface="DejaVu Sans Mono"/>
                <a:cs typeface="DejaVu Sans Mono"/>
              </a:rPr>
              <a:t>    super().__init__()</a:t>
            </a:r>
            <a:endParaRPr sz="1400">
              <a:solidFill>
                <a:srgbClr val="111111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lnSpc>
                <a:spcPct val="150000"/>
              </a:lnSpc>
              <a:defRPr sz="1035">
                <a:solidFill>
                  <a:srgbClr val="11111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00">
                <a:solidFill>
                  <a:srgbClr val="111111"/>
                </a:solidFill>
                <a:latin typeface="DejaVu Sans Mono"/>
                <a:ea typeface="DejaVu Sans Mono"/>
                <a:cs typeface="DejaVu Sans Mono"/>
              </a:rPr>
              <a:t>    self.conv = nn.Conv2d(</a:t>
            </a:r>
            <a:endParaRPr sz="1400">
              <a:solidFill>
                <a:srgbClr val="111111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lnSpc>
                <a:spcPct val="150000"/>
              </a:lnSpc>
              <a:defRPr sz="1035">
                <a:solidFill>
                  <a:srgbClr val="11111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00">
                <a:solidFill>
                  <a:srgbClr val="111111"/>
                </a:solidFill>
                <a:latin typeface="DejaVu Sans Mono"/>
                <a:ea typeface="DejaVu Sans Mono"/>
                <a:cs typeface="DejaVu Sans Mono"/>
              </a:rPr>
              <a:t>      1, 16, kernel_size=3, padding=1)</a:t>
            </a:r>
            <a:endParaRPr sz="1400">
              <a:solidFill>
                <a:srgbClr val="111111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lnSpc>
                <a:spcPct val="150000"/>
              </a:lnSpc>
              <a:defRPr sz="1035">
                <a:solidFill>
                  <a:srgbClr val="11111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00">
                <a:solidFill>
                  <a:srgbClr val="111111"/>
                </a:solidFill>
                <a:latin typeface="DejaVu Sans Mono"/>
                <a:ea typeface="DejaVu Sans Mono"/>
                <a:cs typeface="DejaVu Sans Mono"/>
              </a:rPr>
              <a:t>    self.pool = nn.MaxPool2d(2)</a:t>
            </a:r>
            <a:endParaRPr sz="1400">
              <a:solidFill>
                <a:srgbClr val="111111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lnSpc>
                <a:spcPct val="150000"/>
              </a:lnSpc>
              <a:defRPr sz="1035">
                <a:solidFill>
                  <a:srgbClr val="11111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00">
                <a:solidFill>
                  <a:srgbClr val="111111"/>
                </a:solidFill>
                <a:latin typeface="DejaVu Sans Mono"/>
                <a:ea typeface="DejaVu Sans Mono"/>
                <a:cs typeface="DejaVu Sans Mono"/>
              </a:rPr>
              <a:t>    self.fc = nn.Linear(16*14*14, 10)</a:t>
            </a:r>
            <a:endParaRPr sz="1400">
              <a:solidFill>
                <a:srgbClr val="111111"/>
              </a:solidFill>
              <a:latin typeface="DejaVu Sans Mono"/>
              <a:ea typeface="DejaVu Sans Mono"/>
              <a:cs typeface="DejaVu Sans Mono"/>
            </a:endParaRPr>
          </a:p>
          <a:p>
            <a:pPr>
              <a:lnSpc>
                <a:spcPct val="150000"/>
              </a:lnSpc>
            </a:pPr>
            <a:endParaRPr sz="1400"/>
          </a:p>
          <a:p>
            <a:pPr algn="l">
              <a:lnSpc>
                <a:spcPct val="150000"/>
              </a:lnSpc>
              <a:defRPr sz="1035">
                <a:solidFill>
                  <a:srgbClr val="11111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00">
                <a:solidFill>
                  <a:srgbClr val="111111"/>
                </a:solidFill>
                <a:latin typeface="DejaVu Sans Mono"/>
                <a:ea typeface="DejaVu Sans Mono"/>
                <a:cs typeface="DejaVu Sans Mono"/>
              </a:rPr>
              <a:t>  def forward(self, x):</a:t>
            </a:r>
            <a:endParaRPr sz="1400">
              <a:solidFill>
                <a:srgbClr val="111111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lnSpc>
                <a:spcPct val="150000"/>
              </a:lnSpc>
              <a:defRPr sz="1035">
                <a:solidFill>
                  <a:srgbClr val="11111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00">
                <a:solidFill>
                  <a:srgbClr val="111111"/>
                </a:solidFill>
                <a:latin typeface="DejaVu Sans Mono"/>
                <a:ea typeface="DejaVu Sans Mono"/>
                <a:cs typeface="DejaVu Sans Mono"/>
              </a:rPr>
              <a:t>    x = F.relu(self.conv(x))</a:t>
            </a:r>
            <a:endParaRPr sz="1400">
              <a:solidFill>
                <a:srgbClr val="111111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lnSpc>
                <a:spcPct val="150000"/>
              </a:lnSpc>
              <a:defRPr sz="1035">
                <a:solidFill>
                  <a:srgbClr val="11111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00">
                <a:solidFill>
                  <a:srgbClr val="111111"/>
                </a:solidFill>
                <a:latin typeface="DejaVu Sans Mono"/>
                <a:ea typeface="DejaVu Sans Mono"/>
                <a:cs typeface="DejaVu Sans Mono"/>
              </a:rPr>
              <a:t>    x = self.pool(x)</a:t>
            </a:r>
            <a:endParaRPr sz="1400">
              <a:solidFill>
                <a:srgbClr val="111111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lnSpc>
                <a:spcPct val="150000"/>
              </a:lnSpc>
              <a:defRPr sz="1035">
                <a:solidFill>
                  <a:srgbClr val="11111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00">
                <a:solidFill>
                  <a:srgbClr val="111111"/>
                </a:solidFill>
                <a:latin typeface="DejaVu Sans Mono"/>
                <a:ea typeface="DejaVu Sans Mono"/>
                <a:cs typeface="DejaVu Sans Mono"/>
              </a:rPr>
              <a:t>    x = torch.flatten(x, 1)</a:t>
            </a:r>
            <a:endParaRPr sz="1400">
              <a:solidFill>
                <a:srgbClr val="111111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lnSpc>
                <a:spcPct val="150000"/>
              </a:lnSpc>
              <a:defRPr sz="1035">
                <a:solidFill>
                  <a:srgbClr val="11111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00">
                <a:solidFill>
                  <a:srgbClr val="111111"/>
                </a:solidFill>
                <a:latin typeface="DejaVu Sans Mono"/>
                <a:ea typeface="DejaVu Sans Mono"/>
                <a:cs typeface="DejaVu Sans Mono"/>
              </a:rPr>
              <a:t>    return self.fc(x)</a:t>
            </a:r>
            <a:endParaRPr sz="1400">
              <a:solidFill>
                <a:srgbClr val="111111"/>
              </a:solidFill>
              <a:latin typeface="DejaVu Sans Mono"/>
              <a:ea typeface="DejaVu Sans Mono"/>
              <a:cs typeface="DejaVu Sans Mono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5219700" y="1304925"/>
            <a:ext cx="314325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1">
                <a:solidFill>
                  <a:srgbClr val="2F68B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>
                <a:solidFill>
                  <a:srgbClr val="2F68B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Tensor shapes</a:t>
            </a:r>
            <a:endParaRPr sz="1575" b="1">
              <a:solidFill>
                <a:srgbClr val="2F68B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" name="Rounded Rectangle 9"/>
          <p:cNvSpPr>
            <a:spLocks noGrp="1"/>
          </p:cNvSpPr>
          <p:nvPr/>
        </p:nvSpPr>
        <p:spPr>
          <a:xfrm>
            <a:off x="5219700" y="1752600"/>
            <a:ext cx="2714625" cy="514350"/>
          </a:xfrm>
          <a:prstGeom prst="roundRect">
            <a:avLst>
              <a:gd name="adj" fmla="val 14815"/>
            </a:avLst>
          </a:prstGeom>
          <a:solidFill>
            <a:srgbClr val="EEF4FC"/>
          </a:solidFill>
          <a:ln w="11430">
            <a:solidFill>
              <a:srgbClr val="3978C9"/>
            </a:solidFill>
          </a:ln>
        </p:spPr>
        <p:txBody>
          <a:bodyPr anchor="ctr">
            <a:noAutofit/>
          </a:bodyPr>
          <a:lstStyle/>
          <a:p>
            <a:pPr algn="ctr">
              <a:defRPr sz="1275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Input image</a:t>
            </a:r>
            <a:endParaRPr sz="1275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defRPr sz="1275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[B, 1, 28, 28]</a:t>
            </a:r>
            <a:endParaRPr sz="1275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Down Arrow 10"/>
          <p:cNvSpPr>
            <a:spLocks noGrp="1"/>
          </p:cNvSpPr>
          <p:nvPr/>
        </p:nvSpPr>
        <p:spPr>
          <a:xfrm>
            <a:off x="6419850" y="2324100"/>
            <a:ext cx="285750" cy="257175"/>
          </a:xfrm>
          <a:prstGeom prst="downArrow">
            <a:avLst/>
          </a:prstGeom>
          <a:solidFill>
            <a:srgbClr val="4A78C2"/>
          </a:solidFill>
          <a:ln w="0">
            <a:solidFill>
              <a:srgbClr val="4A78C2"/>
            </a:solidFill>
          </a:ln>
        </p:spPr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5219700" y="2638425"/>
            <a:ext cx="2714625" cy="590550"/>
          </a:xfrm>
          <a:prstGeom prst="roundRect">
            <a:avLst>
              <a:gd name="adj" fmla="val 12903"/>
            </a:avLst>
          </a:prstGeom>
          <a:solidFill>
            <a:srgbClr val="DDEBFA"/>
          </a:solidFill>
          <a:ln w="11430">
            <a:solidFill>
              <a:srgbClr val="3978C9"/>
            </a:solidFill>
          </a:ln>
        </p:spPr>
        <p:txBody>
          <a:bodyPr anchor="ctr">
            <a:noAutofit/>
          </a:bodyPr>
          <a:lstStyle/>
          <a:p>
            <a:pPr algn="ctr">
              <a:defRPr sz="1275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 × 3 convolution + ReLU</a:t>
            </a:r>
            <a:endParaRPr sz="1275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defRPr sz="1275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[B, 16, 28, 28]</a:t>
            </a:r>
            <a:endParaRPr sz="1275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Down Arrow 12"/>
          <p:cNvSpPr>
            <a:spLocks noGrp="1"/>
          </p:cNvSpPr>
          <p:nvPr/>
        </p:nvSpPr>
        <p:spPr>
          <a:xfrm>
            <a:off x="6419850" y="3286125"/>
            <a:ext cx="285750" cy="257175"/>
          </a:xfrm>
          <a:prstGeom prst="downArrow">
            <a:avLst/>
          </a:prstGeom>
          <a:solidFill>
            <a:srgbClr val="4A78C2"/>
          </a:solidFill>
          <a:ln w="0">
            <a:solidFill>
              <a:srgbClr val="4A78C2"/>
            </a:solidFill>
          </a:ln>
        </p:spPr>
      </p:sp>
      <p:sp>
        <p:nvSpPr>
          <p:cNvPr id="14" name="Rounded Rectangle 13"/>
          <p:cNvSpPr>
            <a:spLocks noGrp="1"/>
          </p:cNvSpPr>
          <p:nvPr/>
        </p:nvSpPr>
        <p:spPr>
          <a:xfrm>
            <a:off x="5219700" y="3600450"/>
            <a:ext cx="2714625" cy="590550"/>
          </a:xfrm>
          <a:prstGeom prst="roundRect">
            <a:avLst>
              <a:gd name="adj" fmla="val 12903"/>
            </a:avLst>
          </a:prstGeom>
          <a:solidFill>
            <a:srgbClr val="E8F3E6"/>
          </a:solidFill>
          <a:ln w="11430">
            <a:solidFill>
              <a:srgbClr val="4D9B55"/>
            </a:solidFill>
          </a:ln>
        </p:spPr>
        <p:txBody>
          <a:bodyPr anchor="ctr">
            <a:noAutofit/>
          </a:bodyPr>
          <a:lstStyle/>
          <a:p>
            <a:pPr algn="ctr">
              <a:defRPr sz="1275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 × 2 max pooling</a:t>
            </a:r>
            <a:endParaRPr sz="1275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defRPr sz="1275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[B, 16, 14, 14]</a:t>
            </a:r>
            <a:endParaRPr sz="1275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" name="Down Arrow 14"/>
          <p:cNvSpPr>
            <a:spLocks noGrp="1"/>
          </p:cNvSpPr>
          <p:nvPr/>
        </p:nvSpPr>
        <p:spPr>
          <a:xfrm>
            <a:off x="6419850" y="4248150"/>
            <a:ext cx="285750" cy="257175"/>
          </a:xfrm>
          <a:prstGeom prst="downArrow">
            <a:avLst/>
          </a:prstGeom>
          <a:solidFill>
            <a:srgbClr val="4A78C2"/>
          </a:solidFill>
          <a:ln w="0">
            <a:solidFill>
              <a:srgbClr val="4A78C2"/>
            </a:solidFill>
          </a:ln>
        </p:spPr>
      </p:sp>
      <p:sp>
        <p:nvSpPr>
          <p:cNvPr id="16" name="Rounded Rectangle 15"/>
          <p:cNvSpPr>
            <a:spLocks noGrp="1"/>
          </p:cNvSpPr>
          <p:nvPr/>
        </p:nvSpPr>
        <p:spPr>
          <a:xfrm>
            <a:off x="5219700" y="4562475"/>
            <a:ext cx="2714625" cy="514350"/>
          </a:xfrm>
          <a:prstGeom prst="roundRect">
            <a:avLst>
              <a:gd name="adj" fmla="val 14815"/>
            </a:avLst>
          </a:prstGeom>
          <a:solidFill>
            <a:srgbClr val="FFF3DF"/>
          </a:solidFill>
          <a:ln w="11430">
            <a:solidFill>
              <a:srgbClr val="C58B35"/>
            </a:solidFill>
          </a:ln>
        </p:spPr>
        <p:txBody>
          <a:bodyPr anchor="ctr">
            <a:noAutofit/>
          </a:bodyPr>
          <a:lstStyle/>
          <a:p>
            <a:pPr algn="ctr">
              <a:defRPr sz="1275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Flatten + Linear</a:t>
            </a:r>
            <a:endParaRPr sz="1275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defRPr sz="1275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[B, 10]</a:t>
            </a:r>
            <a:endParaRPr sz="1275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5219700" y="5286375"/>
            <a:ext cx="20002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Why these numbers?</a:t>
            </a:r>
            <a:endParaRPr sz="1425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8" name="Rectangle 17"/>
          <p:cNvSpPr>
            <a:spLocks noGrp="1"/>
          </p:cNvSpPr>
          <p:nvPr/>
        </p:nvSpPr>
        <p:spPr>
          <a:xfrm>
            <a:off x="5219700" y="5572125"/>
            <a:ext cx="3286125" cy="600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4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4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16 filters create 16 feature maps.</a:t>
            </a:r>
            <a:endParaRPr sz="1240" b="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defRPr sz="124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4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Padding keeps 28 × 28. Pooling halves it to 14 × 14.</a:t>
            </a:r>
            <a:endParaRPr sz="1240" b="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" name="Rectangle 20"/>
          <p:cNvSpPr>
            <a:spLocks noGrp="1"/>
          </p:cNvSpPr>
          <p:nvPr/>
        </p:nvSpPr>
        <p:spPr>
          <a:xfrm>
            <a:off x="590550" y="228600"/>
            <a:ext cx="7953375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25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25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Transformer Self-Attention in PyTorch</a:t>
            </a:r>
            <a:endParaRPr sz="2250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14350" y="781050"/>
            <a:ext cx="8115300" cy="28575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609600" y="895350"/>
            <a:ext cx="79057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This single-head implementation exposes the attention calculation step by step.</a:t>
            </a:r>
            <a:endParaRPr sz="1350" b="1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514350" y="6620510"/>
            <a:ext cx="8115300" cy="19050"/>
          </a:xfrm>
          <a:prstGeom prst="rect">
            <a:avLst/>
          </a:prstGeom>
          <a:solidFill>
            <a:srgbClr val="555555"/>
          </a:solidFill>
          <a:ln w="0">
            <a:solidFill>
              <a:srgbClr val="555555"/>
            </a:solidFill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609600" y="1304925"/>
            <a:ext cx="400050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1">
                <a:solidFill>
                  <a:srgbClr val="D9770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>
                <a:solidFill>
                  <a:srgbClr val="D9770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Minimal self-attention</a:t>
            </a:r>
            <a:endParaRPr sz="1575" b="1">
              <a:solidFill>
                <a:srgbClr val="D9770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Rounded Rectangle 7"/>
          <p:cNvSpPr>
            <a:spLocks noGrp="1"/>
          </p:cNvSpPr>
          <p:nvPr/>
        </p:nvSpPr>
        <p:spPr>
          <a:xfrm>
            <a:off x="609600" y="1604645"/>
            <a:ext cx="4695825" cy="4871720"/>
          </a:xfrm>
          <a:prstGeom prst="roundRect">
            <a:avLst>
              <a:gd name="adj" fmla="val 1887"/>
            </a:avLst>
          </a:prstGeom>
          <a:solidFill>
            <a:srgbClr val="F7F7F7"/>
          </a:solidFill>
          <a:ln w="11430">
            <a:solidFill>
              <a:srgbClr val="777777"/>
            </a:solidFill>
          </a:ln>
        </p:spPr>
        <p:txBody>
          <a:bodyPr anchor="t">
            <a:noAutofit/>
          </a:bodyPr>
          <a:lstStyle/>
          <a:p>
            <a:pPr algn="l">
              <a:lnSpc>
                <a:spcPct val="150000"/>
              </a:lnSpc>
              <a:defRPr sz="980">
                <a:solidFill>
                  <a:srgbClr val="11111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00">
                <a:solidFill>
                  <a:srgbClr val="111111"/>
                </a:solidFill>
                <a:latin typeface="DejaVu Sans Mono"/>
                <a:ea typeface="DejaVu Sans Mono"/>
                <a:cs typeface="DejaVu Sans Mono"/>
              </a:rPr>
              <a:t>import math</a:t>
            </a:r>
            <a:endParaRPr sz="1400">
              <a:solidFill>
                <a:srgbClr val="111111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lnSpc>
                <a:spcPct val="150000"/>
              </a:lnSpc>
              <a:defRPr sz="980">
                <a:solidFill>
                  <a:srgbClr val="11111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00">
                <a:solidFill>
                  <a:srgbClr val="111111"/>
                </a:solidFill>
                <a:latin typeface="DejaVu Sans Mono"/>
                <a:ea typeface="DejaVu Sans Mono"/>
                <a:cs typeface="DejaVu Sans Mono"/>
              </a:rPr>
              <a:t>class SelfAttention(nn.Module):</a:t>
            </a:r>
            <a:endParaRPr sz="1400">
              <a:solidFill>
                <a:srgbClr val="111111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lnSpc>
                <a:spcPct val="150000"/>
              </a:lnSpc>
              <a:defRPr sz="980">
                <a:solidFill>
                  <a:srgbClr val="11111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00">
                <a:solidFill>
                  <a:srgbClr val="111111"/>
                </a:solidFill>
                <a:latin typeface="DejaVu Sans Mono"/>
                <a:ea typeface="DejaVu Sans Mono"/>
                <a:cs typeface="DejaVu Sans Mono"/>
              </a:rPr>
              <a:t>  def __init__(self, d):</a:t>
            </a:r>
            <a:endParaRPr sz="1400">
              <a:solidFill>
                <a:srgbClr val="111111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lnSpc>
                <a:spcPct val="150000"/>
              </a:lnSpc>
              <a:defRPr sz="980">
                <a:solidFill>
                  <a:srgbClr val="11111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00">
                <a:solidFill>
                  <a:srgbClr val="111111"/>
                </a:solidFill>
                <a:latin typeface="DejaVu Sans Mono"/>
                <a:ea typeface="DejaVu Sans Mono"/>
                <a:cs typeface="DejaVu Sans Mono"/>
              </a:rPr>
              <a:t>    super().__init__()</a:t>
            </a:r>
            <a:endParaRPr sz="1400">
              <a:solidFill>
                <a:srgbClr val="111111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lnSpc>
                <a:spcPct val="150000"/>
              </a:lnSpc>
              <a:defRPr sz="980">
                <a:solidFill>
                  <a:srgbClr val="11111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00">
                <a:solidFill>
                  <a:srgbClr val="111111"/>
                </a:solidFill>
                <a:latin typeface="DejaVu Sans Mono"/>
                <a:ea typeface="DejaVu Sans Mono"/>
                <a:cs typeface="DejaVu Sans Mono"/>
              </a:rPr>
              <a:t>    self.q = nn.Linear(d, d)</a:t>
            </a:r>
            <a:endParaRPr sz="1400">
              <a:solidFill>
                <a:srgbClr val="111111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lnSpc>
                <a:spcPct val="150000"/>
              </a:lnSpc>
              <a:defRPr sz="980">
                <a:solidFill>
                  <a:srgbClr val="11111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00">
                <a:solidFill>
                  <a:srgbClr val="111111"/>
                </a:solidFill>
                <a:latin typeface="DejaVu Sans Mono"/>
                <a:ea typeface="DejaVu Sans Mono"/>
                <a:cs typeface="DejaVu Sans Mono"/>
              </a:rPr>
              <a:t>    self.k = nn.Linear(d, d)</a:t>
            </a:r>
            <a:endParaRPr sz="1400">
              <a:solidFill>
                <a:srgbClr val="111111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lnSpc>
                <a:spcPct val="150000"/>
              </a:lnSpc>
              <a:defRPr sz="980">
                <a:solidFill>
                  <a:srgbClr val="11111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00">
                <a:solidFill>
                  <a:srgbClr val="111111"/>
                </a:solidFill>
                <a:latin typeface="DejaVu Sans Mono"/>
                <a:ea typeface="DejaVu Sans Mono"/>
                <a:cs typeface="DejaVu Sans Mono"/>
              </a:rPr>
              <a:t>    self.v = nn.Linear(d, d)</a:t>
            </a:r>
            <a:endParaRPr sz="1400">
              <a:solidFill>
                <a:srgbClr val="111111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lnSpc>
                <a:spcPct val="150000"/>
              </a:lnSpc>
              <a:defRPr sz="980">
                <a:solidFill>
                  <a:srgbClr val="111111"/>
                </a:solidFill>
                <a:latin typeface="DejaVu Sans Mono"/>
                <a:ea typeface="DejaVu Sans Mono"/>
                <a:cs typeface="DejaVu Sans Mono"/>
              </a:defRPr>
            </a:pPr>
            <a:endParaRPr sz="1400">
              <a:solidFill>
                <a:srgbClr val="111111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lnSpc>
                <a:spcPct val="150000"/>
              </a:lnSpc>
              <a:defRPr sz="980">
                <a:solidFill>
                  <a:srgbClr val="11111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00">
                <a:solidFill>
                  <a:srgbClr val="111111"/>
                </a:solidFill>
                <a:latin typeface="DejaVu Sans Mono"/>
                <a:ea typeface="DejaVu Sans Mono"/>
                <a:cs typeface="DejaVu Sans Mono"/>
              </a:rPr>
              <a:t>  def forward(self, x):</a:t>
            </a:r>
            <a:endParaRPr sz="1400">
              <a:solidFill>
                <a:srgbClr val="111111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lnSpc>
                <a:spcPct val="150000"/>
              </a:lnSpc>
              <a:defRPr sz="980">
                <a:solidFill>
                  <a:srgbClr val="11111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00">
                <a:solidFill>
                  <a:srgbClr val="111111"/>
                </a:solidFill>
                <a:latin typeface="DejaVu Sans Mono"/>
                <a:ea typeface="DejaVu Sans Mono"/>
                <a:cs typeface="DejaVu Sans Mono"/>
              </a:rPr>
              <a:t>    Q, K, V = self.q(x), self.k(x), self.v(x)</a:t>
            </a:r>
            <a:endParaRPr sz="1400">
              <a:solidFill>
                <a:srgbClr val="111111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lnSpc>
                <a:spcPct val="150000"/>
              </a:lnSpc>
              <a:defRPr sz="980">
                <a:solidFill>
                  <a:srgbClr val="11111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00">
                <a:solidFill>
                  <a:srgbClr val="111111"/>
                </a:solidFill>
                <a:latin typeface="DejaVu Sans Mono"/>
                <a:ea typeface="DejaVu Sans Mono"/>
                <a:cs typeface="DejaVu Sans Mono"/>
              </a:rPr>
              <a:t>    scores = Q @ K.transpose(-2, -1)</a:t>
            </a:r>
            <a:endParaRPr sz="1400">
              <a:solidFill>
                <a:srgbClr val="111111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lnSpc>
                <a:spcPct val="150000"/>
              </a:lnSpc>
              <a:defRPr sz="980">
                <a:solidFill>
                  <a:srgbClr val="11111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00">
                <a:solidFill>
                  <a:srgbClr val="111111"/>
                </a:solidFill>
                <a:latin typeface="DejaVu Sans Mono"/>
                <a:ea typeface="DejaVu Sans Mono"/>
                <a:cs typeface="DejaVu Sans Mono"/>
              </a:rPr>
              <a:t>    scores = scores / math.sqrt(x.size(-1))</a:t>
            </a:r>
            <a:endParaRPr sz="1400">
              <a:solidFill>
                <a:srgbClr val="111111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lnSpc>
                <a:spcPct val="150000"/>
              </a:lnSpc>
              <a:defRPr sz="980">
                <a:solidFill>
                  <a:srgbClr val="11111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00">
                <a:solidFill>
                  <a:srgbClr val="111111"/>
                </a:solidFill>
                <a:latin typeface="DejaVu Sans Mono"/>
                <a:ea typeface="DejaVu Sans Mono"/>
                <a:cs typeface="DejaVu Sans Mono"/>
              </a:rPr>
              <a:t>    weights = torch.softmax(scores, dim=-1)</a:t>
            </a:r>
            <a:endParaRPr sz="1400">
              <a:solidFill>
                <a:srgbClr val="111111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lnSpc>
                <a:spcPct val="150000"/>
              </a:lnSpc>
              <a:defRPr sz="980">
                <a:solidFill>
                  <a:srgbClr val="11111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00">
                <a:solidFill>
                  <a:srgbClr val="111111"/>
                </a:solidFill>
                <a:latin typeface="DejaVu Sans Mono"/>
                <a:ea typeface="DejaVu Sans Mono"/>
                <a:cs typeface="DejaVu Sans Mono"/>
              </a:rPr>
              <a:t>    output = weights @ V</a:t>
            </a:r>
            <a:endParaRPr sz="1400">
              <a:solidFill>
                <a:srgbClr val="111111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lnSpc>
                <a:spcPct val="150000"/>
              </a:lnSpc>
              <a:defRPr sz="980">
                <a:solidFill>
                  <a:srgbClr val="11111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00">
                <a:solidFill>
                  <a:srgbClr val="111111"/>
                </a:solidFill>
                <a:latin typeface="DejaVu Sans Mono"/>
                <a:ea typeface="DejaVu Sans Mono"/>
                <a:cs typeface="DejaVu Sans Mono"/>
              </a:rPr>
              <a:t>    return output, weights</a:t>
            </a:r>
            <a:endParaRPr sz="1400">
              <a:solidFill>
                <a:srgbClr val="111111"/>
              </a:solidFill>
              <a:latin typeface="DejaVu Sans Mono"/>
              <a:ea typeface="DejaVu Sans Mono"/>
              <a:cs typeface="DejaVu Sans Mono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5695950" y="1304925"/>
            <a:ext cx="295275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1">
                <a:solidFill>
                  <a:srgbClr val="D9770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>
                <a:solidFill>
                  <a:srgbClr val="D9770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Attention calculation</a:t>
            </a:r>
            <a:endParaRPr sz="1575" b="1">
              <a:solidFill>
                <a:srgbClr val="D9770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" name="Rounded Rectangle 9"/>
          <p:cNvSpPr>
            <a:spLocks noGrp="1"/>
          </p:cNvSpPr>
          <p:nvPr/>
        </p:nvSpPr>
        <p:spPr>
          <a:xfrm>
            <a:off x="5829300" y="1714500"/>
            <a:ext cx="2286000" cy="457200"/>
          </a:xfrm>
          <a:prstGeom prst="roundRect">
            <a:avLst>
              <a:gd name="adj" fmla="val 16667"/>
            </a:avLst>
          </a:prstGeom>
          <a:solidFill>
            <a:srgbClr val="FFF4E5"/>
          </a:solidFill>
          <a:ln w="11430">
            <a:solidFill>
              <a:srgbClr val="D88928"/>
            </a:solidFill>
          </a:ln>
        </p:spPr>
        <p:txBody>
          <a:bodyPr anchor="ctr">
            <a:noAutofit/>
          </a:bodyPr>
          <a:lstStyle/>
          <a:p>
            <a:pPr algn="ctr">
              <a:defRPr sz="1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Input tokens X</a:t>
            </a:r>
            <a:endParaRPr sz="1200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defRPr sz="1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[B, L, D]</a:t>
            </a:r>
            <a:endParaRPr sz="1200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Down Arrow 10"/>
          <p:cNvSpPr>
            <a:spLocks noGrp="1"/>
          </p:cNvSpPr>
          <p:nvPr/>
        </p:nvSpPr>
        <p:spPr>
          <a:xfrm>
            <a:off x="6829425" y="2228850"/>
            <a:ext cx="266700" cy="238125"/>
          </a:xfrm>
          <a:prstGeom prst="downArrow">
            <a:avLst/>
          </a:prstGeom>
          <a:solidFill>
            <a:srgbClr val="D88928"/>
          </a:solidFill>
          <a:ln w="0">
            <a:solidFill>
              <a:srgbClr val="D88928"/>
            </a:solidFill>
          </a:ln>
        </p:spPr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5829300" y="2524125"/>
            <a:ext cx="2286000" cy="476250"/>
          </a:xfrm>
          <a:prstGeom prst="roundRect">
            <a:avLst>
              <a:gd name="adj" fmla="val 16000"/>
            </a:avLst>
          </a:prstGeom>
          <a:solidFill>
            <a:srgbClr val="EEF4FC"/>
          </a:solidFill>
          <a:ln w="11430">
            <a:solidFill>
              <a:srgbClr val="3978C9"/>
            </a:solidFill>
          </a:ln>
        </p:spPr>
        <p:txBody>
          <a:bodyPr anchor="ctr">
            <a:noAutofit/>
          </a:bodyPr>
          <a:lstStyle/>
          <a:p>
            <a:pPr algn="ctr">
              <a:defRPr sz="1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Q, K, V projections</a:t>
            </a:r>
            <a:endParaRPr sz="1200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defRPr sz="1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[B, L, D]</a:t>
            </a:r>
            <a:endParaRPr sz="1200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Down Arrow 12"/>
          <p:cNvSpPr>
            <a:spLocks noGrp="1"/>
          </p:cNvSpPr>
          <p:nvPr/>
        </p:nvSpPr>
        <p:spPr>
          <a:xfrm>
            <a:off x="6829425" y="3057525"/>
            <a:ext cx="266700" cy="238125"/>
          </a:xfrm>
          <a:prstGeom prst="downArrow">
            <a:avLst/>
          </a:prstGeom>
          <a:solidFill>
            <a:srgbClr val="D88928"/>
          </a:solidFill>
          <a:ln w="0">
            <a:solidFill>
              <a:srgbClr val="D88928"/>
            </a:solidFill>
          </a:ln>
        </p:spPr>
      </p:sp>
      <p:sp>
        <p:nvSpPr>
          <p:cNvPr id="14" name="Rounded Rectangle 13"/>
          <p:cNvSpPr>
            <a:spLocks noGrp="1"/>
          </p:cNvSpPr>
          <p:nvPr/>
        </p:nvSpPr>
        <p:spPr>
          <a:xfrm>
            <a:off x="5829300" y="3352800"/>
            <a:ext cx="2286000" cy="476250"/>
          </a:xfrm>
          <a:prstGeom prst="roundRect">
            <a:avLst>
              <a:gd name="adj" fmla="val 16000"/>
            </a:avLst>
          </a:prstGeom>
          <a:solidFill>
            <a:srgbClr val="EEF4FC"/>
          </a:solidFill>
          <a:ln w="11430">
            <a:solidFill>
              <a:srgbClr val="3978C9"/>
            </a:solidFill>
          </a:ln>
        </p:spPr>
        <p:txBody>
          <a:bodyPr anchor="ctr">
            <a:noAutofit/>
          </a:bodyPr>
          <a:lstStyle/>
          <a:p>
            <a:pPr algn="ctr">
              <a:defRPr sz="1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QKᵀ / √D</a:t>
            </a:r>
            <a:endParaRPr sz="1200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defRPr sz="1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Scores [B, L, L]</a:t>
            </a:r>
            <a:endParaRPr sz="1200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" name="Down Arrow 14"/>
          <p:cNvSpPr>
            <a:spLocks noGrp="1"/>
          </p:cNvSpPr>
          <p:nvPr/>
        </p:nvSpPr>
        <p:spPr>
          <a:xfrm>
            <a:off x="6829425" y="3886200"/>
            <a:ext cx="266700" cy="238125"/>
          </a:xfrm>
          <a:prstGeom prst="downArrow">
            <a:avLst/>
          </a:prstGeom>
          <a:solidFill>
            <a:srgbClr val="D88928"/>
          </a:solidFill>
          <a:ln w="0">
            <a:solidFill>
              <a:srgbClr val="D88928"/>
            </a:solidFill>
          </a:ln>
        </p:spPr>
      </p:sp>
      <p:sp>
        <p:nvSpPr>
          <p:cNvPr id="16" name="Rounded Rectangle 15"/>
          <p:cNvSpPr>
            <a:spLocks noGrp="1"/>
          </p:cNvSpPr>
          <p:nvPr/>
        </p:nvSpPr>
        <p:spPr>
          <a:xfrm>
            <a:off x="5829300" y="4181475"/>
            <a:ext cx="2286000" cy="476250"/>
          </a:xfrm>
          <a:prstGeom prst="roundRect">
            <a:avLst>
              <a:gd name="adj" fmla="val 16000"/>
            </a:avLst>
          </a:prstGeom>
          <a:solidFill>
            <a:srgbClr val="E8F3E6"/>
          </a:solidFill>
          <a:ln w="11430">
            <a:solidFill>
              <a:srgbClr val="4D9B55"/>
            </a:solidFill>
          </a:ln>
        </p:spPr>
        <p:txBody>
          <a:bodyPr anchor="ctr">
            <a:noAutofit/>
          </a:bodyPr>
          <a:lstStyle/>
          <a:p>
            <a:pPr algn="ctr">
              <a:defRPr sz="1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Softmax</a:t>
            </a:r>
            <a:endParaRPr sz="1200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defRPr sz="1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Weights [B, L, L]</a:t>
            </a:r>
            <a:endParaRPr sz="1200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" name="Down Arrow 16"/>
          <p:cNvSpPr>
            <a:spLocks noGrp="1"/>
          </p:cNvSpPr>
          <p:nvPr/>
        </p:nvSpPr>
        <p:spPr>
          <a:xfrm>
            <a:off x="6829425" y="4714875"/>
            <a:ext cx="266700" cy="238125"/>
          </a:xfrm>
          <a:prstGeom prst="downArrow">
            <a:avLst/>
          </a:prstGeom>
          <a:solidFill>
            <a:srgbClr val="D88928"/>
          </a:solidFill>
          <a:ln w="0">
            <a:solidFill>
              <a:srgbClr val="D88928"/>
            </a:solidFill>
          </a:ln>
        </p:spPr>
      </p:sp>
      <p:sp>
        <p:nvSpPr>
          <p:cNvPr id="18" name="Rounded Rectangle 17"/>
          <p:cNvSpPr>
            <a:spLocks noGrp="1"/>
          </p:cNvSpPr>
          <p:nvPr/>
        </p:nvSpPr>
        <p:spPr>
          <a:xfrm>
            <a:off x="5829300" y="5010150"/>
            <a:ext cx="2286000" cy="476250"/>
          </a:xfrm>
          <a:prstGeom prst="roundRect">
            <a:avLst>
              <a:gd name="adj" fmla="val 16000"/>
            </a:avLst>
          </a:prstGeom>
          <a:solidFill>
            <a:srgbClr val="FFF3DF"/>
          </a:solidFill>
          <a:ln w="11430">
            <a:solidFill>
              <a:srgbClr val="C58B35"/>
            </a:solidFill>
          </a:ln>
        </p:spPr>
        <p:txBody>
          <a:bodyPr anchor="ctr">
            <a:noAutofit/>
          </a:bodyPr>
          <a:lstStyle/>
          <a:p>
            <a:pPr algn="ctr">
              <a:defRPr sz="1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Weights × V</a:t>
            </a:r>
            <a:endParaRPr sz="1200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defRPr sz="1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Output [B, L, D]</a:t>
            </a:r>
            <a:endParaRPr sz="1200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5562600" y="5715000"/>
            <a:ext cx="3095625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165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65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L: sequence length    D: embedding dimension</a:t>
            </a:r>
            <a:endParaRPr sz="1165" b="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5886450" y="6000750"/>
            <a:ext cx="21907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75" b="1">
                <a:solidFill>
                  <a:srgbClr val="2F68B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1">
                <a:solidFill>
                  <a:srgbClr val="2F68B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Each row of weights sums to 1.</a:t>
            </a:r>
            <a:endParaRPr sz="1275" b="1">
              <a:solidFill>
                <a:srgbClr val="2F68B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Rectangle 7"/>
          <p:cNvSpPr>
            <a:spLocks noGrp="1"/>
          </p:cNvSpPr>
          <p:nvPr/>
        </p:nvSpPr>
        <p:spPr>
          <a:xfrm>
            <a:off x="609600" y="180975"/>
            <a:ext cx="800100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475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475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Strengths and Limitations</a:t>
            </a:r>
            <a:endParaRPr sz="2475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04825" y="819150"/>
            <a:ext cx="8134350" cy="28575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504825" y="6477000"/>
            <a:ext cx="8134350" cy="19050"/>
          </a:xfrm>
          <a:prstGeom prst="rect">
            <a:avLst/>
          </a:prstGeom>
          <a:solidFill>
            <a:srgbClr val="555555"/>
          </a:solidFill>
          <a:ln w="0">
            <a:solidFill>
              <a:srgbClr val="555555"/>
            </a:solidFill>
          </a:ln>
        </p:spPr>
      </p:sp>
      <p:graphicFrame>
        <p:nvGraphicFramePr>
          <p:cNvPr id="13" name="Table 12"/>
          <p:cNvGraphicFramePr/>
          <p:nvPr/>
        </p:nvGraphicFramePr>
        <p:xfrm>
          <a:off x="685800" y="1381125"/>
          <a:ext cx="7772400" cy="3571876"/>
        </p:xfrm>
        <a:graphic>
          <a:graphicData uri="http://schemas.openxmlformats.org/drawingml/2006/table">
            <a:tbl>
              <a:tblPr/>
              <a:tblGrid>
                <a:gridCol w="1619250"/>
                <a:gridCol w="3076575"/>
                <a:gridCol w="3076575"/>
              </a:tblGrid>
              <a:tr h="892969"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Architecture</a:t>
                      </a:r>
                      <a:endParaRPr sz="1350" b="1">
                        <a:solidFill>
                          <a:srgbClr val="FFFFFF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3978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Main strength</a:t>
                      </a:r>
                      <a:endParaRPr sz="1350" b="1">
                        <a:solidFill>
                          <a:srgbClr val="FFFFFF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3978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Main limitation</a:t>
                      </a:r>
                      <a:endParaRPr sz="1350" b="1">
                        <a:solidFill>
                          <a:srgbClr val="FFFFFF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3978C9"/>
                    </a:solidFill>
                  </a:tcPr>
                </a:tc>
              </a:tr>
              <a:tr h="892969"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3978C9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MLP</a:t>
                      </a:r>
                      <a:endParaRPr sz="1425" b="1">
                        <a:solidFill>
                          <a:srgbClr val="3978C9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Simple and effective for compact feature vectors</a:t>
                      </a:r>
                      <a:endParaRPr sz="1200">
                        <a:solidFill>
                          <a:srgbClr val="111111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Loses spatial or sequential structure when inputs are flattened</a:t>
                      </a:r>
                      <a:endParaRPr sz="1200">
                        <a:solidFill>
                          <a:srgbClr val="111111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3F3F3"/>
                    </a:solidFill>
                  </a:tcPr>
                </a:tc>
              </a:tr>
              <a:tr h="892969"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3978C9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CNN</a:t>
                      </a:r>
                      <a:endParaRPr sz="1425" b="1">
                        <a:solidFill>
                          <a:srgbClr val="3978C9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EEF5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Efficient local processing with strong image bias</a:t>
                      </a:r>
                      <a:endParaRPr sz="1200">
                        <a:solidFill>
                          <a:srgbClr val="111111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EEF5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Direct global interaction usually requires more layers</a:t>
                      </a:r>
                      <a:endParaRPr sz="1200">
                        <a:solidFill>
                          <a:srgbClr val="111111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EEF5FD"/>
                    </a:solidFill>
                  </a:tcPr>
                </a:tc>
              </a:tr>
              <a:tr h="892969"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3978C9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Transformer</a:t>
                      </a:r>
                      <a:endParaRPr sz="1425" b="1">
                        <a:solidFill>
                          <a:srgbClr val="3978C9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FF3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Flexible global context and variable token sequences</a:t>
                      </a:r>
                      <a:endParaRPr sz="1200">
                        <a:solidFill>
                          <a:srgbClr val="111111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FF3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Attention cost increases quickly with sequence length</a:t>
                      </a:r>
                      <a:endParaRPr sz="1200">
                        <a:solidFill>
                          <a:srgbClr val="111111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FF3E6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>
            <a:spLocks noGrp="1"/>
          </p:cNvSpPr>
          <p:nvPr/>
        </p:nvSpPr>
        <p:spPr>
          <a:xfrm>
            <a:off x="1047750" y="5381625"/>
            <a:ext cx="70485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500" b="1">
                <a:solidFill>
                  <a:srgbClr val="3978C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3978C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Modern systems often combine these structures instead of relying on only one.</a:t>
            </a:r>
            <a:endParaRPr sz="1500" b="1">
              <a:solidFill>
                <a:srgbClr val="3978C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" name="Rectangle 22"/>
          <p:cNvSpPr>
            <a:spLocks noGrp="1"/>
          </p:cNvSpPr>
          <p:nvPr/>
        </p:nvSpPr>
        <p:spPr>
          <a:xfrm>
            <a:off x="609600" y="180975"/>
            <a:ext cx="800100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475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475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Typical Application Scenarios</a:t>
            </a:r>
            <a:endParaRPr sz="2475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04825" y="819150"/>
            <a:ext cx="8134350" cy="28575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504825" y="6477000"/>
            <a:ext cx="8134350" cy="19050"/>
          </a:xfrm>
          <a:prstGeom prst="rect">
            <a:avLst/>
          </a:prstGeom>
          <a:solidFill>
            <a:srgbClr val="555555"/>
          </a:solidFill>
          <a:ln w="0">
            <a:solidFill>
              <a:srgbClr val="555555"/>
            </a:solidFill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685800" y="933450"/>
            <a:ext cx="77724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Match the model to both the input structure and the required interactions.</a:t>
            </a:r>
            <a:endParaRPr sz="1500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742950" y="1571625"/>
            <a:ext cx="1428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650" b="1">
                <a:solidFill>
                  <a:srgbClr val="3978C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650" b="1">
                <a:solidFill>
                  <a:srgbClr val="3978C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MLP</a:t>
            </a:r>
            <a:endParaRPr sz="1650" b="1">
              <a:solidFill>
                <a:srgbClr val="3978C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Rounded Rectangle 7"/>
          <p:cNvSpPr>
            <a:spLocks noGrp="1"/>
          </p:cNvSpPr>
          <p:nvPr/>
        </p:nvSpPr>
        <p:spPr>
          <a:xfrm>
            <a:off x="2286000" y="1485900"/>
            <a:ext cx="6096000" cy="723900"/>
          </a:xfrm>
          <a:prstGeom prst="roundRect">
            <a:avLst>
              <a:gd name="adj" fmla="val 10526"/>
            </a:avLst>
          </a:prstGeom>
          <a:solidFill>
            <a:srgbClr val="F2F2F2"/>
          </a:solidFill>
          <a:ln w="9525">
            <a:solidFill>
              <a:srgbClr val="A8A8A8"/>
            </a:solidFill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2524125" y="1552575"/>
            <a:ext cx="5619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Compact vectors and tabular features</a:t>
            </a:r>
            <a:endParaRPr sz="1425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2524125" y="1847850"/>
            <a:ext cx="5619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0">
                <a:solidFill>
                  <a:srgbClr val="58585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0">
                <a:solidFill>
                  <a:srgbClr val="58585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Classification heads, projections, simple baselines</a:t>
            </a:r>
            <a:endParaRPr sz="1275" b="0">
              <a:solidFill>
                <a:srgbClr val="58585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742950" y="2714625"/>
            <a:ext cx="1428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650" b="1">
                <a:solidFill>
                  <a:srgbClr val="3978C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650" b="1">
                <a:solidFill>
                  <a:srgbClr val="3978C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CNN</a:t>
            </a:r>
            <a:endParaRPr sz="1650" b="1">
              <a:solidFill>
                <a:srgbClr val="3978C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2286000" y="2628900"/>
            <a:ext cx="6096000" cy="723900"/>
          </a:xfrm>
          <a:prstGeom prst="roundRect">
            <a:avLst>
              <a:gd name="adj" fmla="val 10526"/>
            </a:avLst>
          </a:prstGeom>
          <a:solidFill>
            <a:srgbClr val="EAF3FD"/>
          </a:solidFill>
          <a:ln w="9525">
            <a:solidFill>
              <a:srgbClr val="A8A8A8"/>
            </a:solidFill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2524125" y="2695575"/>
            <a:ext cx="5619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Images and spatial sensor grids</a:t>
            </a:r>
            <a:endParaRPr sz="1425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2524125" y="2990850"/>
            <a:ext cx="5619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0">
                <a:solidFill>
                  <a:srgbClr val="58585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0">
                <a:solidFill>
                  <a:srgbClr val="58585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Recognition, detection, segmentation, local visual features</a:t>
            </a:r>
            <a:endParaRPr sz="1275" b="0">
              <a:solidFill>
                <a:srgbClr val="58585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742950" y="3857625"/>
            <a:ext cx="1428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650" b="1">
                <a:solidFill>
                  <a:srgbClr val="3978C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650" b="1">
                <a:solidFill>
                  <a:srgbClr val="3978C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Transformer</a:t>
            </a:r>
            <a:endParaRPr sz="1650" b="1">
              <a:solidFill>
                <a:srgbClr val="3978C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" name="Rounded Rectangle 15"/>
          <p:cNvSpPr>
            <a:spLocks noGrp="1"/>
          </p:cNvSpPr>
          <p:nvPr/>
        </p:nvSpPr>
        <p:spPr>
          <a:xfrm>
            <a:off x="2286000" y="3771900"/>
            <a:ext cx="6096000" cy="723900"/>
          </a:xfrm>
          <a:prstGeom prst="roundRect">
            <a:avLst>
              <a:gd name="adj" fmla="val 10526"/>
            </a:avLst>
          </a:prstGeom>
          <a:solidFill>
            <a:srgbClr val="FFF1E2"/>
          </a:solidFill>
          <a:ln w="9525">
            <a:solidFill>
              <a:srgbClr val="A8A8A8"/>
            </a:solidFill>
          </a:ln>
        </p:spPr>
      </p:sp>
      <p:sp>
        <p:nvSpPr>
          <p:cNvPr id="17" name="Rectangle 16"/>
          <p:cNvSpPr>
            <a:spLocks noGrp="1"/>
          </p:cNvSpPr>
          <p:nvPr/>
        </p:nvSpPr>
        <p:spPr>
          <a:xfrm>
            <a:off x="2524125" y="3838575"/>
            <a:ext cx="5619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Text or long token sequences</a:t>
            </a:r>
            <a:endParaRPr sz="1425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8" name="Rectangle 17"/>
          <p:cNvSpPr>
            <a:spLocks noGrp="1"/>
          </p:cNvSpPr>
          <p:nvPr/>
        </p:nvSpPr>
        <p:spPr>
          <a:xfrm>
            <a:off x="2524125" y="4133850"/>
            <a:ext cx="5619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0">
                <a:solidFill>
                  <a:srgbClr val="58585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0">
                <a:solidFill>
                  <a:srgbClr val="58585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Language modeling, vision tokens, audio, multimodal reasoning</a:t>
            </a:r>
            <a:endParaRPr sz="1275" b="0">
              <a:solidFill>
                <a:srgbClr val="58585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742950" y="5000625"/>
            <a:ext cx="1428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650" b="1">
                <a:solidFill>
                  <a:srgbClr val="3978C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650" b="1">
                <a:solidFill>
                  <a:srgbClr val="3978C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Combined</a:t>
            </a:r>
            <a:endParaRPr sz="1650" b="1">
              <a:solidFill>
                <a:srgbClr val="3978C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0" name="Rounded Rectangle 19"/>
          <p:cNvSpPr>
            <a:spLocks noGrp="1"/>
          </p:cNvSpPr>
          <p:nvPr/>
        </p:nvSpPr>
        <p:spPr>
          <a:xfrm>
            <a:off x="2286000" y="4914900"/>
            <a:ext cx="6096000" cy="723900"/>
          </a:xfrm>
          <a:prstGeom prst="roundRect">
            <a:avLst>
              <a:gd name="adj" fmla="val 10526"/>
            </a:avLst>
          </a:prstGeom>
          <a:solidFill>
            <a:srgbClr val="EEF7EF"/>
          </a:solidFill>
          <a:ln w="9525">
            <a:solidFill>
              <a:srgbClr val="A8A8A8"/>
            </a:solidFill>
          </a:ln>
        </p:spPr>
      </p:sp>
      <p:sp>
        <p:nvSpPr>
          <p:cNvPr id="21" name="Rectangle 20"/>
          <p:cNvSpPr>
            <a:spLocks noGrp="1"/>
          </p:cNvSpPr>
          <p:nvPr/>
        </p:nvSpPr>
        <p:spPr>
          <a:xfrm>
            <a:off x="2524125" y="4981575"/>
            <a:ext cx="5619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Local perception plus global reasoning</a:t>
            </a:r>
            <a:endParaRPr sz="1425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2" name="Rectangle 21"/>
          <p:cNvSpPr>
            <a:spLocks noGrp="1"/>
          </p:cNvSpPr>
          <p:nvPr/>
        </p:nvSpPr>
        <p:spPr>
          <a:xfrm>
            <a:off x="2524125" y="5276850"/>
            <a:ext cx="5619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0">
                <a:solidFill>
                  <a:srgbClr val="58585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0">
                <a:solidFill>
                  <a:srgbClr val="58585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Vision encoder or CNN + Transformer + MLP heads</a:t>
            </a:r>
            <a:endParaRPr sz="1275" b="0">
              <a:solidFill>
                <a:srgbClr val="58585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16619</Words>
  <Application>WPS Presentation</Application>
  <PresentationFormat>Converted Presentation</PresentationFormat>
  <Paragraphs>1490</Paragraphs>
  <Slides>57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57</vt:i4>
      </vt:variant>
    </vt:vector>
  </HeadingPairs>
  <TitlesOfParts>
    <vt:vector size="76" baseType="lpstr">
      <vt:lpstr>Arial</vt:lpstr>
      <vt:lpstr>SimSun</vt:lpstr>
      <vt:lpstr>Wingdings</vt:lpstr>
      <vt:lpstr>Arial</vt:lpstr>
      <vt:lpstr>Microsoft YaHei</vt:lpstr>
      <vt:lpstr>方正雅意黑 GB18030L2</vt:lpstr>
      <vt:lpstr>Arial Unicode MS</vt:lpstr>
      <vt:lpstr>Calibri</vt:lpstr>
      <vt:lpstr>Helvetica Neue</vt:lpstr>
      <vt:lpstr>汉仪书宋二KW</vt:lpstr>
      <vt:lpstr>MS PGothic</vt:lpstr>
      <vt:lpstr>苹方-简</vt:lpstr>
      <vt:lpstr>American Typewriter</vt:lpstr>
      <vt:lpstr>Geneva</vt:lpstr>
      <vt:lpstr>宋体-简</vt:lpstr>
      <vt:lpstr>SimSun</vt:lpstr>
      <vt:lpstr>DejaVu Sans Mono</vt:lpstr>
      <vt:lpstr>Thonburi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一味清悠然</cp:lastModifiedBy>
  <cp:revision>171</cp:revision>
  <dcterms:created xsi:type="dcterms:W3CDTF">2026-09-22T03:34:04Z</dcterms:created>
  <dcterms:modified xsi:type="dcterms:W3CDTF">2026-09-22T03:34:04Z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CE52FBA599CF54E44FA8A86A872570E3_42</vt:lpwstr>
  </property>
  <property fmtid="{D5CDD505-2E9C-101B-9397-08002B2CF9AE}" pid="3" name="KSOProductBuildVer">
    <vt:lpwstr>1033-12.1.26046.26046</vt:lpwstr>
  </property>
</Properties>
</file>