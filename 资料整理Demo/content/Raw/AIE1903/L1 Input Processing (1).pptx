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94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95" r:id="rId16"/>
    <p:sldId id="267" r:id="rId17"/>
    <p:sldId id="268" r:id="rId18"/>
    <p:sldId id="273" r:id="rId19"/>
    <p:sldId id="269" r:id="rId20"/>
    <p:sldId id="270" r:id="rId21"/>
    <p:sldId id="271" r:id="rId22"/>
    <p:sldId id="274" r:id="rId23"/>
    <p:sldId id="272" r:id="rId24"/>
    <p:sldId id="275" r:id="rId25"/>
    <p:sldId id="296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4" r:id="rId34"/>
    <p:sldId id="283" r:id="rId35"/>
    <p:sldId id="297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3" r:id="rId44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Course overview and instructor-provided structure.</a:t>
            </a:r>
          </a:p>
          <a:p>
            <a:r>
              <a:t>- Educational illustrations generated for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Course overview and instructor-provided structure.</a:t>
            </a:r>
          </a:p>
          <a:p>
            <a:r>
              <a:t>- Educational illustrations generated for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Course overview and instructor-provided structure.</a:t>
            </a:r>
          </a:p>
          <a:p>
            <a:r>
              <a:t>- Educational illustrations generated for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Course overview and instructor-provided structure.</a:t>
            </a:r>
          </a:p>
          <a:p>
            <a:r>
              <a:t>- Educational illustrations generated for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>
            <a:spLocks noGrp="1"/>
          </p:cNvSpPr>
          <p:nvPr/>
        </p:nvSpPr>
        <p:spPr>
          <a:xfrm>
            <a:off x="857250" y="20002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marL="12700" algn="l">
              <a:lnSpc>
                <a:spcPct val="80000"/>
              </a:lnSpc>
              <a:buNone/>
            </a:pPr>
            <a:r>
              <a:rPr sz="1875" b="1">
                <a:solidFill>
                  <a:srgbClr val="111111"/>
                </a:solidFill>
              </a:rPr>
              <a:t>AIE190</a:t>
            </a:r>
            <a:r>
              <a:rPr lang="en-US" sz="1875" b="1">
                <a:solidFill>
                  <a:srgbClr val="111111"/>
                </a:solidFill>
              </a:rPr>
              <a:t>3</a:t>
            </a:r>
            <a:r>
              <a:rPr sz="1875" b="1">
                <a:solidFill>
                  <a:srgbClr val="111111"/>
                </a:solidFill>
                <a:sym typeface="+mn-ea"/>
              </a:rPr>
              <a:t>: </a:t>
            </a:r>
            <a:r>
              <a:rPr lang="en-US" altLang="en-US" sz="1875" b="1">
                <a:solidFill>
                  <a:srgbClr val="111111"/>
                </a:solidFill>
                <a:sym typeface="+mn-ea"/>
              </a:rPr>
              <a:t>Multimodal Agentic Assistant-Tool Use and Autonomous Systems</a:t>
            </a:r>
            <a:endParaRPr lang="en-US" altLang="en-US" sz="1875" b="1">
              <a:solidFill>
                <a:srgbClr val="111111"/>
              </a:solidFill>
              <a:sym typeface="+mn-e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57250" y="2457450"/>
            <a:ext cx="742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Lecture </a:t>
            </a:r>
            <a:r>
              <a:rPr lang="en-US" sz="2550" b="1">
                <a:solidFill>
                  <a:srgbClr val="111111"/>
                </a:solidFill>
              </a:rPr>
              <a:t>1</a:t>
            </a:r>
            <a:r>
              <a:rPr sz="2550" b="1">
                <a:solidFill>
                  <a:srgbClr val="111111"/>
                </a:solidFill>
              </a:rPr>
              <a:t> — RGB Image, Data Normalization,</a:t>
            </a:r>
            <a:endParaRPr sz="2550" b="1">
              <a:solidFill>
                <a:srgbClr val="111111"/>
              </a:solidFill>
            </a:endParaRPr>
          </a:p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and Word Embedding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57250" y="376237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4378C4"/>
                </a:solidFill>
              </a:defRPr>
            </a:pPr>
            <a:r>
              <a:rPr sz="1350" b="0">
                <a:solidFill>
                  <a:srgbClr val="4378C4"/>
                </a:solidFill>
              </a:rPr>
              <a:t>Ming Li   |   CUHK(SZ), SAI   |   Sep. 2026</a:t>
            </a:r>
            <a:endParaRPr sz="1350" b="0">
              <a:solidFill>
                <a:srgbClr val="4378C4"/>
              </a:solidFill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857250" y="423862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From raw pixels and words to multimodal tokens</a:t>
            </a:r>
            <a:endParaRPr sz="135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Learning Objectives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endParaRPr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143000"/>
            <a:ext cx="75247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 Explain how an RGB image is </a:t>
            </a:r>
            <a:r>
              <a:rPr sz="1725" b="1">
                <a:solidFill>
                  <a:srgbClr val="111111"/>
                </a:solidFill>
              </a:rPr>
              <a:t>stored </a:t>
            </a:r>
            <a:r>
              <a:rPr sz="1725" b="0">
                <a:solidFill>
                  <a:srgbClr val="111111"/>
                </a:solidFill>
              </a:rPr>
              <a:t>as numbers and tensors.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 Distinguish </a:t>
            </a:r>
            <a:r>
              <a:rPr lang="en-US" sz="1725" b="1">
                <a:solidFill>
                  <a:srgbClr val="111111"/>
                </a:solidFill>
              </a:rPr>
              <a:t>data augmentation</a:t>
            </a:r>
            <a:r>
              <a:rPr lang="en-US" sz="1725" b="0">
                <a:solidFill>
                  <a:srgbClr val="111111"/>
                </a:solidFill>
              </a:rPr>
              <a:t> for images like </a:t>
            </a:r>
            <a:r>
              <a:rPr sz="1725" b="0">
                <a:solidFill>
                  <a:srgbClr val="111111"/>
                </a:solidFill>
              </a:rPr>
              <a:t>resiz</a:t>
            </a:r>
            <a:r>
              <a:rPr lang="en-US" sz="1725" b="0">
                <a:solidFill>
                  <a:srgbClr val="111111"/>
                </a:solidFill>
              </a:rPr>
              <a:t>ing</a:t>
            </a:r>
            <a:r>
              <a:rPr sz="1725" b="0">
                <a:solidFill>
                  <a:srgbClr val="111111"/>
                </a:solidFill>
              </a:rPr>
              <a:t>, crop</a:t>
            </a:r>
            <a:r>
              <a:rPr lang="en-US" sz="1725" b="0">
                <a:solidFill>
                  <a:srgbClr val="111111"/>
                </a:solidFill>
              </a:rPr>
              <a:t>ping</a:t>
            </a:r>
            <a:r>
              <a:rPr sz="1725" b="0">
                <a:solidFill>
                  <a:srgbClr val="111111"/>
                </a:solidFill>
              </a:rPr>
              <a:t>, padding, rescaling, and normalization.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 Explain </a:t>
            </a:r>
            <a:r>
              <a:rPr sz="1725" b="1">
                <a:solidFill>
                  <a:srgbClr val="111111"/>
                </a:solidFill>
              </a:rPr>
              <a:t>tokenization</a:t>
            </a:r>
            <a:r>
              <a:rPr sz="1725" b="0">
                <a:solidFill>
                  <a:srgbClr val="111111"/>
                </a:solidFill>
              </a:rPr>
              <a:t>, token IDs, and word/token embeddings.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 Describe how image patches become </a:t>
            </a:r>
            <a:r>
              <a:rPr sz="1725" b="1">
                <a:solidFill>
                  <a:srgbClr val="111111"/>
                </a:solidFill>
              </a:rPr>
              <a:t>visual tokens</a:t>
            </a:r>
            <a:r>
              <a:rPr sz="1725" b="0">
                <a:solidFill>
                  <a:srgbClr val="111111"/>
                </a:solidFill>
              </a:rPr>
              <a:t>.</a:t>
            </a:r>
            <a:endParaRPr sz="17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 </a:t>
            </a:r>
            <a:r>
              <a:rPr lang="en-US" sz="1725" b="0">
                <a:solidFill>
                  <a:srgbClr val="111111"/>
                </a:solidFill>
              </a:rPr>
              <a:t>Describe </a:t>
            </a:r>
            <a:r>
              <a:rPr sz="1725" b="0">
                <a:solidFill>
                  <a:srgbClr val="111111"/>
                </a:solidFill>
              </a:rPr>
              <a:t>a complete </a:t>
            </a:r>
            <a:r>
              <a:rPr sz="1725" b="1">
                <a:solidFill>
                  <a:srgbClr val="111111"/>
                </a:solidFill>
              </a:rPr>
              <a:t>multimodal input pipeline</a:t>
            </a:r>
            <a:r>
              <a:rPr sz="1725" b="0">
                <a:solidFill>
                  <a:srgbClr val="111111"/>
                </a:solidFill>
              </a:rPr>
              <a:t>.</a:t>
            </a:r>
            <a:endParaRPr sz="1725" b="0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62000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Goal: understand the input, not train a large model.</a:t>
            </a:r>
            <a:endParaRPr sz="150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 Big Picture: From Human Input to Model Input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4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05676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63410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21144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788785" y="221678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5087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2707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Image</a:t>
            </a:r>
            <a:r>
              <a:rPr lang="en-US" sz="1275" b="0">
                <a:solidFill>
                  <a:srgbClr val="111111"/>
                </a:solidFill>
              </a:rPr>
              <a:t>/Text</a:t>
            </a:r>
            <a:endParaRPr lang="en-US"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22821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30441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Numbers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80555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88175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Tokens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38289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45909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Embeddings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6960235" y="184531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036435" y="194056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Transformer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591185" y="3714750"/>
            <a:ext cx="79311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70000"/>
              </a:lnSpc>
              <a:defRPr sz="1725" b="0">
                <a:solidFill>
                  <a:srgbClr val="111111"/>
                </a:solidFill>
              </a:defRPr>
            </a:pPr>
            <a:r>
              <a:rPr lang="en-US" sz="1725" b="0">
                <a:solidFill>
                  <a:srgbClr val="111111"/>
                </a:solidFill>
              </a:rPr>
              <a:t>Humans </a:t>
            </a:r>
            <a:r>
              <a:rPr lang="en-US" sz="1725" b="1">
                <a:solidFill>
                  <a:srgbClr val="111111"/>
                </a:solidFill>
              </a:rPr>
              <a:t>directly process</a:t>
            </a:r>
            <a:r>
              <a:rPr lang="en-US" sz="1725" b="0">
                <a:solidFill>
                  <a:srgbClr val="111111"/>
                </a:solidFill>
              </a:rPr>
              <a:t> visual </a:t>
            </a:r>
            <a:r>
              <a:rPr lang="en-US">
                <a:sym typeface="+mn-ea"/>
              </a:rPr>
              <a:t>and language information</a:t>
            </a:r>
            <a:r>
              <a:rPr lang="en-US" sz="1725" b="0">
                <a:solidFill>
                  <a:srgbClr val="111111"/>
                </a:solidFill>
              </a:rPr>
              <a:t> via </a:t>
            </a:r>
            <a:r>
              <a:rPr lang="en-US" sz="1725" b="1">
                <a:solidFill>
                  <a:srgbClr val="111111"/>
                </a:solidFill>
              </a:rPr>
              <a:t>organic sensors</a:t>
            </a:r>
            <a:endParaRPr lang="en-US" sz="1725" b="1">
              <a:solidFill>
                <a:srgbClr val="111111"/>
              </a:solidFill>
            </a:endParaRPr>
          </a:p>
          <a:p>
            <a:pPr algn="ctr">
              <a:lnSpc>
                <a:spcPct val="170000"/>
              </a:lnSpc>
              <a:defRPr sz="1725" b="0">
                <a:solidFill>
                  <a:srgbClr val="111111"/>
                </a:solidFill>
              </a:defRPr>
            </a:pPr>
            <a:r>
              <a:rPr lang="en-US" sz="1725" b="0">
                <a:solidFill>
                  <a:srgbClr val="111111"/>
                </a:solidFill>
              </a:rPr>
              <a:t>How does an AI model </a:t>
            </a:r>
            <a:r>
              <a:rPr lang="en-US" sz="1725" b="0">
                <a:solidFill>
                  <a:srgbClr val="FF0000"/>
                </a:solidFill>
              </a:rPr>
              <a:t>receive </a:t>
            </a:r>
            <a:r>
              <a:rPr lang="en-US" sz="1725" b="0">
                <a:solidFill>
                  <a:srgbClr val="111111"/>
                </a:solidFill>
              </a:rPr>
              <a:t>and </a:t>
            </a:r>
            <a:r>
              <a:rPr lang="en-US" sz="1725" b="1">
                <a:solidFill>
                  <a:srgbClr val="111111"/>
                </a:solidFill>
              </a:rPr>
              <a:t>perceive </a:t>
            </a:r>
            <a:r>
              <a:rPr lang="en-US" sz="1725" b="0">
                <a:solidFill>
                  <a:srgbClr val="111111"/>
                </a:solidFill>
              </a:rPr>
              <a:t>these?</a:t>
            </a:r>
            <a:endParaRPr sz="1725" b="0">
              <a:solidFill>
                <a:srgbClr val="111111"/>
              </a:solidFill>
            </a:endParaRPr>
          </a:p>
          <a:p>
            <a:pPr algn="ctr">
              <a:lnSpc>
                <a:spcPct val="170000"/>
              </a:lnSpc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Neural networks </a:t>
            </a:r>
            <a:r>
              <a:rPr sz="1725" b="1">
                <a:solidFill>
                  <a:srgbClr val="111111"/>
                </a:solidFill>
              </a:rPr>
              <a:t>do not</a:t>
            </a:r>
            <a:r>
              <a:rPr sz="1725" b="0">
                <a:solidFill>
                  <a:srgbClr val="111111"/>
                </a:solidFill>
              </a:rPr>
              <a:t> directly “</a:t>
            </a:r>
            <a:r>
              <a:rPr sz="1725" b="1">
                <a:solidFill>
                  <a:srgbClr val="111111"/>
                </a:solidFill>
              </a:rPr>
              <a:t>see</a:t>
            </a:r>
            <a:r>
              <a:rPr sz="1725" b="0">
                <a:solidFill>
                  <a:srgbClr val="111111"/>
                </a:solidFill>
              </a:rPr>
              <a:t>” a cat</a:t>
            </a:r>
            <a:r>
              <a:rPr>
                <a:sym typeface="+mn-ea"/>
              </a:rPr>
              <a:t> or “</a:t>
            </a:r>
            <a:r>
              <a:rPr b="1">
                <a:sym typeface="+mn-ea"/>
              </a:rPr>
              <a:t>read</a:t>
            </a:r>
            <a:r>
              <a:rPr>
                <a:sym typeface="+mn-ea"/>
              </a:rPr>
              <a:t>” a sentence</a:t>
            </a:r>
            <a:r>
              <a:rPr sz="1725" b="0">
                <a:solidFill>
                  <a:srgbClr val="111111"/>
                </a:solidFill>
              </a:rPr>
              <a:t>.</a:t>
            </a:r>
            <a:endParaRPr sz="1725" b="0">
              <a:solidFill>
                <a:srgbClr val="111111"/>
              </a:solidFill>
            </a:endParaRPr>
          </a:p>
          <a:p>
            <a:pPr algn="ctr">
              <a:lnSpc>
                <a:spcPct val="170000"/>
              </a:lnSpc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They receive </a:t>
            </a:r>
            <a:r>
              <a:rPr sz="1725" b="1">
                <a:solidFill>
                  <a:srgbClr val="111111"/>
                </a:solidFill>
              </a:rPr>
              <a:t>tensors </a:t>
            </a:r>
            <a:r>
              <a:rPr sz="1725" b="0">
                <a:solidFill>
                  <a:srgbClr val="111111"/>
                </a:solidFill>
              </a:rPr>
              <a:t>and perform </a:t>
            </a:r>
            <a:r>
              <a:rPr sz="1725" b="1">
                <a:solidFill>
                  <a:srgbClr val="111111"/>
                </a:solidFill>
              </a:rPr>
              <a:t>numerical operations</a:t>
            </a:r>
            <a:r>
              <a:rPr sz="1725" b="0">
                <a:solidFill>
                  <a:srgbClr val="111111"/>
                </a:solidFill>
              </a:rPr>
              <a:t>.</a:t>
            </a:r>
            <a:endParaRPr sz="17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</a:pPr>
            <a:r>
              <a:rPr sz="1985" b="1" spc="-1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— </a:t>
            </a:r>
            <a:r>
              <a:rPr sz="1985" b="1">
                <a:solidFill>
                  <a:schemeClr val="tx1"/>
                </a:solidFill>
                <a:sym typeface="+mn-ea"/>
              </a:rPr>
              <a:t>RGB Image</a:t>
            </a:r>
            <a:endParaRPr sz="1985" b="1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Normalization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—</a:t>
            </a:r>
            <a:r>
              <a:rPr lang="en-US"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85">
                <a:solidFill>
                  <a:srgbClr val="111111"/>
                </a:solidFill>
                <a:sym typeface="+mn-ea"/>
              </a:rPr>
              <a:t>Text and Word Embedding</a:t>
            </a:r>
            <a:endParaRPr lang="en-US"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 Tokens and Multimodal Input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</a:pPr>
            <a:r>
              <a:rPr sz="3570"/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8544146" y="6631164"/>
            <a:ext cx="510380" cy="20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2000"/>
              </a:lnSpc>
              <a:buNone/>
              <a:defRPr sz="565">
                <a:solidFill>
                  <a:srgbClr val="000000"/>
                </a:solidFill>
              </a:defRPr>
            </a:pPr>
            <a:r>
              <a:rPr sz="1120">
                <a:solidFill>
                  <a:srgbClr val="000000"/>
                </a:solidFill>
              </a:rPr>
              <a:t>3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Part I — RGB Image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5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How does a computer represent a color image?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Digital Images Are Grids of Pixels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6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78535" y="1988820"/>
            <a:ext cx="857250" cy="857250"/>
          </a:xfrm>
          <a:prstGeom prst="rect">
            <a:avLst/>
          </a:prstGeom>
          <a:solidFill>
            <a:srgbClr val="EB423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78535" y="19888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lang="en-US" sz="825" b="1">
                <a:solidFill>
                  <a:srgbClr val="FFFFFF"/>
                </a:solidFill>
              </a:rPr>
              <a:t>R: </a:t>
            </a:r>
            <a:r>
              <a:rPr sz="825" b="1">
                <a:solidFill>
                  <a:srgbClr val="FFFFFF"/>
                </a:solidFill>
              </a:rPr>
              <a:t>235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lang="en-US" sz="825" b="1">
                <a:solidFill>
                  <a:srgbClr val="FFFFFF"/>
                </a:solidFill>
              </a:rPr>
              <a:t>G: </a:t>
            </a:r>
            <a:r>
              <a:rPr sz="825" b="1">
                <a:solidFill>
                  <a:srgbClr val="FFFFFF"/>
                </a:solidFill>
              </a:rPr>
              <a:t>66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lang="en-US" sz="825" b="1">
                <a:solidFill>
                  <a:srgbClr val="FFFFFF"/>
                </a:solidFill>
              </a:rPr>
              <a:t>B: </a:t>
            </a:r>
            <a:r>
              <a:rPr sz="825" b="1">
                <a:solidFill>
                  <a:srgbClr val="FFFFFF"/>
                </a:solidFill>
              </a:rPr>
              <a:t>54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835785" y="1988820"/>
            <a:ext cx="857250" cy="857250"/>
          </a:xfrm>
          <a:prstGeom prst="rect">
            <a:avLst/>
          </a:prstGeom>
          <a:solidFill>
            <a:srgbClr val="F0BE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835785" y="19888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240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190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45</a:t>
            </a:r>
            <a:endParaRPr sz="825" b="1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693035" y="1988820"/>
            <a:ext cx="857250" cy="857250"/>
          </a:xfrm>
          <a:prstGeom prst="rect">
            <a:avLst/>
          </a:prstGeom>
          <a:solidFill>
            <a:srgbClr val="3096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2693035" y="19888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48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150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70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78535" y="2846070"/>
            <a:ext cx="857250" cy="857250"/>
          </a:xfrm>
          <a:prstGeom prst="rect">
            <a:avLst/>
          </a:prstGeom>
          <a:solidFill>
            <a:srgbClr val="2D6ED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978535" y="284607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110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220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835785" y="2846070"/>
            <a:ext cx="857250" cy="857250"/>
          </a:xfrm>
          <a:prstGeom prst="rect">
            <a:avLst/>
          </a:prstGeom>
          <a:solidFill>
            <a:srgbClr val="7D41B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835785" y="284607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180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2693035" y="2846070"/>
            <a:ext cx="857250" cy="857250"/>
          </a:xfrm>
          <a:prstGeom prst="rect">
            <a:avLst/>
          </a:prstGeom>
          <a:solidFill>
            <a:srgbClr val="F0F0F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693035" y="284607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240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240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240</a:t>
            </a:r>
            <a:endParaRPr sz="825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78535" y="3703320"/>
            <a:ext cx="857250" cy="857250"/>
          </a:xfrm>
          <a:prstGeom prst="rect">
            <a:avLst/>
          </a:prstGeom>
          <a:solidFill>
            <a:srgbClr val="19191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978535" y="37033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835785" y="3703320"/>
            <a:ext cx="857250" cy="857250"/>
          </a:xfrm>
          <a:prstGeom prst="rect">
            <a:avLst/>
          </a:prstGeom>
          <a:solidFill>
            <a:srgbClr val="8282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1835785" y="37033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130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130</a:t>
            </a:r>
            <a:endParaRPr sz="825" b="1">
              <a:solidFill>
                <a:srgbClr val="FFFFFF"/>
              </a:solidFill>
            </a:endParaRPr>
          </a:p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130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2693035" y="3703320"/>
            <a:ext cx="85725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2693035" y="3703320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255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255</a:t>
            </a:r>
            <a:endParaRPr sz="825" b="1">
              <a:solidFill>
                <a:srgbClr val="111111"/>
              </a:solidFill>
            </a:endParaRPr>
          </a:p>
          <a:p>
            <a:pPr algn="ctr">
              <a:defRPr sz="825" b="1">
                <a:solidFill>
                  <a:srgbClr val="111111"/>
                </a:solidFill>
              </a:defRPr>
            </a:pPr>
            <a:r>
              <a:rPr sz="825" b="1">
                <a:solidFill>
                  <a:srgbClr val="111111"/>
                </a:solidFill>
              </a:rPr>
              <a:t>255</a:t>
            </a:r>
            <a:endParaRPr sz="825" b="1">
              <a:solidFill>
                <a:srgbClr val="111111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3844925" y="1571625"/>
            <a:ext cx="477583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Pixel = </a:t>
            </a:r>
            <a:r>
              <a:rPr lang="en-US" sz="2000" b="0">
                <a:solidFill>
                  <a:srgbClr val="111111"/>
                </a:solidFill>
              </a:rPr>
              <a:t>image element = colors + </a:t>
            </a:r>
            <a:r>
              <a:rPr sz="2000" b="1">
                <a:solidFill>
                  <a:srgbClr val="111111"/>
                </a:solidFill>
              </a:rPr>
              <a:t>spatial location</a:t>
            </a:r>
            <a:r>
              <a:rPr lang="en-US" sz="2000" b="1">
                <a:solidFill>
                  <a:srgbClr val="111111"/>
                </a:solidFill>
              </a:rPr>
              <a:t>s</a:t>
            </a:r>
            <a:r>
              <a:rPr sz="2000" b="0">
                <a:solidFill>
                  <a:srgbClr val="111111"/>
                </a:solidFill>
              </a:rPr>
              <a:t>.</a:t>
            </a:r>
            <a:endParaRPr sz="20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A </a:t>
            </a:r>
            <a:r>
              <a:rPr sz="2000" b="1">
                <a:solidFill>
                  <a:srgbClr val="111111"/>
                </a:solidFill>
              </a:rPr>
              <a:t>grayscale pixel</a:t>
            </a:r>
            <a:r>
              <a:rPr sz="2000" b="0">
                <a:solidFill>
                  <a:srgbClr val="111111"/>
                </a:solidFill>
              </a:rPr>
              <a:t> stores one intensity value.</a:t>
            </a:r>
            <a:endParaRPr sz="20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A </a:t>
            </a:r>
            <a:r>
              <a:rPr sz="2000" b="1">
                <a:solidFill>
                  <a:srgbClr val="111111"/>
                </a:solidFill>
              </a:rPr>
              <a:t>color pixel</a:t>
            </a:r>
            <a:r>
              <a:rPr sz="2000" b="0">
                <a:solidFill>
                  <a:srgbClr val="111111"/>
                </a:solidFill>
              </a:rPr>
              <a:t> usually stores </a:t>
            </a:r>
            <a:r>
              <a:rPr sz="2000" b="1">
                <a:solidFill>
                  <a:srgbClr val="111111"/>
                </a:solidFill>
              </a:rPr>
              <a:t>three channel </a:t>
            </a:r>
            <a:r>
              <a:rPr sz="2000" b="0">
                <a:solidFill>
                  <a:srgbClr val="111111"/>
                </a:solidFill>
              </a:rPr>
              <a:t>values.</a:t>
            </a:r>
            <a:endParaRPr sz="2000" b="0">
              <a:solidFill>
                <a:srgbClr val="111111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051685" y="5589270"/>
            <a:ext cx="521462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2000">
                <a:solidFill>
                  <a:srgbClr val="4378C4"/>
                </a:solidFill>
              </a:rPr>
              <a:t>An image is a structured array—not an indivisible object.</a:t>
            </a:r>
            <a:endParaRPr sz="2000">
              <a:solidFill>
                <a:srgbClr val="4378C4"/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1908810" y="4664710"/>
            <a:ext cx="882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 x 3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RGB: Red, Green, and Blue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7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57250" y="1333500"/>
            <a:ext cx="1000125" cy="1000125"/>
          </a:xfrm>
          <a:prstGeom prst="rect">
            <a:avLst/>
          </a:prstGeom>
          <a:solidFill>
            <a:srgbClr val="FF00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2000250" y="133350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Red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2000250" y="173355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(255, 0, 0)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476625" y="1333500"/>
            <a:ext cx="1000125" cy="1000125"/>
          </a:xfrm>
          <a:prstGeom prst="rect">
            <a:avLst/>
          </a:prstGeom>
          <a:solidFill>
            <a:srgbClr val="00B4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4619625" y="133350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Green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619625" y="173355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(0, </a:t>
            </a:r>
            <a:r>
              <a:rPr lang="en-US" sz="1350" b="0">
                <a:solidFill>
                  <a:srgbClr val="555555"/>
                </a:solidFill>
              </a:rPr>
              <a:t>255</a:t>
            </a:r>
            <a:r>
              <a:rPr sz="1350" b="0">
                <a:solidFill>
                  <a:srgbClr val="555555"/>
                </a:solidFill>
              </a:rPr>
              <a:t>, 0)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096000" y="1333500"/>
            <a:ext cx="1000125" cy="1000125"/>
          </a:xfrm>
          <a:prstGeom prst="rect">
            <a:avLst/>
          </a:prstGeom>
          <a:solidFill>
            <a:srgbClr val="005A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7239000" y="133350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Blue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239000" y="173355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(0, 0, 255)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57250" y="3143250"/>
            <a:ext cx="1000125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2000250" y="314325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White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000250" y="354330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(255, 255, 255)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3476625" y="3143250"/>
            <a:ext cx="1000125" cy="1000125"/>
          </a:xfrm>
          <a:prstGeom prst="rect">
            <a:avLst/>
          </a:prstGeom>
          <a:solidFill>
            <a:srgbClr val="FFDC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4619625" y="314325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Yellow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619625" y="354330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(255, 220, 0)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6096000" y="3143250"/>
            <a:ext cx="1000125" cy="1000125"/>
          </a:xfrm>
          <a:prstGeom prst="rect">
            <a:avLst/>
          </a:prstGeom>
          <a:solidFill>
            <a:srgbClr val="000000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239000" y="3143250"/>
            <a:ext cx="119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Black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7239000" y="3543300"/>
            <a:ext cx="128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(0, 0, 0)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52500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4378C4"/>
                </a:solidFill>
              </a:defRPr>
            </a:pPr>
            <a:r>
              <a:rPr sz="1650" b="1">
                <a:solidFill>
                  <a:srgbClr val="4378C4"/>
                </a:solidFill>
              </a:rPr>
              <a:t>Each pixel = (R, G, B)</a:t>
            </a:r>
            <a:r>
              <a:rPr lang="en-US" sz="1650" b="1">
                <a:solidFill>
                  <a:srgbClr val="4378C4"/>
                </a:solidFill>
              </a:rPr>
              <a:t> on a spatial coordinate</a:t>
            </a:r>
            <a:r>
              <a:rPr sz="1650" b="1">
                <a:solidFill>
                  <a:srgbClr val="4378C4"/>
                </a:solidFill>
              </a:rPr>
              <a:t>, usually with values from 0 to 255.</a:t>
            </a:r>
            <a:endParaRPr sz="165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One Image, Three Color Channels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8</a:t>
            </a:r>
            <a:endParaRPr lang="en-US" sz="825" b="0">
              <a:solidFill>
                <a:srgbClr val="555555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rcRect l="10526" r="10526"/>
          <a:stretch>
            <a:fillRect/>
          </a:stretch>
        </p:blipFill>
        <p:spPr>
          <a:xfrm>
            <a:off x="523875" y="1381125"/>
            <a:ext cx="1905000" cy="1809750"/>
          </a:xfrm>
          <a:prstGeom prst="rect">
            <a:avLst/>
          </a:prstGeom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523875" y="32861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RGB image</a:t>
            </a:r>
            <a:endParaRPr sz="1350" b="1">
              <a:solidFill>
                <a:srgbClr val="111111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rcRect l="10526" r="10526"/>
          <a:stretch>
            <a:fillRect/>
          </a:stretch>
        </p:blipFill>
        <p:spPr>
          <a:xfrm>
            <a:off x="2638425" y="1381125"/>
            <a:ext cx="1905000" cy="1809750"/>
          </a:xfrm>
          <a:prstGeom prst="rect">
            <a:avLst/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2638425" y="32861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E2534A"/>
                </a:solidFill>
              </a:defRPr>
            </a:pPr>
            <a:r>
              <a:rPr sz="1350" b="1">
                <a:solidFill>
                  <a:srgbClr val="E2534A"/>
                </a:solidFill>
              </a:rPr>
              <a:t>Red channel</a:t>
            </a:r>
            <a:endParaRPr sz="1350" b="1">
              <a:solidFill>
                <a:srgbClr val="E2534A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10526" r="10526"/>
          <a:stretch>
            <a:fillRect/>
          </a:stretch>
        </p:blipFill>
        <p:spPr>
          <a:xfrm>
            <a:off x="4752975" y="1381125"/>
            <a:ext cx="1905000" cy="1809750"/>
          </a:xfrm>
          <a:prstGeom prst="rect">
            <a:avLst/>
          </a:prstGeom>
        </p:spPr>
      </p:pic>
      <p:sp>
        <p:nvSpPr>
          <p:cNvPr id="10" name="Rectangle 9"/>
          <p:cNvSpPr>
            <a:spLocks noGrp="1"/>
          </p:cNvSpPr>
          <p:nvPr/>
        </p:nvSpPr>
        <p:spPr>
          <a:xfrm>
            <a:off x="4752975" y="32861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4E9A62"/>
                </a:solidFill>
              </a:defRPr>
            </a:pPr>
            <a:r>
              <a:rPr sz="1350" b="1">
                <a:solidFill>
                  <a:srgbClr val="4E9A62"/>
                </a:solidFill>
              </a:rPr>
              <a:t>Green channel</a:t>
            </a:r>
            <a:endParaRPr sz="1350" b="1">
              <a:solidFill>
                <a:srgbClr val="4E9A62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rcRect l="10526" r="10526"/>
          <a:stretch>
            <a:fillRect/>
          </a:stretch>
        </p:blipFill>
        <p:spPr>
          <a:xfrm>
            <a:off x="6867525" y="1381125"/>
            <a:ext cx="1905000" cy="1809750"/>
          </a:xfrm>
          <a:prstGeom prst="rect">
            <a:avLst/>
          </a:prstGeom>
        </p:spPr>
      </p:pic>
      <p:sp>
        <p:nvSpPr>
          <p:cNvPr id="12" name="Rectangle 11"/>
          <p:cNvSpPr>
            <a:spLocks noGrp="1"/>
          </p:cNvSpPr>
          <p:nvPr/>
        </p:nvSpPr>
        <p:spPr>
          <a:xfrm>
            <a:off x="6867525" y="32861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4378C4"/>
                </a:solidFill>
              </a:defRPr>
            </a:pPr>
            <a:r>
              <a:rPr sz="1350" b="1">
                <a:solidFill>
                  <a:srgbClr val="4378C4"/>
                </a:solidFill>
              </a:rPr>
              <a:t>Blue channel</a:t>
            </a:r>
            <a:endParaRPr sz="1350" b="1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09625" y="4191000"/>
            <a:ext cx="7524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A bright region in one channel means that color </a:t>
            </a:r>
            <a:r>
              <a:rPr sz="2000" b="1">
                <a:solidFill>
                  <a:srgbClr val="111111"/>
                </a:solidFill>
              </a:rPr>
              <a:t>contributes strongly</a:t>
            </a:r>
            <a:r>
              <a:rPr sz="2000" b="0">
                <a:solidFill>
                  <a:srgbClr val="111111"/>
                </a:solidFill>
              </a:rPr>
              <a:t> at that location.</a:t>
            </a:r>
            <a:endParaRPr sz="20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Image Shape: H × W × C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9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57250" y="1428750"/>
            <a:ext cx="333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00" b="1">
                <a:solidFill>
                  <a:srgbClr val="4378C4"/>
                </a:solidFill>
              </a:defRPr>
            </a:pPr>
            <a:r>
              <a:rPr sz="3300" b="1">
                <a:solidFill>
                  <a:srgbClr val="4378C4"/>
                </a:solidFill>
              </a:rPr>
              <a:t>I ∈ ℝᴴˣᵂˣ³</a:t>
            </a:r>
            <a:endParaRPr sz="3300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762500" y="1238250"/>
            <a:ext cx="3333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H: image height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W: image width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C: number of channels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RGB images normally have C = 3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619250" y="3143250"/>
            <a:ext cx="2286000" cy="17145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619250" y="3143250"/>
            <a:ext cx="2286000" cy="1714500"/>
          </a:xfrm>
          <a:prstGeom prst="rect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1790700" y="2971800"/>
            <a:ext cx="2286000" cy="1714500"/>
          </a:xfrm>
          <a:prstGeom prst="rect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962150" y="2800350"/>
            <a:ext cx="2286000" cy="1714500"/>
          </a:xfrm>
          <a:prstGeom prst="rect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133600" y="2628900"/>
            <a:ext cx="2286000" cy="1714500"/>
          </a:xfrm>
          <a:prstGeom prst="rect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305050" y="2457450"/>
            <a:ext cx="2286000" cy="1714500"/>
          </a:xfrm>
          <a:prstGeom prst="rect">
            <a:avLst/>
          </a:prstGeom>
          <a:noFill/>
          <a:ln w="9525">
            <a:solidFill>
              <a:srgbClr val="E2534A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1809750" y="5000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3 stacked matrices</a:t>
            </a:r>
            <a:endParaRPr sz="1425" b="1">
              <a:solidFill>
                <a:srgbClr val="555555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1115695" y="5381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4378C4"/>
                </a:solidFill>
              </a:defRPr>
            </a:pPr>
            <a:r>
              <a:rPr lang="en-US" sz="2000" b="1">
                <a:solidFill>
                  <a:srgbClr val="4378C4"/>
                </a:solidFill>
              </a:rPr>
              <a:t>C does not always equels to 3 for images like </a:t>
            </a:r>
            <a:r>
              <a:rPr lang="en-US" altLang="en-US" sz="2000" b="1">
                <a:solidFill>
                  <a:srgbClr val="4378C4"/>
                </a:solidFill>
              </a:rPr>
              <a:t>multispectral images</a:t>
            </a:r>
            <a:endParaRPr lang="en-US" altLang="en-US" sz="200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HWC, CHW, and Batch Dimension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10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285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Image file / NumPy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905125" y="128587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000375" y="128587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 × W × C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619750" y="128587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4378C4"/>
                </a:solidFill>
              </a:defRPr>
            </a:pPr>
            <a:r>
              <a:rPr sz="1650" b="0">
                <a:solidFill>
                  <a:srgbClr val="4378C4"/>
                </a:solidFill>
              </a:rPr>
              <a:t>224 × 224 × 3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14375" y="26670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PyTorch tensor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905125" y="2667000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000375" y="2667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 × H × W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619750" y="26670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4378C4"/>
                </a:solidFill>
              </a:defRPr>
            </a:pPr>
            <a:r>
              <a:rPr sz="1650" b="0">
                <a:solidFill>
                  <a:srgbClr val="4378C4"/>
                </a:solidFill>
              </a:rPr>
              <a:t>3 × 224 × 224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14375" y="404812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Batch of 32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2905125" y="4048125"/>
            <a:ext cx="2286000" cy="4953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000375" y="4048125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 × C × H × W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619750" y="4048125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4378C4"/>
                </a:solidFill>
              </a:defRPr>
            </a:pPr>
            <a:r>
              <a:rPr sz="1650" b="0">
                <a:solidFill>
                  <a:srgbClr val="4378C4"/>
                </a:solidFill>
              </a:rPr>
              <a:t>32 × 3 × 224 × 224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09625" y="5572125"/>
            <a:ext cx="7524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E2534A"/>
                </a:solidFill>
              </a:defRPr>
            </a:pPr>
            <a:r>
              <a:rPr sz="1500" b="1">
                <a:solidFill>
                  <a:srgbClr val="E2534A"/>
                </a:solidFill>
              </a:rPr>
              <a:t>Common bug: the values are correct, but the dimensions are in the wrong order.</a:t>
            </a:r>
            <a:endParaRPr sz="1500" b="1">
              <a:solidFill>
                <a:srgbClr val="E2534A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3923665" y="191706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>
            <a:off x="3924300" y="3357245"/>
            <a:ext cx="360045" cy="648335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Resolution Controls Detail and Cost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1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62000" y="1619250"/>
            <a:ext cx="2238375" cy="142875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57250" y="18573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4378C4"/>
                </a:solidFill>
              </a:defRPr>
            </a:pPr>
            <a:r>
              <a:rPr sz="2025" b="1">
                <a:solidFill>
                  <a:srgbClr val="4378C4"/>
                </a:solidFill>
              </a:rPr>
              <a:t>224 × 224</a:t>
            </a:r>
            <a:endParaRPr sz="2025" b="1">
              <a:solidFill>
                <a:srgbClr val="4378C4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57250" y="2381250"/>
            <a:ext cx="2047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50,176 pixels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476625" y="1619250"/>
            <a:ext cx="2238375" cy="142875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571875" y="18573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4378C4"/>
                </a:solidFill>
              </a:defRPr>
            </a:pPr>
            <a:r>
              <a:rPr sz="2025" b="1">
                <a:solidFill>
                  <a:srgbClr val="4378C4"/>
                </a:solidFill>
              </a:rPr>
              <a:t>448 × 448</a:t>
            </a:r>
            <a:endParaRPr sz="2025" b="1">
              <a:solidFill>
                <a:srgbClr val="4378C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571875" y="2381250"/>
            <a:ext cx="2047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200,704 pixels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191250" y="1619250"/>
            <a:ext cx="2238375" cy="1428750"/>
          </a:xfrm>
          <a:prstGeom prst="roundRect">
            <a:avLst>
              <a:gd name="adj" fmla="val 5333"/>
            </a:avLst>
          </a:prstGeom>
          <a:solidFill>
            <a:srgbClr val="FFF5E4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286500" y="185737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4378C4"/>
                </a:solidFill>
              </a:defRPr>
            </a:pPr>
            <a:r>
              <a:rPr sz="2025" b="1">
                <a:solidFill>
                  <a:srgbClr val="4378C4"/>
                </a:solidFill>
              </a:rPr>
              <a:t>2× width and height</a:t>
            </a:r>
            <a:endParaRPr sz="2025" b="1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286500" y="2381250"/>
            <a:ext cx="2047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4× pixels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52500" y="3275965"/>
            <a:ext cx="7239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</a:t>
            </a:r>
            <a:r>
              <a:rPr sz="1650" b="1">
                <a:solidFill>
                  <a:srgbClr val="111111"/>
                </a:solidFill>
              </a:rPr>
              <a:t>Higher resolution</a:t>
            </a:r>
            <a:r>
              <a:rPr sz="1650" b="0">
                <a:solidFill>
                  <a:srgbClr val="111111"/>
                </a:solidFill>
              </a:rPr>
              <a:t> preserves small objects and text.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It also </a:t>
            </a:r>
            <a:r>
              <a:rPr sz="1650" b="1">
                <a:solidFill>
                  <a:srgbClr val="111111"/>
                </a:solidFill>
              </a:rPr>
              <a:t>increases </a:t>
            </a:r>
            <a:r>
              <a:rPr sz="1650" b="0">
                <a:solidFill>
                  <a:srgbClr val="111111"/>
                </a:solidFill>
              </a:rPr>
              <a:t>memory, visual tokens, and computation.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Input resolution is therefore a design</a:t>
            </a:r>
            <a:r>
              <a:rPr sz="1650" b="1">
                <a:solidFill>
                  <a:srgbClr val="111111"/>
                </a:solidFill>
              </a:rPr>
              <a:t> trade-off</a:t>
            </a:r>
            <a:r>
              <a:rPr sz="1650" b="0">
                <a:solidFill>
                  <a:srgbClr val="111111"/>
                </a:solidFill>
              </a:rPr>
              <a:t>.</a:t>
            </a:r>
            <a:endParaRPr sz="1650" b="0">
              <a:solidFill>
                <a:srgbClr val="11111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rcRect l="10526" r="10526"/>
          <a:stretch>
            <a:fillRect/>
          </a:stretch>
        </p:blipFill>
        <p:spPr>
          <a:xfrm>
            <a:off x="1547495" y="5445760"/>
            <a:ext cx="812165" cy="771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rcRect l="10526" r="10526"/>
          <a:stretch>
            <a:fillRect/>
          </a:stretch>
        </p:blipFill>
        <p:spPr>
          <a:xfrm>
            <a:off x="3707765" y="5085715"/>
            <a:ext cx="1248410" cy="11861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rcRect l="10526" r="10526"/>
          <a:stretch>
            <a:fillRect/>
          </a:stretch>
        </p:blipFill>
        <p:spPr>
          <a:xfrm>
            <a:off x="6372225" y="4509135"/>
            <a:ext cx="190500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 1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Image File ≠ Image Tensor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2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514600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448627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457950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14375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90575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JPEG / PNG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686050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762250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Decode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657725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733925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RGB pixels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629400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705600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Tensor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99795" y="3141345"/>
            <a:ext cx="753046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</a:t>
            </a:r>
            <a:r>
              <a:rPr lang="en-US" sz="1500" b="1">
                <a:solidFill>
                  <a:srgbClr val="111111"/>
                </a:solidFill>
              </a:rPr>
              <a:t>Stored </a:t>
            </a:r>
            <a:r>
              <a:rPr sz="1500" b="1">
                <a:solidFill>
                  <a:srgbClr val="111111"/>
                </a:solidFill>
              </a:rPr>
              <a:t>Image files</a:t>
            </a:r>
            <a:r>
              <a:rPr sz="1500" b="0">
                <a:solidFill>
                  <a:srgbClr val="111111"/>
                </a:solidFill>
              </a:rPr>
              <a:t> </a:t>
            </a:r>
            <a:r>
              <a:rPr lang="en-US" sz="1500" b="0">
                <a:solidFill>
                  <a:srgbClr val="111111"/>
                </a:solidFill>
              </a:rPr>
              <a:t>(.jpg/png) </a:t>
            </a:r>
            <a:r>
              <a:rPr sz="1500" b="0">
                <a:solidFill>
                  <a:srgbClr val="111111"/>
                </a:solidFill>
              </a:rPr>
              <a:t>contain </a:t>
            </a:r>
            <a:r>
              <a:rPr sz="1500" b="1">
                <a:solidFill>
                  <a:srgbClr val="111111"/>
                </a:solidFill>
              </a:rPr>
              <a:t>compression </a:t>
            </a:r>
            <a:r>
              <a:rPr lang="en-US" sz="1500" b="1">
                <a:solidFill>
                  <a:srgbClr val="111111"/>
                </a:solidFill>
              </a:rPr>
              <a:t>information </a:t>
            </a:r>
            <a:r>
              <a:rPr sz="1500" b="0">
                <a:solidFill>
                  <a:srgbClr val="111111"/>
                </a:solidFill>
              </a:rPr>
              <a:t>and file </a:t>
            </a:r>
            <a:r>
              <a:rPr sz="1500" b="1">
                <a:solidFill>
                  <a:srgbClr val="111111"/>
                </a:solidFill>
              </a:rPr>
              <a:t>metadata</a:t>
            </a:r>
            <a:r>
              <a:rPr sz="1500" b="0">
                <a:solidFill>
                  <a:srgbClr val="111111"/>
                </a:solidFill>
              </a:rPr>
              <a:t>.</a:t>
            </a:r>
            <a:endParaRPr sz="15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</a:t>
            </a:r>
            <a:r>
              <a:rPr sz="1500" b="1">
                <a:solidFill>
                  <a:srgbClr val="111111"/>
                </a:solidFill>
              </a:rPr>
              <a:t>Decoding </a:t>
            </a:r>
            <a:r>
              <a:rPr lang="en-US" sz="1500" b="1">
                <a:solidFill>
                  <a:srgbClr val="111111"/>
                </a:solidFill>
              </a:rPr>
              <a:t>algorithms</a:t>
            </a:r>
            <a:r>
              <a:rPr lang="en-US" sz="1500" b="0">
                <a:solidFill>
                  <a:srgbClr val="111111"/>
                </a:solidFill>
              </a:rPr>
              <a:t> </a:t>
            </a:r>
            <a:r>
              <a:rPr sz="1500" b="0">
                <a:solidFill>
                  <a:srgbClr val="111111"/>
                </a:solidFill>
              </a:rPr>
              <a:t>reconstruct pixel values.</a:t>
            </a:r>
            <a:r>
              <a:rPr lang="en-US" sz="1500" b="0">
                <a:solidFill>
                  <a:srgbClr val="111111"/>
                </a:solidFill>
              </a:rPr>
              <a:t> (We do not care about it)</a:t>
            </a:r>
            <a:endParaRPr sz="15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Convert grayscale or RGB images to the expected RGB format.</a:t>
            </a:r>
            <a:endParaRPr sz="15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Check </a:t>
            </a:r>
            <a:r>
              <a:rPr sz="1500" b="1">
                <a:solidFill>
                  <a:srgbClr val="111111"/>
                </a:solidFill>
              </a:rPr>
              <a:t>shape, channel order, data type, and value range</a:t>
            </a:r>
            <a:r>
              <a:rPr sz="1500" b="0">
                <a:solidFill>
                  <a:srgbClr val="111111"/>
                </a:solidFill>
              </a:rPr>
              <a:t>.</a:t>
            </a:r>
            <a:r>
              <a:rPr lang="en-US" sz="1500" b="0">
                <a:solidFill>
                  <a:srgbClr val="111111"/>
                </a:solidFill>
              </a:rPr>
              <a:t> (</a:t>
            </a:r>
            <a:r>
              <a:rPr lang="en-US" sz="1500" b="0">
                <a:solidFill>
                  <a:srgbClr val="FF0000"/>
                </a:solidFill>
              </a:rPr>
              <a:t>Caution for debugging</a:t>
            </a:r>
            <a:r>
              <a:rPr lang="en-US" sz="1500" b="0">
                <a:solidFill>
                  <a:srgbClr val="111111"/>
                </a:solidFill>
              </a:rPr>
              <a:t>)</a:t>
            </a:r>
            <a:endParaRPr lang="en-US" sz="15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</a:pPr>
            <a:r>
              <a:rPr sz="1985" spc="-1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— </a:t>
            </a:r>
            <a:r>
              <a:rPr sz="1985">
                <a:solidFill>
                  <a:schemeClr val="tx1"/>
                </a:solidFill>
                <a:sym typeface="+mn-ea"/>
              </a:rPr>
              <a:t>RGB Image</a:t>
            </a:r>
            <a:endParaRPr sz="1985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— </a:t>
            </a:r>
            <a:r>
              <a:rPr lang="en-US" altLang="en-US" sz="1985" b="1" spc="-10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Data Normalization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—</a:t>
            </a:r>
            <a:r>
              <a:rPr lang="en-US"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85">
                <a:solidFill>
                  <a:srgbClr val="111111"/>
                </a:solidFill>
                <a:sym typeface="+mn-ea"/>
              </a:rPr>
              <a:t>Text and Word Embedding</a:t>
            </a:r>
            <a:endParaRPr lang="en-US"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 Tokens and Multimodal Input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</a:pPr>
            <a:r>
              <a:rPr sz="3570"/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8544146" y="6631164"/>
            <a:ext cx="510380" cy="20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2000"/>
              </a:lnSpc>
              <a:buNone/>
              <a:defRPr sz="565">
                <a:solidFill>
                  <a:srgbClr val="000000"/>
                </a:solidFill>
              </a:defRPr>
            </a:pPr>
            <a:r>
              <a:rPr lang="en-US" sz="1120">
                <a:solidFill>
                  <a:srgbClr val="000000"/>
                </a:solidFill>
              </a:rPr>
              <a:t>1</a:t>
            </a:r>
            <a:r>
              <a:rPr sz="1120">
                <a:solidFill>
                  <a:srgbClr val="000000"/>
                </a:solidFill>
              </a:rPr>
              <a:t>3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Part II — Data Normalization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4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Why do models transform pixel values before using them?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 Typical Image Preprocessing Pipeline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6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857375" y="251460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171825" y="251460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486275" y="251460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5800725" y="251460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115175" y="251460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1437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79057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Decode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02882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210502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RGB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34327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341947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Resize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465772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473392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Crop / Pad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97217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04837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Rescale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7286625" y="2143125"/>
            <a:ext cx="114300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7362825" y="2238375"/>
            <a:ext cx="990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Normalize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52500" y="3213100"/>
            <a:ext cx="7239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 The processor makes </a:t>
            </a:r>
            <a:r>
              <a:rPr lang="en-US" sz="1575" b="0">
                <a:solidFill>
                  <a:srgbClr val="111111"/>
                </a:solidFill>
              </a:rPr>
              <a:t>various </a:t>
            </a:r>
            <a:r>
              <a:rPr sz="1575" b="0">
                <a:solidFill>
                  <a:srgbClr val="111111"/>
                </a:solidFill>
              </a:rPr>
              <a:t>real-world images </a:t>
            </a:r>
            <a:r>
              <a:rPr sz="1575" b="1">
                <a:solidFill>
                  <a:srgbClr val="111111"/>
                </a:solidFill>
              </a:rPr>
              <a:t>compatible with</a:t>
            </a:r>
            <a:r>
              <a:rPr sz="1575" b="0">
                <a:solidFill>
                  <a:srgbClr val="111111"/>
                </a:solidFill>
              </a:rPr>
              <a:t> a fixed model interface.</a:t>
            </a:r>
            <a:endParaRPr sz="157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 The </a:t>
            </a:r>
            <a:r>
              <a:rPr sz="1575" b="1">
                <a:solidFill>
                  <a:srgbClr val="111111"/>
                </a:solidFill>
              </a:rPr>
              <a:t>inference pipeline</a:t>
            </a:r>
            <a:r>
              <a:rPr sz="1575" b="0">
                <a:solidFill>
                  <a:srgbClr val="111111"/>
                </a:solidFill>
              </a:rPr>
              <a:t> should match the preprocessing used </a:t>
            </a:r>
            <a:r>
              <a:rPr sz="1575" b="0">
                <a:solidFill>
                  <a:srgbClr val="FF0000"/>
                </a:solidFill>
              </a:rPr>
              <a:t>during pretraining</a:t>
            </a:r>
            <a:r>
              <a:rPr lang="en-US" sz="1575" b="0">
                <a:solidFill>
                  <a:srgbClr val="FF0000"/>
                </a:solidFill>
              </a:rPr>
              <a:t>!!!</a:t>
            </a:r>
            <a:endParaRPr lang="en-US" sz="1575" b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52500" y="52387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378C4"/>
                </a:solidFill>
              </a:defRPr>
            </a:pPr>
            <a:r>
              <a:rPr sz="1575" b="1">
                <a:solidFill>
                  <a:srgbClr val="4378C4"/>
                </a:solidFill>
              </a:rPr>
              <a:t>Preprocessing changes what information reaches the model.</a:t>
            </a:r>
            <a:endParaRPr sz="1575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lang="en-US" sz="1950" b="1">
                <a:solidFill>
                  <a:srgbClr val="111111"/>
                </a:solidFill>
              </a:rPr>
              <a:t>Common Operations w.r.t Inputs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5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19125" y="2410460"/>
            <a:ext cx="2381250" cy="571500"/>
          </a:xfrm>
          <a:prstGeom prst="rect">
            <a:avLst/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14375" y="241046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Input normalization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3333750" y="241046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Before the model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5810250" y="241046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4378C4"/>
                </a:solidFill>
              </a:defRPr>
            </a:pPr>
            <a:r>
              <a:rPr sz="1350" b="0">
                <a:solidFill>
                  <a:srgbClr val="4378C4"/>
                </a:solidFill>
              </a:rPr>
              <a:t>Pixels</a:t>
            </a:r>
            <a:endParaRPr sz="1350" b="0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19125" y="3410585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14375" y="341058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Batch normalization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333750" y="3410585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Inside a network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810250" y="341058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4378C4"/>
                </a:solidFill>
              </a:defRPr>
            </a:pPr>
            <a:r>
              <a:rPr sz="1350" b="0">
                <a:solidFill>
                  <a:srgbClr val="4378C4"/>
                </a:solidFill>
              </a:rPr>
              <a:t>Batch features</a:t>
            </a:r>
            <a:endParaRPr sz="1350" b="0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19125" y="4410710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714375" y="441071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Layer normalization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333750" y="441071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Inside a Transformer</a:t>
            </a:r>
            <a:endParaRPr sz="1350" b="0">
              <a:solidFill>
                <a:srgbClr val="555555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5810250" y="4410710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4378C4"/>
                </a:solidFill>
              </a:defRPr>
            </a:pPr>
            <a:r>
              <a:rPr sz="1350" b="0">
                <a:solidFill>
                  <a:srgbClr val="4378C4"/>
                </a:solidFill>
              </a:rPr>
              <a:t>Token features</a:t>
            </a:r>
            <a:endParaRPr sz="1350" b="0">
              <a:solidFill>
                <a:srgbClr val="4378C4"/>
              </a:solidFill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619125" y="1410335"/>
            <a:ext cx="2381250" cy="571500"/>
          </a:xfrm>
          <a:prstGeom prst="rect">
            <a:avLst/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717550" y="1421130"/>
            <a:ext cx="2190750" cy="571500"/>
          </a:xfrm>
          <a:prstGeom prst="rect">
            <a:avLst/>
          </a:prstGeom>
          <a:noFill/>
          <a:ln w="9525" cap="flat" cmpd="sng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lang="en-US" sz="1350" b="1">
                <a:solidFill>
                  <a:srgbClr val="111111"/>
                </a:solidFill>
              </a:rPr>
              <a:t>Data Augmentation</a:t>
            </a:r>
            <a:endParaRPr lang="en-US" sz="1350" b="1">
              <a:solidFill>
                <a:srgbClr val="111111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3333750" y="1410335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Before the</a:t>
            </a:r>
            <a:r>
              <a:rPr lang="en-US" sz="1350" b="0">
                <a:solidFill>
                  <a:srgbClr val="555555"/>
                </a:solidFill>
              </a:rPr>
              <a:t> tensor converting</a:t>
            </a:r>
            <a:endParaRPr lang="en-US" sz="1350" b="0">
              <a:solidFill>
                <a:srgbClr val="555555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5810250" y="1410335"/>
            <a:ext cx="2571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4378C4"/>
                </a:solidFill>
              </a:defRPr>
            </a:pPr>
            <a:r>
              <a:rPr lang="en-US" sz="1350" b="0">
                <a:solidFill>
                  <a:srgbClr val="4378C4"/>
                </a:solidFill>
              </a:rPr>
              <a:t>image</a:t>
            </a:r>
            <a:endParaRPr lang="en-US" sz="1350" b="0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Resize, Crop, and Padding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7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571500" y="319913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714375" y="338963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4378C4"/>
                </a:solidFill>
              </a:defRPr>
            </a:pPr>
            <a:r>
              <a:rPr sz="1800" b="1">
                <a:solidFill>
                  <a:srgbClr val="4378C4"/>
                </a:solidFill>
              </a:rPr>
              <a:t>Resize</a:t>
            </a:r>
            <a:endParaRPr sz="1800" b="1">
              <a:solidFill>
                <a:srgbClr val="4378C4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000125" y="4008755"/>
            <a:ext cx="1619250" cy="904875"/>
          </a:xfrm>
          <a:prstGeom prst="rect">
            <a:avLst/>
          </a:prstGeom>
          <a:solidFill>
            <a:srgbClr val="DDEBFA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14375" y="515175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Changes spatial dimensions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71525" y="5942965"/>
            <a:ext cx="209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E2534A"/>
                </a:solidFill>
              </a:defRPr>
            </a:pPr>
            <a:r>
              <a:rPr sz="1275" b="0">
                <a:solidFill>
                  <a:srgbClr val="E2534A"/>
                </a:solidFill>
              </a:rPr>
              <a:t>May distort aspect ratio</a:t>
            </a:r>
            <a:endParaRPr sz="1275" b="0">
              <a:solidFill>
                <a:srgbClr val="E2534A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381375" y="319913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524250" y="338963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4378C4"/>
                </a:solidFill>
              </a:defRPr>
            </a:pPr>
            <a:r>
              <a:rPr sz="1800" b="1">
                <a:solidFill>
                  <a:srgbClr val="4378C4"/>
                </a:solidFill>
              </a:rPr>
              <a:t>Crop</a:t>
            </a:r>
            <a:endParaRPr sz="1800" b="1">
              <a:solidFill>
                <a:srgbClr val="4378C4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810000" y="4008755"/>
            <a:ext cx="1619250" cy="904875"/>
          </a:xfrm>
          <a:prstGeom prst="rect">
            <a:avLst/>
          </a:prstGeom>
          <a:solidFill>
            <a:srgbClr val="E7F3E9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3524250" y="515175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Keeps selected region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581400" y="5942965"/>
            <a:ext cx="209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E2534A"/>
                </a:solidFill>
              </a:defRPr>
            </a:pPr>
            <a:r>
              <a:rPr sz="1275" b="0">
                <a:solidFill>
                  <a:srgbClr val="E2534A"/>
                </a:solidFill>
              </a:rPr>
              <a:t>May remove edge objects</a:t>
            </a:r>
            <a:endParaRPr sz="1275" b="0">
              <a:solidFill>
                <a:srgbClr val="E2534A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6191250" y="3199130"/>
            <a:ext cx="2476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334125" y="3389630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4378C4"/>
                </a:solidFill>
              </a:defRPr>
            </a:pPr>
            <a:r>
              <a:rPr sz="1800" b="1">
                <a:solidFill>
                  <a:srgbClr val="4378C4"/>
                </a:solidFill>
              </a:rPr>
              <a:t>Padding</a:t>
            </a:r>
            <a:endParaRPr sz="1800" b="1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6619875" y="4008755"/>
            <a:ext cx="1619250" cy="904875"/>
          </a:xfrm>
          <a:prstGeom prst="rect">
            <a:avLst/>
          </a:prstGeom>
          <a:solidFill>
            <a:srgbClr val="FFF1D6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6334125" y="515175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Adds border area</a:t>
            </a:r>
            <a:endParaRPr sz="1425" b="1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381750" y="5942965"/>
            <a:ext cx="209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E2534A"/>
                </a:solidFill>
              </a:defRPr>
            </a:pPr>
            <a:r>
              <a:rPr sz="1275" b="0">
                <a:solidFill>
                  <a:srgbClr val="E2534A"/>
                </a:solidFill>
              </a:rPr>
              <a:t>Preserves full content</a:t>
            </a:r>
            <a:endParaRPr sz="1275" b="0">
              <a:solidFill>
                <a:srgbClr val="E2534A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27990" y="980440"/>
            <a:ext cx="8096885" cy="524510"/>
          </a:xfrm>
          <a:prstGeom prst="rect">
            <a:avLst/>
          </a:prstGeom>
        </p:spPr>
        <p:txBody>
          <a:bodyPr wrap="square">
            <a:noAutofit/>
          </a:bodyPr>
          <a:p>
            <a:pPr algn="ctr">
              <a:spcAft>
                <a:spcPct val="60000"/>
              </a:spcAft>
            </a:pPr>
            <a:r>
              <a:rPr lang="en-US" altLang="zh-CN" sz="2200" b="1"/>
              <a:t>Why Is Data Augmentation Necessary?</a:t>
            </a:r>
            <a:endParaRPr lang="en-US" altLang="zh-CN" sz="2200" b="1"/>
          </a:p>
          <a:p>
            <a:pPr algn="ctr">
              <a:spcAft>
                <a:spcPct val="60000"/>
              </a:spcAft>
              <a:buAutoNum type="arabicPeriod"/>
            </a:pPr>
            <a:endParaRPr lang="en-US" altLang="zh-CN" sz="1600"/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908550" y="1908175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5003800" y="1908175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600">
                <a:sym typeface="+mn-ea"/>
              </a:rPr>
              <a:t>Reduce Overfitting </a:t>
            </a:r>
            <a:endParaRPr lang="en-US" altLang="zh-CN" sz="1600">
              <a:sym typeface="+mn-ea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548130" y="1900555"/>
            <a:ext cx="23812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643380" y="1900555"/>
            <a:ext cx="22828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indent="0">
              <a:buNone/>
            </a:pPr>
            <a:r>
              <a:rPr lang="en-US" altLang="zh-CN" sz="1600">
                <a:sym typeface="+mn-ea"/>
              </a:rPr>
              <a:t>Increase Data Diversity</a:t>
            </a:r>
            <a:r>
              <a:rPr lang="en-US" altLang="zh-CN" sz="1350">
                <a:sym typeface="+mn-ea"/>
              </a:rPr>
              <a:t> </a:t>
            </a:r>
            <a:endParaRPr sz="13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Rescaling Pixel Values to [0, 1]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8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152400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4378C4"/>
                </a:solidFill>
              </a:defRPr>
            </a:pPr>
            <a:r>
              <a:rPr sz="2850" b="1">
                <a:solidFill>
                  <a:srgbClr val="4378C4"/>
                </a:solidFill>
              </a:rPr>
              <a:t>x' = x / 255</a:t>
            </a:r>
            <a:endParaRPr sz="2850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953000" y="1238250"/>
            <a:ext cx="1238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953000" y="123825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0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334125" y="1238250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→</a:t>
            </a:r>
            <a:endParaRPr sz="1800" b="1">
              <a:solidFill>
                <a:srgbClr val="555555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953250" y="1238250"/>
            <a:ext cx="1238250" cy="4953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953250" y="123825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0.000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953000" y="1952625"/>
            <a:ext cx="1238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953000" y="195262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64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6334125" y="195262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→</a:t>
            </a:r>
            <a:endParaRPr sz="1800" b="1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953250" y="1952625"/>
            <a:ext cx="1238250" cy="4953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953250" y="195262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0.251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4953000" y="2667000"/>
            <a:ext cx="1238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4953000" y="266700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128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334125" y="2667000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→</a:t>
            </a:r>
            <a:endParaRPr sz="1800" b="1">
              <a:solidFill>
                <a:srgbClr val="555555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953250" y="2667000"/>
            <a:ext cx="1238250" cy="4953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6953250" y="266700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0.502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4953000" y="3381375"/>
            <a:ext cx="1238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4953000" y="33813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192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334125" y="3381375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→</a:t>
            </a:r>
            <a:endParaRPr sz="1800" b="1">
              <a:solidFill>
                <a:srgbClr val="555555"/>
              </a:solidFill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953250" y="3381375"/>
            <a:ext cx="1238250" cy="4953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6953250" y="3381375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0.753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26" name="Rectangle 25"/>
          <p:cNvSpPr>
            <a:spLocks noGrp="1"/>
          </p:cNvSpPr>
          <p:nvPr/>
        </p:nvSpPr>
        <p:spPr>
          <a:xfrm>
            <a:off x="4953000" y="4095750"/>
            <a:ext cx="1238250" cy="495300"/>
          </a:xfrm>
          <a:prstGeom prst="rect">
            <a:avLst/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4953000" y="409575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255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6334125" y="4095750"/>
            <a:ext cx="523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→</a:t>
            </a:r>
            <a:endParaRPr sz="1800" b="1">
              <a:solidFill>
                <a:srgbClr val="555555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953250" y="4095750"/>
            <a:ext cx="1238250" cy="495300"/>
          </a:xfrm>
          <a:prstGeom prst="rect">
            <a:avLst/>
          </a:prstGeom>
          <a:solidFill>
            <a:srgbClr val="EAF1FB"/>
          </a:solidFill>
          <a:ln w="9525">
            <a:solidFill>
              <a:srgbClr val="4378C4"/>
            </a:solidFill>
            <a:prstDash val="solid"/>
          </a:ln>
        </p:spPr>
      </p:sp>
      <p:sp>
        <p:nvSpPr>
          <p:cNvPr id="30" name="Rectangle 29"/>
          <p:cNvSpPr>
            <a:spLocks noGrp="1"/>
          </p:cNvSpPr>
          <p:nvPr/>
        </p:nvSpPr>
        <p:spPr>
          <a:xfrm>
            <a:off x="6953250" y="4095750"/>
            <a:ext cx="123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1.000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31" name="Rectangle 30"/>
          <p:cNvSpPr>
            <a:spLocks noGrp="1"/>
          </p:cNvSpPr>
          <p:nvPr/>
        </p:nvSpPr>
        <p:spPr>
          <a:xfrm>
            <a:off x="669290" y="5048250"/>
            <a:ext cx="410273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Rescaling </a:t>
            </a:r>
            <a:r>
              <a:rPr lang="en-US" sz="1500" b="1">
                <a:solidFill>
                  <a:srgbClr val="111111"/>
                </a:solidFill>
              </a:rPr>
              <a:t>only </a:t>
            </a:r>
            <a:r>
              <a:rPr sz="1500" b="1">
                <a:solidFill>
                  <a:srgbClr val="111111"/>
                </a:solidFill>
              </a:rPr>
              <a:t>changes the numerical scale</a:t>
            </a:r>
            <a:r>
              <a:rPr sz="1500" b="0">
                <a:solidFill>
                  <a:srgbClr val="111111"/>
                </a:solidFill>
              </a:rPr>
              <a:t>, not the image meaning.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855345" y="2925445"/>
            <a:ext cx="361061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4378C4"/>
                </a:solidFill>
              </a:defRPr>
            </a:pPr>
            <a:r>
              <a:rPr lang="en-US" sz="2850" b="1">
                <a:solidFill>
                  <a:schemeClr val="tx2">
                    <a:lumMod val="25000"/>
                    <a:lumOff val="75000"/>
                  </a:schemeClr>
                </a:solidFill>
              </a:rPr>
              <a:t>How to reach [-1, 1]?</a:t>
            </a:r>
            <a:endParaRPr lang="en-US" sz="2850" b="1">
              <a:solidFill>
                <a:schemeClr val="tx2">
                  <a:lumMod val="25000"/>
                  <a:lumOff val="75000"/>
                </a:schemeClr>
              </a:solidFill>
            </a:endParaRPr>
          </a:p>
          <a:p>
            <a:pPr algn="ctr">
              <a:defRPr sz="2850" b="1">
                <a:solidFill>
                  <a:srgbClr val="4378C4"/>
                </a:solidFill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  <a:sym typeface="+mn-ea"/>
              </a:rPr>
              <a:t>x = </a:t>
            </a:r>
            <a:r>
              <a:rPr lang="en-US">
                <a:solidFill>
                  <a:schemeClr val="bg2">
                    <a:lumMod val="90000"/>
                  </a:schemeClr>
                </a:solidFill>
                <a:sym typeface="+mn-ea"/>
              </a:rPr>
              <a:t>(</a:t>
            </a:r>
            <a:r>
              <a:rPr>
                <a:solidFill>
                  <a:schemeClr val="bg2">
                    <a:lumMod val="90000"/>
                  </a:schemeClr>
                </a:solidFill>
                <a:sym typeface="+mn-ea"/>
              </a:rPr>
              <a:t>x</a:t>
            </a:r>
            <a:r>
              <a:rPr lang="en-US">
                <a:solidFill>
                  <a:schemeClr val="bg2">
                    <a:lumMod val="90000"/>
                  </a:schemeClr>
                </a:solidFill>
                <a:sym typeface="+mn-ea"/>
              </a:rPr>
              <a:t>-255/2)</a:t>
            </a:r>
            <a:endParaRPr lang="en-US">
              <a:solidFill>
                <a:schemeClr val="bg2">
                  <a:lumMod val="90000"/>
                </a:schemeClr>
              </a:solidFill>
              <a:sym typeface="+mn-ea"/>
            </a:endParaRPr>
          </a:p>
          <a:p>
            <a:pPr algn="ctr">
              <a:defRPr sz="2850" b="1">
                <a:solidFill>
                  <a:srgbClr val="4378C4"/>
                </a:solidFill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  <a:sym typeface="+mn-ea"/>
              </a:rPr>
              <a:t>x' = x / </a:t>
            </a:r>
            <a:r>
              <a:rPr lang="en-US">
                <a:solidFill>
                  <a:schemeClr val="bg2">
                    <a:lumMod val="90000"/>
                  </a:schemeClr>
                </a:solidFill>
                <a:sym typeface="+mn-ea"/>
              </a:rPr>
              <a:t>(</a:t>
            </a:r>
            <a:r>
              <a:rPr>
                <a:solidFill>
                  <a:schemeClr val="bg2">
                    <a:lumMod val="90000"/>
                  </a:schemeClr>
                </a:solidFill>
                <a:sym typeface="+mn-ea"/>
              </a:rPr>
              <a:t>255</a:t>
            </a:r>
            <a:r>
              <a:rPr lang="en-US">
                <a:solidFill>
                  <a:schemeClr val="bg2">
                    <a:lumMod val="90000"/>
                  </a:schemeClr>
                </a:solidFill>
                <a:sym typeface="+mn-ea"/>
              </a:rPr>
              <a:t>/2)</a:t>
            </a:r>
            <a:endParaRPr b="1">
              <a:solidFill>
                <a:schemeClr val="bg2">
                  <a:lumMod val="90000"/>
                </a:schemeClr>
              </a:solidFill>
            </a:endParaRPr>
          </a:p>
          <a:p>
            <a:pPr algn="ctr">
              <a:defRPr sz="2850" b="1">
                <a:solidFill>
                  <a:srgbClr val="4378C4"/>
                </a:solidFill>
              </a:defRPr>
            </a:pPr>
            <a:endParaRPr lang="en-US" sz="2850" b="1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Mean–Standard Deviation Normalization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1</a:t>
            </a:r>
            <a:r>
              <a:rPr lang="en-US" sz="825" b="0">
                <a:solidFill>
                  <a:srgbClr val="555555"/>
                </a:solidFill>
              </a:rPr>
              <a:t>9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238250"/>
            <a:ext cx="3714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625" b="1">
                <a:solidFill>
                  <a:srgbClr val="4378C4"/>
                </a:solidFill>
              </a:defRPr>
            </a:pPr>
            <a:r>
              <a:rPr sz="2625" b="1">
                <a:solidFill>
                  <a:srgbClr val="4378C4"/>
                </a:solidFill>
              </a:rPr>
              <a:t>x' = (x − μ) / σ</a:t>
            </a:r>
            <a:endParaRPr sz="2625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16095" y="1412875"/>
            <a:ext cx="4431665" cy="46272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Subtract μ: </a:t>
            </a:r>
            <a:r>
              <a:rPr sz="1800" b="1">
                <a:solidFill>
                  <a:srgbClr val="111111"/>
                </a:solidFill>
              </a:rPr>
              <a:t>center the</a:t>
            </a:r>
            <a:r>
              <a:rPr sz="1800" b="0">
                <a:solidFill>
                  <a:srgbClr val="111111"/>
                </a:solidFill>
              </a:rPr>
              <a:t> data around the mean.</a:t>
            </a:r>
            <a:endParaRPr sz="18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Divide by σ: express values </a:t>
            </a:r>
            <a:r>
              <a:rPr sz="1800" b="1">
                <a:solidFill>
                  <a:srgbClr val="111111"/>
                </a:solidFill>
              </a:rPr>
              <a:t>relative to variation</a:t>
            </a:r>
            <a:r>
              <a:rPr sz="1800" b="0">
                <a:solidFill>
                  <a:srgbClr val="111111"/>
                </a:solidFill>
              </a:rPr>
              <a:t>.</a:t>
            </a:r>
            <a:endParaRPr sz="18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RGB channels usually use </a:t>
            </a:r>
            <a:r>
              <a:rPr sz="1800" b="1">
                <a:solidFill>
                  <a:srgbClr val="111111"/>
                </a:solidFill>
              </a:rPr>
              <a:t>separate</a:t>
            </a:r>
            <a:r>
              <a:rPr sz="1800" b="0">
                <a:solidFill>
                  <a:srgbClr val="111111"/>
                </a:solidFill>
              </a:rPr>
              <a:t> μ and σ values.</a:t>
            </a:r>
            <a:endParaRPr sz="18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Negative outputs and values above 1 are normal.</a:t>
            </a:r>
            <a:endParaRPr sz="1800" b="0">
              <a:solidFill>
                <a:srgbClr val="111111"/>
              </a:solidFill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000125" y="28575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AFAFA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190625" y="300037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Example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90625" y="3333750"/>
            <a:ext cx="2667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x = 0.80, μ = 0.50, σ = 0.25</a:t>
            </a:r>
            <a:endParaRPr sz="1575" b="0">
              <a:solidFill>
                <a:srgbClr val="111111"/>
              </a:solidFill>
            </a:endParaRPr>
          </a:p>
          <a:p>
            <a:endParaRPr sz="1575"/>
          </a:p>
          <a:p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x′ = 1.20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Worked Example: Normalize One RGB Pixel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20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Original pixel: (128, 64, 255)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251460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486275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457950" y="237172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1437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057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Divide by 255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68605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76225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(0.502, 0.251, 1.000)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657725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4733925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Subtract μ = 0.5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629400" y="200025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6705600" y="209550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Divide by σ = 0.25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47750" y="3381375"/>
            <a:ext cx="704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4378C4"/>
                </a:solidFill>
              </a:defRPr>
            </a:pPr>
            <a:r>
              <a:rPr sz="2175" b="1">
                <a:solidFill>
                  <a:srgbClr val="4378C4"/>
                </a:solidFill>
              </a:rPr>
              <a:t>Normalized result ≈ (0.008, −0.996, 2.000)</a:t>
            </a:r>
            <a:endParaRPr sz="2175" b="1">
              <a:solidFill>
                <a:srgbClr val="4378C4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524000" y="4476750"/>
            <a:ext cx="609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Each channel is processed independently.</a:t>
            </a:r>
            <a:endParaRPr sz="1500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 The output does not need to stay between 0 and 1.</a:t>
            </a:r>
            <a:endParaRPr sz="15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Why Normalization Matters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21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128587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01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476375" y="142938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Stable scale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3640455" y="1301115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Avoid </a:t>
            </a:r>
            <a:r>
              <a:rPr sz="1425" b="1">
                <a:solidFill>
                  <a:srgbClr val="555555"/>
                </a:solidFill>
              </a:rPr>
              <a:t>unnecessarily large</a:t>
            </a:r>
            <a:r>
              <a:rPr sz="1425" b="0">
                <a:solidFill>
                  <a:srgbClr val="555555"/>
                </a:solidFill>
              </a:rPr>
              <a:t> input values</a:t>
            </a:r>
            <a:endParaRPr sz="1425" b="0">
              <a:solidFill>
                <a:srgbClr val="555555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07390" y="223520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02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517015" y="237871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Comparable channels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707765" y="227711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Reduce </a:t>
            </a:r>
            <a:r>
              <a:rPr sz="1425" b="1">
                <a:solidFill>
                  <a:srgbClr val="555555"/>
                </a:solidFill>
              </a:rPr>
              <a:t>differences in channel statistics</a:t>
            </a:r>
            <a:endParaRPr sz="1425" b="1">
              <a:solidFill>
                <a:srgbClr val="55555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07390" y="3186430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03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1517015" y="332994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Match pretraining</a:t>
            </a:r>
            <a:endParaRPr sz="1650" b="1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707765" y="3184525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Keep inference inputs in the </a:t>
            </a:r>
            <a:r>
              <a:rPr sz="1425" b="1">
                <a:solidFill>
                  <a:srgbClr val="555555"/>
                </a:solidFill>
              </a:rPr>
              <a:t>expected distribution</a:t>
            </a:r>
            <a:endParaRPr sz="1425" b="1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57250" y="53816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E2534A"/>
                </a:solidFill>
              </a:defRPr>
            </a:pPr>
            <a:r>
              <a:rPr sz="1500" b="1">
                <a:solidFill>
                  <a:srgbClr val="E2534A"/>
                </a:solidFill>
              </a:rPr>
              <a:t>The most important practical rule: use the processor released with the pretrained model.</a:t>
            </a:r>
            <a:endParaRPr sz="1500" b="1">
              <a:solidFill>
                <a:srgbClr val="E2534A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83895" y="4149725"/>
            <a:ext cx="66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0</a:t>
            </a:r>
            <a:r>
              <a:rPr lang="en-US" sz="2100" b="1">
                <a:solidFill>
                  <a:srgbClr val="4378C4"/>
                </a:solidFill>
              </a:rPr>
              <a:t>4</a:t>
            </a:r>
            <a:endParaRPr lang="en-US" sz="2100" b="1">
              <a:solidFill>
                <a:srgbClr val="4378C4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493520" y="4293235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lang="en-US" sz="1650" b="1">
                <a:solidFill>
                  <a:srgbClr val="111111"/>
                </a:solidFill>
              </a:rPr>
              <a:t>Unifying data scales</a:t>
            </a:r>
            <a:endParaRPr lang="en-US" sz="1650" b="1">
              <a:solidFill>
                <a:srgbClr val="111111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3684270" y="4147820"/>
            <a:ext cx="457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Keep </a:t>
            </a:r>
            <a:r>
              <a:rPr lang="en-US" sz="1425" b="0">
                <a:solidFill>
                  <a:srgbClr val="555555"/>
                </a:solidFill>
              </a:rPr>
              <a:t>the same scale for </a:t>
            </a:r>
            <a:r>
              <a:rPr lang="en-US" sz="1425" b="1">
                <a:solidFill>
                  <a:srgbClr val="555555"/>
                </a:solidFill>
              </a:rPr>
              <a:t>different data sources</a:t>
            </a:r>
            <a:endParaRPr lang="en-US" sz="1425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Common Image Input Failures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2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E2534A"/>
                </a:solidFill>
              </a:defRPr>
            </a:pPr>
            <a:r>
              <a:rPr sz="1500" b="1">
                <a:solidFill>
                  <a:srgbClr val="E2534A"/>
                </a:solidFill>
              </a:rPr>
              <a:t>RGB ↔ BGR</a:t>
            </a:r>
            <a:endParaRPr sz="1500" b="1">
              <a:solidFill>
                <a:srgbClr val="E2534A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381375" y="10477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0">
                <a:solidFill>
                  <a:srgbClr val="555555"/>
                </a:solidFill>
              </a:rPr>
              <a:t>W</a:t>
            </a:r>
            <a:r>
              <a:rPr sz="1425" b="0">
                <a:solidFill>
                  <a:srgbClr val="555555"/>
                </a:solidFill>
              </a:rPr>
              <a:t>rong</a:t>
            </a:r>
            <a:r>
              <a:rPr lang="en-US" sz="1425" b="0">
                <a:solidFill>
                  <a:srgbClr val="555555"/>
                </a:solidFill>
              </a:rPr>
              <a:t> color </a:t>
            </a:r>
            <a:r>
              <a:rPr lang="en-US" sz="1425" b="1">
                <a:solidFill>
                  <a:srgbClr val="555555"/>
                </a:solidFill>
              </a:rPr>
              <a:t>channel order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62000" y="195262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Wrong range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381375" y="195262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0–255 used </a:t>
            </a:r>
            <a:r>
              <a:rPr lang="en-US" sz="1425" b="1">
                <a:solidFill>
                  <a:srgbClr val="555555"/>
                </a:solidFill>
              </a:rPr>
              <a:t>without</a:t>
            </a:r>
            <a:r>
              <a:rPr lang="en-US" sz="1425" b="0">
                <a:solidFill>
                  <a:srgbClr val="555555"/>
                </a:solidFill>
              </a:rPr>
              <a:t> </a:t>
            </a:r>
            <a:r>
              <a:rPr lang="en-US" sz="1425" b="1">
                <a:solidFill>
                  <a:srgbClr val="555555"/>
                </a:solidFill>
              </a:rPr>
              <a:t>normalization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28575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Wrong crop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381375" y="28575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1">
                <a:solidFill>
                  <a:srgbClr val="555555"/>
                </a:solidFill>
              </a:rPr>
              <a:t>Exclude </a:t>
            </a:r>
            <a:r>
              <a:rPr lang="en-US" sz="1425" b="0">
                <a:solidFill>
                  <a:srgbClr val="555555"/>
                </a:solidFill>
              </a:rPr>
              <a:t>i</a:t>
            </a:r>
            <a:r>
              <a:rPr sz="1425" b="0">
                <a:solidFill>
                  <a:srgbClr val="555555"/>
                </a:solidFill>
              </a:rPr>
              <a:t>mportant object</a:t>
            </a:r>
            <a:r>
              <a:rPr lang="en-US" sz="1425" b="0">
                <a:solidFill>
                  <a:srgbClr val="555555"/>
                </a:solidFill>
              </a:rPr>
              <a:t>s</a:t>
            </a:r>
            <a:endParaRPr lang="en-US" sz="1425" b="0">
              <a:solidFill>
                <a:srgbClr val="555555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3762375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Low resolution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3381375" y="37623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Small objects are </a:t>
            </a:r>
            <a:r>
              <a:rPr lang="en-US" sz="1425" b="1">
                <a:solidFill>
                  <a:srgbClr val="555555"/>
                </a:solidFill>
              </a:rPr>
              <a:t>not identifiable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62000" y="466725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Wrong shape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381375" y="46672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1">
                <a:solidFill>
                  <a:srgbClr val="555555"/>
                </a:solidFill>
              </a:rPr>
              <a:t>Wrong dimension order</a:t>
            </a:r>
            <a:r>
              <a:rPr lang="en-US" sz="1425" b="0">
                <a:solidFill>
                  <a:srgbClr val="555555"/>
                </a:solidFill>
              </a:rPr>
              <a:t>: </a:t>
            </a:r>
            <a:r>
              <a:rPr sz="1425" b="0">
                <a:solidFill>
                  <a:srgbClr val="555555"/>
                </a:solidFill>
              </a:rPr>
              <a:t>HWC </a:t>
            </a:r>
            <a:r>
              <a:rPr lang="en-US" sz="1425" b="0">
                <a:solidFill>
                  <a:srgbClr val="555555"/>
                </a:solidFill>
              </a:rPr>
              <a:t>or </a:t>
            </a:r>
            <a:r>
              <a:rPr sz="1425" b="0">
                <a:solidFill>
                  <a:srgbClr val="555555"/>
                </a:solidFill>
              </a:rPr>
              <a:t>CHW</a:t>
            </a:r>
            <a:r>
              <a:rPr lang="en-US" sz="1425" b="0">
                <a:solidFill>
                  <a:srgbClr val="555555"/>
                </a:solidFill>
              </a:rPr>
              <a:t>? </a:t>
            </a:r>
            <a:endParaRPr lang="en-US" sz="1425" b="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52500" y="56197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4378C4"/>
                </a:solidFill>
              </a:defRPr>
            </a:pPr>
            <a:r>
              <a:rPr sz="1650" b="1">
                <a:solidFill>
                  <a:srgbClr val="4378C4"/>
                </a:solidFill>
              </a:rPr>
              <a:t>A model error may begin before the model itself.</a:t>
            </a:r>
            <a:endParaRPr sz="1650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</a:pPr>
            <a:r>
              <a:rPr sz="1985" spc="-1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— </a:t>
            </a:r>
            <a:r>
              <a:rPr sz="1985">
                <a:solidFill>
                  <a:schemeClr val="tx1"/>
                </a:solidFill>
                <a:sym typeface="+mn-ea"/>
              </a:rPr>
              <a:t>RGB Image</a:t>
            </a:r>
            <a:endParaRPr sz="1985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Normalization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—</a:t>
            </a:r>
            <a:r>
              <a:rPr lang="en-US"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85" b="1">
                <a:solidFill>
                  <a:srgbClr val="111111"/>
                </a:solidFill>
                <a:sym typeface="+mn-ea"/>
              </a:rPr>
              <a:t>Text and Word Embedding</a:t>
            </a:r>
            <a:endParaRPr lang="en-US"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Visual Tokens and Multimodal Input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</a:pPr>
            <a:r>
              <a:rPr sz="3570"/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8544146" y="6631164"/>
            <a:ext cx="510380" cy="20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2000"/>
              </a:lnSpc>
              <a:buNone/>
              <a:defRPr sz="565">
                <a:solidFill>
                  <a:srgbClr val="000000"/>
                </a:solidFill>
              </a:defRPr>
            </a:pPr>
            <a:r>
              <a:rPr lang="en-US" sz="1120">
                <a:solidFill>
                  <a:srgbClr val="000000"/>
                </a:solidFill>
              </a:rPr>
              <a:t>2</a:t>
            </a:r>
            <a:r>
              <a:rPr sz="1120">
                <a:solidFill>
                  <a:srgbClr val="000000"/>
                </a:solidFill>
              </a:rPr>
              <a:t>3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Part III — Text and Word Embedding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4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How does a sentence become a sequence of vectors?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 1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Text </a:t>
            </a:r>
            <a:r>
              <a:rPr lang="en-US" sz="1950" b="1">
                <a:solidFill>
                  <a:srgbClr val="111111"/>
                </a:solidFill>
              </a:rPr>
              <a:t>Processing Pipeline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5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514600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448627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6457950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14375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90575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Raw sentence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686050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762250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Tokenizer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657725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733925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Tokens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629400" y="2095500"/>
            <a:ext cx="1800225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705600" y="2190750"/>
            <a:ext cx="16478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Token IDs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1047750" y="3333750"/>
            <a:ext cx="704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“A student is reading a book.”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47750" y="3952875"/>
            <a:ext cx="704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4378C4"/>
                </a:solidFill>
              </a:defRPr>
            </a:pPr>
            <a:r>
              <a:rPr sz="1575" b="0">
                <a:solidFill>
                  <a:srgbClr val="4378C4"/>
                </a:solidFill>
              </a:rPr>
              <a:t>[A] [student] [is] [read] [ing] [a] [book] [.]</a:t>
            </a:r>
            <a:endParaRPr sz="1575" b="0">
              <a:solidFill>
                <a:srgbClr val="4378C4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494030" y="4762500"/>
            <a:ext cx="7965440" cy="12179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A token may be a word, </a:t>
            </a:r>
            <a:r>
              <a:rPr sz="2000" b="1">
                <a:solidFill>
                  <a:srgbClr val="111111"/>
                </a:solidFill>
              </a:rPr>
              <a:t>subword</a:t>
            </a:r>
            <a:r>
              <a:rPr sz="2000" b="0">
                <a:solidFill>
                  <a:srgbClr val="111111"/>
                </a:solidFill>
              </a:rPr>
              <a:t>, character, punctuation mark, or special symbol.</a:t>
            </a:r>
            <a:endParaRPr sz="2000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</a:t>
            </a:r>
            <a:r>
              <a:rPr sz="2000" b="1">
                <a:solidFill>
                  <a:srgbClr val="111111"/>
                </a:solidFill>
              </a:rPr>
              <a:t>Tokenization </a:t>
            </a:r>
            <a:r>
              <a:rPr sz="2000" b="0">
                <a:solidFill>
                  <a:srgbClr val="111111"/>
                </a:solidFill>
              </a:rPr>
              <a:t>and </a:t>
            </a:r>
            <a:r>
              <a:rPr sz="2000" b="1">
                <a:solidFill>
                  <a:srgbClr val="111111"/>
                </a:solidFill>
              </a:rPr>
              <a:t>embedding </a:t>
            </a:r>
            <a:r>
              <a:rPr sz="2000" b="0">
                <a:solidFill>
                  <a:srgbClr val="111111"/>
                </a:solidFill>
              </a:rPr>
              <a:t>are two different steps.</a:t>
            </a:r>
            <a:endParaRPr sz="20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Why Use Subword Tokens?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6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714375" y="133350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809625" y="13335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Whole words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3238500" y="13335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Huge vocabulary</a:t>
            </a:r>
            <a:r>
              <a:rPr lang="en-US" sz="1425" b="1">
                <a:solidFill>
                  <a:srgbClr val="555555"/>
                </a:solidFill>
              </a:rPr>
              <a:t> = huge token size</a:t>
            </a:r>
            <a:endParaRPr lang="en-US" sz="1425" b="1">
              <a:solidFill>
                <a:srgbClr val="555555"/>
              </a:solidFill>
            </a:endParaRPr>
          </a:p>
          <a:p>
            <a:pPr algn="l">
              <a:defRPr sz="1425" b="0">
                <a:solidFill>
                  <a:srgbClr val="555555"/>
                </a:solidFill>
              </a:defRPr>
            </a:pPr>
            <a:endParaRPr lang="en-US" sz="1425" b="1">
              <a:solidFill>
                <a:srgbClr val="555555"/>
              </a:solidFill>
            </a:endParaRPr>
          </a:p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1">
                <a:solidFill>
                  <a:srgbClr val="555555"/>
                </a:solidFill>
              </a:rPr>
              <a:t>U</a:t>
            </a:r>
            <a:r>
              <a:rPr sz="1425" b="1">
                <a:solidFill>
                  <a:srgbClr val="555555"/>
                </a:solidFill>
              </a:rPr>
              <a:t>nknown names and new terms</a:t>
            </a:r>
            <a:r>
              <a:rPr lang="en-US" sz="1425" b="1">
                <a:solidFill>
                  <a:srgbClr val="555555"/>
                </a:solidFill>
              </a:rPr>
              <a:t> are not supported !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14375" y="2619375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809625" y="2619375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Characters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3238500" y="26193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1">
                <a:solidFill>
                  <a:srgbClr val="555555"/>
                </a:solidFill>
              </a:rPr>
              <a:t>A word = long token </a:t>
            </a:r>
            <a:r>
              <a:rPr lang="en-US" sz="1425" b="0">
                <a:solidFill>
                  <a:srgbClr val="555555"/>
                </a:solidFill>
              </a:rPr>
              <a:t>sequences</a:t>
            </a:r>
            <a:endParaRPr lang="en-US" sz="1425" b="0">
              <a:solidFill>
                <a:srgbClr val="555555"/>
              </a:solidFill>
            </a:endParaRPr>
          </a:p>
          <a:p>
            <a:pPr algn="l">
              <a:defRPr sz="1425" b="0">
                <a:solidFill>
                  <a:srgbClr val="555555"/>
                </a:solidFill>
              </a:defRPr>
            </a:pPr>
            <a:endParaRPr lang="en-US" sz="1425" b="0">
              <a:solidFill>
                <a:srgbClr val="555555"/>
              </a:solidFill>
            </a:endParaRPr>
          </a:p>
          <a:p>
            <a:pPr algn="l">
              <a:defRPr sz="1425" b="0">
                <a:solidFill>
                  <a:srgbClr val="555555"/>
                </a:solidFill>
              </a:defRPr>
            </a:pPr>
            <a:r>
              <a:rPr lang="en-US" sz="1425" b="1">
                <a:solidFill>
                  <a:srgbClr val="555555"/>
                </a:solidFill>
              </a:rPr>
              <a:t>W</a:t>
            </a:r>
            <a:r>
              <a:rPr sz="1425" b="1">
                <a:solidFill>
                  <a:srgbClr val="555555"/>
                </a:solidFill>
              </a:rPr>
              <a:t>eak </a:t>
            </a:r>
            <a:r>
              <a:rPr lang="en-US" sz="1425" b="1">
                <a:solidFill>
                  <a:srgbClr val="555555"/>
                </a:solidFill>
              </a:rPr>
              <a:t>token</a:t>
            </a:r>
            <a:r>
              <a:rPr sz="1425" b="1">
                <a:solidFill>
                  <a:srgbClr val="555555"/>
                </a:solidFill>
              </a:rPr>
              <a:t>-</a:t>
            </a:r>
            <a:r>
              <a:rPr lang="en-US" sz="1425" b="1">
                <a:solidFill>
                  <a:srgbClr val="555555"/>
                </a:solidFill>
              </a:rPr>
              <a:t>wise</a:t>
            </a:r>
            <a:r>
              <a:rPr sz="1425" b="1">
                <a:solidFill>
                  <a:srgbClr val="555555"/>
                </a:solidFill>
              </a:rPr>
              <a:t> </a:t>
            </a:r>
            <a:r>
              <a:rPr lang="en-US" sz="1425" b="1">
                <a:solidFill>
                  <a:srgbClr val="555555"/>
                </a:solidFill>
              </a:rPr>
              <a:t>semantics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714375" y="3905250"/>
            <a:ext cx="2190750" cy="666750"/>
          </a:xfrm>
          <a:prstGeom prst="roundRect">
            <a:avLst>
              <a:gd name="adj" fmla="val 11429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809625" y="39052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378C4"/>
                </a:solidFill>
              </a:defRPr>
            </a:pPr>
            <a:r>
              <a:rPr sz="1575" b="1">
                <a:solidFill>
                  <a:srgbClr val="4378C4"/>
                </a:solidFill>
              </a:rPr>
              <a:t>Subwords</a:t>
            </a:r>
            <a:endParaRPr sz="1575" b="1">
              <a:solidFill>
                <a:srgbClr val="4378C4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3238500" y="3905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Reusable pieces </a:t>
            </a:r>
            <a:r>
              <a:rPr sz="1425" b="1">
                <a:solidFill>
                  <a:srgbClr val="555555"/>
                </a:solidFill>
              </a:rPr>
              <a:t>balance vocabulary size</a:t>
            </a:r>
            <a:r>
              <a:rPr sz="1425" b="0">
                <a:solidFill>
                  <a:srgbClr val="555555"/>
                </a:solidFill>
              </a:rPr>
              <a:t> and </a:t>
            </a:r>
            <a:r>
              <a:rPr sz="1425" b="1">
                <a:solidFill>
                  <a:srgbClr val="555555"/>
                </a:solidFill>
              </a:rPr>
              <a:t>sequence length</a:t>
            </a:r>
            <a:r>
              <a:rPr lang="en-US" sz="1425" b="1">
                <a:solidFill>
                  <a:srgbClr val="555555"/>
                </a:solidFill>
              </a:rPr>
              <a:t>/semantics</a:t>
            </a:r>
            <a:endParaRPr lang="en-US" sz="1425" b="1">
              <a:solidFill>
                <a:srgbClr val="555555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143000" y="533400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4378C4"/>
                </a:solidFill>
              </a:defRPr>
            </a:pPr>
            <a:r>
              <a:rPr sz="1725" b="1">
                <a:solidFill>
                  <a:srgbClr val="4378C4"/>
                </a:solidFill>
              </a:rPr>
              <a:t>Example: playing → play + ing</a:t>
            </a:r>
            <a:endParaRPr sz="1725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Vocabulary and Token IDs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7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714500" y="1095375"/>
            <a:ext cx="28575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714500" y="1095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Token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572000" y="1095375"/>
            <a:ext cx="2857500" cy="685800"/>
          </a:xfrm>
          <a:prstGeom prst="rect">
            <a:avLst/>
          </a:prstGeom>
          <a:solidFill>
            <a:srgbClr val="111111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4572000" y="1095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ID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714500" y="17811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1714500" y="17811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&lt;bos&gt;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572000" y="17811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4572000" y="17811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714500" y="24669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1714500" y="24669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4572000" y="24669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4572000" y="24669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37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714500" y="31527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1714500" y="31527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student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0" y="31527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0" name="Rectangle 19"/>
          <p:cNvSpPr>
            <a:spLocks noGrp="1"/>
          </p:cNvSpPr>
          <p:nvPr/>
        </p:nvSpPr>
        <p:spPr>
          <a:xfrm>
            <a:off x="4572000" y="31527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526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714500" y="38385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1714500" y="38385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reading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4572000" y="38385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4572000" y="38385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1042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714500" y="45243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6" name="Rectangle 25"/>
          <p:cNvSpPr>
            <a:spLocks noGrp="1"/>
          </p:cNvSpPr>
          <p:nvPr/>
        </p:nvSpPr>
        <p:spPr>
          <a:xfrm>
            <a:off x="1714500" y="4524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book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4572000" y="4524375"/>
            <a:ext cx="2857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8" name="Rectangle 27"/>
          <p:cNvSpPr>
            <a:spLocks noGrp="1"/>
          </p:cNvSpPr>
          <p:nvPr/>
        </p:nvSpPr>
        <p:spPr>
          <a:xfrm>
            <a:off x="4572000" y="452437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928</a:t>
            </a:r>
            <a:endParaRPr sz="1425" b="0">
              <a:solidFill>
                <a:srgbClr val="111111"/>
              </a:solidFill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1143000" y="5476875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E2534A"/>
                </a:solidFill>
              </a:defRPr>
            </a:pPr>
            <a:r>
              <a:rPr sz="1575" b="1">
                <a:solidFill>
                  <a:srgbClr val="E2534A"/>
                </a:solidFill>
              </a:rPr>
              <a:t>IDs are addresses in a </a:t>
            </a:r>
            <a:r>
              <a:rPr lang="en-US" sz="1575" b="1">
                <a:solidFill>
                  <a:srgbClr val="E2534A"/>
                </a:solidFill>
              </a:rPr>
              <a:t>predefined token </a:t>
            </a:r>
            <a:r>
              <a:rPr sz="1575" b="1">
                <a:solidFill>
                  <a:srgbClr val="E2534A"/>
                </a:solidFill>
              </a:rPr>
              <a:t>vocabulary—not semantic </a:t>
            </a:r>
            <a:r>
              <a:rPr lang="en-US" sz="1575" b="1">
                <a:solidFill>
                  <a:srgbClr val="E2534A"/>
                </a:solidFill>
              </a:rPr>
              <a:t>significance</a:t>
            </a:r>
            <a:r>
              <a:rPr sz="1575" b="1">
                <a:solidFill>
                  <a:srgbClr val="E2534A"/>
                </a:solidFill>
              </a:rPr>
              <a:t>.</a:t>
            </a:r>
            <a:endParaRPr sz="1575" b="1">
              <a:solidFill>
                <a:srgbClr val="E2534A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lang="en-US" sz="1950" b="1">
                <a:solidFill>
                  <a:srgbClr val="111111"/>
                </a:solidFill>
              </a:rPr>
              <a:t>Token </a:t>
            </a:r>
            <a:r>
              <a:rPr sz="1950" b="1">
                <a:solidFill>
                  <a:srgbClr val="111111"/>
                </a:solidFill>
              </a:rPr>
              <a:t>Embedding: </a:t>
            </a:r>
            <a:r>
              <a:rPr lang="en-US" sz="1950" b="1">
                <a:solidFill>
                  <a:srgbClr val="111111"/>
                </a:solidFill>
              </a:rPr>
              <a:t>Look up</a:t>
            </a:r>
            <a:r>
              <a:rPr sz="1950" b="1">
                <a:solidFill>
                  <a:srgbClr val="111111"/>
                </a:solidFill>
              </a:rPr>
              <a:t> an ID </a:t>
            </a:r>
            <a:r>
              <a:rPr lang="en-US" sz="1950" b="1">
                <a:solidFill>
                  <a:srgbClr val="111111"/>
                </a:solidFill>
              </a:rPr>
              <a:t>from a Matrix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8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3171825" y="241935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5800725" y="241935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714375" y="204787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90575" y="214312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Token ID 526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3343275" y="204787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419475" y="214312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Embedding matrix 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5972175" y="204787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6048375" y="214312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Vector e₅₂₆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809625" y="347662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4378C4"/>
                </a:solidFill>
              </a:defRPr>
            </a:pPr>
            <a:r>
              <a:rPr sz="2400" b="1">
                <a:solidFill>
                  <a:srgbClr val="4378C4"/>
                </a:solidFill>
              </a:rPr>
              <a:t>E ∈ ℝⱽˣᴰ</a:t>
            </a:r>
            <a:endParaRPr sz="2400" b="1">
              <a:solidFill>
                <a:srgbClr val="4378C4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3429000" y="3476625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student → [0.21, −0.47, 0.83, …]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524000" y="4619625"/>
            <a:ext cx="6096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V: vocabulary size</a:t>
            </a:r>
            <a:endParaRPr sz="1425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D: embedding dimension</a:t>
            </a:r>
            <a:endParaRPr sz="1425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The embedding values are </a:t>
            </a:r>
            <a:r>
              <a:rPr sz="1425" b="1">
                <a:solidFill>
                  <a:srgbClr val="111111"/>
                </a:solidFill>
              </a:rPr>
              <a:t>learned from data</a:t>
            </a:r>
            <a:r>
              <a:rPr sz="1425" b="0">
                <a:solidFill>
                  <a:srgbClr val="111111"/>
                </a:solidFill>
              </a:rPr>
              <a:t>.</a:t>
            </a:r>
            <a:endParaRPr sz="14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lang="en-US" sz="1950" b="1">
                <a:solidFill>
                  <a:srgbClr val="111111"/>
                </a:solidFill>
              </a:rPr>
              <a:t>Why not </a:t>
            </a:r>
            <a:r>
              <a:rPr sz="1950" b="1">
                <a:solidFill>
                  <a:srgbClr val="111111"/>
                </a:solidFill>
              </a:rPr>
              <a:t>One-Hot Vector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2</a:t>
            </a:r>
            <a:r>
              <a:rPr lang="en-US" sz="825" b="0">
                <a:solidFill>
                  <a:srgbClr val="555555"/>
                </a:solidFill>
              </a:rPr>
              <a:t>9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09625" y="119062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One-hot</a:t>
            </a:r>
            <a:endParaRPr sz="180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09625" y="17621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[0, 1, 0, 0, 0, 0, …]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809625" y="2476500"/>
            <a:ext cx="3238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 </a:t>
            </a:r>
            <a:r>
              <a:rPr lang="en-US" sz="1350" b="1">
                <a:solidFill>
                  <a:srgbClr val="111111"/>
                </a:solidFill>
              </a:rPr>
              <a:t>Small </a:t>
            </a:r>
            <a:r>
              <a:rPr lang="en-US" sz="1350" b="0">
                <a:solidFill>
                  <a:srgbClr val="111111"/>
                </a:solidFill>
              </a:rPr>
              <a:t>representative </a:t>
            </a:r>
            <a:r>
              <a:rPr lang="en-US" sz="1350" b="1">
                <a:solidFill>
                  <a:srgbClr val="111111"/>
                </a:solidFill>
              </a:rPr>
              <a:t>capacity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>
                <a:sym typeface="+mn-ea"/>
              </a:rPr>
              <a:t>•  </a:t>
            </a:r>
            <a:r>
              <a:rPr sz="1350" b="0">
                <a:solidFill>
                  <a:srgbClr val="111111"/>
                </a:solidFill>
              </a:rPr>
              <a:t>Very </a:t>
            </a:r>
            <a:r>
              <a:rPr sz="1350" b="1">
                <a:solidFill>
                  <a:srgbClr val="111111"/>
                </a:solidFill>
              </a:rPr>
              <a:t>high-dimensional</a:t>
            </a:r>
            <a:r>
              <a:rPr lang="en-US" sz="1350" b="1">
                <a:solidFill>
                  <a:srgbClr val="111111"/>
                </a:solidFill>
              </a:rPr>
              <a:t> </a:t>
            </a:r>
            <a:r>
              <a:rPr lang="en-US" sz="1350">
                <a:solidFill>
                  <a:srgbClr val="111111"/>
                </a:solidFill>
              </a:rPr>
              <a:t>vectors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 </a:t>
            </a:r>
            <a:r>
              <a:rPr lang="en-US" sz="1350" b="1">
                <a:solidFill>
                  <a:srgbClr val="111111"/>
                </a:solidFill>
              </a:rPr>
              <a:t>Sparse</a:t>
            </a:r>
            <a:r>
              <a:rPr lang="en-US" sz="1350" b="0">
                <a:solidFill>
                  <a:srgbClr val="111111"/>
                </a:solidFill>
              </a:rPr>
              <a:t> and </a:t>
            </a:r>
            <a:r>
              <a:rPr lang="en-US" sz="1350" b="1">
                <a:solidFill>
                  <a:srgbClr val="111111"/>
                </a:solidFill>
              </a:rPr>
              <a:t>discrete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 No natural semantic similarity</a:t>
            </a:r>
            <a:r>
              <a:rPr lang="en-US" sz="1350" b="0">
                <a:solidFill>
                  <a:srgbClr val="111111"/>
                </a:solidFill>
              </a:rPr>
              <a:t> (cosine similarity scores of vectors are </a:t>
            </a:r>
            <a:r>
              <a:rPr lang="en-US" sz="1350" b="1">
                <a:solidFill>
                  <a:srgbClr val="111111"/>
                </a:solidFill>
              </a:rPr>
              <a:t>all zeros</a:t>
            </a:r>
            <a:r>
              <a:rPr lang="en-US" sz="1350" b="0">
                <a:solidFill>
                  <a:srgbClr val="111111"/>
                </a:solidFill>
              </a:rPr>
              <a:t>)</a:t>
            </a:r>
            <a:endParaRPr lang="en-US" sz="1350" b="0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953000" y="1190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4378C4"/>
                </a:solidFill>
              </a:defRPr>
            </a:pPr>
            <a:r>
              <a:rPr sz="1800" b="1">
                <a:solidFill>
                  <a:srgbClr val="4378C4"/>
                </a:solidFill>
              </a:rPr>
              <a:t>Dense embedding</a:t>
            </a:r>
            <a:endParaRPr sz="1800" b="1">
              <a:solidFill>
                <a:srgbClr val="4378C4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4953000" y="17621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4378C4"/>
                </a:solidFill>
              </a:defRPr>
            </a:pPr>
            <a:r>
              <a:rPr sz="1650" b="0">
                <a:solidFill>
                  <a:srgbClr val="4378C4"/>
                </a:solidFill>
              </a:rPr>
              <a:t>[0.70, −0.20, 0.40, …]</a:t>
            </a:r>
            <a:endParaRPr sz="1650" b="0">
              <a:solidFill>
                <a:srgbClr val="4378C4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4953000" y="2486025"/>
            <a:ext cx="3767455" cy="1776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>
                <a:sym typeface="+mn-ea"/>
              </a:rPr>
              <a:t>•  </a:t>
            </a:r>
            <a:r>
              <a:rPr lang="en-US" b="1">
                <a:sym typeface="+mn-ea"/>
              </a:rPr>
              <a:t>Large </a:t>
            </a:r>
            <a:r>
              <a:rPr lang="en-US">
                <a:sym typeface="+mn-ea"/>
              </a:rPr>
              <a:t>representative </a:t>
            </a:r>
            <a:r>
              <a:rPr lang="en-US" b="1">
                <a:sym typeface="+mn-ea"/>
              </a:rPr>
              <a:t>capacity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</a:t>
            </a:r>
            <a:r>
              <a:rPr lang="en-US" sz="1350" b="0">
                <a:solidFill>
                  <a:srgbClr val="111111"/>
                </a:solidFill>
              </a:rPr>
              <a:t> Flexibly low dimensional (</a:t>
            </a:r>
            <a:r>
              <a:rPr lang="en-US" sz="1350" b="1">
                <a:solidFill>
                  <a:srgbClr val="111111"/>
                </a:solidFill>
              </a:rPr>
              <a:t>&gt;=2</a:t>
            </a:r>
            <a:r>
              <a:rPr lang="en-US" sz="1350" b="0">
                <a:solidFill>
                  <a:srgbClr val="111111"/>
                </a:solidFill>
              </a:rPr>
              <a:t>) </a:t>
            </a:r>
            <a:r>
              <a:rPr lang="en-US">
                <a:sym typeface="+mn-ea"/>
              </a:rPr>
              <a:t>vectors</a:t>
            </a:r>
            <a:endParaRPr lang="en-US"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>
                <a:sym typeface="+mn-ea"/>
              </a:rPr>
              <a:t>•  </a:t>
            </a:r>
            <a:r>
              <a:rPr sz="1350" b="1">
                <a:solidFill>
                  <a:srgbClr val="111111"/>
                </a:solidFill>
              </a:rPr>
              <a:t>Continuous </a:t>
            </a:r>
            <a:r>
              <a:rPr sz="1350" b="0">
                <a:solidFill>
                  <a:srgbClr val="111111"/>
                </a:solidFill>
              </a:rPr>
              <a:t>vector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 Learned during training</a:t>
            </a:r>
            <a:endParaRPr sz="1350" b="0">
              <a:solidFill>
                <a:srgbClr val="111111"/>
              </a:solidFill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• </a:t>
            </a:r>
            <a:r>
              <a:rPr lang="en-US" sz="1350" b="0">
                <a:solidFill>
                  <a:srgbClr val="111111"/>
                </a:solidFill>
              </a:rPr>
              <a:t> Meaningful</a:t>
            </a:r>
            <a:r>
              <a:rPr sz="1350" b="0">
                <a:solidFill>
                  <a:srgbClr val="111111"/>
                </a:solidFill>
              </a:rPr>
              <a:t> </a:t>
            </a:r>
            <a:r>
              <a:rPr lang="en-US" sz="1350" b="1">
                <a:solidFill>
                  <a:srgbClr val="111111"/>
                </a:solidFill>
              </a:rPr>
              <a:t>token-wise </a:t>
            </a:r>
            <a:r>
              <a:rPr sz="1350" b="1">
                <a:solidFill>
                  <a:srgbClr val="111111"/>
                </a:solidFill>
              </a:rPr>
              <a:t>relationships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952500" y="5095875"/>
            <a:ext cx="723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lang="en-US" sz="1575" b="0">
                <a:solidFill>
                  <a:srgbClr val="111111"/>
                </a:solidFill>
              </a:rPr>
              <a:t>Dense e</a:t>
            </a:r>
            <a:r>
              <a:rPr sz="1575" b="0">
                <a:solidFill>
                  <a:srgbClr val="111111"/>
                </a:solidFill>
              </a:rPr>
              <a:t>mbedding</a:t>
            </a:r>
            <a:r>
              <a:rPr sz="1575" b="1">
                <a:solidFill>
                  <a:srgbClr val="111111"/>
                </a:solidFill>
              </a:rPr>
              <a:t> converts a discrete symbol </a:t>
            </a:r>
            <a:r>
              <a:rPr sz="1575" b="0">
                <a:solidFill>
                  <a:srgbClr val="111111"/>
                </a:solidFill>
              </a:rPr>
              <a:t>into</a:t>
            </a:r>
            <a:r>
              <a:rPr sz="1575" b="1">
                <a:solidFill>
                  <a:srgbClr val="111111"/>
                </a:solidFill>
              </a:rPr>
              <a:t> a point in a continuous feature space.</a:t>
            </a:r>
            <a:endParaRPr sz="1575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Semantic Similarity in Embedding Space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30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190625" y="1143000"/>
            <a:ext cx="6762750" cy="3714750"/>
          </a:xfrm>
          <a:prstGeom prst="rect">
            <a:avLst/>
          </a:prstGeom>
          <a:solidFill>
            <a:srgbClr val="FAFAFA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2381250" y="2381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78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2524125" y="22860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cat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143250" y="2714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78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286125" y="2619375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dog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2143125" y="3238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78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2286000" y="31432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tiger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191250" y="2000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78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334125" y="19050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car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762750" y="2667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378C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6905625" y="257175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bus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429250" y="4095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253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Rectangle 16"/>
          <p:cNvSpPr>
            <a:spLocks noGrp="1"/>
          </p:cNvSpPr>
          <p:nvPr/>
        </p:nvSpPr>
        <p:spPr>
          <a:xfrm>
            <a:off x="5572125" y="400050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book</a:t>
            </a:r>
            <a:endParaRPr sz="1350" b="1">
              <a:solidFill>
                <a:srgbClr val="111111"/>
              </a:solidFill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428750" y="5095875"/>
            <a:ext cx="628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378C4"/>
                </a:solidFill>
              </a:defRPr>
            </a:pPr>
            <a:r>
              <a:rPr sz="1575" b="1">
                <a:solidFill>
                  <a:srgbClr val="4378C4"/>
                </a:solidFill>
              </a:rPr>
              <a:t>Related words may appear close after training.</a:t>
            </a:r>
            <a:endParaRPr sz="1575" b="1">
              <a:solidFill>
                <a:srgbClr val="4378C4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428750" y="552450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Similarity is learned from data.</a:t>
            </a:r>
            <a:endParaRPr sz="1275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Rectangle 1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lang="en-US" sz="1950" b="1">
                <a:solidFill>
                  <a:srgbClr val="111111"/>
                </a:solidFill>
              </a:rPr>
              <a:t>Token </a:t>
            </a:r>
            <a:r>
              <a:rPr sz="1950" b="1">
                <a:solidFill>
                  <a:srgbClr val="111111"/>
                </a:solidFill>
              </a:rPr>
              <a:t>Position Embedding and Attention Mask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31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52500" y="1071880"/>
            <a:ext cx="7239000" cy="928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E2534A"/>
                </a:solidFill>
              </a:defRPr>
            </a:pPr>
            <a:r>
              <a:rPr lang="en-US" sz="1875">
                <a:solidFill>
                  <a:schemeClr val="tx1"/>
                </a:solidFill>
              </a:rPr>
              <a:t>Why indicating token positions?</a:t>
            </a:r>
            <a:endParaRPr lang="en-US" sz="1875">
              <a:solidFill>
                <a:schemeClr val="tx1"/>
              </a:solidFill>
            </a:endParaRPr>
          </a:p>
          <a:p>
            <a:pPr algn="ctr">
              <a:defRPr sz="1875" b="1">
                <a:solidFill>
                  <a:srgbClr val="E2534A"/>
                </a:solidFill>
              </a:defRPr>
            </a:pPr>
            <a:endParaRPr sz="1875" b="1">
              <a:solidFill>
                <a:srgbClr val="E2534A"/>
              </a:solidFill>
            </a:endParaRPr>
          </a:p>
          <a:p>
            <a:pPr algn="ctr">
              <a:defRPr sz="1875" b="1">
                <a:solidFill>
                  <a:srgbClr val="E2534A"/>
                </a:solidFill>
              </a:defRPr>
            </a:pPr>
            <a:r>
              <a:rPr sz="1875" b="1">
                <a:solidFill>
                  <a:srgbClr val="E2534A"/>
                </a:solidFill>
              </a:rPr>
              <a:t>Dog bites man.   ≠   Man bites dog.</a:t>
            </a:r>
            <a:endParaRPr sz="1875" b="1">
              <a:solidFill>
                <a:srgbClr val="E2534A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71825" y="26574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800725" y="26574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714375" y="2286000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790575" y="2381250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Token embedding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3343275" y="2286000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3419475" y="2381250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+ Position information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972175" y="2286000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048375" y="2381250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Ordered sequence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04875" y="361950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Padding example</a:t>
            </a:r>
            <a:endParaRPr sz="1575" b="1">
              <a:solidFill>
                <a:srgbClr val="111111"/>
              </a:solidFill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904875" y="4048125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4378C4"/>
                </a:solidFill>
              </a:defRPr>
            </a:pPr>
            <a:r>
              <a:rPr sz="1575" b="0">
                <a:solidFill>
                  <a:srgbClr val="4378C4"/>
                </a:solidFill>
              </a:rPr>
              <a:t>A cat sleeps . &lt;pad&gt; &lt;pad&gt;</a:t>
            </a:r>
            <a:endParaRPr sz="1575" b="0">
              <a:solidFill>
                <a:srgbClr val="4378C4"/>
              </a:solidFill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904875" y="45720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Attention mask: [1, 1, 1, 1, 0, 0]</a:t>
            </a:r>
            <a:endParaRPr sz="1500" b="0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04875" y="5191125"/>
            <a:ext cx="723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555555"/>
                </a:solidFill>
              </a:defRPr>
            </a:pPr>
            <a:r>
              <a:rPr sz="1425" b="1">
                <a:solidFill>
                  <a:srgbClr val="555555"/>
                </a:solidFill>
              </a:rPr>
              <a:t>The mask prevents padding positions from being treated as real content.</a:t>
            </a:r>
            <a:endParaRPr sz="1425" b="1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Contextual </a:t>
            </a:r>
            <a:r>
              <a:rPr lang="en-US" sz="1950" b="1">
                <a:solidFill>
                  <a:srgbClr val="111111"/>
                </a:solidFill>
              </a:rPr>
              <a:t>Interaction via Self-attention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32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1238250" y="1476375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4378C4"/>
                </a:solidFill>
              </a:defRPr>
            </a:pPr>
            <a:r>
              <a:rPr sz="2175" b="1">
                <a:solidFill>
                  <a:srgbClr val="4378C4"/>
                </a:solidFill>
              </a:rPr>
              <a:t>bank</a:t>
            </a:r>
            <a:endParaRPr sz="2175" b="1">
              <a:solidFill>
                <a:srgbClr val="4378C4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857250" y="26193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</a:defRPr>
            </a:pPr>
            <a:r>
              <a:rPr lang="en-US" sz="1725" b="1">
                <a:solidFill>
                  <a:srgbClr val="111111"/>
                </a:solidFill>
              </a:rPr>
              <a:t>number</a:t>
            </a:r>
            <a:endParaRPr lang="en-US" sz="1725" b="1">
              <a:solidFill>
                <a:srgbClr val="111111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5905500" y="26193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bank account</a:t>
            </a:r>
            <a:endParaRPr sz="1725" b="1">
              <a:solidFill>
                <a:srgbClr val="111111"/>
              </a:solidFill>
            </a:endParaRP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3333750" y="1714500"/>
            <a:ext cx="2476500" cy="17145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ectangle 8"/>
          <p:cNvSpPr>
            <a:spLocks noGrp="1"/>
          </p:cNvSpPr>
          <p:nvPr/>
        </p:nvSpPr>
        <p:spPr>
          <a:xfrm>
            <a:off x="3571875" y="2095500"/>
            <a:ext cx="2000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Transformer</a:t>
            </a:r>
            <a:endParaRPr sz="1875" b="1">
              <a:solidFill>
                <a:srgbClr val="111111"/>
              </a:solidFill>
            </a:endParaRPr>
          </a:p>
          <a:p>
            <a:pPr algn="ctr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+ context</a:t>
            </a:r>
            <a:endParaRPr sz="1875" b="1">
              <a:solidFill>
                <a:srgbClr val="111111"/>
              </a:solidFill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047750" y="4191000"/>
            <a:ext cx="7048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</a:t>
            </a:r>
            <a:r>
              <a:rPr sz="1425" b="1">
                <a:solidFill>
                  <a:srgbClr val="111111"/>
                </a:solidFill>
              </a:rPr>
              <a:t>Initial token embedding</a:t>
            </a:r>
            <a:r>
              <a:rPr lang="en-US" sz="1425" b="1">
                <a:solidFill>
                  <a:srgbClr val="111111"/>
                </a:solidFill>
              </a:rPr>
              <a:t>s</a:t>
            </a:r>
            <a:r>
              <a:rPr sz="1425" b="0">
                <a:solidFill>
                  <a:srgbClr val="111111"/>
                </a:solidFill>
              </a:rPr>
              <a:t> depend mainly on token ID.</a:t>
            </a:r>
            <a:endParaRPr sz="14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>
                <a:sym typeface="+mn-ea"/>
              </a:rPr>
              <a:t>•  </a:t>
            </a:r>
            <a:r>
              <a:rPr lang="en-US">
                <a:sym typeface="+mn-ea"/>
              </a:rPr>
              <a:t>Self-attention faciliates </a:t>
            </a:r>
            <a:r>
              <a:rPr lang="en-US" b="1">
                <a:sym typeface="+mn-ea"/>
              </a:rPr>
              <a:t>token information flowing</a:t>
            </a:r>
            <a:endParaRPr sz="1425" b="1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After self-attention, the representation depends on </a:t>
            </a:r>
            <a:r>
              <a:rPr sz="1425" b="1">
                <a:solidFill>
                  <a:srgbClr val="111111"/>
                </a:solidFill>
              </a:rPr>
              <a:t>surrounding tokens</a:t>
            </a:r>
            <a:r>
              <a:rPr sz="1425" b="0">
                <a:solidFill>
                  <a:srgbClr val="111111"/>
                </a:solidFill>
              </a:rPr>
              <a:t>.</a:t>
            </a:r>
            <a:endParaRPr sz="1425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The same token can </a:t>
            </a:r>
            <a:r>
              <a:rPr sz="1425" b="1">
                <a:solidFill>
                  <a:srgbClr val="111111"/>
                </a:solidFill>
              </a:rPr>
              <a:t>express different meanings</a:t>
            </a:r>
            <a:r>
              <a:rPr sz="1425" b="0">
                <a:solidFill>
                  <a:srgbClr val="111111"/>
                </a:solidFill>
              </a:rPr>
              <a:t> in different sentences.</a:t>
            </a:r>
            <a:endParaRPr sz="14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box 40"/>
          <p:cNvSpPr>
            <a:spLocks noGrp="1"/>
          </p:cNvSpPr>
          <p:nvPr/>
        </p:nvSpPr>
        <p:spPr>
          <a:xfrm>
            <a:off x="427963" y="982955"/>
            <a:ext cx="8443393" cy="54062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marL="288290" indent="-175895" algn="l">
              <a:lnSpc>
                <a:spcPct val="108000"/>
              </a:lnSpc>
              <a:spcBef>
                <a:spcPts val="450"/>
              </a:spcBef>
              <a:buClrTx/>
              <a:buSzTx/>
              <a:buFontTx/>
              <a:buNone/>
            </a:pPr>
            <a:r>
              <a:rPr sz="1985" spc="-10">
                <a:solidFill>
                  <a:schemeClr val="tx1">
                    <a:alpha val="100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 — </a:t>
            </a:r>
            <a:r>
              <a:rPr sz="1985">
                <a:solidFill>
                  <a:schemeClr val="tx1"/>
                </a:solidFill>
                <a:sym typeface="+mn-ea"/>
              </a:rPr>
              <a:t>RGB Image</a:t>
            </a:r>
            <a:endParaRPr sz="1985" spc="-10">
              <a:solidFill>
                <a:schemeClr val="tx1">
                  <a:alpha val="100000"/>
                </a:scheme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lnSpc>
                <a:spcPct val="80000"/>
              </a:lnSpc>
              <a:buNone/>
            </a:pPr>
            <a:endParaRPr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 — </a:t>
            </a:r>
            <a:r>
              <a:rPr lang="en-US" altLang="en-US"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Normalization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r>
              <a:rPr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III —</a:t>
            </a:r>
            <a:r>
              <a:rPr lang="en-US" sz="1985" spc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985">
                <a:solidFill>
                  <a:srgbClr val="111111"/>
                </a:solidFill>
                <a:sym typeface="+mn-ea"/>
              </a:rPr>
              <a:t>Text and Word Embedding</a:t>
            </a:r>
            <a:endParaRPr lang="en-US" sz="1985" spc="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8290" indent="-175895" algn="l">
              <a:lnSpc>
                <a:spcPct val="108000"/>
              </a:lnSpc>
              <a:spcBef>
                <a:spcPts val="450"/>
              </a:spcBef>
              <a:buNone/>
            </a:pPr>
            <a:endParaRPr sz="1985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r>
              <a:rPr sz="1985" spc="-1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 IV — </a:t>
            </a:r>
            <a:r>
              <a:rPr lang="en-US" altLang="en-US" sz="1985" b="1" spc="-10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Visual Tokens and Multimodal Input</a:t>
            </a: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87655" indent="-182245" algn="l">
              <a:lnSpc>
                <a:spcPct val="107000"/>
              </a:lnSpc>
              <a:spcBef>
                <a:spcPts val="1285"/>
              </a:spcBef>
              <a:buNone/>
            </a:pPr>
            <a:endParaRPr lang="en-US" altLang="en-US" sz="1985" spc="-10">
              <a:solidFill>
                <a:srgbClr val="000000">
                  <a:alpha val="100000"/>
                </a:srgb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>
            <a:spLocks noGrp="1"/>
          </p:cNvSpPr>
          <p:nvPr/>
        </p:nvSpPr>
        <p:spPr>
          <a:xfrm>
            <a:off x="604518" y="236288"/>
            <a:ext cx="7939250" cy="585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0000"/>
              </a:lnSpc>
              <a:buNone/>
            </a:pPr>
            <a:r>
              <a:rPr sz="3570"/>
              <a:t>Roadmap</a:t>
            </a:r>
            <a:endParaRPr sz="20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path 44"/>
          <p:cNvSpPr>
            <a:spLocks noGrp="1"/>
          </p:cNvSpPr>
          <p:nvPr/>
        </p:nvSpPr>
        <p:spPr>
          <a:xfrm>
            <a:off x="0" y="661301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6" name="path 46"/>
          <p:cNvSpPr>
            <a:spLocks noGrp="1"/>
          </p:cNvSpPr>
          <p:nvPr/>
        </p:nvSpPr>
        <p:spPr>
          <a:xfrm>
            <a:off x="0" y="6561349"/>
            <a:ext cx="9144881" cy="25103"/>
          </a:xfrm>
          <a:custGeom>
            <a:avLst/>
            <a:gdLst/>
            <a:ahLst/>
            <a:cxnLst/>
            <a:rect l="0" t="0" r="0" b="0"/>
            <a:pathLst>
              <a:path w="7256" h="19">
                <a:moveTo>
                  <a:pt x="0" y="9"/>
                </a:moveTo>
                <a:lnTo>
                  <a:pt x="7256" y="9"/>
                </a:lnTo>
              </a:path>
            </a:pathLst>
          </a:custGeom>
          <a:noFill/>
          <a:ln w="12649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  <p:sp>
        <p:nvSpPr>
          <p:cNvPr id="48" name="textbox 48"/>
          <p:cNvSpPr>
            <a:spLocks noGrp="1"/>
          </p:cNvSpPr>
          <p:nvPr/>
        </p:nvSpPr>
        <p:spPr>
          <a:xfrm>
            <a:off x="8544146" y="6631164"/>
            <a:ext cx="510380" cy="207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0" tIns="0" rIns="0" bIns="0"/>
          <a:lstStyle/>
          <a:p>
            <a:pPr algn="l">
              <a:lnSpc>
                <a:spcPct val="82000"/>
              </a:lnSpc>
              <a:buNone/>
              <a:defRPr sz="565">
                <a:solidFill>
                  <a:srgbClr val="000000"/>
                </a:solidFill>
              </a:defRPr>
            </a:pPr>
            <a:r>
              <a:rPr sz="1120">
                <a:solidFill>
                  <a:srgbClr val="000000"/>
                </a:solidFill>
              </a:rPr>
              <a:t>3</a:t>
            </a:r>
            <a:r>
              <a:rPr lang="en-US" sz="1120">
                <a:solidFill>
                  <a:srgbClr val="000000"/>
                </a:solidFill>
              </a:rPr>
              <a:t>3</a:t>
            </a:r>
            <a:endParaRPr lang="en-US" sz="112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0" name="path 50"/>
          <p:cNvSpPr>
            <a:spLocks noGrp="1"/>
          </p:cNvSpPr>
          <p:nvPr/>
        </p:nvSpPr>
        <p:spPr>
          <a:xfrm>
            <a:off x="8515816" y="6586452"/>
            <a:ext cx="10030" cy="272203"/>
          </a:xfrm>
          <a:custGeom>
            <a:avLst/>
            <a:gdLst/>
            <a:ahLst/>
            <a:cxnLst/>
            <a:rect l="0" t="0" r="0" b="0"/>
            <a:pathLst>
              <a:path w="7" h="216">
                <a:moveTo>
                  <a:pt x="3" y="216"/>
                </a:moveTo>
                <a:lnTo>
                  <a:pt x="3" y="0"/>
                </a:lnTo>
              </a:path>
            </a:pathLst>
          </a:custGeom>
          <a:noFill/>
          <a:ln w="5054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>
              <a:buNone/>
            </a:pPr>
            <a:endParaRPr sz="357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Part IV — Visual Tokens and Multimodal Input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4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904875" y="2381250"/>
            <a:ext cx="7334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How do image and text embeddings meet inside an MLLM?</a:t>
            </a:r>
            <a:endParaRPr sz="2550" b="1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3190875" y="3762375"/>
            <a:ext cx="2762250" cy="38100"/>
          </a:xfrm>
          <a:prstGeom prst="rect">
            <a:avLst/>
          </a:prstGeom>
          <a:solidFill>
            <a:srgbClr val="4378C4"/>
          </a:solidFill>
          <a:ln w="9525">
            <a:solidFill>
              <a:srgbClr val="4378C4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Rectangle 28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Image Patches Become Visual Tokens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5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3201035" y="423291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5829935" y="4232910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743585" y="386143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819785" y="395668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Flatten patch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3372485" y="386143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5" name="Rectangle 24"/>
          <p:cNvSpPr>
            <a:spLocks noGrp="1"/>
          </p:cNvSpPr>
          <p:nvPr/>
        </p:nvSpPr>
        <p:spPr>
          <a:xfrm>
            <a:off x="3448685" y="395668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Linear projection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6001385" y="3861435"/>
            <a:ext cx="245745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6077585" y="3956685"/>
            <a:ext cx="2305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Visual token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2555875" y="5085715"/>
            <a:ext cx="3905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 patch is not necessarily an object or a word; context gives it meaning.</a:t>
            </a:r>
            <a:endParaRPr sz="1350" b="0">
              <a:solidFill>
                <a:srgbClr val="555555"/>
              </a:solidFill>
            </a:endParaRPr>
          </a:p>
        </p:txBody>
      </p:sp>
      <p:pic>
        <p:nvPicPr>
          <p:cNvPr id="30" name="Picture 29" descr="ChatGPT Image Sep 7, 2026, 01_15_06 PM"/>
          <p:cNvPicPr>
            <a:picLocks noChangeAspect="1"/>
          </p:cNvPicPr>
          <p:nvPr/>
        </p:nvPicPr>
        <p:blipFill>
          <a:blip r:embed="rId1"/>
          <a:srcRect l="1679" t="18817" r="1021" b="23254"/>
          <a:stretch>
            <a:fillRect/>
          </a:stretch>
        </p:blipFill>
        <p:spPr>
          <a:xfrm>
            <a:off x="395605" y="1484630"/>
            <a:ext cx="8353425" cy="18649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Rectangle 21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Vision Encoder and Projector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6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212026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369760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527494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6852285" y="2466975"/>
            <a:ext cx="171450" cy="381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714375" y="209550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790575" y="219075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Normalized image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291715" y="209550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Rectangle 11"/>
          <p:cNvSpPr>
            <a:spLocks noGrp="1"/>
          </p:cNvSpPr>
          <p:nvPr/>
        </p:nvSpPr>
        <p:spPr>
          <a:xfrm>
            <a:off x="2367915" y="219075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Vision Encoder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3869055" y="209550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Rectangle 13"/>
          <p:cNvSpPr>
            <a:spLocks noGrp="1"/>
          </p:cNvSpPr>
          <p:nvPr/>
        </p:nvSpPr>
        <p:spPr>
          <a:xfrm>
            <a:off x="3945255" y="219075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Visual features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5446395" y="209550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F2F2F2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5522595" y="219075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Projector</a:t>
            </a:r>
            <a:endParaRPr sz="1275" b="0">
              <a:solidFill>
                <a:srgbClr val="111111"/>
              </a:solidFill>
            </a:endParaRPr>
          </a:p>
        </p:txBody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7023735" y="2095500"/>
            <a:ext cx="1405890" cy="742950"/>
          </a:xfrm>
          <a:prstGeom prst="roundRect">
            <a:avLst>
              <a:gd name="adj" fmla="val 10256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8" name="Rectangle 17"/>
          <p:cNvSpPr>
            <a:spLocks noGrp="1"/>
          </p:cNvSpPr>
          <p:nvPr/>
        </p:nvSpPr>
        <p:spPr>
          <a:xfrm>
            <a:off x="7099935" y="2190750"/>
            <a:ext cx="12534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LLM-sized tokens</a:t>
            </a:r>
            <a:endParaRPr sz="1275" b="1">
              <a:solidFill>
                <a:srgbClr val="111111"/>
              </a:solidFill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762000" y="3476625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Example shapes</a:t>
            </a:r>
            <a:endParaRPr sz="1725" b="1">
              <a:solidFill>
                <a:srgbClr val="111111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62000" y="4048125"/>
            <a:ext cx="762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4378C4"/>
                </a:solidFill>
              </a:defRPr>
            </a:pPr>
            <a:r>
              <a:rPr sz="1875" b="1">
                <a:solidFill>
                  <a:srgbClr val="4378C4"/>
                </a:solidFill>
              </a:rPr>
              <a:t>[1, 3, 224, 224]  →  [1, 196, 768]  →  [1, 196, 4096]</a:t>
            </a:r>
            <a:endParaRPr sz="1875" b="1">
              <a:solidFill>
                <a:srgbClr val="4378C4"/>
              </a:solidFill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1238250" y="5000625"/>
            <a:ext cx="66675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The vision encoder </a:t>
            </a:r>
            <a:r>
              <a:rPr lang="en-US" sz="1425" b="1">
                <a:solidFill>
                  <a:srgbClr val="111111"/>
                </a:solidFill>
              </a:rPr>
              <a:t>extracts </a:t>
            </a:r>
            <a:r>
              <a:rPr sz="1425" b="0">
                <a:solidFill>
                  <a:srgbClr val="111111"/>
                </a:solidFill>
              </a:rPr>
              <a:t>visual patterns and semantics.</a:t>
            </a:r>
            <a:endParaRPr sz="1425" b="0">
              <a:solidFill>
                <a:srgbClr val="111111"/>
              </a:solidFill>
            </a:endParaRPr>
          </a:p>
          <a:p>
            <a:pPr algn="l">
              <a:lnSpc>
                <a:spcPct val="118000"/>
              </a:lnSpc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 The projector </a:t>
            </a:r>
            <a:r>
              <a:rPr lang="en-US" sz="1425" b="1">
                <a:solidFill>
                  <a:srgbClr val="111111"/>
                </a:solidFill>
              </a:rPr>
              <a:t>adjusts </a:t>
            </a:r>
            <a:r>
              <a:rPr sz="1425" b="0">
                <a:solidFill>
                  <a:srgbClr val="111111"/>
                </a:solidFill>
              </a:rPr>
              <a:t>the visual feature dimension to </a:t>
            </a:r>
            <a:r>
              <a:rPr lang="en-US" sz="1425" b="0">
                <a:solidFill>
                  <a:srgbClr val="111111"/>
                </a:solidFill>
              </a:rPr>
              <a:t>match </a:t>
            </a:r>
            <a:r>
              <a:rPr sz="1425" b="0">
                <a:solidFill>
                  <a:srgbClr val="111111"/>
                </a:solidFill>
              </a:rPr>
              <a:t>the language model.</a:t>
            </a:r>
            <a:endParaRPr sz="14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Complete Multimodal Input Pipeline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7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1047750" y="4953000"/>
            <a:ext cx="704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4378C4"/>
                </a:solidFill>
              </a:defRPr>
            </a:pPr>
            <a:r>
              <a:rPr sz="1875" b="1">
                <a:solidFill>
                  <a:srgbClr val="4378C4"/>
                </a:solidFill>
              </a:rPr>
              <a:t>Visual tokens + text tokens → one multimodal sequence</a:t>
            </a:r>
            <a:endParaRPr sz="1875" b="1">
              <a:solidFill>
                <a:srgbClr val="4378C4"/>
              </a:solidFill>
            </a:endParaRPr>
          </a:p>
        </p:txBody>
      </p:sp>
      <p:pic>
        <p:nvPicPr>
          <p:cNvPr id="29" name="Picture 28" descr="ChatGPT Image Sep 7, 2026, 06_35_17 PM"/>
          <p:cNvPicPr>
            <a:picLocks noChangeAspect="1"/>
          </p:cNvPicPr>
          <p:nvPr/>
        </p:nvPicPr>
        <p:blipFill>
          <a:blip r:embed="rId1"/>
          <a:srcRect l="1654" t="29737" r="1669" b="27856"/>
          <a:stretch>
            <a:fillRect/>
          </a:stretch>
        </p:blipFill>
        <p:spPr>
          <a:xfrm>
            <a:off x="151765" y="1203325"/>
            <a:ext cx="8841105" cy="2908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Shape</a:t>
            </a:r>
            <a:r>
              <a:rPr lang="en-US" sz="1950" b="1">
                <a:solidFill>
                  <a:srgbClr val="111111"/>
                </a:solidFill>
              </a:rPr>
              <a:t> Changing</a:t>
            </a:r>
            <a:r>
              <a:rPr sz="1950" b="1">
                <a:solidFill>
                  <a:srgbClr val="111111"/>
                </a:solidFill>
              </a:rPr>
              <a:t> Example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8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62000" y="10477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Image tensor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476750" y="104775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4572000" y="10477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[1, 3, 224, 224]</a:t>
            </a:r>
            <a:r>
              <a:rPr lang="en-US" sz="1575" b="1">
                <a:solidFill>
                  <a:srgbClr val="111111"/>
                </a:solidFill>
              </a:rPr>
              <a:t> (B,C,H,W)</a:t>
            </a:r>
            <a:endParaRPr lang="zh-CN" altLang="en-US" sz="1575" b="1">
              <a:solidFill>
                <a:srgbClr val="111111"/>
              </a:solidFill>
              <a:ea typeface="SimSun" charset="0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62000" y="195262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Vision output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476750" y="1952625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572000" y="1952625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[1, 196, 768]</a:t>
            </a:r>
            <a:r>
              <a:rPr lang="en-US" sz="1575" b="1">
                <a:solidFill>
                  <a:srgbClr val="111111"/>
                </a:solidFill>
              </a:rPr>
              <a:t> (B, N, D1)</a:t>
            </a:r>
            <a:endParaRPr lang="en-US" sz="1575" b="1">
              <a:solidFill>
                <a:srgbClr val="111111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762000" y="28575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Projected visual tokens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476750" y="285750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4572000" y="285750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[1, 196, 4096]</a:t>
            </a:r>
            <a:r>
              <a:rPr lang="en-US" sz="1575" b="1">
                <a:solidFill>
                  <a:srgbClr val="111111"/>
                </a:solidFill>
              </a:rPr>
              <a:t> (B, N, D2)</a:t>
            </a:r>
            <a:endParaRPr lang="en-US" sz="1575" b="1">
              <a:solidFill>
                <a:srgbClr val="111111"/>
              </a:solidFill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762000" y="37623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12 text tokens</a:t>
            </a:r>
            <a:endParaRPr sz="1500" b="1">
              <a:solidFill>
                <a:srgbClr val="111111"/>
              </a:solidFill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4476750" y="3762375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4572000" y="3762375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[1, 12, 4096]</a:t>
            </a:r>
            <a:r>
              <a:rPr lang="en-US" sz="1575" b="1">
                <a:solidFill>
                  <a:srgbClr val="111111"/>
                </a:solidFill>
              </a:rPr>
              <a:t> (B, n, D2)</a:t>
            </a:r>
            <a:endParaRPr lang="en-US" sz="1575" b="1">
              <a:solidFill>
                <a:srgbClr val="111111"/>
              </a:solidFill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762000" y="466725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4378C4"/>
                </a:solidFill>
              </a:defRPr>
            </a:pPr>
            <a:r>
              <a:rPr sz="1500" b="1">
                <a:solidFill>
                  <a:srgbClr val="4378C4"/>
                </a:solidFill>
              </a:rPr>
              <a:t>Combined sequence</a:t>
            </a:r>
            <a:endParaRPr sz="1500" b="1">
              <a:solidFill>
                <a:srgbClr val="4378C4"/>
              </a:solidFill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476750" y="4667250"/>
            <a:ext cx="3714750" cy="495300"/>
          </a:xfrm>
          <a:prstGeom prst="roundRect">
            <a:avLst>
              <a:gd name="adj" fmla="val 15385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72000" y="46672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378C4"/>
                </a:solidFill>
              </a:defRPr>
            </a:pPr>
            <a:r>
              <a:rPr sz="1575" b="1">
                <a:solidFill>
                  <a:srgbClr val="4378C4"/>
                </a:solidFill>
              </a:rPr>
              <a:t>[1, 208, 4096]</a:t>
            </a:r>
            <a:r>
              <a:rPr lang="en-US" sz="1575" b="1">
                <a:solidFill>
                  <a:srgbClr val="4378C4"/>
                </a:solidFill>
              </a:rPr>
              <a:t> (B, N+n, D2)</a:t>
            </a:r>
            <a:endParaRPr lang="en-US" sz="1575" b="1">
              <a:solidFill>
                <a:srgbClr val="4378C4"/>
              </a:solidFill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952500" y="57150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E2534A"/>
                </a:solidFill>
              </a:defRPr>
            </a:pPr>
            <a:r>
              <a:rPr sz="1425" b="1">
                <a:solidFill>
                  <a:srgbClr val="E2534A"/>
                </a:solidFill>
              </a:rPr>
              <a:t>196 visual tokens + 12 text tokens = 208 total tokens</a:t>
            </a:r>
            <a:endParaRPr sz="1425" b="1">
              <a:solidFill>
                <a:srgbClr val="E2534A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Resolution </a:t>
            </a:r>
            <a:r>
              <a:rPr lang="en-US" sz="1950" b="1">
                <a:solidFill>
                  <a:srgbClr val="111111"/>
                </a:solidFill>
              </a:rPr>
              <a:t>versus Speed</a:t>
            </a:r>
            <a:endParaRPr lang="en-US"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3</a:t>
            </a:r>
            <a:r>
              <a:rPr lang="en-US" sz="825" b="0">
                <a:solidFill>
                  <a:srgbClr val="555555"/>
                </a:solidFill>
              </a:rPr>
              <a:t>9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1190625" y="142875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EAF1FB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1381125" y="17145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224 × 224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381125" y="2381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14 × 14 patches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381125" y="30003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4E9A62"/>
                </a:solidFill>
              </a:defRPr>
            </a:pPr>
            <a:r>
              <a:rPr sz="1875" b="1">
                <a:solidFill>
                  <a:srgbClr val="4E9A62"/>
                </a:solidFill>
              </a:rPr>
              <a:t>196 visual tokens</a:t>
            </a:r>
            <a:endParaRPr sz="1875" b="1">
              <a:solidFill>
                <a:srgbClr val="4E9A62"/>
              </a:solidFill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5286375" y="1428750"/>
            <a:ext cx="2857500" cy="2381250"/>
          </a:xfrm>
          <a:prstGeom prst="roundRect">
            <a:avLst>
              <a:gd name="adj" fmla="val 3200"/>
            </a:avLst>
          </a:prstGeom>
          <a:solidFill>
            <a:srgbClr val="FFF5E4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476875" y="17145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4378C4"/>
                </a:solidFill>
              </a:defRPr>
            </a:pPr>
            <a:r>
              <a:rPr sz="2100" b="1">
                <a:solidFill>
                  <a:srgbClr val="4378C4"/>
                </a:solidFill>
              </a:rPr>
              <a:t>448 × 448</a:t>
            </a:r>
            <a:endParaRPr sz="2100" b="1">
              <a:solidFill>
                <a:srgbClr val="4378C4"/>
              </a:solidFill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476875" y="23812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28 × 28 patches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5476875" y="30003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E2534A"/>
                </a:solidFill>
              </a:defRPr>
            </a:pPr>
            <a:r>
              <a:rPr sz="1875" b="1">
                <a:solidFill>
                  <a:srgbClr val="E2534A"/>
                </a:solidFill>
              </a:rPr>
              <a:t>784 visual tokens</a:t>
            </a:r>
            <a:endParaRPr sz="1875" b="1">
              <a:solidFill>
                <a:srgbClr val="E2534A"/>
              </a:solidFill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90625" y="4429125"/>
            <a:ext cx="7519670" cy="1273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</a:t>
            </a:r>
            <a:r>
              <a:rPr sz="1800" b="1">
                <a:solidFill>
                  <a:srgbClr val="111111"/>
                </a:solidFill>
              </a:rPr>
              <a:t>More tokens</a:t>
            </a:r>
            <a:r>
              <a:rPr sz="1800" b="0">
                <a:solidFill>
                  <a:srgbClr val="111111"/>
                </a:solidFill>
              </a:rPr>
              <a:t> can preserve </a:t>
            </a:r>
            <a:r>
              <a:rPr lang="en-US" sz="1800" b="1">
                <a:solidFill>
                  <a:srgbClr val="111111"/>
                </a:solidFill>
              </a:rPr>
              <a:t>more details</a:t>
            </a:r>
            <a:r>
              <a:rPr lang="en-US" sz="1800" b="0">
                <a:solidFill>
                  <a:srgbClr val="111111"/>
                </a:solidFill>
              </a:rPr>
              <a:t> like </a:t>
            </a:r>
            <a:r>
              <a:rPr sz="1800" b="0">
                <a:solidFill>
                  <a:srgbClr val="111111"/>
                </a:solidFill>
              </a:rPr>
              <a:t>small text and objects.</a:t>
            </a:r>
            <a:endParaRPr sz="18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 </a:t>
            </a:r>
            <a:r>
              <a:rPr sz="1800" b="1">
                <a:solidFill>
                  <a:srgbClr val="111111"/>
                </a:solidFill>
              </a:rPr>
              <a:t>More tokens</a:t>
            </a:r>
            <a:r>
              <a:rPr sz="1800" b="0">
                <a:solidFill>
                  <a:srgbClr val="111111"/>
                </a:solidFill>
              </a:rPr>
              <a:t> consume </a:t>
            </a:r>
            <a:r>
              <a:rPr lang="en-US" sz="1800" b="1">
                <a:solidFill>
                  <a:srgbClr val="111111"/>
                </a:solidFill>
              </a:rPr>
              <a:t>more</a:t>
            </a:r>
            <a:r>
              <a:rPr sz="1800" b="1">
                <a:solidFill>
                  <a:srgbClr val="111111"/>
                </a:solidFill>
              </a:rPr>
              <a:t> computation</a:t>
            </a:r>
            <a:r>
              <a:rPr lang="en-US" sz="1800" b="1">
                <a:solidFill>
                  <a:srgbClr val="111111"/>
                </a:solidFill>
              </a:rPr>
              <a:t>s</a:t>
            </a:r>
            <a:r>
              <a:rPr sz="1800" b="0">
                <a:solidFill>
                  <a:srgbClr val="111111"/>
                </a:solidFill>
              </a:rPr>
              <a:t>.</a:t>
            </a:r>
            <a:endParaRPr sz="18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Good Multimodal Input = </a:t>
            </a:r>
            <a:r>
              <a:rPr lang="en-US" sz="1950" b="1">
                <a:solidFill>
                  <a:srgbClr val="111111"/>
                </a:solidFill>
              </a:rPr>
              <a:t>Clear</a:t>
            </a:r>
            <a:r>
              <a:rPr sz="1950" b="1">
                <a:solidFill>
                  <a:srgbClr val="111111"/>
                </a:solidFill>
              </a:rPr>
              <a:t> Image + </a:t>
            </a:r>
            <a:r>
              <a:rPr lang="en-US" sz="1950" b="1">
                <a:solidFill>
                  <a:srgbClr val="111111"/>
                </a:solidFill>
              </a:rPr>
              <a:t>Detailed</a:t>
            </a:r>
            <a:r>
              <a:rPr sz="1950" b="1">
                <a:solidFill>
                  <a:srgbClr val="111111"/>
                </a:solidFill>
              </a:rPr>
              <a:t> Prompt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40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714375" y="1190625"/>
            <a:ext cx="228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E2534A"/>
                </a:solidFill>
              </a:defRPr>
            </a:pPr>
            <a:r>
              <a:rPr sz="1650" b="1">
                <a:solidFill>
                  <a:srgbClr val="E2534A"/>
                </a:solidFill>
              </a:rPr>
              <a:t>Weak prompt</a:t>
            </a:r>
            <a:endParaRPr sz="1650" b="1">
              <a:solidFill>
                <a:srgbClr val="E2534A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14375" y="1714500"/>
            <a:ext cx="323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“Describe it.”</a:t>
            </a:r>
            <a:endParaRPr sz="1875" b="0">
              <a:solidFill>
                <a:srgbClr val="555555"/>
              </a:solidFill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953000" y="119062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4378C4"/>
                </a:solidFill>
              </a:defRPr>
            </a:pPr>
            <a:r>
              <a:rPr sz="1650" b="1">
                <a:solidFill>
                  <a:srgbClr val="4378C4"/>
                </a:solidFill>
              </a:rPr>
              <a:t>Stronger prompt</a:t>
            </a:r>
            <a:endParaRPr sz="1650" b="1">
              <a:solidFill>
                <a:srgbClr val="4378C4"/>
              </a:solidFill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293870" y="1666875"/>
            <a:ext cx="389763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“Identify the three main objects.</a:t>
            </a:r>
            <a:endParaRPr sz="1800" b="0">
              <a:solidFill>
                <a:srgbClr val="111111"/>
              </a:solidFill>
            </a:endParaRP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For each, state position and visible color.</a:t>
            </a:r>
            <a:endParaRPr sz="1800" b="0">
              <a:solidFill>
                <a:srgbClr val="111111"/>
              </a:solidFill>
            </a:endParaRP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Do not infer information not shown.”</a:t>
            </a:r>
            <a:endParaRPr sz="1800" b="0">
              <a:solidFill>
                <a:srgbClr val="111111"/>
              </a:solidFill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19125" y="3476625"/>
            <a:ext cx="79057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566420" y="3573145"/>
            <a:ext cx="7905750" cy="2798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Use </a:t>
            </a:r>
            <a:r>
              <a:rPr lang="en-US" sz="2000" b="1">
                <a:solidFill>
                  <a:srgbClr val="111111"/>
                </a:solidFill>
              </a:rPr>
              <a:t>proper</a:t>
            </a:r>
            <a:r>
              <a:rPr sz="2000" b="1">
                <a:solidFill>
                  <a:srgbClr val="111111"/>
                </a:solidFill>
              </a:rPr>
              <a:t> </a:t>
            </a:r>
            <a:r>
              <a:rPr sz="2000" b="0">
                <a:solidFill>
                  <a:srgbClr val="111111"/>
                </a:solidFill>
              </a:rPr>
              <a:t>image </a:t>
            </a:r>
            <a:r>
              <a:rPr sz="2000" b="1">
                <a:solidFill>
                  <a:srgbClr val="111111"/>
                </a:solidFill>
              </a:rPr>
              <a:t>resolution</a:t>
            </a:r>
            <a:r>
              <a:rPr sz="2000" b="0">
                <a:solidFill>
                  <a:srgbClr val="111111"/>
                </a:solidFill>
              </a:rPr>
              <a:t>.</a:t>
            </a:r>
            <a:endParaRPr sz="20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</a:t>
            </a:r>
            <a:r>
              <a:rPr sz="2000" b="1">
                <a:solidFill>
                  <a:srgbClr val="111111"/>
                </a:solidFill>
              </a:rPr>
              <a:t>Avoid </a:t>
            </a:r>
            <a:r>
              <a:rPr lang="en-US" sz="2000" b="0">
                <a:solidFill>
                  <a:srgbClr val="111111"/>
                </a:solidFill>
              </a:rPr>
              <a:t>data augmentation</a:t>
            </a:r>
            <a:r>
              <a:rPr sz="2000" b="0">
                <a:solidFill>
                  <a:srgbClr val="111111"/>
                </a:solidFill>
              </a:rPr>
              <a:t>s that </a:t>
            </a:r>
            <a:r>
              <a:rPr sz="2000" b="1">
                <a:solidFill>
                  <a:srgbClr val="111111"/>
                </a:solidFill>
              </a:rPr>
              <a:t>remove </a:t>
            </a:r>
            <a:r>
              <a:rPr sz="2000" b="0">
                <a:solidFill>
                  <a:srgbClr val="111111"/>
                </a:solidFill>
              </a:rPr>
              <a:t>relevant </a:t>
            </a:r>
            <a:r>
              <a:rPr sz="2000" b="1">
                <a:solidFill>
                  <a:srgbClr val="111111"/>
                </a:solidFill>
              </a:rPr>
              <a:t>evidence</a:t>
            </a:r>
            <a:r>
              <a:rPr sz="2000" b="0">
                <a:solidFill>
                  <a:srgbClr val="111111"/>
                </a:solidFill>
              </a:rPr>
              <a:t>.</a:t>
            </a:r>
            <a:endParaRPr sz="200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500" b="0">
                <a:solidFill>
                  <a:srgbClr val="111111"/>
                </a:solidFill>
              </a:defRPr>
            </a:pPr>
            <a:r>
              <a:rPr sz="2000" b="0">
                <a:solidFill>
                  <a:srgbClr val="111111"/>
                </a:solidFill>
              </a:rPr>
              <a:t>•  </a:t>
            </a:r>
            <a:r>
              <a:rPr lang="en-US" sz="2000" b="1">
                <a:solidFill>
                  <a:srgbClr val="111111"/>
                </a:solidFill>
              </a:rPr>
              <a:t>E</a:t>
            </a:r>
            <a:r>
              <a:rPr lang="en-US" sz="2000" b="1">
                <a:sym typeface="+mn-ea"/>
              </a:rPr>
              <a:t>laborate</a:t>
            </a:r>
            <a:r>
              <a:rPr sz="2000" b="1">
                <a:sym typeface="+mn-ea"/>
              </a:rPr>
              <a:t> </a:t>
            </a:r>
            <a:r>
              <a:rPr sz="2000" b="0">
                <a:solidFill>
                  <a:srgbClr val="111111"/>
                </a:solidFill>
              </a:rPr>
              <a:t> a </a:t>
            </a:r>
            <a:r>
              <a:rPr sz="2000" b="1">
                <a:solidFill>
                  <a:srgbClr val="111111"/>
                </a:solidFill>
              </a:rPr>
              <a:t>specific</a:t>
            </a:r>
            <a:r>
              <a:rPr sz="2000" b="0">
                <a:solidFill>
                  <a:srgbClr val="111111"/>
                </a:solidFill>
              </a:rPr>
              <a:t> question and </a:t>
            </a:r>
            <a:r>
              <a:rPr sz="2000" b="1">
                <a:solidFill>
                  <a:srgbClr val="111111"/>
                </a:solidFill>
              </a:rPr>
              <a:t>the output</a:t>
            </a:r>
            <a:r>
              <a:rPr sz="2000" b="0">
                <a:solidFill>
                  <a:srgbClr val="111111"/>
                </a:solidFill>
              </a:rPr>
              <a:t> structure.</a:t>
            </a:r>
            <a:endParaRPr sz="20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523875" y="209550"/>
            <a:ext cx="809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Take-Home Messages</a:t>
            </a:r>
            <a:endParaRPr sz="1950" b="1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523875" y="647700"/>
            <a:ext cx="8096250" cy="19050"/>
          </a:xfrm>
          <a:prstGeom prst="rect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523875" y="6477000"/>
            <a:ext cx="8096250" cy="9525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191500" y="648652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555555"/>
                </a:solidFill>
              </a:defRPr>
            </a:pPr>
            <a:r>
              <a:rPr lang="en-US" sz="825" b="0">
                <a:solidFill>
                  <a:srgbClr val="555555"/>
                </a:solidFill>
              </a:rPr>
              <a:t>42</a:t>
            </a:r>
            <a:endParaRPr lang="en-US" sz="825" b="0">
              <a:solidFill>
                <a:srgbClr val="555555"/>
              </a:solidFill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09625" y="1047750"/>
            <a:ext cx="752475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RGB images are made of </a:t>
            </a:r>
            <a:r>
              <a:rPr sz="1650" b="1">
                <a:solidFill>
                  <a:srgbClr val="111111"/>
                </a:solidFill>
              </a:rPr>
              <a:t>three color channels</a:t>
            </a:r>
            <a:r>
              <a:rPr sz="1650" b="0">
                <a:solidFill>
                  <a:srgbClr val="111111"/>
                </a:solidFill>
              </a:rPr>
              <a:t>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Preprocessing controls both the </a:t>
            </a:r>
            <a:r>
              <a:rPr sz="1650" b="1">
                <a:solidFill>
                  <a:srgbClr val="111111"/>
                </a:solidFill>
              </a:rPr>
              <a:t>shape </a:t>
            </a:r>
            <a:r>
              <a:rPr lang="en-US" sz="1650" b="1">
                <a:solidFill>
                  <a:srgbClr val="111111"/>
                </a:solidFill>
              </a:rPr>
              <a:t>(data augmentation) </a:t>
            </a:r>
            <a:r>
              <a:rPr sz="1650" b="1">
                <a:solidFill>
                  <a:srgbClr val="111111"/>
                </a:solidFill>
              </a:rPr>
              <a:t>and numerical distribution </a:t>
            </a:r>
            <a:r>
              <a:rPr lang="en-US" sz="1650" b="1">
                <a:solidFill>
                  <a:srgbClr val="111111"/>
                </a:solidFill>
              </a:rPr>
              <a:t>(</a:t>
            </a:r>
            <a:r>
              <a:rPr lang="en-US" sz="1650" b="1">
                <a:solidFill>
                  <a:srgbClr val="111111"/>
                </a:solidFill>
              </a:rPr>
              <a:t>normalization) </a:t>
            </a:r>
            <a:r>
              <a:rPr sz="1650" b="0">
                <a:solidFill>
                  <a:srgbClr val="111111"/>
                </a:solidFill>
              </a:rPr>
              <a:t>of visual input.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</a:t>
            </a:r>
            <a:r>
              <a:rPr sz="1650" b="1">
                <a:solidFill>
                  <a:srgbClr val="111111"/>
                </a:solidFill>
              </a:rPr>
              <a:t>Tokenization</a:t>
            </a:r>
            <a:r>
              <a:rPr sz="1650" b="0">
                <a:solidFill>
                  <a:srgbClr val="111111"/>
                </a:solidFill>
              </a:rPr>
              <a:t> maps text to IDs; </a:t>
            </a:r>
            <a:r>
              <a:rPr sz="1650" b="1">
                <a:solidFill>
                  <a:srgbClr val="111111"/>
                </a:solidFill>
              </a:rPr>
              <a:t>embedding</a:t>
            </a:r>
            <a:r>
              <a:rPr sz="1650" b="0">
                <a:solidFill>
                  <a:srgbClr val="111111"/>
                </a:solidFill>
              </a:rPr>
              <a:t> maps IDs to vectors.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</a:t>
            </a:r>
            <a:r>
              <a:rPr sz="1650" b="1">
                <a:solidFill>
                  <a:srgbClr val="111111"/>
                </a:solidFill>
              </a:rPr>
              <a:t>Image patches</a:t>
            </a:r>
            <a:r>
              <a:rPr sz="1650" b="0">
                <a:solidFill>
                  <a:srgbClr val="111111"/>
                </a:solidFill>
              </a:rPr>
              <a:t> can be projected into visual token embeddings.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An MLLM </a:t>
            </a:r>
            <a:r>
              <a:rPr sz="1650" b="1">
                <a:solidFill>
                  <a:srgbClr val="111111"/>
                </a:solidFill>
              </a:rPr>
              <a:t>processes visual and textual vectors</a:t>
            </a:r>
            <a:r>
              <a:rPr sz="1650" b="0">
                <a:solidFill>
                  <a:srgbClr val="111111"/>
                </a:solidFill>
              </a:rPr>
              <a:t> in a shared sequence.</a:t>
            </a:r>
            <a:endParaRPr sz="1650" b="0">
              <a:solidFill>
                <a:srgbClr val="111111"/>
              </a:solidFill>
            </a:endParaRPr>
          </a:p>
          <a:p>
            <a:pPr algn="l">
              <a:lnSpc>
                <a:spcPct val="200000"/>
              </a:lnSpc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 Many “model errors” are actually caused by </a:t>
            </a:r>
            <a:r>
              <a:rPr sz="1650" b="1">
                <a:solidFill>
                  <a:srgbClr val="111111"/>
                </a:solidFill>
              </a:rPr>
              <a:t>poor input preparation</a:t>
            </a:r>
            <a:r>
              <a:rPr sz="1650" b="0">
                <a:solidFill>
                  <a:srgbClr val="111111"/>
                </a:solidFill>
              </a:rPr>
              <a:t>.</a:t>
            </a:r>
            <a:endParaRPr sz="1650" b="0">
              <a:solidFill>
                <a:srgbClr val="111111"/>
              </a:solidFill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904875" y="5286375"/>
            <a:ext cx="7334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4378C4"/>
                </a:solidFill>
              </a:defRPr>
            </a:pPr>
            <a:r>
              <a:rPr sz="1875" b="1">
                <a:solidFill>
                  <a:srgbClr val="4378C4"/>
                </a:solidFill>
              </a:rPr>
              <a:t>Image / Text → Numbers → Tokens → Embeddings → MLLM</a:t>
            </a:r>
            <a:endParaRPr sz="1875" b="1">
              <a:solidFill>
                <a:srgbClr val="4378C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9933</Words>
  <Application>WPS Presentation</Application>
  <PresentationFormat>Converted Presentation</PresentationFormat>
  <Paragraphs>786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6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方正雅意黑 GB18030L2</vt:lpstr>
      <vt:lpstr>Arial Unicode MS</vt:lpstr>
      <vt:lpstr>汉仪书宋二KW</vt:lpstr>
      <vt:lpstr>MS PGothic</vt:lpstr>
      <vt:lpstr>苹方-简</vt:lpstr>
      <vt:lpstr>Geneva</vt:lpstr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一味清悠然</cp:lastModifiedBy>
  <cp:revision>136</cp:revision>
  <dcterms:created xsi:type="dcterms:W3CDTF">2026-09-07T10:44:12Z</dcterms:created>
  <dcterms:modified xsi:type="dcterms:W3CDTF">2026-09-07T10:44:12Z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1033-12.1.26046.26046</vt:lpwstr>
  </property>
  <property fmtid="{D5CDD505-2E9C-101B-9397-08002B2CF9AE}" pid="3" name="ICV">
    <vt:lpwstr>7A347475A0782D52D438906AF4DD5A94_42</vt:lpwstr>
  </property>
</Properties>
</file>