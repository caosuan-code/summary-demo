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1" Type="http://schemas.openxmlformats.org/officeDocument/2006/relationships/viewProps" Target="viewProps.xml"/><Relationship Id="rId80" Type="http://schemas.openxmlformats.org/officeDocument/2006/relationships/tableStyles" Target="tableStyles.xml"/><Relationship Id="rId8" Type="http://schemas.openxmlformats.org/officeDocument/2006/relationships/slide" Target="slides/slide7.xml"/><Relationship Id="rId79" Type="http://schemas.openxmlformats.org/officeDocument/2006/relationships/presProps" Target="presProps.xml"/><Relationship Id="rId78" Type="http://schemas.openxmlformats.org/officeDocument/2006/relationships/slide" Target="slides/slide77.xml"/><Relationship Id="rId77" Type="http://schemas.openxmlformats.org/officeDocument/2006/relationships/slide" Target="slides/slide76.xml"/><Relationship Id="rId76" Type="http://schemas.openxmlformats.org/officeDocument/2006/relationships/slide" Target="slides/slide75.xml"/><Relationship Id="rId75" Type="http://schemas.openxmlformats.org/officeDocument/2006/relationships/slide" Target="slides/slide74.xml"/><Relationship Id="rId74" Type="http://schemas.openxmlformats.org/officeDocument/2006/relationships/slide" Target="slides/slide73.xml"/><Relationship Id="rId73" Type="http://schemas.openxmlformats.org/officeDocument/2006/relationships/slide" Target="slides/slide72.xml"/><Relationship Id="rId72" Type="http://schemas.openxmlformats.org/officeDocument/2006/relationships/slide" Target="slides/slide71.xml"/><Relationship Id="rId71" Type="http://schemas.openxmlformats.org/officeDocument/2006/relationships/slide" Target="slides/slide70.xml"/><Relationship Id="rId70" Type="http://schemas.openxmlformats.org/officeDocument/2006/relationships/slide" Target="slides/slide69.xml"/><Relationship Id="rId7" Type="http://schemas.openxmlformats.org/officeDocument/2006/relationships/slide" Target="slides/slide6.xml"/><Relationship Id="rId69" Type="http://schemas.openxmlformats.org/officeDocument/2006/relationships/slide" Target="slides/slide68.xml"/><Relationship Id="rId68" Type="http://schemas.openxmlformats.org/officeDocument/2006/relationships/slide" Target="slides/slide67.xml"/><Relationship Id="rId67" Type="http://schemas.openxmlformats.org/officeDocument/2006/relationships/slide" Target="slides/slide66.xml"/><Relationship Id="rId66" Type="http://schemas.openxmlformats.org/officeDocument/2006/relationships/slide" Target="slides/slide65.xml"/><Relationship Id="rId65" Type="http://schemas.openxmlformats.org/officeDocument/2006/relationships/slide" Target="slides/slide64.xml"/><Relationship Id="rId64" Type="http://schemas.openxmlformats.org/officeDocument/2006/relationships/slide" Target="slides/slide63.xml"/><Relationship Id="rId63" Type="http://schemas.openxmlformats.org/officeDocument/2006/relationships/slide" Target="slides/slide62.xml"/><Relationship Id="rId62" Type="http://schemas.openxmlformats.org/officeDocument/2006/relationships/slide" Target="slides/slide61.xml"/><Relationship Id="rId61" Type="http://schemas.openxmlformats.org/officeDocument/2006/relationships/slide" Target="slides/slide60.xml"/><Relationship Id="rId60" Type="http://schemas.openxmlformats.org/officeDocument/2006/relationships/slide" Target="slides/slide59.xml"/><Relationship Id="rId6" Type="http://schemas.openxmlformats.org/officeDocument/2006/relationships/slide" Target="slides/slide5.xml"/><Relationship Id="rId59" Type="http://schemas.openxmlformats.org/officeDocument/2006/relationships/slide" Target="slides/slide58.xml"/><Relationship Id="rId58" Type="http://schemas.openxmlformats.org/officeDocument/2006/relationships/slide" Target="slides/slide57.xml"/><Relationship Id="rId57" Type="http://schemas.openxmlformats.org/officeDocument/2006/relationships/slide" Target="slides/slide56.xml"/><Relationship Id="rId56" Type="http://schemas.openxmlformats.org/officeDocument/2006/relationships/slide" Target="slides/slide55.xml"/><Relationship Id="rId55" Type="http://schemas.openxmlformats.org/officeDocument/2006/relationships/slide" Target="slides/slide54.xml"/><Relationship Id="rId54" Type="http://schemas.openxmlformats.org/officeDocument/2006/relationships/slide" Target="slides/slide53.xml"/><Relationship Id="rId53" Type="http://schemas.openxmlformats.org/officeDocument/2006/relationships/slide" Target="slides/slide52.xml"/><Relationship Id="rId52" Type="http://schemas.openxmlformats.org/officeDocument/2006/relationships/slide" Target="slides/slide51.xml"/><Relationship Id="rId51" Type="http://schemas.openxmlformats.org/officeDocument/2006/relationships/slide" Target="slides/slide50.xml"/><Relationship Id="rId50" Type="http://schemas.openxmlformats.org/officeDocument/2006/relationships/slide" Target="slides/slide49.xml"/><Relationship Id="rId5" Type="http://schemas.openxmlformats.org/officeDocument/2006/relationships/slide" Target="slides/slide4.xml"/><Relationship Id="rId49" Type="http://schemas.openxmlformats.org/officeDocument/2006/relationships/slide" Target="slides/slide48.xml"/><Relationship Id="rId48" Type="http://schemas.openxmlformats.org/officeDocument/2006/relationships/slide" Target="slides/slide47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i.i.d.data: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778240" y="0"/>
            <a:ext cx="3413759" cy="41148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923645" y="2129112"/>
            <a:ext cx="7988300" cy="1766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3043"/>
              </a:lnSpc>
              <a:tabLst/>
            </a:pPr>
            <a:r>
              <a:rPr sz="44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PROBABILITY AND STATISTICS</a:t>
            </a:r>
            <a:endParaRPr sz="4400" dirty="0">
              <a:latin typeface="Cambria"/>
              <a:ea typeface="Cambria"/>
              <a:cs typeface="Cambria"/>
            </a:endParaRPr>
          </a:p>
          <a:p>
            <a:pPr marL="16509" algn="l" rtl="0" eaLnBrk="0">
              <a:lnSpc>
                <a:spcPct val="95000"/>
              </a:lnSpc>
              <a:spcBef>
                <a:spcPts val="24"/>
              </a:spcBef>
              <a:tabLst/>
            </a:pPr>
            <a:r>
              <a:rPr sz="4400" b="1" kern="0" spc="-1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IN ARTIFICIAL INTELLIGENCE</a:t>
            </a:r>
            <a:endParaRPr sz="44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"/>
              </a:spcBef>
              <a:tabLst/>
            </a:pPr>
            <a:r>
              <a:rPr sz="24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Understanding</a:t>
            </a:r>
            <a:r>
              <a:rPr sz="2400" i="1" kern="0" spc="16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</a:t>
            </a:r>
            <a:r>
              <a:rPr sz="2400" i="1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inty in AI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0080" y="4206240"/>
            <a:ext cx="5486400" cy="192024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241280" y="4206240"/>
            <a:ext cx="1950719" cy="2651758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920902" y="6340094"/>
            <a:ext cx="563943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kern="0" spc="-1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Instructor</a:t>
            </a:r>
            <a:r>
              <a:rPr sz="1800" kern="0" spc="14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</a:t>
            </a:r>
            <a:r>
              <a:rPr sz="1800" kern="0" spc="-2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cture</a:t>
            </a:r>
            <a:r>
              <a:rPr sz="1800" kern="0" spc="17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Deck  •  Undergraduate</a:t>
            </a:r>
            <a:r>
              <a:rPr sz="1800" kern="0" spc="3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 /</a:t>
            </a:r>
            <a:r>
              <a:rPr sz="1800" kern="0" spc="9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CS</a:t>
            </a:r>
            <a:r>
              <a:rPr sz="1800" kern="0" spc="8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Curriculum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/>
          <p:nvPr/>
        </p:nvSpPr>
        <p:spPr>
          <a:xfrm>
            <a:off x="541229" y="97104"/>
            <a:ext cx="5546090" cy="4318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66000"/>
              </a:lnSpc>
              <a:tabLst/>
            </a:pPr>
            <a:r>
              <a:rPr sz="1800" b="1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OPENING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4000"/>
              </a:lnSpc>
              <a:spcBef>
                <a:spcPts val="899"/>
              </a:spcBef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Why</a:t>
            </a:r>
            <a:r>
              <a:rPr sz="3200" b="1" kern="0" spc="1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Probability</a:t>
            </a:r>
            <a:r>
              <a:rPr sz="3200" b="1" kern="0" spc="1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Matters</a:t>
            </a:r>
            <a:r>
              <a:rPr sz="3200" b="1" kern="0" spc="1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inAI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0029" indent="-208915" algn="l" rtl="0" eaLnBrk="0">
              <a:lnSpc>
                <a:spcPct val="111000"/>
              </a:lnSpc>
              <a:spcBef>
                <a:spcPts val="602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 systems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almost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never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have complete,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noise-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free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informa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tion.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0029" indent="-208915" algn="l" rtl="0" eaLnBrk="0">
              <a:lnSpc>
                <a:spcPct val="111000"/>
              </a:lnSpc>
              <a:spcBef>
                <a:spcPts val="1059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Inputs are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noisy,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imperfect,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future events or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labels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7015" indent="-215900" algn="l" rtl="0" eaLnBrk="0">
              <a:lnSpc>
                <a:spcPct val="104000"/>
              </a:lnSpc>
              <a:spcBef>
                <a:spcPts val="1058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So AI cannot only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produce an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answer</a:t>
            </a:r>
            <a:r>
              <a:rPr sz="20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must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also express</a:t>
            </a:r>
            <a:r>
              <a:rPr sz="2000" kern="0" spc="2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how confident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47015" indent="-214629" algn="l" rtl="0" eaLnBrk="0">
              <a:lnSpc>
                <a:spcPct val="104000"/>
              </a:lnSpc>
              <a:spcBef>
                <a:spcPts val="3"/>
              </a:spcBef>
              <a:tabLst/>
            </a:pPr>
            <a:r>
              <a:rPr sz="21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100" kern="0" spc="2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 does not only predict</a:t>
            </a:r>
            <a:r>
              <a:rPr sz="2100" b="1" i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 AI must also reason</a:t>
            </a:r>
            <a:r>
              <a:rPr sz="2100" b="1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100" b="1" i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under uncertainty.</a:t>
            </a:r>
            <a:endParaRPr sz="21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path 16"/>
          <p:cNvSpPr/>
          <p:nvPr/>
        </p:nvSpPr>
        <p:spPr>
          <a:xfrm>
            <a:off x="7589519" y="3063240"/>
            <a:ext cx="365760" cy="256031"/>
          </a:xfrm>
          <a:custGeom>
            <a:avLst/>
            <a:gdLst/>
            <a:ahLst/>
            <a:cxnLst/>
            <a:rect l="0" t="0" r="0" b="0"/>
            <a:pathLst>
              <a:path w="576" h="403">
                <a:moveTo>
                  <a:pt x="0" y="100"/>
                </a:moveTo>
                <a:lnTo>
                  <a:pt x="374" y="100"/>
                </a:lnTo>
                <a:lnTo>
                  <a:pt x="374" y="0"/>
                </a:lnTo>
                <a:lnTo>
                  <a:pt x="576" y="201"/>
                </a:lnTo>
                <a:lnTo>
                  <a:pt x="374" y="403"/>
                </a:lnTo>
                <a:lnTo>
                  <a:pt x="374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path 18"/>
          <p:cNvSpPr/>
          <p:nvPr/>
        </p:nvSpPr>
        <p:spPr>
          <a:xfrm>
            <a:off x="9418319" y="3063240"/>
            <a:ext cx="365760" cy="256031"/>
          </a:xfrm>
          <a:custGeom>
            <a:avLst/>
            <a:gdLst/>
            <a:ahLst/>
            <a:cxnLst/>
            <a:rect l="0" t="0" r="0" b="0"/>
            <a:pathLst>
              <a:path w="576" h="403">
                <a:moveTo>
                  <a:pt x="0" y="100"/>
                </a:moveTo>
                <a:lnTo>
                  <a:pt x="374" y="100"/>
                </a:lnTo>
                <a:lnTo>
                  <a:pt x="374" y="0"/>
                </a:lnTo>
                <a:lnTo>
                  <a:pt x="576" y="201"/>
                </a:lnTo>
                <a:lnTo>
                  <a:pt x="374" y="403"/>
                </a:lnTo>
                <a:lnTo>
                  <a:pt x="374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900" y="2739222"/>
            <a:ext cx="5433615" cy="915793"/>
          </a:xfrm>
          <a:prstGeom prst="rect">
            <a:avLst/>
          </a:prstGeom>
        </p:spPr>
      </p:pic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6120129" y="2691129"/>
          <a:ext cx="5407659" cy="927100"/>
        </p:xfrm>
        <a:graphic>
          <a:graphicData uri="http://schemas.openxmlformats.org/drawingml/2006/table">
            <a:tbl>
              <a:tblPr/>
              <a:tblGrid>
                <a:gridCol w="1469390"/>
                <a:gridCol w="365759"/>
                <a:gridCol w="1463040"/>
                <a:gridCol w="365759"/>
                <a:gridCol w="1743710"/>
              </a:tblGrid>
              <a:tr h="927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9109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89890" algn="l" rtl="0" eaLnBrk="0">
                        <a:lnSpc>
                          <a:spcPts val="2272"/>
                        </a:lnSpc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(image)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9720" algn="l" rtl="0" eaLnBrk="0">
                        <a:lnSpc>
                          <a:spcPct val="7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AI</a:t>
                      </a:r>
                      <a:r>
                        <a:rPr sz="1800" b="1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215" indent="-8889" algn="l" rtl="0" eaLnBrk="0">
                        <a:lnSpc>
                          <a:spcPct val="9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Predictio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 +</a:t>
                      </a:r>
                      <a:r>
                        <a:rPr sz="18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</a:t>
                      </a: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Uncertain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ty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4"/>
          <p:cNvSpPr/>
          <p:nvPr/>
        </p:nvSpPr>
        <p:spPr>
          <a:xfrm>
            <a:off x="10122204" y="3916298"/>
            <a:ext cx="1075689" cy="1022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ct val="83000"/>
              </a:lnSpc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Cat: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0.75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06045" algn="l" rtl="0" eaLnBrk="0">
              <a:lnSpc>
                <a:spcPct val="83000"/>
              </a:lnSpc>
              <a:spcBef>
                <a:spcPts val="1232"/>
              </a:spcBef>
              <a:tabLst/>
            </a:pP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Dog: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0.20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Other: 0.05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/>
          <p:nvPr/>
        </p:nvSpPr>
        <p:spPr>
          <a:xfrm>
            <a:off x="3337559" y="1417320"/>
            <a:ext cx="2652395" cy="3292475"/>
          </a:xfrm>
          <a:prstGeom prst="rect">
            <a:avLst/>
          </a:prstGeom>
          <a:solidFill>
            <a:srgbClr val="C97F1E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7694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Unsupervised</a:t>
            </a:r>
            <a:endParaRPr sz="1800" dirty="0">
              <a:latin typeface="Cambria"/>
              <a:ea typeface="Cambria"/>
              <a:cs typeface="Cambria"/>
            </a:endParaRPr>
          </a:p>
          <a:p>
            <a:pPr marL="864869" algn="l" rtl="0" eaLnBrk="0">
              <a:lnSpc>
                <a:spcPct val="97000"/>
              </a:lnSpc>
              <a:spcBef>
                <a:spcPts val="19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Learning</a:t>
            </a:r>
            <a:endParaRPr sz="1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20725" algn="l" rtl="0" eaLnBrk="0">
              <a:lnSpc>
                <a:spcPct val="83000"/>
              </a:lnSpc>
              <a:spcBef>
                <a:spcPts val="550"/>
              </a:spcBef>
              <a:tabLst/>
            </a:pP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Modeling the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70509" algn="l" rtl="0" eaLnBrk="0">
              <a:lnSpc>
                <a:spcPct val="83000"/>
              </a:lnSpc>
              <a:spcBef>
                <a:spcPts val="368"/>
              </a:spcBef>
              <a:tabLst/>
            </a:pP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population</a:t>
            </a:r>
            <a:r>
              <a:rPr sz="1800" kern="0" spc="10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tribution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217920" y="1417320"/>
            <a:ext cx="2652395" cy="3292475"/>
          </a:xfrm>
          <a:prstGeom prst="rect">
            <a:avLst/>
          </a:prstGeom>
          <a:solidFill>
            <a:srgbClr val="1E2A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0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7530" algn="l" rtl="0" eaLnBrk="0">
              <a:lnSpc>
                <a:spcPts val="1276"/>
              </a:lnSpc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Reinforceme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nt</a:t>
            </a:r>
            <a:endParaRPr sz="1800" dirty="0">
              <a:latin typeface="Cambria"/>
              <a:ea typeface="Cambria"/>
              <a:cs typeface="Cambria"/>
            </a:endParaRPr>
          </a:p>
          <a:p>
            <a:pPr marL="864869" algn="l" rtl="0" eaLnBrk="0">
              <a:lnSpc>
                <a:spcPts val="2501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Learning</a:t>
            </a:r>
            <a:endParaRPr sz="1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794384" indent="-425450" algn="l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 transition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1800" kern="0" spc="-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kern="0" spc="18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returns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457200" y="1417320"/>
            <a:ext cx="2652395" cy="3292475"/>
          </a:xfrm>
          <a:prstGeom prst="rect">
            <a:avLst/>
          </a:prstGeom>
          <a:solidFill>
            <a:srgbClr val="1E2A5E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3365" algn="l" rtl="0" eaLnBrk="0">
              <a:lnSpc>
                <a:spcPct val="84000"/>
              </a:lnSpc>
              <a:spcBef>
                <a:spcPts val="2"/>
              </a:spcBef>
              <a:tabLst/>
            </a:pP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Supervised L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earning</a:t>
            </a:r>
            <a:endParaRPr sz="1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85165" algn="l" rtl="0" eaLnBrk="0">
              <a:lnSpc>
                <a:spcPct val="83000"/>
              </a:lnSpc>
              <a:spcBef>
                <a:spcPts val="543"/>
              </a:spcBef>
              <a:tabLst/>
            </a:pPr>
            <a:r>
              <a:rPr sz="1800" kern="0" spc="-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</a:t>
            </a:r>
            <a:r>
              <a:rPr sz="1800" kern="0" spc="19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66725" algn="l" rtl="0" eaLnBrk="0">
              <a:lnSpc>
                <a:spcPct val="83000"/>
              </a:lnSpc>
              <a:spcBef>
                <a:spcPts val="368"/>
              </a:spcBef>
              <a:tabLst/>
            </a:pP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predicting y from</a:t>
            </a:r>
            <a:r>
              <a:rPr sz="1800" kern="0" spc="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9098280" y="1417320"/>
            <a:ext cx="2651760" cy="3292475"/>
          </a:xfrm>
          <a:prstGeom prst="rect">
            <a:avLst/>
          </a:prstGeom>
          <a:solidFill>
            <a:srgbClr val="C97F1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9919" algn="l" rtl="0" eaLnBrk="0">
              <a:lnSpc>
                <a:spcPct val="70000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Generative AI</a:t>
            </a:r>
            <a:endParaRPr sz="1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75944" indent="-60325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Distributions</a:t>
            </a:r>
            <a:r>
              <a:rPr sz="1800" kern="0" spc="1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</a:t>
            </a:r>
            <a:r>
              <a:rPr sz="1800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possible outp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uts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55064" y="393355"/>
            <a:ext cx="3954145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Probability Across AI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544855" y="99390"/>
            <a:ext cx="1066164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OPENING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57200" y="2377440"/>
            <a:ext cx="11091671" cy="2377439"/>
            <a:chOff x="0" y="0"/>
            <a:chExt cx="11091671" cy="2377439"/>
          </a:xfrm>
        </p:grpSpPr>
        <p:grpSp>
          <p:nvGrpSpPr>
            <p:cNvPr id="4" name="group 4"/>
            <p:cNvGrpSpPr/>
            <p:nvPr/>
          </p:nvGrpSpPr>
          <p:grpSpPr>
            <a:xfrm rot="21600000">
              <a:off x="0" y="0"/>
              <a:ext cx="11091671" cy="2377439"/>
              <a:chOff x="0" y="0"/>
              <a:chExt cx="11091671" cy="2377439"/>
            </a:xfrm>
          </p:grpSpPr>
          <p:sp>
            <p:nvSpPr>
              <p:cNvPr id="38" name="path 38"/>
              <p:cNvSpPr/>
              <p:nvPr/>
            </p:nvSpPr>
            <p:spPr>
              <a:xfrm>
                <a:off x="0" y="0"/>
                <a:ext cx="2057400" cy="2377439"/>
              </a:xfrm>
              <a:custGeom>
                <a:avLst/>
                <a:gdLst/>
                <a:ahLst/>
                <a:cxnLst/>
                <a:rect l="0" t="0" r="0" b="0"/>
                <a:pathLst>
                  <a:path w="3240" h="3743">
                    <a:moveTo>
                      <a:pt x="0" y="143"/>
                    </a:moveTo>
                    <a:moveTo>
                      <a:pt x="0" y="143"/>
                    </a:moveTo>
                    <a:cubicBezTo>
                      <a:pt x="0" y="64"/>
                      <a:pt x="64" y="0"/>
                      <a:pt x="143" y="0"/>
                    </a:cubicBezTo>
                    <a:lnTo>
                      <a:pt x="3096" y="0"/>
                    </a:lnTo>
                    <a:cubicBezTo>
                      <a:pt x="3175" y="0"/>
                      <a:pt x="3240" y="64"/>
                      <a:pt x="3240" y="143"/>
                    </a:cubicBezTo>
                    <a:lnTo>
                      <a:pt x="3240" y="3599"/>
                    </a:lnTo>
                    <a:cubicBezTo>
                      <a:pt x="3240" y="3679"/>
                      <a:pt x="3175" y="3743"/>
                      <a:pt x="3096" y="3743"/>
                    </a:cubicBezTo>
                    <a:lnTo>
                      <a:pt x="143" y="3743"/>
                    </a:lnTo>
                    <a:cubicBezTo>
                      <a:pt x="64" y="3743"/>
                      <a:pt x="0" y="3679"/>
                      <a:pt x="0" y="3599"/>
                    </a:cubicBezTo>
                    <a:lnTo>
                      <a:pt x="0" y="143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path 40"/>
              <p:cNvSpPr/>
              <p:nvPr/>
            </p:nvSpPr>
            <p:spPr>
              <a:xfrm>
                <a:off x="2075687" y="1078991"/>
                <a:ext cx="164592" cy="256031"/>
              </a:xfrm>
              <a:custGeom>
                <a:avLst/>
                <a:gdLst/>
                <a:ahLst/>
                <a:cxnLst/>
                <a:rect l="0" t="0" r="0" b="0"/>
                <a:pathLst>
                  <a:path w="259" h="403">
                    <a:moveTo>
                      <a:pt x="0" y="100"/>
                    </a:moveTo>
                    <a:lnTo>
                      <a:pt x="129" y="100"/>
                    </a:lnTo>
                    <a:lnTo>
                      <a:pt x="129" y="0"/>
                    </a:lnTo>
                    <a:lnTo>
                      <a:pt x="259" y="201"/>
                    </a:lnTo>
                    <a:lnTo>
                      <a:pt x="129" y="403"/>
                    </a:lnTo>
                    <a:lnTo>
                      <a:pt x="129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path 42"/>
              <p:cNvSpPr/>
              <p:nvPr/>
            </p:nvSpPr>
            <p:spPr>
              <a:xfrm>
                <a:off x="2258567" y="0"/>
                <a:ext cx="2057400" cy="2377439"/>
              </a:xfrm>
              <a:custGeom>
                <a:avLst/>
                <a:gdLst/>
                <a:ahLst/>
                <a:cxnLst/>
                <a:rect l="0" t="0" r="0" b="0"/>
                <a:pathLst>
                  <a:path w="3240" h="3743">
                    <a:moveTo>
                      <a:pt x="0" y="143"/>
                    </a:moveTo>
                    <a:moveTo>
                      <a:pt x="0" y="143"/>
                    </a:moveTo>
                    <a:cubicBezTo>
                      <a:pt x="0" y="64"/>
                      <a:pt x="64" y="0"/>
                      <a:pt x="143" y="0"/>
                    </a:cubicBezTo>
                    <a:lnTo>
                      <a:pt x="3096" y="0"/>
                    </a:lnTo>
                    <a:cubicBezTo>
                      <a:pt x="3175" y="0"/>
                      <a:pt x="3240" y="64"/>
                      <a:pt x="3240" y="143"/>
                    </a:cubicBezTo>
                    <a:lnTo>
                      <a:pt x="3240" y="3599"/>
                    </a:lnTo>
                    <a:cubicBezTo>
                      <a:pt x="3240" y="3679"/>
                      <a:pt x="3175" y="3743"/>
                      <a:pt x="3096" y="3743"/>
                    </a:cubicBezTo>
                    <a:lnTo>
                      <a:pt x="143" y="3743"/>
                    </a:lnTo>
                    <a:cubicBezTo>
                      <a:pt x="64" y="3743"/>
                      <a:pt x="0" y="3679"/>
                      <a:pt x="0" y="3599"/>
                    </a:cubicBezTo>
                    <a:lnTo>
                      <a:pt x="0" y="143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path 44"/>
              <p:cNvSpPr/>
              <p:nvPr/>
            </p:nvSpPr>
            <p:spPr>
              <a:xfrm>
                <a:off x="4334255" y="1078991"/>
                <a:ext cx="164592" cy="256031"/>
              </a:xfrm>
              <a:custGeom>
                <a:avLst/>
                <a:gdLst/>
                <a:ahLst/>
                <a:cxnLst/>
                <a:rect l="0" t="0" r="0" b="0"/>
                <a:pathLst>
                  <a:path w="259" h="403">
                    <a:moveTo>
                      <a:pt x="0" y="100"/>
                    </a:moveTo>
                    <a:lnTo>
                      <a:pt x="129" y="100"/>
                    </a:lnTo>
                    <a:lnTo>
                      <a:pt x="129" y="0"/>
                    </a:lnTo>
                    <a:lnTo>
                      <a:pt x="259" y="201"/>
                    </a:lnTo>
                    <a:lnTo>
                      <a:pt x="129" y="403"/>
                    </a:lnTo>
                    <a:lnTo>
                      <a:pt x="129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path 46"/>
              <p:cNvSpPr/>
              <p:nvPr/>
            </p:nvSpPr>
            <p:spPr>
              <a:xfrm>
                <a:off x="4517135" y="0"/>
                <a:ext cx="2057400" cy="2377439"/>
              </a:xfrm>
              <a:custGeom>
                <a:avLst/>
                <a:gdLst/>
                <a:ahLst/>
                <a:cxnLst/>
                <a:rect l="0" t="0" r="0" b="0"/>
                <a:pathLst>
                  <a:path w="3240" h="3743">
                    <a:moveTo>
                      <a:pt x="0" y="143"/>
                    </a:moveTo>
                    <a:moveTo>
                      <a:pt x="0" y="143"/>
                    </a:moveTo>
                    <a:cubicBezTo>
                      <a:pt x="0" y="64"/>
                      <a:pt x="64" y="0"/>
                      <a:pt x="143" y="0"/>
                    </a:cubicBezTo>
                    <a:lnTo>
                      <a:pt x="3096" y="0"/>
                    </a:lnTo>
                    <a:cubicBezTo>
                      <a:pt x="3175" y="0"/>
                      <a:pt x="3240" y="64"/>
                      <a:pt x="3240" y="143"/>
                    </a:cubicBezTo>
                    <a:lnTo>
                      <a:pt x="3240" y="3599"/>
                    </a:lnTo>
                    <a:cubicBezTo>
                      <a:pt x="3240" y="3679"/>
                      <a:pt x="3175" y="3743"/>
                      <a:pt x="3096" y="3743"/>
                    </a:cubicBezTo>
                    <a:lnTo>
                      <a:pt x="143" y="3743"/>
                    </a:lnTo>
                    <a:cubicBezTo>
                      <a:pt x="64" y="3743"/>
                      <a:pt x="0" y="3679"/>
                      <a:pt x="0" y="3599"/>
                    </a:cubicBezTo>
                    <a:lnTo>
                      <a:pt x="0" y="143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path 48"/>
              <p:cNvSpPr/>
              <p:nvPr/>
            </p:nvSpPr>
            <p:spPr>
              <a:xfrm>
                <a:off x="6592823" y="1078991"/>
                <a:ext cx="164592" cy="256031"/>
              </a:xfrm>
              <a:custGeom>
                <a:avLst/>
                <a:gdLst/>
                <a:ahLst/>
                <a:cxnLst/>
                <a:rect l="0" t="0" r="0" b="0"/>
                <a:pathLst>
                  <a:path w="259" h="403">
                    <a:moveTo>
                      <a:pt x="0" y="100"/>
                    </a:moveTo>
                    <a:lnTo>
                      <a:pt x="129" y="100"/>
                    </a:lnTo>
                    <a:lnTo>
                      <a:pt x="129" y="0"/>
                    </a:lnTo>
                    <a:lnTo>
                      <a:pt x="259" y="201"/>
                    </a:lnTo>
                    <a:lnTo>
                      <a:pt x="129" y="403"/>
                    </a:lnTo>
                    <a:lnTo>
                      <a:pt x="129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path 50"/>
              <p:cNvSpPr/>
              <p:nvPr/>
            </p:nvSpPr>
            <p:spPr>
              <a:xfrm>
                <a:off x="6775704" y="0"/>
                <a:ext cx="2057400" cy="2377439"/>
              </a:xfrm>
              <a:custGeom>
                <a:avLst/>
                <a:gdLst/>
                <a:ahLst/>
                <a:cxnLst/>
                <a:rect l="0" t="0" r="0" b="0"/>
                <a:pathLst>
                  <a:path w="3240" h="3743">
                    <a:moveTo>
                      <a:pt x="0" y="143"/>
                    </a:moveTo>
                    <a:moveTo>
                      <a:pt x="0" y="143"/>
                    </a:moveTo>
                    <a:cubicBezTo>
                      <a:pt x="0" y="64"/>
                      <a:pt x="64" y="0"/>
                      <a:pt x="144" y="0"/>
                    </a:cubicBezTo>
                    <a:lnTo>
                      <a:pt x="3095" y="0"/>
                    </a:lnTo>
                    <a:cubicBezTo>
                      <a:pt x="3175" y="0"/>
                      <a:pt x="3240" y="64"/>
                      <a:pt x="3240" y="143"/>
                    </a:cubicBezTo>
                    <a:lnTo>
                      <a:pt x="3240" y="3599"/>
                    </a:lnTo>
                    <a:cubicBezTo>
                      <a:pt x="3240" y="3679"/>
                      <a:pt x="3175" y="3743"/>
                      <a:pt x="3095" y="3743"/>
                    </a:cubicBezTo>
                    <a:lnTo>
                      <a:pt x="144" y="3743"/>
                    </a:lnTo>
                    <a:cubicBezTo>
                      <a:pt x="64" y="3743"/>
                      <a:pt x="0" y="3679"/>
                      <a:pt x="0" y="3599"/>
                    </a:cubicBezTo>
                    <a:lnTo>
                      <a:pt x="0" y="143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path 52"/>
              <p:cNvSpPr/>
              <p:nvPr/>
            </p:nvSpPr>
            <p:spPr>
              <a:xfrm>
                <a:off x="8851392" y="1078991"/>
                <a:ext cx="164592" cy="256031"/>
              </a:xfrm>
              <a:custGeom>
                <a:avLst/>
                <a:gdLst/>
                <a:ahLst/>
                <a:cxnLst/>
                <a:rect l="0" t="0" r="0" b="0"/>
                <a:pathLst>
                  <a:path w="259" h="403">
                    <a:moveTo>
                      <a:pt x="0" y="100"/>
                    </a:moveTo>
                    <a:lnTo>
                      <a:pt x="129" y="100"/>
                    </a:lnTo>
                    <a:lnTo>
                      <a:pt x="129" y="0"/>
                    </a:lnTo>
                    <a:lnTo>
                      <a:pt x="259" y="201"/>
                    </a:lnTo>
                    <a:lnTo>
                      <a:pt x="129" y="403"/>
                    </a:lnTo>
                    <a:lnTo>
                      <a:pt x="129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path 54"/>
              <p:cNvSpPr/>
              <p:nvPr/>
            </p:nvSpPr>
            <p:spPr>
              <a:xfrm>
                <a:off x="9034271" y="0"/>
                <a:ext cx="2057400" cy="2377439"/>
              </a:xfrm>
              <a:custGeom>
                <a:avLst/>
                <a:gdLst/>
                <a:ahLst/>
                <a:cxnLst/>
                <a:rect l="0" t="0" r="0" b="0"/>
                <a:pathLst>
                  <a:path w="3240" h="3743">
                    <a:moveTo>
                      <a:pt x="0" y="143"/>
                    </a:moveTo>
                    <a:moveTo>
                      <a:pt x="0" y="143"/>
                    </a:moveTo>
                    <a:cubicBezTo>
                      <a:pt x="0" y="64"/>
                      <a:pt x="64" y="0"/>
                      <a:pt x="144" y="0"/>
                    </a:cubicBezTo>
                    <a:lnTo>
                      <a:pt x="3095" y="0"/>
                    </a:lnTo>
                    <a:cubicBezTo>
                      <a:pt x="3175" y="0"/>
                      <a:pt x="3240" y="64"/>
                      <a:pt x="3240" y="143"/>
                    </a:cubicBezTo>
                    <a:lnTo>
                      <a:pt x="3240" y="3599"/>
                    </a:lnTo>
                    <a:cubicBezTo>
                      <a:pt x="3240" y="3679"/>
                      <a:pt x="3175" y="3743"/>
                      <a:pt x="3095" y="3743"/>
                    </a:cubicBezTo>
                    <a:lnTo>
                      <a:pt x="144" y="3743"/>
                    </a:lnTo>
                    <a:cubicBezTo>
                      <a:pt x="64" y="3743"/>
                      <a:pt x="0" y="3679"/>
                      <a:pt x="0" y="3599"/>
                    </a:cubicBezTo>
                    <a:lnTo>
                      <a:pt x="0" y="143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6" name="textbox 56"/>
            <p:cNvSpPr/>
            <p:nvPr/>
          </p:nvSpPr>
          <p:spPr>
            <a:xfrm>
              <a:off x="2677058" y="279543"/>
              <a:ext cx="1235710" cy="1193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5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05129" algn="l" rtl="0" eaLnBrk="0">
                <a:lnSpc>
                  <a:spcPct val="83000"/>
                </a:lnSpc>
                <a:tabLst/>
              </a:pPr>
              <a:r>
                <a:rPr sz="3000" b="1" kern="0" spc="-90" dirty="0">
                  <a:solidFill>
                    <a:srgbClr val="E8A33D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02</a:t>
              </a:r>
              <a:endParaRPr sz="3000" dirty="0">
                <a:latin typeface="Cambria"/>
                <a:ea typeface="Cambria"/>
                <a:cs typeface="Cambria"/>
              </a:endParaRPr>
            </a:p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indent="92710" algn="l" rtl="0" eaLnBrk="0">
                <a:lnSpc>
                  <a:spcPct val="93000"/>
                </a:lnSpc>
                <a:spcBef>
                  <a:spcPts val="2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Probability</a:t>
              </a:r>
              <a:r>
                <a:rPr sz="1800" b="1" kern="0" spc="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Distribution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9464776" y="279543"/>
              <a:ext cx="1198880" cy="1193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5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93700" algn="l" rtl="0" eaLnBrk="0">
                <a:lnSpc>
                  <a:spcPct val="83000"/>
                </a:lnSpc>
                <a:tabLst/>
              </a:pPr>
              <a:r>
                <a:rPr sz="3000" b="1" kern="0" spc="-90" dirty="0">
                  <a:solidFill>
                    <a:srgbClr val="E8A33D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05</a:t>
              </a:r>
              <a:endParaRPr sz="3000" dirty="0">
                <a:latin typeface="Cambria"/>
                <a:ea typeface="Cambria"/>
                <a:cs typeface="Cambria"/>
              </a:endParaRPr>
            </a:p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indent="71119" algn="l" rtl="0" eaLnBrk="0">
                <a:lnSpc>
                  <a:spcPct val="93000"/>
                </a:lnSpc>
                <a:spcBef>
                  <a:spcPts val="2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Practical AI</a:t>
              </a:r>
              <a:r>
                <a:rPr sz="1800" b="1" kern="0" spc="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Applications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0" name="textbox 60"/>
            <p:cNvSpPr/>
            <p:nvPr/>
          </p:nvSpPr>
          <p:spPr>
            <a:xfrm>
              <a:off x="7214641" y="279543"/>
              <a:ext cx="1196339" cy="1193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5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ct val="83000"/>
                </a:lnSpc>
                <a:tabLst/>
              </a:pPr>
              <a:r>
                <a:rPr sz="3000" b="1" kern="0" spc="-90" dirty="0">
                  <a:solidFill>
                    <a:srgbClr val="E8A33D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04</a:t>
              </a:r>
              <a:endParaRPr sz="3000" dirty="0">
                <a:latin typeface="Cambria"/>
                <a:ea typeface="Cambria"/>
                <a:cs typeface="Cambria"/>
              </a:endParaRPr>
            </a:p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indent="5714" algn="l" rtl="0" eaLnBrk="0">
                <a:lnSpc>
                  <a:spcPct val="93000"/>
                </a:lnSpc>
                <a:spcBef>
                  <a:spcPts val="2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Probabilist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ic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Models</a:t>
              </a:r>
              <a:r>
                <a:rPr sz="1800" b="1" kern="0" spc="15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 AI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2" name="textbox 62"/>
            <p:cNvSpPr/>
            <p:nvPr/>
          </p:nvSpPr>
          <p:spPr>
            <a:xfrm>
              <a:off x="441071" y="279543"/>
              <a:ext cx="1189989" cy="1193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5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82270" algn="l" rtl="0" eaLnBrk="0">
                <a:lnSpc>
                  <a:spcPct val="83000"/>
                </a:lnSpc>
                <a:tabLst/>
              </a:pPr>
              <a:r>
                <a:rPr sz="3000" b="1" kern="0" spc="-90" dirty="0">
                  <a:solidFill>
                    <a:srgbClr val="E8A33D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01</a:t>
              </a:r>
              <a:endParaRPr sz="3000" dirty="0">
                <a:latin typeface="Cambria"/>
                <a:ea typeface="Cambria"/>
                <a:cs typeface="Cambria"/>
              </a:endParaRPr>
            </a:p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indent="69850" algn="l" rtl="0" eaLnBrk="0">
                <a:lnSpc>
                  <a:spcPct val="93000"/>
                </a:lnSpc>
                <a:spcBef>
                  <a:spcPts val="2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Probability</a:t>
              </a:r>
              <a:r>
                <a:rPr sz="1800" b="1" kern="0" spc="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Foundations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4" name="textbox 64"/>
            <p:cNvSpPr/>
            <p:nvPr/>
          </p:nvSpPr>
          <p:spPr>
            <a:xfrm>
              <a:off x="5076672" y="279543"/>
              <a:ext cx="946785" cy="1193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5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64159" algn="l" rtl="0" eaLnBrk="0">
                <a:lnSpc>
                  <a:spcPct val="83000"/>
                </a:lnSpc>
                <a:tabLst/>
              </a:pPr>
              <a:r>
                <a:rPr sz="3000" b="1" kern="0" spc="-90" dirty="0">
                  <a:solidFill>
                    <a:srgbClr val="E8A33D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03</a:t>
              </a:r>
              <a:endParaRPr sz="3000" dirty="0">
                <a:latin typeface="Cambria"/>
                <a:ea typeface="Cambria"/>
                <a:cs typeface="Cambria"/>
              </a:endParaRPr>
            </a:p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32384" indent="-20320" algn="l" rtl="0" eaLnBrk="0">
                <a:lnSpc>
                  <a:spcPct val="93000"/>
                </a:lnSpc>
                <a:spcBef>
                  <a:spcPts val="2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Statistical</a:t>
              </a:r>
              <a:r>
                <a:rPr sz="1800" b="1" kern="0" spc="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Inference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66" name="textbox 66"/>
          <p:cNvSpPr/>
          <p:nvPr/>
        </p:nvSpPr>
        <p:spPr>
          <a:xfrm>
            <a:off x="1341603" y="5379720"/>
            <a:ext cx="9480550" cy="728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5095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axiom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 and distributions,</a:t>
            </a:r>
            <a:r>
              <a:rPr sz="1800" i="1" kern="0" spc="1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 estimating parameters,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 probabilistic AI models,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i="1" kern="0" spc="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 systems.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3"/>
              </a:spcBef>
              <a:tabLst/>
            </a:pPr>
            <a:r>
              <a:rPr sz="1400" i="1" kern="0" spc="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Suggested 3-le</a:t>
            </a:r>
            <a:r>
              <a:rPr sz="1400" i="1" kern="0" spc="-1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cture split: Lecture 1 = Slides 1-23   |  Lecture 2 = Slides</a:t>
            </a:r>
            <a:r>
              <a:rPr sz="1400" i="1" kern="0" spc="3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i="1" kern="0" spc="-1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24-50   |  Lecture 3 = Slides</a:t>
            </a:r>
            <a:r>
              <a:rPr sz="1400" i="1" kern="0" spc="2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i="1" kern="0" spc="-10" dirty="0">
                <a:solidFill>
                  <a:srgbClr val="9DBBE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51-70   |  Appendix (71-77) optional</a:t>
            </a:r>
            <a:endParaRPr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556285" y="393355"/>
            <a:ext cx="3368040" cy="434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Chapter Roadm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ap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544855" y="99390"/>
            <a:ext cx="1066164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OPENING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 72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743200"/>
            <a:ext cx="3657600" cy="4114797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941705" y="2288356"/>
            <a:ext cx="7080250" cy="3208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84000"/>
              </a:lnSpc>
              <a:tabLst/>
            </a:pPr>
            <a:r>
              <a:rPr sz="12900" b="1" kern="0" spc="-16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01</a:t>
            </a:r>
            <a:endParaRPr sz="129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0640" algn="l" rtl="0" eaLnBrk="0">
              <a:lnSpc>
                <a:spcPct val="84000"/>
              </a:lnSpc>
              <a:spcBef>
                <a:spcPts val="1143"/>
              </a:spcBef>
              <a:tabLst/>
            </a:pPr>
            <a:r>
              <a:rPr sz="3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Probability Foundations</a:t>
            </a:r>
            <a:endParaRPr sz="3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Axioms, random</a:t>
            </a:r>
            <a:r>
              <a:rPr sz="1800" i="1" kern="0" spc="1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variables, conditional probability, Bayes, LLN &amp;</a:t>
            </a:r>
            <a:r>
              <a:rPr sz="1800" i="1" kern="0" spc="9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CLT,</a:t>
            </a:r>
            <a:r>
              <a:rPr sz="1800" i="1" kern="0" spc="8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entropy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75519" y="0"/>
            <a:ext cx="2316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80"/>
          <p:cNvSpPr/>
          <p:nvPr/>
        </p:nvSpPr>
        <p:spPr>
          <a:xfrm>
            <a:off x="548961" y="74930"/>
            <a:ext cx="4868545" cy="4569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4000"/>
              </a:lnSpc>
              <a:spcBef>
                <a:spcPts val="708"/>
              </a:spcBef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The Axioms of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Probability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8759" indent="-216534" algn="l" rtl="0" eaLnBrk="0">
              <a:lnSpc>
                <a:spcPct val="116000"/>
              </a:lnSpc>
              <a:spcBef>
                <a:spcPts val="546"/>
              </a:spcBef>
              <a:tabLst/>
            </a:pP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space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Ω: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set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every</a:t>
            </a:r>
            <a:r>
              <a:rPr sz="18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possible          </a:t>
            </a:r>
            <a:r>
              <a:rPr sz="1800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outcome.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225" algn="l" rtl="0" eaLnBrk="0">
              <a:lnSpc>
                <a:spcPct val="88000"/>
              </a:lnSpc>
              <a:spcBef>
                <a:spcPts val="1347"/>
              </a:spcBef>
              <a:tabLst/>
            </a:pP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Event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any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subset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Ω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care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about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8000"/>
              </a:lnSpc>
              <a:spcBef>
                <a:spcPts val="547"/>
              </a:spcBef>
              <a:tabLst/>
            </a:pP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P(A):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assigned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event</a:t>
            </a:r>
            <a:r>
              <a:rPr sz="18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8000"/>
              </a:lnSpc>
              <a:spcBef>
                <a:spcPts val="548"/>
              </a:spcBef>
              <a:tabLst/>
            </a:pP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Kolmogorov</a:t>
            </a:r>
            <a:r>
              <a:rPr sz="1800" b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z="1800" b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three</a:t>
            </a:r>
            <a:r>
              <a:rPr sz="1800" b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axioms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(1933):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9554" algn="l" rtl="0" eaLnBrk="0">
              <a:lnSpc>
                <a:spcPct val="83000"/>
              </a:lnSpc>
              <a:spcBef>
                <a:spcPts val="549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Non-negativ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ity: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P(A) ≥</a:t>
            </a:r>
            <a:r>
              <a:rPr sz="18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9554" algn="l" rtl="0" eaLnBrk="0">
              <a:lnSpc>
                <a:spcPct val="83000"/>
              </a:lnSpc>
              <a:spcBef>
                <a:spcPts val="1735"/>
              </a:spcBef>
              <a:tabLst/>
            </a:pP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Normalization:</a:t>
            </a:r>
            <a:r>
              <a:rPr sz="1800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(Ω)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9554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Countable additivity: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joint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events</a:t>
            </a:r>
            <a:r>
              <a:rPr sz="18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add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6215553" y="3649762"/>
            <a:ext cx="5354908" cy="2349192"/>
            <a:chOff x="0" y="0"/>
            <a:chExt cx="5354908" cy="2349192"/>
          </a:xfrm>
        </p:grpSpPr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343742" y="50255"/>
              <a:ext cx="5011165" cy="2063750"/>
            </a:xfrm>
            <a:prstGeom prst="rect">
              <a:avLst/>
            </a:prstGeom>
          </p:spPr>
        </p:pic>
        <p:sp>
          <p:nvSpPr>
            <p:cNvPr id="84" name="textbox 84"/>
            <p:cNvSpPr/>
            <p:nvPr/>
          </p:nvSpPr>
          <p:spPr>
            <a:xfrm>
              <a:off x="181737" y="1995271"/>
              <a:ext cx="4813934" cy="3670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3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86" name="textbox 86"/>
            <p:cNvSpPr/>
            <p:nvPr/>
          </p:nvSpPr>
          <p:spPr>
            <a:xfrm>
              <a:off x="656094" y="525050"/>
              <a:ext cx="4429759" cy="1574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26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9000"/>
                </a:lnSpc>
                <a:tabLst/>
              </a:pP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0.17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0.17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0.17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0.17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0.17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0.17</a:t>
              </a:r>
              <a:endParaRPr sz="11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88" name="textbox 88"/>
            <p:cNvSpPr/>
            <p:nvPr/>
          </p:nvSpPr>
          <p:spPr>
            <a:xfrm>
              <a:off x="-12700" y="-12700"/>
              <a:ext cx="291465" cy="17633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38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0.25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331"/>
                </a:spcBef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335"/>
                </a:spcBef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0.15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334"/>
                </a:spcBef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0.05</a:t>
              </a:r>
              <a:endParaRPr sz="11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0" name="textbox 90"/>
          <p:cNvSpPr/>
          <p:nvPr/>
        </p:nvSpPr>
        <p:spPr>
          <a:xfrm>
            <a:off x="6126479" y="1234440"/>
            <a:ext cx="5577840" cy="1828800"/>
          </a:xfrm>
          <a:prstGeom prst="rect">
            <a:avLst/>
          </a:prstGeom>
          <a:solidFill>
            <a:srgbClr val="EEF2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2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0" algn="l" rtl="0" eaLnBrk="0">
              <a:lnSpc>
                <a:spcPct val="84000"/>
              </a:lnSpc>
              <a:tabLst/>
            </a:pPr>
            <a:r>
              <a:rPr sz="18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Die-Roll Example</a:t>
            </a:r>
            <a:endParaRPr sz="1800" dirty="0">
              <a:latin typeface="Cambria"/>
              <a:ea typeface="Cambria"/>
              <a:cs typeface="Cambria"/>
            </a:endParaRPr>
          </a:p>
          <a:p>
            <a:pPr marL="267334" algn="l" rtl="0" eaLnBrk="0">
              <a:lnSpc>
                <a:spcPct val="84000"/>
              </a:lnSpc>
              <a:spcBef>
                <a:spcPts val="1331"/>
              </a:spcBef>
              <a:tabLst/>
            </a:pPr>
            <a:r>
              <a:rPr sz="2000" kern="0" spc="-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Ω</a:t>
            </a:r>
            <a:r>
              <a:rPr sz="2000" kern="0" spc="18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kern="0" spc="-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= {1,2,3,4,5,6}</a:t>
            </a:r>
            <a:endParaRPr sz="2000" dirty="0">
              <a:latin typeface="Cambria"/>
              <a:ea typeface="Cambria"/>
              <a:cs typeface="Cambria"/>
            </a:endParaRPr>
          </a:p>
          <a:p>
            <a:pPr marL="260350" algn="l" rtl="0" eaLnBrk="0">
              <a:lnSpc>
                <a:spcPct val="84000"/>
              </a:lnSpc>
              <a:spcBef>
                <a:spcPts val="1219"/>
              </a:spcBef>
              <a:tabLst/>
            </a:pPr>
            <a:r>
              <a:rPr sz="2000" kern="0" spc="-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</a:t>
            </a:r>
            <a:r>
              <a:rPr sz="2000" kern="0" spc="1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kern="0" spc="-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=</a:t>
            </a:r>
            <a:r>
              <a:rPr sz="2000" kern="0" spc="10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kern="0" spc="-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“even”</a:t>
            </a:r>
            <a:r>
              <a:rPr sz="2000" kern="0" spc="1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kern="0" spc="-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= {</a:t>
            </a:r>
            <a:r>
              <a:rPr sz="2000" kern="0" spc="-3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2,4,6}</a:t>
            </a:r>
            <a:endParaRPr sz="2000" dirty="0">
              <a:latin typeface="Cambria"/>
              <a:ea typeface="Cambria"/>
              <a:cs typeface="Cambria"/>
            </a:endParaRPr>
          </a:p>
          <a:p>
            <a:pPr marL="274954" algn="l" rtl="0" eaLnBrk="0">
              <a:lnSpc>
                <a:spcPts val="3239"/>
              </a:lnSpc>
              <a:tabLst/>
            </a:pPr>
            <a:r>
              <a:rPr sz="2000" kern="0" spc="-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P(A)</a:t>
            </a:r>
            <a:r>
              <a:rPr sz="2000" kern="0" spc="1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kern="0" spc="-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=</a:t>
            </a:r>
            <a:r>
              <a:rPr sz="2000" kern="0" spc="15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kern="0" spc="-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3/6</a:t>
            </a:r>
            <a:r>
              <a:rPr sz="2000" kern="0" spc="1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kern="0" spc="-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=</a:t>
            </a:r>
            <a:r>
              <a:rPr sz="2000" kern="0" spc="1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kern="0" spc="-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0.5</a:t>
            </a:r>
            <a:endParaRPr sz="2000" dirty="0">
              <a:latin typeface="Cambria"/>
              <a:ea typeface="Cambria"/>
              <a:cs typeface="Cambria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7705106" y="3363600"/>
            <a:ext cx="2434589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Fair-Die Outcome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Probabilities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21600000">
            <a:off x="6297421" y="1588261"/>
            <a:ext cx="5165877" cy="3758438"/>
            <a:chOff x="0" y="0"/>
            <a:chExt cx="5165877" cy="3758438"/>
          </a:xfrm>
        </p:grpSpPr>
        <p:grpSp>
          <p:nvGrpSpPr>
            <p:cNvPr id="10" name="group 10"/>
            <p:cNvGrpSpPr/>
            <p:nvPr/>
          </p:nvGrpSpPr>
          <p:grpSpPr>
            <a:xfrm rot="21600000">
              <a:off x="0" y="0"/>
              <a:ext cx="4140200" cy="2951480"/>
              <a:chOff x="0" y="0"/>
              <a:chExt cx="4140200" cy="2951480"/>
            </a:xfrm>
          </p:grpSpPr>
          <p:sp>
            <p:nvSpPr>
              <p:cNvPr id="94" name="path 94"/>
              <p:cNvSpPr/>
              <p:nvPr/>
            </p:nvSpPr>
            <p:spPr>
              <a:xfrm>
                <a:off x="12700" y="12700"/>
                <a:ext cx="2926080" cy="2926080"/>
              </a:xfrm>
              <a:custGeom>
                <a:avLst/>
                <a:gdLst/>
                <a:ahLst/>
                <a:cxnLst/>
                <a:rect l="0" t="0" r="0" b="0"/>
                <a:pathLst>
                  <a:path w="4608" h="4608">
                    <a:moveTo>
                      <a:pt x="0" y="2303"/>
                    </a:moveTo>
                    <a:cubicBezTo>
                      <a:pt x="0" y="1031"/>
                      <a:pt x="1031" y="0"/>
                      <a:pt x="2304" y="0"/>
                    </a:cubicBezTo>
                    <a:cubicBezTo>
                      <a:pt x="3576" y="0"/>
                      <a:pt x="4608" y="1031"/>
                      <a:pt x="4608" y="2303"/>
                    </a:cubicBezTo>
                    <a:cubicBezTo>
                      <a:pt x="4608" y="3576"/>
                      <a:pt x="3576" y="4608"/>
                      <a:pt x="2304" y="4608"/>
                    </a:cubicBezTo>
                    <a:cubicBezTo>
                      <a:pt x="1031" y="4608"/>
                      <a:pt x="0" y="3576"/>
                      <a:pt x="0" y="2303"/>
                    </a:cubicBezTo>
                  </a:path>
                </a:pathLst>
              </a:custGeom>
              <a:solidFill>
                <a:srgbClr val="1E2A5E">
                  <a:alpha val="54901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path 96"/>
              <p:cNvSpPr/>
              <p:nvPr/>
            </p:nvSpPr>
            <p:spPr>
              <a:xfrm>
                <a:off x="0" y="0"/>
                <a:ext cx="2951480" cy="2951480"/>
              </a:xfrm>
              <a:custGeom>
                <a:avLst/>
                <a:gdLst/>
                <a:ahLst/>
                <a:cxnLst/>
                <a:rect l="0" t="0" r="0" b="0"/>
                <a:pathLst>
                  <a:path w="4648" h="4648">
                    <a:moveTo>
                      <a:pt x="20" y="2323"/>
                    </a:moveTo>
                    <a:cubicBezTo>
                      <a:pt x="20" y="1051"/>
                      <a:pt x="1051" y="20"/>
                      <a:pt x="2324" y="20"/>
                    </a:cubicBezTo>
                    <a:cubicBezTo>
                      <a:pt x="3596" y="20"/>
                      <a:pt x="4628" y="1051"/>
                      <a:pt x="4628" y="2323"/>
                    </a:cubicBezTo>
                    <a:cubicBezTo>
                      <a:pt x="4628" y="3596"/>
                      <a:pt x="3596" y="4628"/>
                      <a:pt x="2324" y="4628"/>
                    </a:cubicBezTo>
                    <a:cubicBezTo>
                      <a:pt x="1051" y="4628"/>
                      <a:pt x="20" y="3596"/>
                      <a:pt x="20" y="2323"/>
                    </a:cubicBezTo>
                  </a:path>
                </a:pathLst>
              </a:custGeom>
              <a:noFill/>
              <a:ln w="254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path 98"/>
              <p:cNvSpPr/>
              <p:nvPr/>
            </p:nvSpPr>
            <p:spPr>
              <a:xfrm>
                <a:off x="1201420" y="12700"/>
                <a:ext cx="2926079" cy="2926080"/>
              </a:xfrm>
              <a:custGeom>
                <a:avLst/>
                <a:gdLst/>
                <a:ahLst/>
                <a:cxnLst/>
                <a:rect l="0" t="0" r="0" b="0"/>
                <a:pathLst>
                  <a:path w="4607" h="4608">
                    <a:moveTo>
                      <a:pt x="0" y="2303"/>
                    </a:moveTo>
                    <a:cubicBezTo>
                      <a:pt x="0" y="1031"/>
                      <a:pt x="1031" y="0"/>
                      <a:pt x="2303" y="0"/>
                    </a:cubicBezTo>
                    <a:cubicBezTo>
                      <a:pt x="3576" y="0"/>
                      <a:pt x="4607" y="1031"/>
                      <a:pt x="4607" y="2303"/>
                    </a:cubicBezTo>
                    <a:cubicBezTo>
                      <a:pt x="4607" y="3576"/>
                      <a:pt x="3576" y="4608"/>
                      <a:pt x="2303" y="4608"/>
                    </a:cubicBezTo>
                    <a:cubicBezTo>
                      <a:pt x="1031" y="4608"/>
                      <a:pt x="0" y="3576"/>
                      <a:pt x="0" y="2303"/>
                    </a:cubicBezTo>
                  </a:path>
                </a:pathLst>
              </a:custGeom>
              <a:solidFill>
                <a:srgbClr val="E8A33D">
                  <a:alpha val="54901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path 100"/>
              <p:cNvSpPr/>
              <p:nvPr/>
            </p:nvSpPr>
            <p:spPr>
              <a:xfrm>
                <a:off x="1188720" y="0"/>
                <a:ext cx="2951479" cy="2951480"/>
              </a:xfrm>
              <a:custGeom>
                <a:avLst/>
                <a:gdLst/>
                <a:ahLst/>
                <a:cxnLst/>
                <a:rect l="0" t="0" r="0" b="0"/>
                <a:pathLst>
                  <a:path w="4647" h="4648">
                    <a:moveTo>
                      <a:pt x="20" y="2323"/>
                    </a:moveTo>
                    <a:cubicBezTo>
                      <a:pt x="20" y="1051"/>
                      <a:pt x="1051" y="20"/>
                      <a:pt x="2323" y="20"/>
                    </a:cubicBezTo>
                    <a:cubicBezTo>
                      <a:pt x="3596" y="20"/>
                      <a:pt x="4627" y="1051"/>
                      <a:pt x="4627" y="2323"/>
                    </a:cubicBezTo>
                    <a:cubicBezTo>
                      <a:pt x="4627" y="3596"/>
                      <a:pt x="3596" y="4628"/>
                      <a:pt x="2323" y="4628"/>
                    </a:cubicBezTo>
                    <a:cubicBezTo>
                      <a:pt x="1051" y="4628"/>
                      <a:pt x="20" y="3596"/>
                      <a:pt x="20" y="2323"/>
                    </a:cubicBezTo>
                  </a:path>
                </a:pathLst>
              </a:custGeom>
              <a:noFill/>
              <a:ln w="254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2" name="textbox 102"/>
            <p:cNvSpPr/>
            <p:nvPr/>
          </p:nvSpPr>
          <p:spPr>
            <a:xfrm>
              <a:off x="75793" y="3242817"/>
              <a:ext cx="5102859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i="1" kern="0" spc="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Overlap region A∩B is double-counted i</a:t>
              </a:r>
              <a:r>
                <a:rPr sz="1800" i="1" kern="0" spc="-1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 we simply add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2030095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i="1" kern="0" spc="-2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P(A)</a:t>
              </a:r>
              <a:r>
                <a:rPr sz="1800" i="1" kern="0" spc="9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i="1" kern="0" spc="-2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+</a:t>
              </a:r>
              <a:r>
                <a:rPr sz="1800" i="1" kern="0" spc="6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i="1" kern="0" spc="-2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P(B)</a:t>
              </a:r>
              <a:r>
                <a:rPr sz="1800" i="1" kern="0" spc="-3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.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4" name="textbox 104"/>
            <p:cNvSpPr/>
            <p:nvPr/>
          </p:nvSpPr>
          <p:spPr>
            <a:xfrm>
              <a:off x="91110" y="1367434"/>
              <a:ext cx="3957320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3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2100" b="1" kern="0" spc="0" dirty="0">
                  <a:solidFill>
                    <a:srgbClr val="1E2A5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A</a:t>
              </a:r>
              <a:r>
                <a:rPr sz="2100" b="1" kern="0" spc="20" dirty="0">
                  <a:solidFill>
                    <a:srgbClr val="1E2A5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        </a:t>
              </a:r>
              <a:r>
                <a:rPr sz="2100" b="1" kern="0" spc="10" dirty="0">
                  <a:solidFill>
                    <a:srgbClr val="1E2A5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                </a:t>
              </a:r>
              <a:r>
                <a:rPr sz="1800" b="1" kern="0" spc="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</a:t>
              </a:r>
              <a:r>
                <a:rPr sz="1800" b="1" kern="0" spc="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∩</a:t>
              </a:r>
              <a:r>
                <a:rPr sz="1800" b="1" kern="0" spc="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</a:t>
              </a:r>
              <a:r>
                <a:rPr sz="1800" b="1" kern="0" spc="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</a:t>
              </a:r>
              <a:r>
                <a:rPr sz="1800" b="1" kern="0" spc="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    </a:t>
              </a:r>
              <a:r>
                <a:rPr sz="2100" b="1" kern="0" spc="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B</a:t>
              </a:r>
              <a:endParaRPr sz="2100" dirty="0">
                <a:latin typeface="Cambria"/>
                <a:ea typeface="Cambria"/>
                <a:cs typeface="Cambria"/>
              </a:endParaRPr>
            </a:p>
          </p:txBody>
        </p:sp>
      </p:grpSp>
      <p:sp>
        <p:nvSpPr>
          <p:cNvPr id="106" name="textbox 106"/>
          <p:cNvSpPr/>
          <p:nvPr/>
        </p:nvSpPr>
        <p:spPr>
          <a:xfrm>
            <a:off x="559863" y="1323720"/>
            <a:ext cx="5045709" cy="3405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11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1615" indent="-208915" algn="l" rtl="0" eaLnBrk="0">
              <a:lnSpc>
                <a:spcPct val="87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Complement Ac: everything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Ω that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606"/>
              </a:spcBef>
              <a:tabLst/>
            </a:pPr>
            <a:r>
              <a:rPr sz="20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20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P(Ac)</a:t>
            </a:r>
            <a:r>
              <a:rPr sz="20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b="1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r>
              <a:rPr sz="20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20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9000"/>
              </a:lnSpc>
              <a:spcBef>
                <a:spcPts val="1662"/>
              </a:spcBef>
              <a:tabLst/>
            </a:pPr>
            <a:r>
              <a:rPr sz="20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Union A </a:t>
            </a:r>
            <a:r>
              <a:rPr sz="2000" kern="0" spc="-40" dirty="0">
                <a:solidFill>
                  <a:srgbClr val="33394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∪</a:t>
            </a:r>
            <a:r>
              <a:rPr sz="2000" kern="0" spc="-420" dirty="0">
                <a:solidFill>
                  <a:srgbClr val="33394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</a:t>
            </a:r>
            <a:r>
              <a:rPr sz="20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A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(or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both)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happens.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4000"/>
              </a:lnSpc>
              <a:spcBef>
                <a:spcPts val="1771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Intersection A∩B: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both A and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happen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9000"/>
              </a:lnSpc>
              <a:spcBef>
                <a:spcPts val="1664"/>
              </a:spcBef>
              <a:tabLst/>
            </a:pPr>
            <a:r>
              <a:rPr sz="20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∪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B) =</a:t>
            </a:r>
            <a:r>
              <a:rPr sz="20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P(A)</a:t>
            </a:r>
            <a:r>
              <a:rPr sz="20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2000" b="1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P(B)</a:t>
            </a:r>
            <a:r>
              <a:rPr sz="20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20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P(A∩B)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27965" indent="-215265" algn="l" rtl="0" eaLnBrk="0">
              <a:lnSpc>
                <a:spcPct val="111000"/>
              </a:lnSpc>
              <a:spcBef>
                <a:spcPts val="1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 subtract the overlap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because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000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was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counted twice.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552623" y="393355"/>
            <a:ext cx="6479540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Set Operations &amp; Probability</a:t>
            </a:r>
            <a:r>
              <a:rPr sz="3200" b="1" kern="0" spc="16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Rules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2"/>
          <p:cNvSpPr/>
          <p:nvPr/>
        </p:nvSpPr>
        <p:spPr>
          <a:xfrm>
            <a:off x="558574" y="1323720"/>
            <a:ext cx="5045075" cy="406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7490" indent="-223520" algn="l" rtl="0" eaLnBrk="0">
              <a:lnSpc>
                <a:spcPct val="97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random outcome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the sam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 thing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random variab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3970" algn="l" rtl="0" eaLnBrk="0">
              <a:lnSpc>
                <a:spcPct val="84000"/>
              </a:lnSpc>
              <a:spcBef>
                <a:spcPts val="1779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random variable X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maps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outcomes to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7490" algn="l" rtl="0" eaLnBrk="0">
              <a:lnSpc>
                <a:spcPct val="84000"/>
              </a:lnSpc>
              <a:spcBef>
                <a:spcPts val="576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numbers, e.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g. X = the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shown</a:t>
            </a:r>
            <a:r>
              <a:rPr sz="20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0504" indent="-216534" algn="l" rtl="0" eaLnBrk="0">
              <a:lnSpc>
                <a:spcPct val="111000"/>
              </a:lnSpc>
              <a:spcBef>
                <a:spcPts val="1520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Uppercase X denotes the variable;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wercase</a:t>
            </a:r>
            <a:r>
              <a:rPr sz="2000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denotes a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realized va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lue.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8000"/>
              </a:lnSpc>
              <a:spcBef>
                <a:spcPts val="1307"/>
              </a:spcBef>
              <a:tabLst/>
            </a:pP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Discrete</a:t>
            </a:r>
            <a:r>
              <a:rPr sz="1800" b="1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r>
              <a:rPr sz="1800" b="1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finite</a:t>
            </a:r>
            <a:r>
              <a:rPr sz="1800" b="1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/</a:t>
            </a:r>
            <a:r>
              <a:rPr sz="1800" b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countable</a:t>
            </a:r>
            <a:r>
              <a:rPr sz="1800" b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values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0029" algn="l" rtl="0" eaLnBrk="0">
              <a:lnSpc>
                <a:spcPct val="83000"/>
              </a:lnSpc>
              <a:spcBef>
                <a:spcPts val="547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e.g.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clicks,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error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count,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class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label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50"/>
              </a:spcBef>
              <a:tabLst/>
            </a:pPr>
            <a:r>
              <a:rPr sz="1800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Continuous X: values fill an</a:t>
            </a:r>
            <a:r>
              <a:rPr sz="1800" b="1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interval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0029" algn="l" rtl="0" eaLnBrk="0">
              <a:lnSpc>
                <a:spcPct val="83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e.g.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height,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response time, temper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ature,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latency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6126479" y="3520440"/>
            <a:ext cx="5577839" cy="2103119"/>
            <a:chOff x="0" y="0"/>
            <a:chExt cx="5577839" cy="2103119"/>
          </a:xfrm>
        </p:grpSpPr>
        <p:pic>
          <p:nvPicPr>
            <p:cNvPr id="114" name="picture 1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577839" cy="2103119"/>
            </a:xfrm>
            <a:prstGeom prst="rect">
              <a:avLst/>
            </a:prstGeom>
          </p:spPr>
        </p:pic>
        <p:sp>
          <p:nvSpPr>
            <p:cNvPr id="116" name="textbox 116"/>
            <p:cNvSpPr/>
            <p:nvPr/>
          </p:nvSpPr>
          <p:spPr>
            <a:xfrm>
              <a:off x="273939" y="163906"/>
              <a:ext cx="1214755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Continuous</a:t>
              </a:r>
              <a:endParaRPr sz="1800" dirty="0">
                <a:latin typeface="Cambria"/>
                <a:ea typeface="Cambria"/>
                <a:cs typeface="Cambria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6126479" y="1417320"/>
            <a:ext cx="5577839" cy="1920239"/>
            <a:chOff x="0" y="0"/>
            <a:chExt cx="5577839" cy="1920239"/>
          </a:xfrm>
        </p:grpSpPr>
        <p:pic>
          <p:nvPicPr>
            <p:cNvPr id="118" name="picture 1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577839" cy="1920239"/>
            </a:xfrm>
            <a:prstGeom prst="rect">
              <a:avLst/>
            </a:prstGeom>
          </p:spPr>
        </p:pic>
        <p:sp>
          <p:nvSpPr>
            <p:cNvPr id="120" name="textbox 120"/>
            <p:cNvSpPr/>
            <p:nvPr/>
          </p:nvSpPr>
          <p:spPr>
            <a:xfrm>
              <a:off x="698194" y="1602300"/>
              <a:ext cx="4199890" cy="1574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25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9000"/>
                </a:lnSpc>
                <a:tabLst/>
              </a:pP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</a:t>
              </a: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</a:t>
              </a: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</a:t>
              </a: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</a:t>
              </a: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11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</a:t>
              </a: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</a:t>
              </a: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endParaRPr sz="11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22" name="textbox 122"/>
            <p:cNvSpPr/>
            <p:nvPr/>
          </p:nvSpPr>
          <p:spPr>
            <a:xfrm>
              <a:off x="273267" y="163033"/>
              <a:ext cx="891539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Discrete</a:t>
              </a:r>
              <a:endParaRPr sz="1800" dirty="0">
                <a:latin typeface="Cambria"/>
                <a:ea typeface="Cambria"/>
                <a:cs typeface="Cambria"/>
              </a:endParaRPr>
            </a:p>
          </p:txBody>
        </p:sp>
      </p:grpSp>
      <p:sp>
        <p:nvSpPr>
          <p:cNvPr id="124" name="textbox 124"/>
          <p:cNvSpPr/>
          <p:nvPr/>
        </p:nvSpPr>
        <p:spPr>
          <a:xfrm>
            <a:off x="555064" y="425501"/>
            <a:ext cx="3415665" cy="374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3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Random Varia</a:t>
            </a:r>
            <a:r>
              <a:rPr sz="3200" b="1" kern="0" spc="-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bles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8"/>
          <p:cNvSpPr/>
          <p:nvPr/>
        </p:nvSpPr>
        <p:spPr>
          <a:xfrm>
            <a:off x="558574" y="1323720"/>
            <a:ext cx="5055234" cy="3676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4790" indent="-210820" algn="l" rtl="0" eaLnBrk="0">
              <a:lnSpc>
                <a:spcPct val="97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Discrete X: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mass function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x)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gives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 directly.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6854" indent="-222884" algn="l" rtl="0" eaLnBrk="0">
              <a:lnSpc>
                <a:spcPct val="104000"/>
              </a:lnSpc>
              <a:spcBef>
                <a:spcPts val="151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Continuous X: density fX(x);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 = AREA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under the cur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ve,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the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height.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3970" algn="l" rtl="0" eaLnBrk="0">
              <a:lnSpc>
                <a:spcPct val="84000"/>
              </a:lnSpc>
              <a:spcBef>
                <a:spcPts val="1653"/>
              </a:spcBef>
              <a:tabLst/>
            </a:pPr>
            <a:r>
              <a:rPr sz="2000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20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co</a:t>
            </a:r>
            <a:r>
              <a:rPr sz="2000" b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ntinuous X,</a:t>
            </a:r>
            <a:r>
              <a:rPr sz="2000" b="1" kern="0" spc="1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 = x)</a:t>
            </a:r>
            <a:r>
              <a:rPr sz="2000" b="1" kern="0" spc="8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b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r>
              <a:rPr sz="2000" b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exactly!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3970" algn="l" rtl="0" eaLnBrk="0">
              <a:lnSpc>
                <a:spcPct val="84000"/>
              </a:lnSpc>
              <a:spcBef>
                <a:spcPts val="177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Probability only accu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mulates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interval: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90000"/>
              </a:lnSpc>
              <a:spcBef>
                <a:spcPts val="1725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≤ X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≤</a:t>
            </a:r>
            <a:r>
              <a:rPr sz="1800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b)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∫ₐ</a:t>
            </a:r>
            <a:r>
              <a:rPr sz="1800" kern="0" spc="-3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ᵇ</a:t>
            </a:r>
            <a:r>
              <a:rPr sz="1800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fX(x)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dx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7490" indent="-223520" algn="l" rtl="0" eaLnBrk="0">
              <a:lnSpc>
                <a:spcPct val="104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CDF: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FX(x) =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 ≤</a:t>
            </a:r>
            <a:r>
              <a:rPr sz="2000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x), the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accumul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ated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2000" kern="0" spc="2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 to x.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6260338" y="1737360"/>
            <a:ext cx="5332115" cy="1917318"/>
            <a:chOff x="0" y="0"/>
            <a:chExt cx="5332115" cy="1917318"/>
          </a:xfrm>
        </p:grpSpPr>
        <p:pic>
          <p:nvPicPr>
            <p:cNvPr id="130" name="picture 1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310123" cy="1626107"/>
            </a:xfrm>
            <a:prstGeom prst="rect">
              <a:avLst/>
            </a:prstGeom>
          </p:spPr>
        </p:pic>
        <p:sp>
          <p:nvSpPr>
            <p:cNvPr id="132" name="textbox 132"/>
            <p:cNvSpPr/>
            <p:nvPr/>
          </p:nvSpPr>
          <p:spPr>
            <a:xfrm rot="16200000">
              <a:off x="1157023" y="484935"/>
              <a:ext cx="240029" cy="25768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-3.0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34" name="textbox 134"/>
            <p:cNvSpPr/>
            <p:nvPr/>
          </p:nvSpPr>
          <p:spPr>
            <a:xfrm rot="16200000">
              <a:off x="3870487" y="376583"/>
              <a:ext cx="198754" cy="2750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3.0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36" name="textbox 136"/>
            <p:cNvSpPr/>
            <p:nvPr/>
          </p:nvSpPr>
          <p:spPr>
            <a:xfrm>
              <a:off x="3093973" y="1401698"/>
              <a:ext cx="136525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1905" algn="l" rtl="0" eaLnBrk="0">
                <a:lnSpc>
                  <a:spcPct val="93000"/>
                </a:lnSpc>
                <a:tabLst/>
              </a:pPr>
              <a:r>
                <a:rPr sz="1800" i="1" kern="0" spc="-9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</a:t>
              </a:r>
              <a:r>
                <a:rPr sz="1800" i="1" kern="0" spc="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i="1" kern="0" spc="-7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38" name="textbox 138"/>
          <p:cNvSpPr/>
          <p:nvPr/>
        </p:nvSpPr>
        <p:spPr>
          <a:xfrm>
            <a:off x="6126479" y="3977640"/>
            <a:ext cx="5577840" cy="1371600"/>
          </a:xfrm>
          <a:prstGeom prst="rect">
            <a:avLst/>
          </a:prstGeom>
          <a:solidFill>
            <a:srgbClr val="EEF2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4320" indent="13334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Classic misconcep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tion:</a:t>
            </a:r>
            <a:r>
              <a:rPr sz="1800" i="1" kern="0" spc="10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tall density</a:t>
            </a:r>
            <a:r>
              <a:rPr sz="1800" i="1" kern="0" spc="10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value does</a:t>
            </a:r>
            <a:r>
              <a:rPr sz="1800" i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 high probability at that exact p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oint --</a:t>
            </a:r>
            <a:r>
              <a:rPr sz="1800" i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single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point</a:t>
            </a:r>
            <a:r>
              <a:rPr sz="1800" i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always</a:t>
            </a:r>
            <a:r>
              <a:rPr sz="1800" i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has</a:t>
            </a:r>
            <a:r>
              <a:rPr sz="1800" i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1800" i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zero</a:t>
            </a:r>
            <a:r>
              <a:rPr sz="1800" i="1" kern="0" spc="-18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800" i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continuous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8925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variables.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555064" y="393355"/>
            <a:ext cx="3401695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5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200" b="1" kern="0" spc="-8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PMF,</a:t>
            </a:r>
            <a:r>
              <a:rPr sz="3200" b="1" kern="0" spc="16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8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PDF, and</a:t>
            </a:r>
            <a:r>
              <a:rPr sz="3200" b="1" kern="0" spc="16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8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CDF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7015353" y="1442752"/>
            <a:ext cx="380110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Area =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Probability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(shaded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region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betw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een a and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b)</a:t>
            </a:r>
            <a:endParaRPr sz="12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46"/>
          <p:cNvSpPr/>
          <p:nvPr/>
        </p:nvSpPr>
        <p:spPr>
          <a:xfrm>
            <a:off x="555064" y="393355"/>
            <a:ext cx="5097145" cy="4912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Expectation &amp; Variance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7329" indent="-210184" algn="l" rtl="0" eaLnBrk="0">
              <a:lnSpc>
                <a:spcPct val="96000"/>
              </a:lnSpc>
              <a:spcBef>
                <a:spcPts val="604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Expectation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E[X]: the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ng-run average value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6220" indent="-221615" algn="l" rtl="0" eaLnBrk="0">
              <a:lnSpc>
                <a:spcPct val="104000"/>
              </a:lnSpc>
              <a:spcBef>
                <a:spcPts val="548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E[X] = Σₓ x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P(X=x)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(discrete)   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E[X] = ∫ x</a:t>
            </a:r>
            <a:r>
              <a:rPr sz="1800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fX(x)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dx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(continuous)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0665" indent="-223520" algn="l" rtl="0" eaLnBrk="0">
              <a:lnSpc>
                <a:spcPct val="111000"/>
              </a:lnSpc>
              <a:spcBef>
                <a:spcPts val="1382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Variance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Var(X):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how spread out X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around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its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8000"/>
              </a:lnSpc>
              <a:spcBef>
                <a:spcPts val="1307"/>
              </a:spcBef>
              <a:tabLst/>
            </a:pPr>
            <a:r>
              <a:rPr sz="1800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</a:t>
            </a:r>
            <a:r>
              <a:rPr sz="1800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(X)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(X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kern="0" spc="1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E[X])²]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40665" indent="-223520" algn="l" rtl="0" eaLnBrk="0">
              <a:lnSpc>
                <a:spcPct val="111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Standard devi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ation = √Var(X);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larger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means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more fluctuation.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55829" y="2154745"/>
            <a:ext cx="5319140" cy="1775840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6435318" y="4315714"/>
            <a:ext cx="4970145" cy="1043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33475" algn="l" rtl="0" eaLnBrk="0">
              <a:lnSpc>
                <a:spcPct val="90000"/>
              </a:lnSpc>
              <a:tabLst>
                <a:tab pos="116522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	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 =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low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spread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spread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12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50"/>
              </a:spcBef>
              <a:tabLst/>
            </a:pP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Both curves are centered at μ =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0,</a:t>
            </a:r>
            <a:r>
              <a:rPr sz="18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but</a:t>
            </a:r>
            <a:r>
              <a:rPr sz="18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1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wider</a:t>
            </a:r>
            <a:r>
              <a:rPr sz="18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351154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represents a more uncertain</a:t>
            </a:r>
            <a:r>
              <a:rPr sz="1800" i="1" kern="0" spc="-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1800" i="1" kern="0" spc="-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noisier</a:t>
            </a:r>
            <a:r>
              <a:rPr sz="18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ble.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35631" y="4359973"/>
            <a:ext cx="243840" cy="85725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25106" y="4359973"/>
            <a:ext cx="243840" cy="85725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58" name="textbox 158"/>
          <p:cNvSpPr/>
          <p:nvPr/>
        </p:nvSpPr>
        <p:spPr>
          <a:xfrm rot="16200000">
            <a:off x="7465929" y="2725269"/>
            <a:ext cx="240029" cy="269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-4.0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-3.7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-3.4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-3.1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-2.8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-2.5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-2.2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-1.9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-1.6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-1.3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-1.0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-0.7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-0.4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-0.1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7589329" y="1631441"/>
            <a:ext cx="2658110" cy="204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Same</a:t>
            </a:r>
            <a:r>
              <a:rPr sz="15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Mean,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Different Variance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162" name="textbox 162"/>
          <p:cNvSpPr/>
          <p:nvPr/>
        </p:nvSpPr>
        <p:spPr>
          <a:xfrm rot="16200000">
            <a:off x="10136222" y="2802093"/>
            <a:ext cx="198754" cy="2499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</a:t>
            </a:r>
            <a:endParaRPr sz="9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1.1</a:t>
            </a:r>
            <a:endParaRPr sz="9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1.4</a:t>
            </a:r>
            <a:endParaRPr sz="9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1.7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3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2.9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spcBef>
                <a:spcPts val="606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3.5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3.8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87776" y="2178241"/>
            <a:ext cx="4702091" cy="3488752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557428" y="1323720"/>
            <a:ext cx="5107940" cy="4236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884" indent="-208279" algn="l" rtl="0" eaLnBrk="0">
              <a:lnSpc>
                <a:spcPct val="97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and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 are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knowing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occurred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tells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thing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new about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3000"/>
              </a:lnSpc>
              <a:spcBef>
                <a:spcPts val="1823"/>
              </a:spcBef>
              <a:tabLst/>
            </a:pPr>
            <a:r>
              <a:rPr sz="21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100" kern="0" spc="4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P(A∩B) =</a:t>
            </a:r>
            <a:r>
              <a:rPr sz="21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P(A)</a:t>
            </a:r>
            <a:r>
              <a:rPr sz="21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×</a:t>
            </a:r>
            <a:r>
              <a:rPr sz="21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P(B</a:t>
            </a:r>
            <a:r>
              <a:rPr sz="21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2100" dirty="0">
              <a:latin typeface="Calibri"/>
              <a:ea typeface="Calibri"/>
              <a:cs typeface="Calibri"/>
            </a:endParaRPr>
          </a:p>
          <a:p>
            <a:pPr marL="240665" indent="-226059" algn="l" rtl="0" eaLnBrk="0">
              <a:lnSpc>
                <a:spcPct val="104000"/>
              </a:lnSpc>
              <a:spcBef>
                <a:spcPts val="1530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For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random variables:</a:t>
            </a:r>
            <a:r>
              <a:rPr sz="2000" kern="0" spc="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P(X=x, Y=y) =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P(X=x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P(Y=y) for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</a:t>
            </a:r>
            <a:r>
              <a:rPr sz="2000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x, y.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4000"/>
              </a:lnSpc>
              <a:spcBef>
                <a:spcPts val="1653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Independence is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strong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MODELING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1140" algn="l" rtl="0" eaLnBrk="0">
              <a:lnSpc>
                <a:spcPts val="2591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assumption,</a:t>
            </a:r>
            <a:r>
              <a:rPr sz="2000" kern="0" spc="2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automatically true.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9234" indent="-216534" algn="l" rtl="0" eaLnBrk="0">
              <a:lnSpc>
                <a:spcPct val="104000"/>
              </a:lnSpc>
              <a:spcBef>
                <a:spcPts val="1499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AI connection:</a:t>
            </a:r>
            <a:r>
              <a:rPr sz="1800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Naive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 assumes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features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conditional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ly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 given the class.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34950" indent="-222884" algn="l" rtl="0" eaLnBrk="0">
              <a:lnSpc>
                <a:spcPct val="104000"/>
              </a:lnSpc>
              <a:spcBef>
                <a:spcPts val="3"/>
              </a:spcBef>
              <a:tabLst/>
            </a:pPr>
            <a:r>
              <a:rPr sz="1800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Real-world</a:t>
            </a:r>
            <a:r>
              <a:rPr sz="1800" i="1" kern="0" spc="1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variables are</a:t>
            </a:r>
            <a:r>
              <a:rPr sz="1800" i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often</a:t>
            </a:r>
            <a:r>
              <a:rPr sz="1800" i="1" kern="0" spc="8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dependent --</a:t>
            </a:r>
            <a:r>
              <a:rPr sz="1800" i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e.g.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words in a sentence, pixels in</a:t>
            </a:r>
            <a:r>
              <a:rPr sz="1800" i="1" kern="0" spc="14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</a:t>
            </a:r>
            <a:r>
              <a:rPr sz="1800" i="1" kern="0" spc="5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image.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147788" y="5653760"/>
            <a:ext cx="2997200" cy="803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Naive Bayes ASSUMES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these are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369"/>
              </a:spcBef>
              <a:tabLst/>
            </a:pP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 given the</a:t>
            </a:r>
            <a:r>
              <a:rPr sz="1800" i="1" kern="0" spc="1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class</a:t>
            </a:r>
            <a:r>
              <a:rPr sz="1800" i="1" kern="0" spc="8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1800" i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60984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reality they o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ften</a:t>
            </a:r>
            <a:r>
              <a:rPr sz="1800" i="1" kern="0" spc="5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co-occur.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6309359" y="4617720"/>
            <a:ext cx="2103754" cy="1005839"/>
          </a:xfrm>
          <a:prstGeom prst="roundRect">
            <a:avLst>
              <a:gd name="adj" fmla="val 7531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18794" indent="-92075" algn="l" rtl="0" eaLnBrk="0">
              <a:lnSpc>
                <a:spcPct val="93000"/>
              </a:lnSpc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Word:</a:t>
            </a:r>
            <a:r>
              <a:rPr sz="1800" b="1" kern="0" spc="1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“free”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an</a:t>
            </a:r>
            <a:r>
              <a:rPr sz="1800" b="1" kern="0" spc="9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email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8869680" y="4617720"/>
            <a:ext cx="2103120" cy="1005839"/>
          </a:xfrm>
          <a:prstGeom prst="roundRect">
            <a:avLst>
              <a:gd name="adj" fmla="val 7531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5445" indent="56514" algn="l" rtl="0" eaLnBrk="0">
              <a:lnSpc>
                <a:spcPct val="93000"/>
              </a:lnSpc>
              <a:tabLst/>
            </a:pP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Word</a:t>
            </a:r>
            <a:r>
              <a:rPr sz="1800" b="1" kern="0" spc="5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“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win</a:t>
            </a:r>
            <a:r>
              <a:rPr sz="1800" b="1" kern="0" spc="5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”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same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email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6309359" y="2148840"/>
            <a:ext cx="1828800" cy="1005839"/>
          </a:xfrm>
          <a:prstGeom prst="roundRect">
            <a:avLst>
              <a:gd name="adj" fmla="val 7531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1809" algn="l" rtl="0" eaLnBrk="0">
              <a:lnSpc>
                <a:spcPct val="83000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Coin flip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632459" algn="l" rtl="0" eaLnBrk="0">
              <a:lnSpc>
                <a:spcPts val="2571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result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8869680" y="2148840"/>
            <a:ext cx="1828800" cy="1005839"/>
          </a:xfrm>
          <a:prstGeom prst="roundRect">
            <a:avLst>
              <a:gd name="adj" fmla="val 7531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67690" algn="l" rtl="0" eaLnBrk="0">
              <a:lnSpc>
                <a:spcPct val="83000"/>
              </a:lnSpc>
              <a:tabLst/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Die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roll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634365" algn="l" rtl="0" eaLnBrk="0">
              <a:lnSpc>
                <a:spcPts val="2571"/>
              </a:lnSpc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result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7298689" y="3504819"/>
            <a:ext cx="2418714" cy="802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0075" algn="l" rtl="0" eaLnBrk="0">
              <a:lnSpc>
                <a:spcPct val="83000"/>
              </a:lnSpc>
              <a:tabLst/>
            </a:pPr>
            <a:r>
              <a:rPr sz="1800" i="1" kern="0" spc="-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Independent: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-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knowing</a:t>
            </a:r>
            <a:r>
              <a:rPr sz="1800" i="1" kern="0" spc="10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coin</a:t>
            </a:r>
            <a:r>
              <a:rPr sz="1800" i="1" kern="0" spc="12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</a:t>
            </a:r>
            <a:r>
              <a:rPr sz="1800" i="1" kern="0" spc="-2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ells you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12090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-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nothing about</a:t>
            </a:r>
            <a:r>
              <a:rPr sz="1800" i="1" kern="0" spc="7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7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555064" y="393355"/>
            <a:ext cx="2667635" cy="434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Independence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84"/>
          <p:cNvSpPr/>
          <p:nvPr/>
        </p:nvSpPr>
        <p:spPr>
          <a:xfrm>
            <a:off x="559863" y="1323720"/>
            <a:ext cx="4891404" cy="3928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6220" indent="-223520" algn="l" rtl="0" eaLnBrk="0">
              <a:lnSpc>
                <a:spcPct val="97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Questi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on: given that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happened, what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the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of A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now?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4000"/>
              </a:lnSpc>
              <a:spcBef>
                <a:spcPts val="1779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Intuition: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restrict t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 world to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only</a:t>
            </a:r>
            <a:r>
              <a:rPr sz="20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3045" indent="-5080" algn="l" rtl="0" eaLnBrk="0">
              <a:lnSpc>
                <a:spcPct val="111000"/>
              </a:lnSpc>
              <a:spcBef>
                <a:spcPts val="31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outcomes where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true,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then ask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about A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inside that smaller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world.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3000"/>
              </a:lnSpc>
              <a:spcBef>
                <a:spcPts val="1361"/>
              </a:spcBef>
              <a:tabLst/>
            </a:pPr>
            <a:r>
              <a:rPr sz="21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100" kern="0" spc="4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P(A|B) =</a:t>
            </a:r>
            <a:r>
              <a:rPr sz="2100" b="1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</a:t>
            </a:r>
            <a:r>
              <a:rPr sz="21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A∩B) /</a:t>
            </a:r>
            <a:r>
              <a:rPr sz="21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P(B)      for</a:t>
            </a:r>
            <a:r>
              <a:rPr sz="21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P(B)</a:t>
            </a:r>
            <a:r>
              <a:rPr sz="2100" b="1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&gt;</a:t>
            </a:r>
            <a:r>
              <a:rPr sz="21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2100" dirty="0">
              <a:latin typeface="Calibri"/>
              <a:ea typeface="Calibri"/>
              <a:cs typeface="Calibri"/>
            </a:endParaRPr>
          </a:p>
          <a:p>
            <a:pPr marL="227965" indent="-215265" algn="l" rtl="0" eaLnBrk="0">
              <a:lnSpc>
                <a:spcPct val="104000"/>
              </a:lnSpc>
              <a:spcBef>
                <a:spcPts val="1528"/>
              </a:spcBef>
              <a:tabLst/>
            </a:pP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If A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 are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independent,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P(A|B)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</a:t>
            </a:r>
            <a:r>
              <a:rPr sz="20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conditioning changes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nothing.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3045" indent="-220979" algn="l" rtl="0" eaLnBrk="0">
              <a:lnSpc>
                <a:spcPct val="111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Otherwise, the condition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carries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information about A.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6246622" y="1954021"/>
            <a:ext cx="5349569" cy="3484118"/>
            <a:chOff x="0" y="0"/>
            <a:chExt cx="5349569" cy="3484118"/>
          </a:xfrm>
        </p:grpSpPr>
        <p:grpSp>
          <p:nvGrpSpPr>
            <p:cNvPr id="20" name="group 20"/>
            <p:cNvGrpSpPr/>
            <p:nvPr/>
          </p:nvGrpSpPr>
          <p:grpSpPr>
            <a:xfrm rot="21600000">
              <a:off x="325120" y="0"/>
              <a:ext cx="3774439" cy="2768600"/>
              <a:chOff x="0" y="0"/>
              <a:chExt cx="3774439" cy="2768600"/>
            </a:xfrm>
          </p:grpSpPr>
          <p:sp>
            <p:nvSpPr>
              <p:cNvPr id="186" name="path 186"/>
              <p:cNvSpPr/>
              <p:nvPr/>
            </p:nvSpPr>
            <p:spPr>
              <a:xfrm>
                <a:off x="12700" y="12700"/>
                <a:ext cx="2743200" cy="2743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4320">
                    <a:moveTo>
                      <a:pt x="0" y="2160"/>
                    </a:moveTo>
                    <a:cubicBezTo>
                      <a:pt x="0" y="967"/>
                      <a:pt x="966" y="0"/>
                      <a:pt x="2160" y="0"/>
                    </a:cubicBezTo>
                    <a:cubicBezTo>
                      <a:pt x="3352" y="0"/>
                      <a:pt x="4320" y="967"/>
                      <a:pt x="4320" y="2160"/>
                    </a:cubicBezTo>
                    <a:cubicBezTo>
                      <a:pt x="4320" y="3353"/>
                      <a:pt x="3352" y="4320"/>
                      <a:pt x="2160" y="4320"/>
                    </a:cubicBezTo>
                    <a:cubicBezTo>
                      <a:pt x="966" y="4320"/>
                      <a:pt x="0" y="3353"/>
                      <a:pt x="0" y="2160"/>
                    </a:cubicBezTo>
                  </a:path>
                </a:pathLst>
              </a:custGeom>
              <a:solidFill>
                <a:srgbClr val="1E2A5E">
                  <a:alpha val="45098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path 188"/>
              <p:cNvSpPr/>
              <p:nvPr/>
            </p:nvSpPr>
            <p:spPr>
              <a:xfrm>
                <a:off x="0" y="0"/>
                <a:ext cx="2768600" cy="2768600"/>
              </a:xfrm>
              <a:custGeom>
                <a:avLst/>
                <a:gdLst/>
                <a:ahLst/>
                <a:cxnLst/>
                <a:rect l="0" t="0" r="0" b="0"/>
                <a:pathLst>
                  <a:path w="4360" h="4360">
                    <a:moveTo>
                      <a:pt x="20" y="2180"/>
                    </a:moveTo>
                    <a:cubicBezTo>
                      <a:pt x="20" y="987"/>
                      <a:pt x="986" y="20"/>
                      <a:pt x="2180" y="20"/>
                    </a:cubicBezTo>
                    <a:cubicBezTo>
                      <a:pt x="3372" y="20"/>
                      <a:pt x="4340" y="987"/>
                      <a:pt x="4340" y="2180"/>
                    </a:cubicBezTo>
                    <a:cubicBezTo>
                      <a:pt x="4340" y="3373"/>
                      <a:pt x="3372" y="4340"/>
                      <a:pt x="2180" y="4340"/>
                    </a:cubicBezTo>
                    <a:cubicBezTo>
                      <a:pt x="986" y="4340"/>
                      <a:pt x="20" y="3373"/>
                      <a:pt x="20" y="2180"/>
                    </a:cubicBezTo>
                  </a:path>
                </a:pathLst>
              </a:custGeom>
              <a:noFill/>
              <a:ln w="254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path 190"/>
              <p:cNvSpPr/>
              <p:nvPr/>
            </p:nvSpPr>
            <p:spPr>
              <a:xfrm>
                <a:off x="1018539" y="12700"/>
                <a:ext cx="2743200" cy="2743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4320">
                    <a:moveTo>
                      <a:pt x="0" y="2160"/>
                    </a:moveTo>
                    <a:cubicBezTo>
                      <a:pt x="0" y="967"/>
                      <a:pt x="967" y="0"/>
                      <a:pt x="2160" y="0"/>
                    </a:cubicBezTo>
                    <a:cubicBezTo>
                      <a:pt x="3353" y="0"/>
                      <a:pt x="4320" y="967"/>
                      <a:pt x="4320" y="2160"/>
                    </a:cubicBezTo>
                    <a:cubicBezTo>
                      <a:pt x="4320" y="3353"/>
                      <a:pt x="3353" y="4320"/>
                      <a:pt x="2160" y="4320"/>
                    </a:cubicBezTo>
                    <a:cubicBezTo>
                      <a:pt x="967" y="4320"/>
                      <a:pt x="0" y="3353"/>
                      <a:pt x="0" y="2160"/>
                    </a:cubicBezTo>
                  </a:path>
                </a:pathLst>
              </a:custGeom>
              <a:solidFill>
                <a:srgbClr val="E8A33D">
                  <a:alpha val="8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path 192"/>
              <p:cNvSpPr/>
              <p:nvPr/>
            </p:nvSpPr>
            <p:spPr>
              <a:xfrm>
                <a:off x="1005839" y="0"/>
                <a:ext cx="2768600" cy="2768600"/>
              </a:xfrm>
              <a:custGeom>
                <a:avLst/>
                <a:gdLst/>
                <a:ahLst/>
                <a:cxnLst/>
                <a:rect l="0" t="0" r="0" b="0"/>
                <a:pathLst>
                  <a:path w="4360" h="4360">
                    <a:moveTo>
                      <a:pt x="20" y="2180"/>
                    </a:moveTo>
                    <a:cubicBezTo>
                      <a:pt x="20" y="987"/>
                      <a:pt x="987" y="20"/>
                      <a:pt x="2180" y="20"/>
                    </a:cubicBezTo>
                    <a:cubicBezTo>
                      <a:pt x="3373" y="20"/>
                      <a:pt x="4340" y="987"/>
                      <a:pt x="4340" y="2180"/>
                    </a:cubicBezTo>
                    <a:cubicBezTo>
                      <a:pt x="4340" y="3373"/>
                      <a:pt x="3373" y="4340"/>
                      <a:pt x="2180" y="4340"/>
                    </a:cubicBezTo>
                    <a:cubicBezTo>
                      <a:pt x="987" y="4340"/>
                      <a:pt x="20" y="3373"/>
                      <a:pt x="20" y="2180"/>
                    </a:cubicBezTo>
                  </a:path>
                </a:pathLst>
              </a:custGeom>
              <a:noFill/>
              <a:ln w="254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4" name="textbox 194"/>
            <p:cNvSpPr/>
            <p:nvPr/>
          </p:nvSpPr>
          <p:spPr>
            <a:xfrm>
              <a:off x="-12700" y="2968498"/>
              <a:ext cx="5375275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i="1" kern="0" spc="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P(A|B) asks:</a:t>
              </a:r>
              <a:r>
                <a:rPr sz="1800" i="1" kern="0" spc="15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i="1" kern="0" spc="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within</a:t>
              </a:r>
              <a:r>
                <a:rPr sz="1800" i="1" kern="0" spc="11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i="1" kern="0" spc="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the shaded B-region, how much ofit is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2364104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i="1" kern="0" spc="-2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also A?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6" name="textbox 196"/>
            <p:cNvSpPr/>
            <p:nvPr/>
          </p:nvSpPr>
          <p:spPr>
            <a:xfrm>
              <a:off x="3804234" y="1163785"/>
              <a:ext cx="871219" cy="7785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4129" algn="l" rtl="0" eaLnBrk="0">
                <a:lnSpc>
                  <a:spcPts val="1412"/>
                </a:lnSpc>
                <a:tabLst/>
              </a:pPr>
              <a:r>
                <a:rPr sz="1800" b="1" kern="0" spc="-2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indent="7620" algn="l" rtl="0" eaLnBrk="0">
                <a:lnSpc>
                  <a:spcPct val="93000"/>
                </a:lnSpc>
                <a:spcBef>
                  <a:spcPts val="497"/>
                </a:spcBef>
                <a:tabLst/>
              </a:pPr>
              <a:r>
                <a:rPr sz="1800" b="1" kern="0" spc="-3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(the</a:t>
              </a:r>
              <a:r>
                <a:rPr sz="1800" b="1" kern="0" spc="10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new</a:t>
              </a:r>
              <a:r>
                <a:rPr sz="1800" b="1" kern="0" spc="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world)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8" name="textbox 198"/>
            <p:cNvSpPr/>
            <p:nvPr/>
          </p:nvSpPr>
          <p:spPr>
            <a:xfrm>
              <a:off x="324483" y="1242355"/>
              <a:ext cx="192404" cy="2343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11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69000"/>
                </a:lnSpc>
                <a:tabLst/>
              </a:pPr>
              <a:r>
                <a:rPr sz="2000" b="1" kern="0" spc="-10" dirty="0">
                  <a:solidFill>
                    <a:srgbClr val="1E2A5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A</a:t>
              </a:r>
              <a:endParaRPr sz="2000" dirty="0">
                <a:latin typeface="Cambria"/>
                <a:ea typeface="Cambria"/>
                <a:cs typeface="Cambria"/>
              </a:endParaRPr>
            </a:p>
          </p:txBody>
        </p:sp>
      </p:grpSp>
      <p:sp>
        <p:nvSpPr>
          <p:cNvPr id="200" name="textbox 200"/>
          <p:cNvSpPr/>
          <p:nvPr/>
        </p:nvSpPr>
        <p:spPr>
          <a:xfrm>
            <a:off x="556285" y="393355"/>
            <a:ext cx="6251575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Conditional</a:t>
            </a:r>
            <a:r>
              <a:rPr sz="3200" b="1" kern="0" spc="17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Probability: In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tuition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204"/>
          <p:cNvSpPr/>
          <p:nvPr/>
        </p:nvSpPr>
        <p:spPr>
          <a:xfrm>
            <a:off x="541229" y="393355"/>
            <a:ext cx="8649969" cy="3423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Worked Example: Conditional Proba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bility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3000"/>
              </a:lnSpc>
              <a:spcBef>
                <a:spcPts val="540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Problem: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Roll a fair die.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Let A =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“result is</a:t>
            </a:r>
            <a:r>
              <a:rPr sz="1800" b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even”,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</a:t>
            </a:r>
            <a:r>
              <a:rPr sz="1800" b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“result</a:t>
            </a:r>
            <a:r>
              <a:rPr sz="1800" b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800" b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≥</a:t>
            </a:r>
            <a:r>
              <a:rPr sz="1800" b="1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4”</a:t>
            </a:r>
            <a:r>
              <a:rPr sz="1800" b="1" kern="0" spc="-3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r>
              <a:rPr sz="1800" b="1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Find</a:t>
            </a:r>
            <a:r>
              <a:rPr sz="1800" b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P(A|B).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736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1: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List outcomes.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{2,4,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6},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{4,5,6}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3000"/>
              </a:lnSpc>
              <a:spcBef>
                <a:spcPts val="550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2: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nd A∩B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{4,6},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P(A∩B)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2/6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735"/>
              </a:spcBef>
              <a:tabLst/>
            </a:pP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Step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3: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P(B)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3/6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3000"/>
              </a:lnSpc>
              <a:spcBef>
                <a:spcPts val="548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Step 4: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P(A|B)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P(A∩B)/P(B)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(2/6)/(3/6)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2/3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spcBef>
                <a:spcPts val="7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Interpretation: once</a:t>
            </a:r>
            <a:r>
              <a:rPr sz="1800" i="1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 know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roll</a:t>
            </a:r>
            <a:r>
              <a:rPr sz="1800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≥</a:t>
            </a:r>
            <a:r>
              <a:rPr sz="1800" i="1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4,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chance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1800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also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even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rises</a:t>
            </a:r>
            <a:r>
              <a:rPr sz="1800" i="1" kern="0" spc="-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1/2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2/3.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38839" y="1309959"/>
            <a:ext cx="5982567" cy="4859801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557428" y="1318767"/>
            <a:ext cx="4799329" cy="2210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2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9870" indent="-217170" algn="l" rtl="0" eaLnBrk="0">
              <a:lnSpc>
                <a:spcPct val="97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B1,...,Bn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partition th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 sample space completely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 exclusive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ly,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spcBef>
                <a:spcPts val="550"/>
              </a:spcBef>
              <a:tabLst/>
            </a:pPr>
            <a:r>
              <a:rPr sz="1800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P(A) =</a:t>
            </a: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Σᵢ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A|Bᵢ)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P(Bᵢ)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9870" indent="-217170" algn="l" rtl="0" eaLnBrk="0">
              <a:lnSpc>
                <a:spcPct val="103000"/>
              </a:lnSpc>
              <a:spcBef>
                <a:spcPts val="1530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The total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obability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a weighted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average</a:t>
            </a:r>
            <a:r>
              <a:rPr sz="18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across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backgrou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nd cases.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Populatio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 disease example: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12" name="path 212"/>
          <p:cNvSpPr/>
          <p:nvPr/>
        </p:nvSpPr>
        <p:spPr>
          <a:xfrm>
            <a:off x="7224521" y="3785996"/>
            <a:ext cx="1371600" cy="19050"/>
          </a:xfrm>
          <a:custGeom>
            <a:avLst/>
            <a:gdLst/>
            <a:ahLst/>
            <a:cxnLst/>
            <a:rect l="0" t="0" r="0" b="0"/>
            <a:pathLst>
              <a:path w="2160" h="30">
                <a:moveTo>
                  <a:pt x="0" y="15"/>
                </a:moveTo>
                <a:lnTo>
                  <a:pt x="2160" y="15"/>
                </a:lnTo>
                <a:moveTo>
                  <a:pt x="0" y="15"/>
                </a:moveTo>
                <a:lnTo>
                  <a:pt x="2160" y="15"/>
                </a:lnTo>
              </a:path>
            </a:pathLst>
          </a:custGeom>
          <a:noFill/>
          <a:ln w="19050" cap="flat">
            <a:solidFill>
              <a:srgbClr val="9DBBE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4" name="path 214"/>
          <p:cNvSpPr/>
          <p:nvPr/>
        </p:nvSpPr>
        <p:spPr>
          <a:xfrm>
            <a:off x="7216771" y="3789985"/>
            <a:ext cx="1387101" cy="1931312"/>
          </a:xfrm>
          <a:custGeom>
            <a:avLst/>
            <a:gdLst/>
            <a:ahLst/>
            <a:cxnLst/>
            <a:rect l="0" t="0" r="0" b="0"/>
            <a:pathLst>
              <a:path w="2184" h="3041">
                <a:moveTo>
                  <a:pt x="12" y="8"/>
                </a:moveTo>
                <a:lnTo>
                  <a:pt x="2172" y="3032"/>
                </a:lnTo>
              </a:path>
            </a:pathLst>
          </a:custGeom>
          <a:noFill/>
          <a:ln w="19050" cap="flat">
            <a:solidFill>
              <a:srgbClr val="9DBBE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textbox 216"/>
          <p:cNvSpPr/>
          <p:nvPr/>
        </p:nvSpPr>
        <p:spPr>
          <a:xfrm>
            <a:off x="534187" y="4873447"/>
            <a:ext cx="7747634" cy="715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P(disease)</a:t>
            </a:r>
            <a:r>
              <a:rPr sz="1800" kern="0" spc="1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=</a:t>
            </a:r>
            <a:r>
              <a:rPr sz="1800" kern="0" spc="1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0.05(0.5)+0.15(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0.3)+0.30(0.2)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=</a:t>
            </a:r>
            <a:r>
              <a:rPr sz="1800" kern="0" spc="1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0.107</a:t>
            </a:r>
            <a:endParaRPr sz="1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Overall prevalence in the popu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lation is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10.7% -- a</a:t>
            </a:r>
            <a:r>
              <a:rPr sz="1800" i="1" kern="0" spc="1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weighted blend</a:t>
            </a:r>
            <a:r>
              <a:rPr sz="1800" i="1" kern="0" spc="5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across</a:t>
            </a:r>
            <a:r>
              <a:rPr sz="1800" i="1" kern="0" spc="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subgroups.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555064" y="393355"/>
            <a:ext cx="4503420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Law of Total Probability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5760720" y="3383279"/>
            <a:ext cx="1463039" cy="823594"/>
          </a:xfrm>
          <a:prstGeom prst="roundRect">
            <a:avLst>
              <a:gd name="adj" fmla="val 9179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5104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Population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8686800" y="1280159"/>
            <a:ext cx="1371600" cy="823594"/>
          </a:xfrm>
          <a:prstGeom prst="roundRect">
            <a:avLst>
              <a:gd name="adj" fmla="val 9179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7190" algn="l" rtl="0" eaLnBrk="0">
              <a:lnSpc>
                <a:spcPct val="83000"/>
              </a:lnSpc>
              <a:tabLst/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Young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75615" algn="l" rtl="0" eaLnBrk="0">
              <a:lnSpc>
                <a:spcPct val="83000"/>
              </a:lnSpc>
              <a:spcBef>
                <a:spcPts val="368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50%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10332719" y="1280159"/>
            <a:ext cx="1371600" cy="823594"/>
          </a:xfrm>
          <a:prstGeom prst="roundRect">
            <a:avLst>
              <a:gd name="adj" fmla="val 9179"/>
            </a:avLst>
          </a:prstGeom>
          <a:solidFill>
            <a:srgbClr val="EEF2FA">
              <a:alpha val="100000"/>
            </a:srgbClr>
          </a:solidFill>
          <a:ln w="12700" cap="flat">
            <a:solidFill>
              <a:srgbClr val="EEF2FA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533400" indent="-395604" algn="l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1800" b="1" kern="0" spc="-2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P(disease)=</a:t>
            </a:r>
            <a:r>
              <a:rPr sz="1800" b="1" kern="0" spc="2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5%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8686800" y="5303520"/>
            <a:ext cx="1371600" cy="823594"/>
          </a:xfrm>
          <a:prstGeom prst="roundRect">
            <a:avLst>
              <a:gd name="adj" fmla="val 9179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1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8305" algn="l" rtl="0" eaLnBrk="0">
              <a:lnSpc>
                <a:spcPct val="70000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Older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74980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20%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10332719" y="5303520"/>
            <a:ext cx="1371600" cy="823594"/>
          </a:xfrm>
          <a:prstGeom prst="roundRect">
            <a:avLst>
              <a:gd name="adj" fmla="val 9179"/>
            </a:avLst>
          </a:prstGeom>
          <a:solidFill>
            <a:srgbClr val="EEF2FA">
              <a:alpha val="100000"/>
            </a:srgbClr>
          </a:solidFill>
          <a:ln w="12700" cap="flat">
            <a:solidFill>
              <a:srgbClr val="EEF2FA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7795" algn="l" rtl="0" eaLnBrk="0">
              <a:lnSpc>
                <a:spcPct val="83000"/>
              </a:lnSpc>
              <a:spcBef>
                <a:spcPts val="5"/>
              </a:spcBef>
              <a:tabLst/>
            </a:pPr>
            <a:r>
              <a:rPr sz="1800" b="1" kern="0" spc="-2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P(disease)=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74980" algn="l" rtl="0" eaLnBrk="0">
              <a:lnSpc>
                <a:spcPct val="83000"/>
              </a:lnSpc>
              <a:spcBef>
                <a:spcPts val="368"/>
              </a:spcBef>
              <a:tabLst/>
            </a:pPr>
            <a:r>
              <a:rPr sz="1800" b="1" kern="0" spc="-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30%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8686800" y="3291840"/>
            <a:ext cx="1371600" cy="822960"/>
          </a:xfrm>
          <a:prstGeom prst="roundRect">
            <a:avLst>
              <a:gd name="adj" fmla="val 9179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0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2265" algn="l" rtl="0" eaLnBrk="0">
              <a:lnSpc>
                <a:spcPct val="70000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Middle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74344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30%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10332719" y="3291840"/>
            <a:ext cx="1371600" cy="822960"/>
          </a:xfrm>
          <a:prstGeom prst="roundRect">
            <a:avLst>
              <a:gd name="adj" fmla="val 9179"/>
            </a:avLst>
          </a:prstGeom>
          <a:solidFill>
            <a:srgbClr val="EEF2FA">
              <a:alpha val="100000"/>
            </a:srgbClr>
          </a:solidFill>
          <a:ln w="12700" cap="flat">
            <a:solidFill>
              <a:srgbClr val="EEF2FA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7795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b="1" kern="0" spc="-2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P(disease)=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81965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b="1" kern="0" spc="-5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15%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 236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8" name="textbox 238"/>
          <p:cNvSpPr/>
          <p:nvPr/>
        </p:nvSpPr>
        <p:spPr>
          <a:xfrm>
            <a:off x="900479" y="1059764"/>
            <a:ext cx="7607934" cy="2415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66000"/>
              </a:lnSpc>
              <a:tabLst/>
            </a:pP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THINK</a:t>
            </a:r>
            <a:r>
              <a:rPr sz="1800" b="1" kern="0" spc="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5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PAIR</a:t>
            </a:r>
            <a:r>
              <a:rPr sz="1800" b="1" kern="0" spc="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SHAR</a:t>
            </a:r>
            <a:r>
              <a:rPr sz="1800" b="1" kern="0" spc="1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966"/>
              </a:spcBef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 medical test has 90%</a:t>
            </a:r>
            <a:r>
              <a:rPr sz="3200" b="1" kern="0" spc="18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sensitivity.</a:t>
            </a:r>
            <a:endParaRPr sz="3200" dirty="0">
              <a:latin typeface="Cambria"/>
              <a:ea typeface="Cambria"/>
              <a:cs typeface="Cambria"/>
            </a:endParaRPr>
          </a:p>
          <a:p>
            <a:pPr marL="25400" indent="6985" algn="l" rtl="0" eaLnBrk="0">
              <a:lnSpc>
                <a:spcPct val="93000"/>
              </a:lnSpc>
              <a:spcBef>
                <a:spcPts val="518"/>
              </a:spcBef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Does a positive test mean the p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atient</a:t>
            </a:r>
            <a:r>
              <a:rPr sz="3200" b="1" kern="0" spc="5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has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 90% probability</a:t>
            </a:r>
            <a:r>
              <a:rPr sz="3200" b="1" kern="0" spc="14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of dise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ase?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pic>
        <p:nvPicPr>
          <p:cNvPr id="240" name="picture 2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01200" y="4389120"/>
            <a:ext cx="2590799" cy="2468878"/>
          </a:xfrm>
          <a:prstGeom prst="rect">
            <a:avLst/>
          </a:prstGeom>
        </p:spPr>
      </p:pic>
      <p:sp>
        <p:nvSpPr>
          <p:cNvPr id="242" name="textbox 242"/>
          <p:cNvSpPr/>
          <p:nvPr/>
        </p:nvSpPr>
        <p:spPr>
          <a:xfrm>
            <a:off x="911542" y="4236110"/>
            <a:ext cx="6780530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Discuss</a:t>
            </a:r>
            <a:r>
              <a:rPr sz="1800" i="1" kern="0" spc="14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 a partner</a:t>
            </a:r>
            <a:r>
              <a:rPr sz="1800" i="1" kern="0" spc="-2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60 seco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nds.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7305" algn="l" rtl="0" eaLnBrk="0">
              <a:lnSpc>
                <a:spcPct val="83000"/>
              </a:lnSpc>
              <a:spcBef>
                <a:spcPts val="370"/>
              </a:spcBef>
              <a:tabLst/>
            </a:pP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</a:t>
            </a:r>
            <a:r>
              <a:rPr sz="1800" i="1" kern="0" spc="1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will answer this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rigorously</a:t>
            </a:r>
            <a:r>
              <a:rPr sz="1800" i="1" kern="0" spc="1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 Bayes' theorem in</a:t>
            </a:r>
            <a:r>
              <a:rPr sz="1800" i="1" kern="0" spc="10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next</a:t>
            </a:r>
            <a:r>
              <a:rPr sz="1800" i="1" kern="0" spc="-19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few slides.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244"/>
          <p:cNvSpPr/>
          <p:nvPr/>
        </p:nvSpPr>
        <p:spPr>
          <a:xfrm>
            <a:off x="559863" y="1329817"/>
            <a:ext cx="5105400" cy="3705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tabLst/>
            </a:pPr>
            <a:r>
              <a:rPr sz="2100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100" kern="0" spc="3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P(A|B)</a:t>
            </a:r>
            <a:r>
              <a:rPr sz="21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100" b="1" kern="0" spc="1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P(B</a:t>
            </a:r>
            <a:r>
              <a:rPr sz="21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|A)</a:t>
            </a:r>
            <a:r>
              <a:rPr sz="2100" b="1" kern="0" spc="2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P(A) /</a:t>
            </a:r>
            <a:r>
              <a:rPr sz="2100" b="1" kern="0" spc="1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P(B)</a:t>
            </a:r>
            <a:endParaRPr sz="21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603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P(A):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 --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belief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before seeing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evide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nce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3045" indent="-220979" algn="l" rtl="0" eaLnBrk="0">
              <a:lnSpc>
                <a:spcPct val="111000"/>
              </a:lnSpc>
              <a:spcBef>
                <a:spcPts val="151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P(B|A):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 --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robability of the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evidence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 A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tru</a:t>
            </a:r>
            <a:r>
              <a:rPr sz="20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8600" indent="-215900" algn="l" rtl="0" eaLnBrk="0">
              <a:lnSpc>
                <a:spcPct val="111000"/>
              </a:lnSpc>
              <a:spcBef>
                <a:spcPts val="1059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P(A|B):</a:t>
            </a:r>
            <a:r>
              <a:rPr sz="2000" kern="0" spc="2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 --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updated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belief after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seeing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evidence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7965" indent="-215265" algn="l" rtl="0" eaLnBrk="0">
              <a:lnSpc>
                <a:spcPct val="111000"/>
              </a:lnSpc>
              <a:spcBef>
                <a:spcPts val="1057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P(B): evidence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overall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0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observatio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000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</a:t>
            </a:r>
            <a:r>
              <a:rPr sz="2000" b="1" i="1" kern="0" spc="2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i="1" kern="0" spc="30" dirty="0">
                <a:solidFill>
                  <a:srgbClr val="C97F1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α</a:t>
            </a:r>
            <a:r>
              <a:rPr sz="2100" b="1" kern="0" spc="-430" dirty="0">
                <a:solidFill>
                  <a:srgbClr val="C97F1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</a:t>
            </a:r>
            <a:r>
              <a:rPr sz="2000" b="1" i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× </a:t>
            </a:r>
            <a:r>
              <a:rPr sz="2000" b="1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6126479" y="3063240"/>
            <a:ext cx="5577840" cy="2926079"/>
          </a:xfrm>
          <a:prstGeom prst="rect">
            <a:avLst/>
          </a:prstGeom>
          <a:solidFill>
            <a:srgbClr val="EEF2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1465" indent="1905" algn="l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1800" kern="0" spc="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in: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naive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 classification,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medical diagnosis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updating, spam filtering from words,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informati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92100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retrieval.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6126479" y="1417320"/>
            <a:ext cx="5577840" cy="914400"/>
          </a:xfrm>
          <a:prstGeom prst="rect">
            <a:avLst/>
          </a:prstGeom>
          <a:solidFill>
            <a:srgbClr val="EEF2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8491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2100" kern="0" spc="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P(A|B)</a:t>
            </a:r>
            <a:r>
              <a:rPr sz="2100" kern="0" spc="25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kern="0" spc="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=</a:t>
            </a:r>
            <a:r>
              <a:rPr sz="2100" kern="0" spc="14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kern="0" spc="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P(B|A)P(A) /</a:t>
            </a:r>
            <a:r>
              <a:rPr sz="2100" kern="0" spc="15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kern="0" spc="20" dirty="0">
                <a:solidFill>
                  <a:srgbClr val="1B1F2A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P(B)</a:t>
            </a:r>
            <a:endParaRPr sz="2100" dirty="0">
              <a:latin typeface="Cambria"/>
              <a:ea typeface="Cambria"/>
              <a:cs typeface="Cambria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6726859" y="2407285"/>
            <a:ext cx="4387850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Derived directly</a:t>
            </a:r>
            <a:r>
              <a:rPr sz="1800" i="1" kern="0" spc="-1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the product rule P(A∩B)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058544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P(A|B)P(B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 = P(B|A)P(A).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555064" y="393355"/>
            <a:ext cx="3014979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Bayes' Theor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em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7026" y="2407015"/>
            <a:ext cx="10672895" cy="1110614"/>
          </a:xfrm>
          <a:prstGeom prst="rect">
            <a:avLst/>
          </a:prstGeom>
        </p:spPr>
      </p:pic>
      <p:graphicFrame>
        <p:nvGraphicFramePr>
          <p:cNvPr id="258" name="table 258"/>
          <p:cNvGraphicFramePr>
            <a:graphicFrameLocks noGrp="1"/>
          </p:cNvGraphicFramePr>
          <p:nvPr/>
        </p:nvGraphicFramePr>
        <p:xfrm>
          <a:off x="542290" y="2371090"/>
          <a:ext cx="10647044" cy="1109345"/>
        </p:xfrm>
        <a:graphic>
          <a:graphicData uri="http://schemas.openxmlformats.org/drawingml/2006/table">
            <a:tbl>
              <a:tblPr/>
              <a:tblGrid>
                <a:gridCol w="1972310"/>
                <a:gridCol w="201295"/>
                <a:gridCol w="1965960"/>
                <a:gridCol w="200660"/>
                <a:gridCol w="1965960"/>
                <a:gridCol w="201295"/>
                <a:gridCol w="1965960"/>
                <a:gridCol w="201295"/>
                <a:gridCol w="1972310"/>
              </a:tblGrid>
              <a:tr h="11093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2159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Prior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200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New</a:t>
                      </a:r>
                      <a:r>
                        <a:rPr sz="1800" b="1" kern="0" spc="1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00" algn="l" rtl="0" eaLnBrk="0">
                        <a:lnSpc>
                          <a:spcPct val="7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Likelihood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E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7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0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Bayesian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49605" algn="l" rtl="0" eaLnBrk="0">
                        <a:lnSpc>
                          <a:spcPts val="2273"/>
                        </a:lnSpc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Update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3244" algn="l" rtl="0" eaLnBrk="0">
                        <a:lnSpc>
                          <a:spcPct val="68000"/>
                        </a:lnSpc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Posterior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2E7D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D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E7D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E7D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</a:tr>
            </a:tbl>
          </a:graphicData>
        </a:graphic>
      </p:graphicFrame>
      <p:sp>
        <p:nvSpPr>
          <p:cNvPr id="260" name="textbox 260"/>
          <p:cNvSpPr/>
          <p:nvPr/>
        </p:nvSpPr>
        <p:spPr>
          <a:xfrm>
            <a:off x="647801" y="4191409"/>
            <a:ext cx="10781665" cy="1076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5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70225" algn="l" rtl="0" eaLnBrk="0">
              <a:lnSpc>
                <a:spcPct val="84000"/>
              </a:lnSpc>
              <a:tabLst/>
            </a:pPr>
            <a:r>
              <a:rPr sz="2600" b="1" kern="0" spc="-3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Posterior</a:t>
            </a:r>
            <a:r>
              <a:rPr sz="2600" b="1" kern="0" spc="24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600" b="1" kern="0" spc="-30" dirty="0">
                <a:solidFill>
                  <a:srgbClr val="C97F1E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∝</a:t>
            </a:r>
            <a:r>
              <a:rPr sz="2600" kern="0" spc="-590" dirty="0">
                <a:solidFill>
                  <a:srgbClr val="C97F1E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kern="0" spc="-3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Prior</a:t>
            </a:r>
            <a:r>
              <a:rPr sz="2600" b="1" kern="0" spc="19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600" b="1" kern="0" spc="-3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× Li</a:t>
            </a:r>
            <a:r>
              <a:rPr sz="2600" b="1" kern="0" spc="-4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kelihood</a:t>
            </a:r>
            <a:endParaRPr sz="26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New evidence res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hapes</a:t>
            </a:r>
            <a:r>
              <a:rPr sz="1800" i="1" kern="0" spc="1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what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 believed before --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posterior becomes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new starting point</a:t>
            </a:r>
            <a:r>
              <a:rPr sz="1800" i="1" kern="0" spc="-1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800" i="1" kern="0" spc="5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next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548961" y="393355"/>
            <a:ext cx="5310504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The Bayesian Updating</a:t>
            </a:r>
            <a:r>
              <a:rPr sz="3200" b="1" kern="0" spc="15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Flow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66" name="path 266"/>
          <p:cNvSpPr/>
          <p:nvPr/>
        </p:nvSpPr>
        <p:spPr>
          <a:xfrm>
            <a:off x="4700015" y="2816351"/>
            <a:ext cx="164592" cy="274320"/>
          </a:xfrm>
          <a:custGeom>
            <a:avLst/>
            <a:gdLst/>
            <a:ahLst/>
            <a:cxnLst/>
            <a:rect l="0" t="0" r="0" b="0"/>
            <a:pathLst>
              <a:path w="259" h="432">
                <a:moveTo>
                  <a:pt x="0" y="108"/>
                </a:moveTo>
                <a:lnTo>
                  <a:pt x="129" y="108"/>
                </a:lnTo>
                <a:lnTo>
                  <a:pt x="129" y="0"/>
                </a:lnTo>
                <a:lnTo>
                  <a:pt x="259" y="216"/>
                </a:lnTo>
                <a:lnTo>
                  <a:pt x="129" y="432"/>
                </a:lnTo>
                <a:lnTo>
                  <a:pt x="129" y="324"/>
                </a:lnTo>
                <a:lnTo>
                  <a:pt x="0" y="324"/>
                </a:lnTo>
                <a:lnTo>
                  <a:pt x="0" y="108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8" name="path 268"/>
          <p:cNvSpPr/>
          <p:nvPr/>
        </p:nvSpPr>
        <p:spPr>
          <a:xfrm>
            <a:off x="9034271" y="2816351"/>
            <a:ext cx="164592" cy="274320"/>
          </a:xfrm>
          <a:custGeom>
            <a:avLst/>
            <a:gdLst/>
            <a:ahLst/>
            <a:cxnLst/>
            <a:rect l="0" t="0" r="0" b="0"/>
            <a:pathLst>
              <a:path w="259" h="432">
                <a:moveTo>
                  <a:pt x="0" y="108"/>
                </a:moveTo>
                <a:lnTo>
                  <a:pt x="129" y="108"/>
                </a:lnTo>
                <a:lnTo>
                  <a:pt x="129" y="0"/>
                </a:lnTo>
                <a:lnTo>
                  <a:pt x="259" y="216"/>
                </a:lnTo>
                <a:lnTo>
                  <a:pt x="129" y="432"/>
                </a:lnTo>
                <a:lnTo>
                  <a:pt x="129" y="324"/>
                </a:lnTo>
                <a:lnTo>
                  <a:pt x="0" y="324"/>
                </a:lnTo>
                <a:lnTo>
                  <a:pt x="0" y="108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0" name="path 270"/>
          <p:cNvSpPr/>
          <p:nvPr/>
        </p:nvSpPr>
        <p:spPr>
          <a:xfrm>
            <a:off x="2532887" y="2816351"/>
            <a:ext cx="164592" cy="274320"/>
          </a:xfrm>
          <a:custGeom>
            <a:avLst/>
            <a:gdLst/>
            <a:ahLst/>
            <a:cxnLst/>
            <a:rect l="0" t="0" r="0" b="0"/>
            <a:pathLst>
              <a:path w="259" h="432">
                <a:moveTo>
                  <a:pt x="0" y="108"/>
                </a:moveTo>
                <a:lnTo>
                  <a:pt x="129" y="108"/>
                </a:lnTo>
                <a:lnTo>
                  <a:pt x="129" y="0"/>
                </a:lnTo>
                <a:lnTo>
                  <a:pt x="259" y="216"/>
                </a:lnTo>
                <a:lnTo>
                  <a:pt x="129" y="432"/>
                </a:lnTo>
                <a:lnTo>
                  <a:pt x="129" y="324"/>
                </a:lnTo>
                <a:lnTo>
                  <a:pt x="0" y="324"/>
                </a:lnTo>
                <a:lnTo>
                  <a:pt x="0" y="108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2" name="path 272"/>
          <p:cNvSpPr/>
          <p:nvPr/>
        </p:nvSpPr>
        <p:spPr>
          <a:xfrm>
            <a:off x="6867144" y="2816351"/>
            <a:ext cx="164591" cy="274320"/>
          </a:xfrm>
          <a:custGeom>
            <a:avLst/>
            <a:gdLst/>
            <a:ahLst/>
            <a:cxnLst/>
            <a:rect l="0" t="0" r="0" b="0"/>
            <a:pathLst>
              <a:path w="259" h="432">
                <a:moveTo>
                  <a:pt x="0" y="108"/>
                </a:moveTo>
                <a:lnTo>
                  <a:pt x="129" y="108"/>
                </a:lnTo>
                <a:lnTo>
                  <a:pt x="129" y="0"/>
                </a:lnTo>
                <a:lnTo>
                  <a:pt x="259" y="216"/>
                </a:lnTo>
                <a:lnTo>
                  <a:pt x="129" y="432"/>
                </a:lnTo>
                <a:lnTo>
                  <a:pt x="129" y="324"/>
                </a:lnTo>
                <a:lnTo>
                  <a:pt x="0" y="324"/>
                </a:lnTo>
                <a:lnTo>
                  <a:pt x="0" y="108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box 274"/>
          <p:cNvSpPr/>
          <p:nvPr/>
        </p:nvSpPr>
        <p:spPr>
          <a:xfrm>
            <a:off x="541229" y="393355"/>
            <a:ext cx="10634980" cy="3856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Worked Example: Medical Diagnosis</a:t>
            </a:r>
            <a:r>
              <a:rPr sz="3200" b="1" kern="0" spc="30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(Bayes)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3840" indent="-215265" algn="l" rtl="0" eaLnBrk="0">
              <a:lnSpc>
                <a:spcPct val="103000"/>
              </a:lnSpc>
              <a:spcBef>
                <a:spcPts val="546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Problem: Disease prevalence P(disease) = 0.01. Test</a:t>
            </a:r>
            <a:r>
              <a:rPr sz="1800" b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sensitivity</a:t>
            </a:r>
            <a:r>
              <a:rPr sz="1800" b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P(+|disease)</a:t>
            </a:r>
            <a:r>
              <a:rPr sz="1800" b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0.90.</a:t>
            </a:r>
            <a:r>
              <a:rPr sz="18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False-positive</a:t>
            </a:r>
            <a:r>
              <a:rPr sz="1800" b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rate</a:t>
            </a:r>
            <a:r>
              <a:rPr sz="18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P(+|no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disease) = 0.05. Given a</a:t>
            </a:r>
            <a:r>
              <a:rPr sz="1800" b="1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POSITIVE test, find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P(disease|+).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435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1 -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Prior: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P(disease)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0.0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1,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P(no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disease)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0.99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543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2 -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ihoods: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P(+|disease) =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0.90,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P(+|no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disease)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0.05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543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3 -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Evi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dence:</a:t>
            </a:r>
            <a:r>
              <a:rPr sz="1800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P(+)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0.90(0.01)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0.05(0.99)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0.0585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533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Step 4 -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Posterior: P(disease|+) =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0.90(0.01) /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0.0585</a:t>
            </a: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≈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5.4%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13995" indent="-185420" algn="l" rtl="0" eaLnBrk="0">
              <a:lnSpc>
                <a:spcPct val="103000"/>
              </a:lnSpc>
              <a:spcBef>
                <a:spcPts val="6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Interpretation: a positive result doe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1800" i="1" kern="0" spc="-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imply</a:t>
            </a:r>
            <a:r>
              <a:rPr sz="1800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disease probability,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because</a:t>
            </a:r>
            <a:r>
              <a:rPr sz="1800" i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prior prevalence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low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false positives are common relative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</a:t>
            </a:r>
            <a:r>
              <a:rPr sz="1800" i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true cases.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7095" y="1426441"/>
            <a:ext cx="5524917" cy="3371575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527095" y="1365250"/>
            <a:ext cx="5524917" cy="5167071"/>
            <a:chOff x="0" y="0"/>
            <a:chExt cx="5524917" cy="5167071"/>
          </a:xfrm>
        </p:grpSpPr>
        <p:pic>
          <p:nvPicPr>
            <p:cNvPr id="280" name="picture 28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524917" cy="4255642"/>
            </a:xfrm>
            <a:prstGeom prst="rect">
              <a:avLst/>
            </a:prstGeom>
          </p:spPr>
        </p:pic>
        <p:sp>
          <p:nvSpPr>
            <p:cNvPr id="282" name="textbox 282"/>
            <p:cNvSpPr/>
            <p:nvPr/>
          </p:nvSpPr>
          <p:spPr>
            <a:xfrm>
              <a:off x="3255548" y="1407795"/>
              <a:ext cx="1863725" cy="26320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61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67384" indent="-522605" algn="l" rtl="0" eaLnBrk="0">
                <a:lnSpc>
                  <a:spcPct val="9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9,900</a:t>
              </a:r>
              <a:r>
                <a:rPr sz="1800" b="1" kern="0" spc="10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no dis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ease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(99%)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3339" indent="51435" algn="l" rtl="0" eaLnBrk="0">
                <a:lnSpc>
                  <a:spcPct val="93000"/>
                </a:lnSpc>
                <a:spcBef>
                  <a:spcPts val="545"/>
                </a:spcBef>
                <a:tabLst/>
              </a:pPr>
              <a:r>
                <a:rPr sz="1800" b="1" kern="0" spc="-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495 false</a:t>
              </a:r>
              <a:r>
                <a:rPr sz="1800" b="1" kern="0" spc="1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positive</a:t>
              </a:r>
              <a:r>
                <a:rPr sz="1800" b="1" kern="0" spc="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(5% false-pos rate)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"/>
                </a:spcBef>
                <a:tabLst/>
              </a:pPr>
              <a:r>
                <a:rPr sz="1800" b="1" kern="0" spc="-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9,405 true</a:t>
              </a:r>
              <a:r>
                <a:rPr sz="1800" b="1" kern="0" spc="12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negative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4" name="textbox 284"/>
            <p:cNvSpPr/>
            <p:nvPr/>
          </p:nvSpPr>
          <p:spPr>
            <a:xfrm>
              <a:off x="545597" y="1407795"/>
              <a:ext cx="1618614" cy="26320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61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00075" indent="-588009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100</a:t>
              </a:r>
              <a:r>
                <a:rPr sz="1800" b="1" kern="0" spc="10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have disease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(1%)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3655" indent="31750" algn="l" rtl="0" eaLnBrk="0">
                <a:lnSpc>
                  <a:spcPct val="93000"/>
                </a:lnSpc>
                <a:spcBef>
                  <a:spcPts val="545"/>
                </a:spcBef>
                <a:tabLst/>
              </a:pPr>
              <a:r>
                <a:rPr sz="1800" b="1" kern="0" spc="-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90 true</a:t>
              </a:r>
              <a:r>
                <a:rPr sz="1800" b="1" kern="0" spc="10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posit</a:t>
              </a:r>
              <a:r>
                <a:rPr sz="1800" b="1" kern="0" spc="-2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ive</a:t>
              </a:r>
              <a:r>
                <a:rPr sz="1800" b="1" kern="0" spc="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(90% sensitivity)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7145" algn="l" rtl="0" eaLnBrk="0">
                <a:lnSpc>
                  <a:spcPct val="83000"/>
                </a:lnSpc>
                <a:spcBef>
                  <a:spcPts val="3"/>
                </a:spcBef>
                <a:tabLst/>
              </a:pPr>
              <a:r>
                <a:rPr sz="1800" b="1" kern="0" spc="-2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10 false</a:t>
              </a:r>
              <a:r>
                <a:rPr sz="1800" b="1" kern="0" spc="17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negative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6" name="textbox 286"/>
            <p:cNvSpPr/>
            <p:nvPr/>
          </p:nvSpPr>
          <p:spPr>
            <a:xfrm>
              <a:off x="92359" y="4514291"/>
              <a:ext cx="3079750" cy="665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kern="0" spc="-3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Total positive</a:t>
              </a:r>
              <a:r>
                <a:rPr sz="1800" kern="0" spc="10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</a:t>
              </a:r>
              <a:r>
                <a:rPr sz="1800" kern="0" spc="-3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=</a:t>
              </a:r>
              <a:r>
                <a:rPr sz="1800" kern="0" spc="9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</a:t>
              </a:r>
              <a:r>
                <a:rPr sz="1800" kern="0" spc="-4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90</a:t>
              </a:r>
              <a:r>
                <a:rPr sz="1800" kern="0" spc="11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</a:t>
              </a:r>
              <a:r>
                <a:rPr sz="1800" kern="0" spc="-4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+ 495</a:t>
              </a:r>
              <a:r>
                <a:rPr sz="1800" kern="0" spc="12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</a:t>
              </a:r>
              <a:r>
                <a:rPr sz="1800" kern="0" spc="-4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=</a:t>
              </a:r>
              <a:r>
                <a:rPr sz="1800" kern="0" spc="13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</a:t>
              </a:r>
              <a:r>
                <a:rPr sz="1800" kern="0" spc="-40" dirty="0">
                  <a:solidFill>
                    <a:srgbClr val="1B1F2A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585</a:t>
              </a:r>
              <a:endParaRPr sz="1800" dirty="0">
                <a:latin typeface="Cambria"/>
                <a:ea typeface="Cambria"/>
                <a:cs typeface="Cambria"/>
              </a:endParaRPr>
            </a:p>
            <a:p>
              <a:pPr marL="18415" algn="l" rtl="0" eaLnBrk="0">
                <a:lnSpc>
                  <a:spcPts val="3240"/>
                </a:lnSpc>
                <a:tabLst/>
              </a:pPr>
              <a:r>
                <a:rPr sz="1800" kern="0" spc="-2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P(disease|+)</a:t>
              </a:r>
              <a:r>
                <a:rPr sz="1800" kern="0" spc="13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</a:t>
              </a:r>
              <a:r>
                <a:rPr sz="1800" kern="0" spc="-2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=</a:t>
              </a:r>
              <a:r>
                <a:rPr sz="1800" kern="0" spc="10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</a:t>
              </a:r>
              <a:r>
                <a:rPr sz="1800" kern="0" spc="-2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90/585 ≈</a:t>
              </a:r>
              <a:r>
                <a:rPr sz="1800" kern="0" spc="16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</a:t>
              </a:r>
              <a:r>
                <a:rPr sz="1800" kern="0" spc="-2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15.</a:t>
              </a:r>
              <a:r>
                <a:rPr sz="1800" kern="0" spc="-30" dirty="0">
                  <a:solidFill>
                    <a:srgbClr val="C97F1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4%</a:t>
              </a:r>
              <a:endParaRPr sz="1800" dirty="0">
                <a:latin typeface="Cambria"/>
                <a:ea typeface="Cambria"/>
                <a:cs typeface="Cambria"/>
              </a:endParaRPr>
            </a:p>
          </p:txBody>
        </p:sp>
        <p:sp>
          <p:nvSpPr>
            <p:cNvPr id="288" name="textbox 288"/>
            <p:cNvSpPr/>
            <p:nvPr/>
          </p:nvSpPr>
          <p:spPr>
            <a:xfrm>
              <a:off x="2187246" y="264185"/>
              <a:ext cx="1355725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10,000</a:t>
              </a:r>
              <a:r>
                <a:rPr sz="1800" b="1" kern="0" spc="1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people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90" name="textbox 290"/>
          <p:cNvSpPr/>
          <p:nvPr/>
        </p:nvSpPr>
        <p:spPr>
          <a:xfrm>
            <a:off x="6492240" y="1371600"/>
            <a:ext cx="5212079" cy="4846954"/>
          </a:xfrm>
          <a:prstGeom prst="rect">
            <a:avLst/>
          </a:prstGeom>
          <a:solidFill>
            <a:srgbClr val="EEF2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2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2740" algn="l" rtl="0" eaLnBrk="0">
              <a:lnSpc>
                <a:spcPct val="88000"/>
              </a:lnSpc>
              <a:tabLst/>
            </a:pPr>
            <a:r>
              <a:rPr sz="1800" b="1" kern="0" spc="50" dirty="0">
                <a:solidFill>
                  <a:srgbClr val="B0413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Common Misc</a:t>
            </a:r>
            <a:r>
              <a:rPr sz="1800" b="1" kern="0" spc="40" dirty="0">
                <a:solidFill>
                  <a:srgbClr val="B0413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onception</a:t>
            </a:r>
            <a:endParaRPr sz="1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0834" indent="4444" algn="l" rtl="0" eaLnBrk="0">
              <a:lnSpc>
                <a:spcPct val="93000"/>
              </a:lnSpc>
              <a:spcBef>
                <a:spcPts val="551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“Positive test = 90%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 of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sease.”</a:t>
            </a:r>
            <a:r>
              <a:rPr sz="1800" kern="0" spc="-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This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confuses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P(+|disease) = 0.90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(the sensitivit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326390" algn="l" rtl="0" eaLnBrk="0">
              <a:lnSpc>
                <a:spcPct val="83000"/>
              </a:lnSpc>
              <a:spcBef>
                <a:spcPts val="368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P(disease|+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(the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posterior).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9565" indent="-14604" algn="l" rtl="0" eaLnBrk="0">
              <a:lnSpc>
                <a:spcPct val="93000"/>
              </a:lnSpc>
              <a:spcBef>
                <a:spcPts val="545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Among the 585 people</a:t>
            </a:r>
            <a:r>
              <a:rPr sz="1800" i="1" kern="0" spc="1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test positive, only 90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actually have the disease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1800" i="1" kern="0" spc="9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other 495</a:t>
            </a:r>
            <a:r>
              <a:rPr sz="18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99084" algn="l" rtl="0" eaLnBrk="0">
              <a:lnSpc>
                <a:spcPct val="83000"/>
              </a:lnSpc>
              <a:spcBef>
                <a:spcPts val="370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false</a:t>
            </a:r>
            <a:r>
              <a:rPr sz="18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alarms</a:t>
            </a:r>
            <a:r>
              <a:rPr sz="1800" i="1" kern="0" spc="-1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</a:t>
            </a:r>
            <a:r>
              <a:rPr sz="18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huge</a:t>
            </a:r>
            <a:r>
              <a:rPr sz="18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healthy</a:t>
            </a:r>
            <a:r>
              <a:rPr sz="18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population</a:t>
            </a:r>
            <a:r>
              <a:rPr sz="18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3215" algn="l" rtl="0" eaLnBrk="0">
              <a:lnSpc>
                <a:spcPct val="93000"/>
              </a:lnSpc>
              <a:spcBef>
                <a:spcPts val="543"/>
              </a:spcBef>
              <a:tabLst/>
            </a:pPr>
            <a:r>
              <a:rPr sz="1800" b="1" kern="0" spc="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Answers Think-Pair-Share #1: a 90%-</a:t>
            </a:r>
            <a:r>
              <a:rPr sz="1800" b="1" kern="0" spc="-1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sensitive</a:t>
            </a:r>
            <a:r>
              <a:rPr sz="1800" b="1" kern="0" spc="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</a:t>
            </a:r>
            <a:r>
              <a:rPr sz="1800" b="1" kern="0" spc="-1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test on a</a:t>
            </a:r>
            <a:r>
              <a:rPr sz="1800" b="1" kern="0" spc="11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rare disease can</a:t>
            </a:r>
            <a:r>
              <a:rPr sz="1800" b="1" kern="0" spc="5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still yield</a:t>
            </a:r>
            <a:r>
              <a:rPr sz="1800" b="1" kern="0" spc="3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b="1" kern="0" spc="10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low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334645" algn="l" rtl="0" eaLnBrk="0">
              <a:lnSpc>
                <a:spcPct val="83000"/>
              </a:lnSpc>
              <a:spcBef>
                <a:spcPts val="369"/>
              </a:spcBef>
              <a:tabLst/>
            </a:pPr>
            <a:r>
              <a:rPr sz="1800" b="1" kern="0" spc="-1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 probability.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552623" y="393355"/>
            <a:ext cx="7313930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Seeing It in</a:t>
            </a:r>
            <a:r>
              <a:rPr sz="3200" b="1" kern="0" spc="16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Frequencies:</a:t>
            </a:r>
            <a:r>
              <a:rPr sz="3200" b="1" kern="0" spc="2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10,000 People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box 296"/>
          <p:cNvSpPr/>
          <p:nvPr/>
        </p:nvSpPr>
        <p:spPr>
          <a:xfrm>
            <a:off x="555064" y="393355"/>
            <a:ext cx="4699634" cy="3883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Law of La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rge Numbers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5425" indent="-208279" algn="l" rtl="0" eaLnBrk="0">
              <a:lnSpc>
                <a:spcPct val="104000"/>
              </a:lnSpc>
              <a:spcBef>
                <a:spcPts val="607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Question: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 we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repeat a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random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trial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many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times, what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appens to the average?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6509" indent="-1905" algn="l" rtl="0" eaLnBrk="0">
              <a:lnSpc>
                <a:spcPct val="159000"/>
              </a:lnSpc>
              <a:spcBef>
                <a:spcPts val="75"/>
              </a:spcBef>
              <a:tabLst/>
            </a:pPr>
            <a:r>
              <a:rPr sz="1800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i.i.d. r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andom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variables</a:t>
            </a:r>
            <a:r>
              <a:rPr sz="1800" i="1" kern="0" spc="1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</a:t>
            </a:r>
            <a:r>
              <a:rPr sz="1800" i="1" kern="0" spc="-1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finite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 μ,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0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X̄</a:t>
            </a:r>
            <a:r>
              <a:rPr sz="2000" b="1" kern="0" spc="-3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ₙ</a:t>
            </a:r>
            <a:r>
              <a:rPr sz="20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20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 as</a:t>
            </a:r>
            <a:r>
              <a:rPr sz="20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20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 ∞</a:t>
            </a:r>
            <a:r>
              <a:rPr sz="20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(almost</a:t>
            </a:r>
            <a:r>
              <a:rPr sz="20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surely)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7145" algn="l" rtl="0" eaLnBrk="0">
              <a:lnSpc>
                <a:spcPct val="84000"/>
              </a:lnSpc>
              <a:spcBef>
                <a:spcPts val="1651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Illustrated with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repeated f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air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coin tosses: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546"/>
              </a:spcBef>
              <a:tabLst/>
            </a:pPr>
            <a:r>
              <a:rPr sz="1800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i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Individual outco</a:t>
            </a:r>
            <a:r>
              <a:rPr sz="1800" b="1" i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mes remain random.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tabLst/>
            </a:pPr>
            <a:r>
              <a:rPr sz="18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But</a:t>
            </a:r>
            <a:r>
              <a:rPr sz="1800" b="1" i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averages</a:t>
            </a:r>
            <a:r>
              <a:rPr sz="1800" b="1" i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become</a:t>
            </a:r>
            <a:r>
              <a:rPr sz="1800" b="1" i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stable</a:t>
            </a:r>
            <a:r>
              <a:rPr sz="1800" b="1" i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6216065" y="1837994"/>
            <a:ext cx="5354396" cy="2423256"/>
            <a:chOff x="0" y="0"/>
            <a:chExt cx="5354396" cy="2423256"/>
          </a:xfrm>
        </p:grpSpPr>
        <p:pic>
          <p:nvPicPr>
            <p:cNvPr id="298" name="picture 2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289890" y="54559"/>
              <a:ext cx="5064505" cy="2133853"/>
            </a:xfrm>
            <a:prstGeom prst="rect">
              <a:avLst/>
            </a:prstGeom>
          </p:spPr>
        </p:pic>
        <p:sp>
          <p:nvSpPr>
            <p:cNvPr id="300" name="textbox 300"/>
            <p:cNvSpPr/>
            <p:nvPr/>
          </p:nvSpPr>
          <p:spPr>
            <a:xfrm>
              <a:off x="4498958" y="866281"/>
              <a:ext cx="466725" cy="15697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1119" algn="l" rtl="0" eaLnBrk="0">
                <a:lnSpc>
                  <a:spcPct val="84000"/>
                </a:lnSpc>
                <a:tabLst/>
              </a:pP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0.51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spcBef>
                  <a:spcPts val="3"/>
                </a:spcBef>
                <a:tabLst/>
              </a:pP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10000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302" name="textbox 302"/>
            <p:cNvSpPr/>
            <p:nvPr/>
          </p:nvSpPr>
          <p:spPr>
            <a:xfrm>
              <a:off x="3291569" y="895237"/>
              <a:ext cx="375284" cy="15411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5400" algn="l" rtl="0" eaLnBrk="0">
                <a:lnSpc>
                  <a:spcPct val="84000"/>
                </a:lnSpc>
                <a:tabLst/>
              </a:pP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0.49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spcBef>
                  <a:spcPts val="3"/>
                </a:spcBef>
                <a:tabLst/>
              </a:pP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1000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304" name="textbox 304"/>
            <p:cNvSpPr/>
            <p:nvPr/>
          </p:nvSpPr>
          <p:spPr>
            <a:xfrm>
              <a:off x="2051054" y="835166"/>
              <a:ext cx="339090" cy="16008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tabLst/>
              </a:pP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0.52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45719" algn="l" rtl="0" eaLnBrk="0">
                <a:lnSpc>
                  <a:spcPct val="84000"/>
                </a:lnSpc>
                <a:spcBef>
                  <a:spcPts val="1"/>
                </a:spcBef>
                <a:tabLst/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100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306" name="textbox 306"/>
            <p:cNvSpPr/>
            <p:nvPr/>
          </p:nvSpPr>
          <p:spPr>
            <a:xfrm>
              <a:off x="-12700" y="-12700"/>
              <a:ext cx="231140" cy="22466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42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4000"/>
                </a:lnSpc>
                <a:tabLst/>
              </a:pPr>
              <a:r>
                <a:rPr sz="10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13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0.9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1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14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0.7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13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1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13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13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14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1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4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308" name="textbox 308"/>
            <p:cNvSpPr/>
            <p:nvPr/>
          </p:nvSpPr>
          <p:spPr>
            <a:xfrm>
              <a:off x="797691" y="1084467"/>
              <a:ext cx="339090" cy="13519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tabLst/>
              </a:pP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0.40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91439" algn="l" rtl="0" eaLnBrk="0">
                <a:lnSpc>
                  <a:spcPct val="84000"/>
                </a:lnSpc>
                <a:spcBef>
                  <a:spcPts val="1"/>
                </a:spcBef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10" name="textbox 310"/>
          <p:cNvSpPr/>
          <p:nvPr/>
        </p:nvSpPr>
        <p:spPr>
          <a:xfrm>
            <a:off x="6208387" y="4464710"/>
            <a:ext cx="5412104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grows</a:t>
            </a:r>
            <a:r>
              <a:rPr sz="1800" i="1" kern="0" spc="-1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10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10,0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00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tosses,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-1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fraction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800" i="1" kern="0" spc="-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heads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69770" algn="l" rtl="0" eaLnBrk="0">
              <a:lnSpc>
                <a:spcPct val="83000"/>
              </a:lnSpc>
              <a:spcBef>
                <a:spcPts val="370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settles near 0.5.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7493888" y="1537716"/>
            <a:ext cx="2850514" cy="20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9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Observed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Fraction of Heads vs.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3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896" y="1263874"/>
            <a:ext cx="5525070" cy="4494121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559863" y="1323720"/>
            <a:ext cx="5193665" cy="3759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6220" indent="-223520" algn="l" rtl="0" eaLnBrk="0">
              <a:lnSpc>
                <a:spcPct val="97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Take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i.i.d. sam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ples from a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distribution with</a:t>
            </a:r>
            <a:r>
              <a:rPr sz="2000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finite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 and</a:t>
            </a:r>
            <a:r>
              <a:rPr sz="2000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riance.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4000"/>
              </a:lnSpc>
              <a:spcBef>
                <a:spcPts val="1779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Compute the sample</a:t>
            </a:r>
            <a:r>
              <a:rPr sz="2000" kern="0" spc="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mean,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repeat the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0979" indent="5714" algn="l" rtl="0" eaLnBrk="0">
              <a:lnSpc>
                <a:spcPct val="104000"/>
              </a:lnSpc>
              <a:spcBef>
                <a:spcPts val="317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sampling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ocess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many times,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 standardize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sampl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6695" indent="-214629" algn="l" rtl="0" eaLnBrk="0">
              <a:lnSpc>
                <a:spcPct val="104000"/>
              </a:lnSpc>
              <a:spcBef>
                <a:spcPts val="1394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 the sample siz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20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grows, the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standardized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 approache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 a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Normal(0,1)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9234" algn="l" rtl="0" eaLnBrk="0">
              <a:lnSpc>
                <a:spcPct val="84000"/>
              </a:lnSpc>
              <a:spcBef>
                <a:spcPts val="452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9234" indent="-216534" algn="l" rtl="0" eaLnBrk="0">
              <a:lnSpc>
                <a:spcPct val="111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Illustrated</a:t>
            </a:r>
            <a:r>
              <a:rPr sz="2000" kern="0" spc="2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below for three very different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source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distributions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6126479" y="1234440"/>
            <a:ext cx="1829435" cy="1371600"/>
          </a:xfrm>
          <a:prstGeom prst="roundRect">
            <a:avLst>
              <a:gd name="adj" fmla="val 5541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5759" algn="l" rtl="0" eaLnBrk="0">
              <a:lnSpc>
                <a:spcPct val="89000"/>
              </a:lnSpc>
              <a:tabLst/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Uniform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(0,1)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6126479" y="2788920"/>
            <a:ext cx="1829435" cy="1371600"/>
          </a:xfrm>
          <a:prstGeom prst="roundRect">
            <a:avLst>
              <a:gd name="adj" fmla="val 5541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6695" algn="l" rtl="0" eaLnBrk="0">
              <a:lnSpc>
                <a:spcPct val="89000"/>
              </a:lnSpc>
              <a:tabLst/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(p=0.3)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6126479" y="4343400"/>
            <a:ext cx="1829435" cy="1371600"/>
          </a:xfrm>
          <a:prstGeom prst="roundRect">
            <a:avLst>
              <a:gd name="adj" fmla="val 5541"/>
            </a:avLst>
          </a:prstGeom>
          <a:solidFill>
            <a:srgbClr val="2E7D5B">
              <a:alpha val="100000"/>
            </a:srgbClr>
          </a:solidFill>
          <a:ln w="12700" cap="flat">
            <a:solidFill>
              <a:srgbClr val="2E7D5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2734" algn="l" rtl="0" eaLnBrk="0">
              <a:lnSpc>
                <a:spcPct val="89000"/>
              </a:lnSpc>
              <a:tabLst/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Exponential</a:t>
            </a:r>
            <a:r>
              <a:rPr sz="1500" b="1" kern="0" spc="1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(1)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556285" y="393355"/>
            <a:ext cx="6129020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5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Central Li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mit Theorem: Intuition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8275319" y="1234440"/>
            <a:ext cx="1692275" cy="1371600"/>
          </a:xfrm>
          <a:prstGeom prst="roundRect">
            <a:avLst>
              <a:gd name="adj" fmla="val 5541"/>
            </a:avLst>
          </a:prstGeom>
          <a:solidFill>
            <a:srgbClr val="EEF2FA">
              <a:alpha val="100000"/>
            </a:srgbClr>
          </a:solidFill>
          <a:ln w="12700" cap="flat">
            <a:solidFill>
              <a:srgbClr val="EEF2FA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08025" algn="l" rtl="0" eaLnBrk="0">
              <a:lnSpc>
                <a:spcPct val="89000"/>
              </a:lnSpc>
              <a:spcBef>
                <a:spcPts val="4"/>
              </a:spcBef>
              <a:tabLst/>
            </a:pPr>
            <a:r>
              <a:rPr sz="1500" b="1" kern="0" spc="-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500" b="1" kern="0" spc="8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kern="0" spc="-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endParaRPr sz="1500" dirty="0">
              <a:latin typeface="Calibri"/>
              <a:ea typeface="Calibri"/>
              <a:cs typeface="Calibri"/>
            </a:endParaRPr>
          </a:p>
          <a:p>
            <a:pPr marL="226695" indent="-31750" algn="l" rtl="0" eaLnBrk="0">
              <a:lnSpc>
                <a:spcPct val="99000"/>
              </a:lnSpc>
              <a:spcBef>
                <a:spcPts val="279"/>
              </a:spcBef>
              <a:tabLst/>
            </a:pPr>
            <a:r>
              <a:rPr sz="1500" b="1" kern="0" spc="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1,2,5,10,30,1</a:t>
            </a:r>
            <a:r>
              <a:rPr sz="1500" b="1" kern="0" spc="2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00</a:t>
            </a:r>
            <a:r>
              <a:rPr sz="1500" b="1" kern="0" spc="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500" b="1" kern="0" spc="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1500" b="1" kern="0" spc="15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kern="0" spc="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means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8275319" y="2788920"/>
            <a:ext cx="1692275" cy="1371600"/>
          </a:xfrm>
          <a:prstGeom prst="roundRect">
            <a:avLst>
              <a:gd name="adj" fmla="val 5541"/>
            </a:avLst>
          </a:prstGeom>
          <a:solidFill>
            <a:srgbClr val="EEF2FA">
              <a:alpha val="100000"/>
            </a:srgbClr>
          </a:solidFill>
          <a:ln w="12700" cap="flat">
            <a:solidFill>
              <a:srgbClr val="EEF2FA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08025" algn="l" rtl="0" eaLnBrk="0">
              <a:lnSpc>
                <a:spcPct val="89000"/>
              </a:lnSpc>
              <a:tabLst/>
            </a:pPr>
            <a:r>
              <a:rPr sz="1500" b="1" kern="0" spc="-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500" b="1" kern="0" spc="8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kern="0" spc="-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endParaRPr sz="1500" dirty="0">
              <a:latin typeface="Calibri"/>
              <a:ea typeface="Calibri"/>
              <a:cs typeface="Calibri"/>
            </a:endParaRPr>
          </a:p>
          <a:p>
            <a:pPr marL="226695" indent="-31750" algn="l" rtl="0" eaLnBrk="0">
              <a:lnSpc>
                <a:spcPct val="99000"/>
              </a:lnSpc>
              <a:spcBef>
                <a:spcPts val="278"/>
              </a:spcBef>
              <a:tabLst/>
            </a:pPr>
            <a:r>
              <a:rPr sz="1500" b="1" kern="0" spc="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1,2,5,10,30,1</a:t>
            </a:r>
            <a:r>
              <a:rPr sz="1500" b="1" kern="0" spc="2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00</a:t>
            </a:r>
            <a:r>
              <a:rPr sz="1500" b="1" kern="0" spc="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500" b="1" kern="0" spc="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1500" b="1" kern="0" spc="15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kern="0" spc="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means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8275319" y="4343400"/>
            <a:ext cx="1692275" cy="1371600"/>
          </a:xfrm>
          <a:prstGeom prst="roundRect">
            <a:avLst>
              <a:gd name="adj" fmla="val 5541"/>
            </a:avLst>
          </a:prstGeom>
          <a:solidFill>
            <a:srgbClr val="EEF2FA">
              <a:alpha val="100000"/>
            </a:srgbClr>
          </a:solidFill>
          <a:ln w="12700" cap="flat">
            <a:solidFill>
              <a:srgbClr val="EEF2FA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08025" algn="l" rtl="0" eaLnBrk="0">
              <a:lnSpc>
                <a:spcPct val="89000"/>
              </a:lnSpc>
              <a:tabLst/>
            </a:pPr>
            <a:r>
              <a:rPr sz="1500" b="1" kern="0" spc="-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500" b="1" kern="0" spc="8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kern="0" spc="-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endParaRPr sz="1500" dirty="0">
              <a:latin typeface="Calibri"/>
              <a:ea typeface="Calibri"/>
              <a:cs typeface="Calibri"/>
            </a:endParaRPr>
          </a:p>
          <a:p>
            <a:pPr marL="226695" indent="-31750" algn="l" rtl="0" eaLnBrk="0">
              <a:lnSpc>
                <a:spcPct val="99000"/>
              </a:lnSpc>
              <a:spcBef>
                <a:spcPts val="276"/>
              </a:spcBef>
              <a:tabLst/>
            </a:pPr>
            <a:r>
              <a:rPr sz="1500" b="1" kern="0" spc="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1,2,5,10,30,1</a:t>
            </a:r>
            <a:r>
              <a:rPr sz="1500" b="1" kern="0" spc="2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00</a:t>
            </a:r>
            <a:r>
              <a:rPr sz="1500" b="1" kern="0" spc="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500" b="1" kern="0" spc="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1500" b="1" kern="0" spc="15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kern="0" spc="30" dirty="0">
                <a:solidFill>
                  <a:srgbClr val="1B1F2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means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34" name="textbox 334"/>
          <p:cNvSpPr/>
          <p:nvPr/>
        </p:nvSpPr>
        <p:spPr>
          <a:xfrm>
            <a:off x="10241280" y="1234440"/>
            <a:ext cx="1371600" cy="1371600"/>
          </a:xfrm>
          <a:prstGeom prst="roundRect">
            <a:avLst>
              <a:gd name="adj" fmla="val 5541"/>
            </a:avLst>
          </a:prstGeom>
          <a:solidFill>
            <a:srgbClr val="D6E4F5">
              <a:alpha val="100000"/>
            </a:srgbClr>
          </a:solidFill>
          <a:ln w="12700" cap="flat">
            <a:solidFill>
              <a:srgbClr val="D6E4F5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86740" algn="l" rtl="0" eaLnBrk="0">
              <a:lnSpc>
                <a:spcPct val="89000"/>
              </a:lnSpc>
              <a:spcBef>
                <a:spcPts val="5"/>
              </a:spcBef>
              <a:tabLst/>
            </a:pPr>
            <a:r>
              <a:rPr sz="1500" b="1" kern="0" spc="-2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endParaRPr sz="1500" dirty="0">
              <a:latin typeface="Calibri"/>
              <a:ea typeface="Calibri"/>
              <a:cs typeface="Calibri"/>
            </a:endParaRPr>
          </a:p>
          <a:p>
            <a:pPr marL="172720" algn="l" rtl="0" eaLnBrk="0">
              <a:lnSpc>
                <a:spcPct val="89000"/>
              </a:lnSpc>
              <a:spcBef>
                <a:spcPts val="321"/>
              </a:spcBef>
              <a:tabLst/>
            </a:pPr>
            <a:r>
              <a:rPr sz="1500" b="1" kern="0" spc="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</a:t>
            </a:r>
            <a:r>
              <a:rPr sz="1500" b="1" kern="0" spc="6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(0,1)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36" name="textbox 336"/>
          <p:cNvSpPr/>
          <p:nvPr/>
        </p:nvSpPr>
        <p:spPr>
          <a:xfrm>
            <a:off x="10241280" y="2788920"/>
            <a:ext cx="1371600" cy="1371600"/>
          </a:xfrm>
          <a:prstGeom prst="roundRect">
            <a:avLst>
              <a:gd name="adj" fmla="val 5541"/>
            </a:avLst>
          </a:prstGeom>
          <a:solidFill>
            <a:srgbClr val="D6E4F5">
              <a:alpha val="100000"/>
            </a:srgbClr>
          </a:solidFill>
          <a:ln w="12700" cap="flat">
            <a:solidFill>
              <a:srgbClr val="D6E4F5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86740" algn="l" rtl="0" eaLnBrk="0">
              <a:lnSpc>
                <a:spcPct val="89000"/>
              </a:lnSpc>
              <a:tabLst/>
            </a:pPr>
            <a:r>
              <a:rPr sz="1500" b="1" kern="0" spc="-2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endParaRPr sz="1500" dirty="0">
              <a:latin typeface="Calibri"/>
              <a:ea typeface="Calibri"/>
              <a:cs typeface="Calibri"/>
            </a:endParaRPr>
          </a:p>
          <a:p>
            <a:pPr marL="172720" algn="l" rtl="0" eaLnBrk="0">
              <a:lnSpc>
                <a:spcPct val="89000"/>
              </a:lnSpc>
              <a:spcBef>
                <a:spcPts val="318"/>
              </a:spcBef>
              <a:tabLst/>
            </a:pPr>
            <a:r>
              <a:rPr sz="1500" b="1" kern="0" spc="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</a:t>
            </a:r>
            <a:r>
              <a:rPr sz="1500" b="1" kern="0" spc="6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(0,1)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10241280" y="4343400"/>
            <a:ext cx="1371600" cy="1371600"/>
          </a:xfrm>
          <a:prstGeom prst="roundRect">
            <a:avLst>
              <a:gd name="adj" fmla="val 5541"/>
            </a:avLst>
          </a:prstGeom>
          <a:solidFill>
            <a:srgbClr val="D6E4F5">
              <a:alpha val="100000"/>
            </a:srgbClr>
          </a:solidFill>
          <a:ln w="12700" cap="flat">
            <a:solidFill>
              <a:srgbClr val="D6E4F5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86740" algn="l" rtl="0" eaLnBrk="0">
              <a:lnSpc>
                <a:spcPct val="89000"/>
              </a:lnSpc>
              <a:tabLst/>
            </a:pPr>
            <a:r>
              <a:rPr sz="1500" b="1" kern="0" spc="-2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endParaRPr sz="1500" dirty="0">
              <a:latin typeface="Calibri"/>
              <a:ea typeface="Calibri"/>
              <a:cs typeface="Calibri"/>
            </a:endParaRPr>
          </a:p>
          <a:p>
            <a:pPr marL="172720" algn="l" rtl="0" eaLnBrk="0">
              <a:lnSpc>
                <a:spcPct val="89000"/>
              </a:lnSpc>
              <a:spcBef>
                <a:spcPts val="318"/>
              </a:spcBef>
              <a:tabLst/>
            </a:pPr>
            <a:r>
              <a:rPr sz="1500" b="1" kern="0" spc="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</a:t>
            </a:r>
            <a:r>
              <a:rPr sz="1500" b="1" kern="0" spc="6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(0,1)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340" name="textbox 340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42" name="path 342"/>
          <p:cNvSpPr/>
          <p:nvPr/>
        </p:nvSpPr>
        <p:spPr>
          <a:xfrm>
            <a:off x="7982711" y="3346704"/>
            <a:ext cx="265176" cy="256032"/>
          </a:xfrm>
          <a:custGeom>
            <a:avLst/>
            <a:gdLst/>
            <a:ahLst/>
            <a:cxnLst/>
            <a:rect l="0" t="0" r="0" b="0"/>
            <a:pathLst>
              <a:path w="417" h="403">
                <a:moveTo>
                  <a:pt x="0" y="100"/>
                </a:moveTo>
                <a:lnTo>
                  <a:pt x="215" y="100"/>
                </a:lnTo>
                <a:lnTo>
                  <a:pt x="215" y="0"/>
                </a:lnTo>
                <a:lnTo>
                  <a:pt x="417" y="201"/>
                </a:lnTo>
                <a:lnTo>
                  <a:pt x="215" y="403"/>
                </a:lnTo>
                <a:lnTo>
                  <a:pt x="215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4" name="path 344"/>
          <p:cNvSpPr/>
          <p:nvPr/>
        </p:nvSpPr>
        <p:spPr>
          <a:xfrm>
            <a:off x="7982711" y="4901183"/>
            <a:ext cx="265176" cy="256032"/>
          </a:xfrm>
          <a:custGeom>
            <a:avLst/>
            <a:gdLst/>
            <a:ahLst/>
            <a:cxnLst/>
            <a:rect l="0" t="0" r="0" b="0"/>
            <a:pathLst>
              <a:path w="417" h="403">
                <a:moveTo>
                  <a:pt x="0" y="100"/>
                </a:moveTo>
                <a:lnTo>
                  <a:pt x="215" y="100"/>
                </a:lnTo>
                <a:lnTo>
                  <a:pt x="215" y="0"/>
                </a:lnTo>
                <a:lnTo>
                  <a:pt x="417" y="201"/>
                </a:lnTo>
                <a:lnTo>
                  <a:pt x="215" y="403"/>
                </a:lnTo>
                <a:lnTo>
                  <a:pt x="215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6" name="path 346"/>
          <p:cNvSpPr/>
          <p:nvPr/>
        </p:nvSpPr>
        <p:spPr>
          <a:xfrm>
            <a:off x="7982711" y="1792224"/>
            <a:ext cx="265176" cy="256031"/>
          </a:xfrm>
          <a:custGeom>
            <a:avLst/>
            <a:gdLst/>
            <a:ahLst/>
            <a:cxnLst/>
            <a:rect l="0" t="0" r="0" b="0"/>
            <a:pathLst>
              <a:path w="417" h="403">
                <a:moveTo>
                  <a:pt x="0" y="100"/>
                </a:moveTo>
                <a:lnTo>
                  <a:pt x="215" y="100"/>
                </a:lnTo>
                <a:lnTo>
                  <a:pt x="215" y="0"/>
                </a:lnTo>
                <a:lnTo>
                  <a:pt x="417" y="201"/>
                </a:lnTo>
                <a:lnTo>
                  <a:pt x="215" y="403"/>
                </a:lnTo>
                <a:lnTo>
                  <a:pt x="215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path 348"/>
          <p:cNvSpPr/>
          <p:nvPr/>
        </p:nvSpPr>
        <p:spPr>
          <a:xfrm>
            <a:off x="9994392" y="3346704"/>
            <a:ext cx="219455" cy="256032"/>
          </a:xfrm>
          <a:custGeom>
            <a:avLst/>
            <a:gdLst/>
            <a:ahLst/>
            <a:cxnLst/>
            <a:rect l="0" t="0" r="0" b="0"/>
            <a:pathLst>
              <a:path w="345" h="403">
                <a:moveTo>
                  <a:pt x="0" y="100"/>
                </a:moveTo>
                <a:lnTo>
                  <a:pt x="172" y="100"/>
                </a:lnTo>
                <a:lnTo>
                  <a:pt x="172" y="0"/>
                </a:lnTo>
                <a:lnTo>
                  <a:pt x="345" y="201"/>
                </a:lnTo>
                <a:lnTo>
                  <a:pt x="172" y="403"/>
                </a:lnTo>
                <a:lnTo>
                  <a:pt x="172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0" name="path 350"/>
          <p:cNvSpPr/>
          <p:nvPr/>
        </p:nvSpPr>
        <p:spPr>
          <a:xfrm>
            <a:off x="9994392" y="4901183"/>
            <a:ext cx="219455" cy="256032"/>
          </a:xfrm>
          <a:custGeom>
            <a:avLst/>
            <a:gdLst/>
            <a:ahLst/>
            <a:cxnLst/>
            <a:rect l="0" t="0" r="0" b="0"/>
            <a:pathLst>
              <a:path w="345" h="403">
                <a:moveTo>
                  <a:pt x="0" y="100"/>
                </a:moveTo>
                <a:lnTo>
                  <a:pt x="172" y="100"/>
                </a:lnTo>
                <a:lnTo>
                  <a:pt x="172" y="0"/>
                </a:lnTo>
                <a:lnTo>
                  <a:pt x="345" y="201"/>
                </a:lnTo>
                <a:lnTo>
                  <a:pt x="172" y="403"/>
                </a:lnTo>
                <a:lnTo>
                  <a:pt x="172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2" name="path 352"/>
          <p:cNvSpPr/>
          <p:nvPr/>
        </p:nvSpPr>
        <p:spPr>
          <a:xfrm>
            <a:off x="9994392" y="1792224"/>
            <a:ext cx="219455" cy="256031"/>
          </a:xfrm>
          <a:custGeom>
            <a:avLst/>
            <a:gdLst/>
            <a:ahLst/>
            <a:cxnLst/>
            <a:rect l="0" t="0" r="0" b="0"/>
            <a:pathLst>
              <a:path w="345" h="403">
                <a:moveTo>
                  <a:pt x="0" y="100"/>
                </a:moveTo>
                <a:lnTo>
                  <a:pt x="172" y="100"/>
                </a:lnTo>
                <a:lnTo>
                  <a:pt x="172" y="0"/>
                </a:lnTo>
                <a:lnTo>
                  <a:pt x="345" y="201"/>
                </a:lnTo>
                <a:lnTo>
                  <a:pt x="172" y="403"/>
                </a:lnTo>
                <a:lnTo>
                  <a:pt x="172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box 354"/>
          <p:cNvSpPr/>
          <p:nvPr/>
        </p:nvSpPr>
        <p:spPr>
          <a:xfrm>
            <a:off x="557428" y="1312367"/>
            <a:ext cx="5029200" cy="3749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Zn =</a:t>
            </a:r>
            <a:r>
              <a:rPr sz="1800" b="1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(1/(σ√</a:t>
            </a:r>
            <a:r>
              <a:rPr sz="1800" b="1" kern="0" spc="-3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n))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Σᵢ</a:t>
            </a:r>
            <a:r>
              <a:rPr sz="1800" b="1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(Xi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μ)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⇒</a:t>
            </a:r>
            <a:r>
              <a:rPr sz="1800" kern="0" spc="60" dirty="0">
                <a:solidFill>
                  <a:srgbClr val="C97F1E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  </a:t>
            </a:r>
            <a:r>
              <a:rPr sz="18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Normal(0,1)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9870" indent="-215265" algn="l" rtl="0" eaLnBrk="0">
              <a:lnSpc>
                <a:spcPct val="104000"/>
              </a:lnSpc>
              <a:spcBef>
                <a:spcPts val="149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Equivale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ntly: X̄</a:t>
            </a:r>
            <a:r>
              <a:rPr sz="2000" kern="0" spc="-3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ₙ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approximately</a:t>
            </a:r>
            <a:r>
              <a:rPr sz="2000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Normal(μ,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σ²/n) for</a:t>
            </a:r>
            <a:r>
              <a:rPr sz="2000" kern="0" spc="2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large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4000"/>
              </a:lnSpc>
              <a:spcBef>
                <a:spcPts val="1653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This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why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 approximatio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ns support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0504" algn="l" rtl="0" eaLnBrk="0">
              <a:lnSpc>
                <a:spcPct val="104000"/>
              </a:lnSpc>
              <a:spcBef>
                <a:spcPts val="31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confidence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intervals,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 why Gaussian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curves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emerge from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many small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 effects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7965" indent="-214629" algn="l" rtl="0" eaLnBrk="0">
              <a:lnSpc>
                <a:spcPct val="117000"/>
              </a:lnSpc>
              <a:spcBef>
                <a:spcPts val="1375"/>
              </a:spcBef>
              <a:tabLst/>
            </a:pPr>
            <a:r>
              <a:rPr sz="1800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Misconception:</a:t>
            </a:r>
            <a:r>
              <a:rPr sz="1800" b="1" kern="0" spc="1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CLT does</a:t>
            </a:r>
            <a:r>
              <a:rPr sz="1800" b="1" kern="0" spc="1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say the</a:t>
            </a:r>
            <a:r>
              <a:rPr sz="1800" b="1" kern="0" spc="9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original</a:t>
            </a:r>
            <a:r>
              <a:rPr sz="1800" b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800" b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 are</a:t>
            </a:r>
            <a:r>
              <a:rPr sz="1800" b="1" kern="0" spc="2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5425" indent="-213359" algn="l" rtl="0" eaLnBrk="0">
              <a:lnSpc>
                <a:spcPct val="103000"/>
              </a:lnSpc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 only say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STANDARDIZED SAMPLE MEAN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becomes approximately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Normal.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6126479" y="3977640"/>
            <a:ext cx="5577840" cy="2103754"/>
          </a:xfrm>
          <a:prstGeom prst="rect">
            <a:avLst/>
          </a:prstGeom>
          <a:solidFill>
            <a:srgbClr val="EEF2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115" indent="-6350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relevance: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explains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nois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minibatch gradient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behavior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deep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learning, and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return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-estimation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error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reinforcement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learning.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26" name="group 26"/>
          <p:cNvGrpSpPr/>
          <p:nvPr/>
        </p:nvGrpSpPr>
        <p:grpSpPr>
          <a:xfrm rot="21600000">
            <a:off x="6260338" y="2144077"/>
            <a:ext cx="5332115" cy="1564973"/>
            <a:chOff x="0" y="0"/>
            <a:chExt cx="5332115" cy="1564973"/>
          </a:xfrm>
        </p:grpSpPr>
        <p:pic>
          <p:nvPicPr>
            <p:cNvPr id="358" name="picture 3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310123" cy="1310830"/>
            </a:xfrm>
            <a:prstGeom prst="rect">
              <a:avLst/>
            </a:prstGeom>
          </p:spPr>
        </p:pic>
        <p:sp>
          <p:nvSpPr>
            <p:cNvPr id="360" name="textbox 360"/>
            <p:cNvSpPr/>
            <p:nvPr/>
          </p:nvSpPr>
          <p:spPr>
            <a:xfrm rot="16200000">
              <a:off x="1157023" y="169658"/>
              <a:ext cx="240029" cy="25768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-3.0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900" kern="0" spc="-1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-0.2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362" name="textbox 362"/>
            <p:cNvSpPr/>
            <p:nvPr/>
          </p:nvSpPr>
          <p:spPr>
            <a:xfrm rot="16200000">
              <a:off x="3870487" y="61306"/>
              <a:ext cx="198754" cy="2750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8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3.0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64" name="textbox 364"/>
          <p:cNvSpPr/>
          <p:nvPr/>
        </p:nvSpPr>
        <p:spPr>
          <a:xfrm>
            <a:off x="556285" y="421432"/>
            <a:ext cx="6866890" cy="374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Central Limit Theorem: The</a:t>
            </a:r>
            <a:r>
              <a:rPr sz="3200" b="1" kern="0" spc="15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Form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ula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366" name="textbox 366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68" name="textbox 368"/>
          <p:cNvSpPr/>
          <p:nvPr/>
        </p:nvSpPr>
        <p:spPr>
          <a:xfrm>
            <a:off x="7428760" y="1534724"/>
            <a:ext cx="2983864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Standardized Sample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 →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N(0,1)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box 370"/>
          <p:cNvSpPr/>
          <p:nvPr/>
        </p:nvSpPr>
        <p:spPr>
          <a:xfrm>
            <a:off x="555064" y="393355"/>
            <a:ext cx="5421629" cy="5045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Information Theory: Entropy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540"/>
              </a:spcBef>
              <a:tabLst/>
            </a:pPr>
            <a:r>
              <a:rPr sz="1800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Entropy</a:t>
            </a:r>
            <a:r>
              <a:rPr sz="1800" b="1" kern="0" spc="2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(X)</a:t>
            </a:r>
            <a:r>
              <a:rPr sz="1800" b="1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-Σₓ</a:t>
            </a:r>
            <a:r>
              <a:rPr sz="1800" b="1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P(X=x)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</a:t>
            </a:r>
            <a:r>
              <a:rPr sz="1800" b="1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(X=x)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0665" indent="-223520" algn="l" rtl="0" eaLnBrk="0">
              <a:lnSpc>
                <a:spcPct val="111000"/>
              </a:lnSpc>
              <a:spcBef>
                <a:spcPts val="1512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Entropy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measures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certainty: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higher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H(X) =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more</a:t>
            </a:r>
            <a:r>
              <a:rPr sz="2000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 outcome.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7145" algn="l" rtl="0" eaLnBrk="0">
              <a:lnSpc>
                <a:spcPct val="84000"/>
              </a:lnSpc>
              <a:spcBef>
                <a:spcPts val="1315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Binary example: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entr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opy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highest at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p=0.5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0029" indent="-1905" algn="l" rtl="0" eaLnBrk="0">
              <a:lnSpc>
                <a:spcPct val="104000"/>
              </a:lnSpc>
              <a:spcBef>
                <a:spcPts val="319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(maximum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uncertainty), and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lowest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p=0 or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p=1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(nearly certain).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2409" indent="-215265" algn="l" rtl="0" eaLnBrk="0">
              <a:lnSpc>
                <a:spcPct val="110000"/>
              </a:lnSpc>
              <a:spcBef>
                <a:spcPts val="1394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Maximum-ent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ropy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principle: choose the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least-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committal distribution consistent with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what you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30504" indent="-215900" algn="l" rtl="0" eaLnBrk="0">
              <a:lnSpc>
                <a:spcPct val="103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Loosely connects</a:t>
            </a:r>
            <a:r>
              <a:rPr sz="1800" i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gistic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regression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 reasoning</a:t>
            </a:r>
            <a:r>
              <a:rPr sz="1800" i="1" kern="0" spc="2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without overcommitting.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6215553" y="1834932"/>
            <a:ext cx="5367036" cy="2787507"/>
            <a:chOff x="0" y="0"/>
            <a:chExt cx="5367036" cy="2787507"/>
          </a:xfrm>
        </p:grpSpPr>
        <p:pic>
          <p:nvPicPr>
            <p:cNvPr id="372" name="picture 3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266018" y="51525"/>
              <a:ext cx="5101018" cy="2455417"/>
            </a:xfrm>
            <a:prstGeom prst="rect">
              <a:avLst/>
            </a:prstGeom>
          </p:spPr>
        </p:pic>
        <p:sp>
          <p:nvSpPr>
            <p:cNvPr id="374" name="textbox 374"/>
            <p:cNvSpPr/>
            <p:nvPr/>
          </p:nvSpPr>
          <p:spPr>
            <a:xfrm rot="16200000">
              <a:off x="2655632" y="150059"/>
              <a:ext cx="267334" cy="50336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0.0</a:t>
              </a:r>
              <a:r>
                <a:rPr sz="900" kern="0" spc="-1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3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0.04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0.07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5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</a:t>
              </a:r>
              <a:r>
                <a:rPr sz="900" kern="0" spc="-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</a:t>
              </a:r>
              <a:r>
                <a:rPr sz="900" kern="0" spc="-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13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3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</a:t>
              </a:r>
              <a:r>
                <a:rPr sz="900" kern="0" spc="-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</a:t>
              </a:r>
              <a:r>
                <a:rPr sz="900" kern="0" spc="-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19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5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0.25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3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</a:t>
              </a:r>
              <a:r>
                <a:rPr sz="900" kern="0" spc="-1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5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0.37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3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0.43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5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0.49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3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0.55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5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</a:t>
              </a:r>
              <a:r>
                <a:rPr sz="900" kern="0" spc="-1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3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0.67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5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0.70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0.73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3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0.76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0.79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5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0.85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3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0.9</a:t>
              </a:r>
              <a:r>
                <a:rPr sz="900" kern="0" spc="-1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5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0.94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62"/>
                </a:spcBef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0.97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376" name="textbox 376"/>
            <p:cNvSpPr/>
            <p:nvPr/>
          </p:nvSpPr>
          <p:spPr>
            <a:xfrm>
              <a:off x="-12700" y="-12700"/>
              <a:ext cx="214629" cy="2568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3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tabLst/>
              </a:pPr>
              <a:r>
                <a:rPr sz="1100" kern="0" spc="-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1.2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6000"/>
                </a:lnSpc>
                <a:spcBef>
                  <a:spcPts val="281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334"/>
                </a:spcBef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334"/>
                </a:spcBef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337"/>
                </a:spcBef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334"/>
                </a:spcBef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2"/>
                </a:spcBef>
                <a:tabLst/>
              </a:pPr>
              <a:r>
                <a:rPr sz="11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11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78" name="textbox 378"/>
          <p:cNvSpPr/>
          <p:nvPr/>
        </p:nvSpPr>
        <p:spPr>
          <a:xfrm>
            <a:off x="6496050" y="4831079"/>
            <a:ext cx="4849495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Peak at p=0.5</a:t>
            </a:r>
            <a:r>
              <a:rPr sz="1800" i="1" kern="0" spc="1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 bit); entropy</a:t>
            </a:r>
            <a:r>
              <a:rPr sz="1800" i="1" kern="0" spc="1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 p</a:t>
            </a:r>
            <a:r>
              <a:rPr sz="1800" i="1" kern="0" spc="1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 0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 p</a:t>
            </a:r>
            <a:r>
              <a:rPr sz="1800" i="1" kern="0" spc="1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i="1" kern="0" spc="9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32864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(near-certain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outcome).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80" name="textbox 380"/>
          <p:cNvSpPr/>
          <p:nvPr/>
        </p:nvSpPr>
        <p:spPr>
          <a:xfrm>
            <a:off x="551713" y="74930"/>
            <a:ext cx="27114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FOUNDATIONS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7798879" y="1540002"/>
            <a:ext cx="2244725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3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Binary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Entropy Curve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H(p)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 384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6" name="picture 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743200"/>
            <a:ext cx="3657600" cy="4114797"/>
          </a:xfrm>
          <a:prstGeom prst="rect">
            <a:avLst/>
          </a:prstGeom>
        </p:spPr>
      </p:pic>
      <p:sp>
        <p:nvSpPr>
          <p:cNvPr id="388" name="textbox 388"/>
          <p:cNvSpPr/>
          <p:nvPr/>
        </p:nvSpPr>
        <p:spPr>
          <a:xfrm>
            <a:off x="957249" y="2288356"/>
            <a:ext cx="5589270" cy="3208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625" algn="l" rtl="0" eaLnBrk="0">
              <a:lnSpc>
                <a:spcPct val="84000"/>
              </a:lnSpc>
              <a:tabLst/>
            </a:pPr>
            <a:r>
              <a:rPr sz="12900" b="1" kern="0" spc="-16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02</a:t>
            </a:r>
            <a:endParaRPr sz="129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84000"/>
              </a:lnSpc>
              <a:spcBef>
                <a:spcPts val="1143"/>
              </a:spcBef>
              <a:tabLst/>
            </a:pPr>
            <a:r>
              <a:rPr sz="3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Probability Distributions</a:t>
            </a:r>
            <a:endParaRPr sz="3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Discrete and continuous</a:t>
            </a:r>
            <a:r>
              <a:rPr sz="1800" i="1" kern="0" spc="-17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families, and how t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</a:t>
            </a:r>
            <a:r>
              <a:rPr sz="1800" i="1" kern="0" spc="7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choose</a:t>
            </a:r>
            <a:r>
              <a:rPr sz="1800" i="1" kern="0" spc="8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390" name="picture 3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75519" y="0"/>
            <a:ext cx="2316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2" name="table 392"/>
          <p:cNvGraphicFramePr>
            <a:graphicFrameLocks noGrp="1"/>
          </p:cNvGraphicFramePr>
          <p:nvPr/>
        </p:nvGraphicFramePr>
        <p:xfrm>
          <a:off x="1366837" y="1229677"/>
          <a:ext cx="9427209" cy="5038725"/>
        </p:xfrm>
        <a:graphic>
          <a:graphicData uri="http://schemas.openxmlformats.org/drawingml/2006/table">
            <a:tbl>
              <a:tblPr/>
              <a:tblGrid>
                <a:gridCol w="4713604"/>
                <a:gridCol w="4713604"/>
              </a:tblGrid>
              <a:tr h="461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3570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Data Type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8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4460" algn="l" rtl="0" eaLnBrk="0">
                        <a:lnSpc>
                          <a:spcPct val="69000"/>
                        </a:lnSpc>
                        <a:tabLst/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Possible Distribution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264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Binary outcome</a:t>
                      </a:r>
                      <a:r>
                        <a:rPr sz="18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(yes/no)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57704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Bernoulli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4244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 of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successes</a:t>
                      </a:r>
                      <a:r>
                        <a:rPr sz="18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1800" kern="0" spc="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sz="1800" kern="0" spc="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trials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7864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Binomial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7610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Event count</a:t>
                      </a:r>
                      <a:r>
                        <a:rPr sz="1800" kern="0" spc="1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1800" kern="0" spc="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an</a:t>
                      </a:r>
                      <a:r>
                        <a:rPr sz="1800" kern="0" spc="1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interval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1204" algn="l" rtl="0" eaLnBrk="0">
                        <a:lnSpc>
                          <a:spcPct val="66000"/>
                        </a:lnSpc>
                        <a:tabLst/>
                      </a:pP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Poisson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83994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Multiple</a:t>
                      </a:r>
                      <a:r>
                        <a:rPr sz="18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categorie</a:t>
                      </a: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784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Multinomial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9825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Bounded continuous val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0725" algn="l" rtl="0" eaLnBrk="0">
                        <a:lnSpc>
                          <a:spcPct val="7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Uniform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635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Bell-shaped continuous value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8125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Gaussian</a:t>
                      </a:r>
                      <a:r>
                        <a:rPr sz="1800" kern="0" spc="18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(Normal)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037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Waiting time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816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Exponential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238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Positive, skewed value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0250" algn="l" rtl="0" eaLnBrk="0">
                        <a:lnSpc>
                          <a:spcPct val="66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Gamma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4125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1800" kern="0" spc="1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probability</a:t>
                      </a:r>
                      <a:r>
                        <a:rPr sz="1800" kern="0" spc="1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parame</a:t>
                      </a: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ter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4714" algn="l" rtl="0" eaLnBrk="0">
                        <a:lnSpc>
                          <a:spcPts val="140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5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Beta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2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49069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1800" kern="0" spc="1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probability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vector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5010" algn="l" rtl="0" eaLnBrk="0">
                        <a:lnSpc>
                          <a:spcPct val="7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Dirichlet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4" name="textbox 394"/>
          <p:cNvSpPr/>
          <p:nvPr/>
        </p:nvSpPr>
        <p:spPr>
          <a:xfrm>
            <a:off x="551713" y="74930"/>
            <a:ext cx="6238240" cy="756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IONS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7145" algn="l" rtl="0" eaLnBrk="0">
              <a:lnSpc>
                <a:spcPct val="84000"/>
              </a:lnSpc>
              <a:spcBef>
                <a:spcPts val="726"/>
              </a:spcBef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Choosing a Distribution: The</a:t>
            </a:r>
            <a:r>
              <a:rPr sz="3200" b="1" kern="0" spc="14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Ma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box 396"/>
          <p:cNvSpPr/>
          <p:nvPr/>
        </p:nvSpPr>
        <p:spPr>
          <a:xfrm>
            <a:off x="551713" y="74930"/>
            <a:ext cx="5216525" cy="5073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71000"/>
              </a:lnSpc>
              <a:spcBef>
                <a:spcPts val="977"/>
              </a:spcBef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Bernoulli Distribution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4000"/>
              </a:lnSpc>
              <a:spcBef>
                <a:spcPts val="610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What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models: on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binary trial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1934" algn="l" rtl="0" eaLnBrk="0">
              <a:lnSpc>
                <a:spcPts val="2592"/>
              </a:lnSpc>
              <a:tabLst/>
            </a:pP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(success/failure, yes/no).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3000"/>
              </a:lnSpc>
              <a:spcBef>
                <a:spcPts val="547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X ~</a:t>
            </a:r>
            <a:r>
              <a:rPr sz="1800" kern="0" spc="2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Bernoulli(p):</a:t>
            </a:r>
            <a:r>
              <a:rPr sz="1800" kern="0" spc="2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P(X=1)=p,</a:t>
            </a:r>
            <a:r>
              <a:rPr sz="1800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P(X=0)=1-p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8415" algn="l" rtl="0" eaLnBrk="0">
              <a:lnSpc>
                <a:spcPct val="83000"/>
              </a:lnSpc>
              <a:spcBef>
                <a:spcPts val="1735"/>
              </a:spcBef>
              <a:tabLst/>
            </a:pP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E[X] =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p,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(X)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p(1-p)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3840" indent="-223520" algn="l" rtl="0" eaLnBrk="0">
              <a:lnSpc>
                <a:spcPct val="104000"/>
              </a:lnSpc>
              <a:spcBef>
                <a:spcPts val="1510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 examples: spam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label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dropout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mask, sigmoid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neural outpu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4790" indent="-206375" algn="l" rtl="0" eaLnBrk="0">
              <a:lnSpc>
                <a:spcPct val="103000"/>
              </a:lnSpc>
              <a:spcBef>
                <a:spcPts val="1415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Assumption: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two mutually exclusive outco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mes,</a:t>
            </a:r>
            <a:r>
              <a:rPr sz="1800" i="1" kern="0" spc="-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fixed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 across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epetitions.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2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3679" indent="-215265" algn="l" rtl="0" eaLnBrk="0">
              <a:lnSpc>
                <a:spcPct val="103000"/>
              </a:lnSpc>
              <a:tabLst/>
            </a:pPr>
            <a:r>
              <a:rPr sz="1800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Limitation: cannot</a:t>
            </a:r>
            <a:r>
              <a:rPr sz="1800" i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represent</a:t>
            </a:r>
            <a:r>
              <a:rPr sz="1800" i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more</a:t>
            </a:r>
            <a:r>
              <a:rPr sz="1800" i="1" kern="0" spc="1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than</a:t>
            </a:r>
            <a:r>
              <a:rPr sz="1800" i="1" kern="0" spc="8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tw</a:t>
            </a:r>
            <a:r>
              <a:rPr sz="1800" i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outcomes or a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time-varying</a:t>
            </a:r>
            <a:r>
              <a:rPr sz="1800" i="1" kern="0" spc="5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rate.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6216065" y="1944039"/>
            <a:ext cx="5354396" cy="2591511"/>
            <a:chOff x="0" y="0"/>
            <a:chExt cx="5354396" cy="2591511"/>
          </a:xfrm>
        </p:grpSpPr>
        <p:pic>
          <p:nvPicPr>
            <p:cNvPr id="398" name="picture 3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289890" y="55194"/>
              <a:ext cx="5064505" cy="2264917"/>
            </a:xfrm>
            <a:prstGeom prst="rect">
              <a:avLst/>
            </a:prstGeom>
          </p:spPr>
        </p:pic>
        <p:sp>
          <p:nvSpPr>
            <p:cNvPr id="400" name="textbox 400"/>
            <p:cNvSpPr/>
            <p:nvPr/>
          </p:nvSpPr>
          <p:spPr>
            <a:xfrm>
              <a:off x="1405966" y="484439"/>
              <a:ext cx="2877820" cy="21202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90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779" algn="l" rtl="0" eaLnBrk="0">
                <a:lnSpc>
                  <a:spcPct val="78000"/>
                </a:lnSpc>
                <a:tabLst/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0.70</a:t>
              </a:r>
              <a:endParaRPr sz="14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420"/>
                </a:spcBef>
                <a:tabLst/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0.30</a:t>
              </a:r>
              <a:endParaRPr sz="14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X=0                                         X</a:t>
              </a:r>
              <a:r>
                <a:rPr sz="15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=1</a:t>
              </a:r>
              <a:endParaRPr sz="15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402" name="textbox 402"/>
            <p:cNvSpPr/>
            <p:nvPr/>
          </p:nvSpPr>
          <p:spPr>
            <a:xfrm>
              <a:off x="-12700" y="-12700"/>
              <a:ext cx="231140" cy="23710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42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4000"/>
                </a:lnSpc>
                <a:tabLst/>
              </a:pPr>
              <a:r>
                <a:rPr sz="10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61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0.9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610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61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0.7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610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61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610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611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61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610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6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04" name="textbox 404"/>
          <p:cNvSpPr/>
          <p:nvPr/>
        </p:nvSpPr>
        <p:spPr>
          <a:xfrm>
            <a:off x="8142670" y="1632528"/>
            <a:ext cx="1563369" cy="218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Bernoulli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(p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 0.3)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406"/>
          <p:cNvSpPr/>
          <p:nvPr/>
        </p:nvSpPr>
        <p:spPr>
          <a:xfrm>
            <a:off x="555064" y="421432"/>
            <a:ext cx="5077459" cy="4765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Binomial Distribution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8125" indent="-220979" algn="l" rtl="0" eaLnBrk="0">
              <a:lnSpc>
                <a:spcPct val="104000"/>
              </a:lnSpc>
              <a:spcBef>
                <a:spcPts val="612"/>
              </a:spcBef>
              <a:tabLst/>
            </a:pP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What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models: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 of successes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Bernoulli(p) tr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ials.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5000"/>
              </a:lnSpc>
              <a:spcBef>
                <a:spcPts val="1591"/>
              </a:spcBef>
              <a:tabLst/>
            </a:pP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P(Y=k)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C(n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,k)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pᵏ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(1-p)ⁿ_ᵏ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3000"/>
              </a:lnSpc>
              <a:spcBef>
                <a:spcPts val="1735"/>
              </a:spcBef>
              <a:tabLst/>
            </a:pP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E[Y] =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np,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Var(Y)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np(1-p)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0029" indent="-222884" algn="l" rtl="0" eaLnBrk="0">
              <a:lnSpc>
                <a:spcPct val="105000"/>
              </a:lnSpc>
              <a:spcBef>
                <a:spcPts val="1543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 example: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 of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purchases a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mong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users</a:t>
            </a:r>
            <a:r>
              <a:rPr sz="2000" kern="0" spc="2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an</a:t>
            </a:r>
            <a:r>
              <a:rPr sz="2000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A/B</a:t>
            </a:r>
            <a:r>
              <a:rPr sz="20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test.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0504" indent="-215900" algn="l" rtl="0" eaLnBrk="0">
              <a:lnSpc>
                <a:spcPct val="110000"/>
              </a:lnSpc>
              <a:spcBef>
                <a:spcPts val="1335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Assumption: indepe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ndence and CONSTANT</a:t>
            </a:r>
            <a:r>
              <a:rPr sz="1800" i="1" kern="0" spc="-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across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trials.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35584" indent="-220979" algn="l" rtl="0" eaLnBrk="0">
              <a:lnSpc>
                <a:spcPct val="110000"/>
              </a:lnSpc>
              <a:spcBef>
                <a:spcPts val="7"/>
              </a:spcBef>
              <a:tabLst/>
            </a:pPr>
            <a:r>
              <a:rPr sz="1800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Limitation: social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influence or</a:t>
            </a:r>
            <a:r>
              <a:rPr sz="1800" i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i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changing</a:t>
            </a:r>
            <a:r>
              <a:rPr sz="1800" i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population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violates</a:t>
            </a:r>
            <a:r>
              <a:rPr sz="1800" i="1" kern="0" spc="1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</a:t>
            </a:r>
            <a:r>
              <a:rPr sz="1800" i="1" kern="0" spc="-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6260338" y="2744724"/>
            <a:ext cx="5310123" cy="2706052"/>
            <a:chOff x="0" y="0"/>
            <a:chExt cx="5310123" cy="2706052"/>
          </a:xfrm>
        </p:grpSpPr>
        <p:pic>
          <p:nvPicPr>
            <p:cNvPr id="408" name="picture 4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310123" cy="2542031"/>
            </a:xfrm>
            <a:prstGeom prst="rect">
              <a:avLst/>
            </a:prstGeom>
          </p:spPr>
        </p:pic>
        <p:sp>
          <p:nvSpPr>
            <p:cNvPr id="410" name="textbox 410"/>
            <p:cNvSpPr/>
            <p:nvPr/>
          </p:nvSpPr>
          <p:spPr>
            <a:xfrm>
              <a:off x="93205" y="2585853"/>
              <a:ext cx="5163820" cy="133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78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1      2       3      4       5       6      7       8      9      10  </a:t>
              </a: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11     12    13     14     15     16    17     18     19    20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12" name="textbox 412"/>
          <p:cNvSpPr/>
          <p:nvPr/>
        </p:nvSpPr>
        <p:spPr>
          <a:xfrm>
            <a:off x="551713" y="74930"/>
            <a:ext cx="219138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7978710" y="1631441"/>
            <a:ext cx="1887220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3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Binomial(n=20, p=0.3)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box 416"/>
          <p:cNvSpPr/>
          <p:nvPr/>
        </p:nvSpPr>
        <p:spPr>
          <a:xfrm>
            <a:off x="555064" y="425501"/>
            <a:ext cx="9025890" cy="4725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3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Poisson Dist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ribution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4000"/>
              </a:lnSpc>
              <a:spcBef>
                <a:spcPts val="610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What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count of sparse,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r" rtl="0" eaLnBrk="0">
              <a:lnSpc>
                <a:spcPct val="93000"/>
              </a:lnSpc>
              <a:spcBef>
                <a:spcPts val="422"/>
              </a:spcBef>
              <a:tabLst/>
            </a:pPr>
            <a:r>
              <a:rPr sz="3000" kern="0" spc="0" baseline="-3472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events</a:t>
            </a:r>
            <a:r>
              <a:rPr sz="19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000" kern="0" spc="0" baseline="-3472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per</a:t>
            </a:r>
            <a:r>
              <a:rPr sz="19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000" kern="0" spc="0" baseline="-3472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unit</a:t>
            </a:r>
            <a:r>
              <a:rPr sz="19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000" kern="0" spc="0" baseline="-3472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time</a:t>
            </a:r>
            <a:r>
              <a:rPr sz="3000" kern="0" spc="10" baseline="-3472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3000" kern="0" spc="0" baseline="-3472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space</a:t>
            </a:r>
            <a:r>
              <a:rPr sz="3000" kern="0" spc="10" baseline="-3472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r>
              <a:rPr sz="19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      </a:t>
            </a:r>
            <a:r>
              <a:rPr sz="19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                                     </a:t>
            </a:r>
            <a:r>
              <a:rPr sz="2400" kern="0" spc="0" baseline="1519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Poisson(λ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baseline="1519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baseline="15192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4)</a:t>
            </a:r>
            <a:endParaRPr sz="2400" baseline="15192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541"/>
              </a:spcBef>
              <a:tabLst/>
            </a:pP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P(Z=k)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λᵏ e⁻λ /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k!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spcBef>
                <a:spcPts val="547"/>
              </a:spcBef>
              <a:tabLst/>
            </a:pP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E[Z] =</a:t>
            </a:r>
            <a:r>
              <a:rPr sz="1800" b="1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Var(Z)</a:t>
            </a:r>
            <a:r>
              <a:rPr sz="1800" b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λ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7145" algn="l" rtl="0" eaLnBrk="0">
              <a:lnSpc>
                <a:spcPct val="84000"/>
              </a:lnSpc>
              <a:spcBef>
                <a:spcPts val="1768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 examples: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clicks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per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minute, server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requests,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8600" algn="l" rtl="0" eaLnBrk="0">
              <a:lnSpc>
                <a:spcPts val="2593"/>
              </a:lnSpc>
              <a:tabLst/>
            </a:pP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word occur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rences.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spcBef>
                <a:spcPts val="544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Assumption: independent, homogeneous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-rate events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4950" algn="l" rtl="0" eaLnBrk="0">
              <a:lnSpc>
                <a:spcPts val="2339"/>
              </a:lnSpc>
              <a:tabLst/>
            </a:pP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(Poisson p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rocess).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3000"/>
              </a:lnSpc>
              <a:spcBef>
                <a:spcPts val="1738"/>
              </a:spcBef>
              <a:tabLst/>
            </a:pPr>
            <a:r>
              <a:rPr sz="1800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Fails</a:t>
            </a:r>
            <a:r>
              <a:rPr sz="1800" i="1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when: rate</a:t>
            </a:r>
            <a:r>
              <a:rPr sz="1800" i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changes</a:t>
            </a:r>
            <a:r>
              <a:rPr sz="1800" i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 t</a:t>
            </a:r>
            <a:r>
              <a:rPr sz="1800" i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ime</a:t>
            </a:r>
            <a:r>
              <a:rPr sz="1800" i="1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(rush</a:t>
            </a:r>
            <a:r>
              <a:rPr sz="1800" i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hour)</a:t>
            </a:r>
            <a:r>
              <a:rPr sz="1800" i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0504" algn="l" rtl="0" eaLnBrk="0">
              <a:lnSpc>
                <a:spcPts val="2340"/>
              </a:lnSpc>
              <a:tabLst/>
            </a:pP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events inhib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 each</a:t>
            </a:r>
            <a:r>
              <a:rPr sz="1800" i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other.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6260338" y="2694432"/>
            <a:ext cx="5310123" cy="2756725"/>
            <a:chOff x="0" y="0"/>
            <a:chExt cx="5310123" cy="2756725"/>
          </a:xfrm>
        </p:grpSpPr>
        <p:pic>
          <p:nvPicPr>
            <p:cNvPr id="418" name="picture 4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310123" cy="2538983"/>
            </a:xfrm>
            <a:prstGeom prst="rect">
              <a:avLst/>
            </a:prstGeom>
          </p:spPr>
        </p:pic>
        <p:sp>
          <p:nvSpPr>
            <p:cNvPr id="420" name="textbox 420"/>
            <p:cNvSpPr/>
            <p:nvPr/>
          </p:nvSpPr>
          <p:spPr>
            <a:xfrm>
              <a:off x="134429" y="2600788"/>
              <a:ext cx="5093334" cy="1689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30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0       1       2       3       4       5       6       7       8       9      10     11   </a:t>
              </a: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12     13     14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22" name="textbox 422"/>
          <p:cNvSpPr/>
          <p:nvPr/>
        </p:nvSpPr>
        <p:spPr>
          <a:xfrm>
            <a:off x="551713" y="74930"/>
            <a:ext cx="219138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box 424"/>
          <p:cNvSpPr/>
          <p:nvPr/>
        </p:nvSpPr>
        <p:spPr>
          <a:xfrm>
            <a:off x="554250" y="425501"/>
            <a:ext cx="5212715" cy="6078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3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Multinomial Distribution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3679" indent="-215900" algn="l" rtl="0" eaLnBrk="0">
              <a:lnSpc>
                <a:spcPct val="104000"/>
              </a:lnSpc>
              <a:spcBef>
                <a:spcPts val="604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What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models: counts across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 categories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after</a:t>
            </a:r>
            <a:r>
              <a:rPr sz="2000" kern="0" spc="2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 trials.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4000"/>
              </a:lnSpc>
              <a:spcBef>
                <a:spcPts val="1613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P(N₁=k₁,...,N_K=k_K) =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n!/(k₁</a:t>
            </a:r>
            <a:r>
              <a:rPr sz="1800" kern="0" spc="-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!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…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k_K!)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∏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pᵢ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ᵏ</a:t>
            </a:r>
            <a:r>
              <a:rPr sz="1800" kern="0" spc="-3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ⁱ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3000"/>
              </a:lnSpc>
              <a:spcBef>
                <a:spcPts val="1735"/>
              </a:spcBef>
              <a:tabLst/>
            </a:pPr>
            <a:r>
              <a:rPr sz="18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E[Nᵢ]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npᵢ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8600" indent="-210820" algn="l" rtl="0" eaLnBrk="0">
              <a:lnSpc>
                <a:spcPct val="105000"/>
              </a:lnSpc>
              <a:spcBef>
                <a:spcPts val="1533"/>
              </a:spcBef>
              <a:tabLst/>
            </a:pP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 examples: word c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ounts, topic-model counts,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softmax-style categor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probabilities, epsilon-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greedy action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choice.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3000"/>
              </a:lnSpc>
              <a:spcBef>
                <a:spcPts val="1633"/>
              </a:spcBef>
              <a:tabLst/>
            </a:pP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softmax output parameteriz</a:t>
            </a:r>
            <a:r>
              <a:rPr sz="1800" i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 a categorical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1775" algn="l" rtl="0" eaLnBrk="0">
              <a:lnSpc>
                <a:spcPct val="83000"/>
              </a:lnSpc>
              <a:spcBef>
                <a:spcPts val="536"/>
              </a:spcBef>
              <a:tabLst/>
            </a:pP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distribution</a:t>
            </a:r>
            <a:r>
              <a:rPr sz="1800" i="1" kern="0" spc="-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800" i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one</a:t>
            </a:r>
            <a:r>
              <a:rPr sz="1800" i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trial</a:t>
            </a:r>
            <a:r>
              <a:rPr sz="1800" i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r>
              <a:rPr sz="1800" i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Counts</a:t>
            </a:r>
            <a:r>
              <a:rPr sz="1800" i="1" kern="0" spc="-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</a:t>
            </a:r>
            <a:r>
              <a:rPr sz="1800" i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repeated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1140" algn="l" rtl="0" eaLnBrk="0">
              <a:lnSpc>
                <a:spcPct val="83000"/>
              </a:lnSpc>
              <a:spcBef>
                <a:spcPts val="550"/>
              </a:spcBef>
              <a:tabLst/>
            </a:pP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categorical</a:t>
            </a:r>
            <a:r>
              <a:rPr sz="1800" i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trials</a:t>
            </a:r>
            <a:r>
              <a:rPr sz="1800" i="1" kern="0" spc="-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follow</a:t>
            </a:r>
            <a:r>
              <a:rPr sz="1800" i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i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multinomial</a:t>
            </a:r>
            <a:r>
              <a:rPr sz="1800" i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distribution</a:t>
            </a:r>
            <a:r>
              <a:rPr sz="1800" i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4950" indent="-219075" algn="l" rtl="0" eaLnBrk="0">
              <a:lnSpc>
                <a:spcPct val="110000"/>
              </a:lnSpc>
              <a:spcBef>
                <a:spcPts val="1519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Assumption: category probabiliti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 constant across    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trials.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3000"/>
              </a:lnSpc>
              <a:spcBef>
                <a:spcPts val="1335"/>
              </a:spcBef>
              <a:tabLst/>
            </a:pPr>
            <a:r>
              <a:rPr sz="1800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Limitat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ion: cannot</a:t>
            </a:r>
            <a:r>
              <a:rPr sz="1800" i="1" kern="0" spc="5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capture</a:t>
            </a:r>
            <a:r>
              <a:rPr sz="1800" i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order</a:t>
            </a:r>
            <a:r>
              <a:rPr sz="1800" i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</a:t>
            </a:r>
            <a:r>
              <a:rPr sz="1800" i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drifting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r" rtl="0" eaLnBrk="0">
              <a:lnSpc>
                <a:spcPct val="83000"/>
              </a:lnSpc>
              <a:spcBef>
                <a:spcPts val="535"/>
              </a:spcBef>
              <a:tabLst/>
            </a:pP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probabilities -- needs sequential models</a:t>
            </a:r>
            <a:r>
              <a:rPr sz="1800" i="1" kern="0" spc="10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HMM, RNN).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6216065" y="2020874"/>
            <a:ext cx="5354396" cy="2606200"/>
            <a:chOff x="0" y="0"/>
            <a:chExt cx="5354396" cy="2606200"/>
          </a:xfrm>
        </p:grpSpPr>
        <p:pic>
          <p:nvPicPr>
            <p:cNvPr id="426" name="picture 4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375234" y="54559"/>
              <a:ext cx="4979161" cy="2316733"/>
            </a:xfrm>
            <a:prstGeom prst="rect">
              <a:avLst/>
            </a:prstGeom>
          </p:spPr>
        </p:pic>
        <p:sp>
          <p:nvSpPr>
            <p:cNvPr id="428" name="textbox 428"/>
            <p:cNvSpPr/>
            <p:nvPr/>
          </p:nvSpPr>
          <p:spPr>
            <a:xfrm>
              <a:off x="748851" y="289828"/>
              <a:ext cx="4282440" cy="23291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5254" algn="l" rtl="0" eaLnBrk="0">
                <a:lnSpc>
                  <a:spcPct val="84000"/>
                </a:lnSpc>
                <a:tabLst/>
              </a:pP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0.40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67789" algn="l" rtl="0" eaLnBrk="0">
                <a:lnSpc>
                  <a:spcPct val="85000"/>
                </a:lnSpc>
                <a:spcBef>
                  <a:spcPts val="369"/>
                </a:spcBef>
                <a:tabLst/>
              </a:pP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0.30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6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599689" algn="l" rtl="0" eaLnBrk="0">
                <a:lnSpc>
                  <a:spcPct val="84000"/>
                </a:lnSpc>
                <a:spcBef>
                  <a:spcPts val="371"/>
                </a:spcBef>
                <a:tabLst/>
              </a:pP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0.20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6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831590" algn="l" rtl="0" eaLnBrk="0">
                <a:lnSpc>
                  <a:spcPct val="84000"/>
                </a:lnSpc>
                <a:spcBef>
                  <a:spcPts val="370"/>
                </a:spcBef>
                <a:tabLst/>
              </a:pP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0.10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Topic A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Topic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Topic C</a:t>
              </a:r>
              <a:r>
                <a:rPr sz="12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Top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ic</a:t>
              </a:r>
              <a:r>
                <a:rPr sz="1200" kern="0" spc="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430" name="textbox 430"/>
            <p:cNvSpPr/>
            <p:nvPr/>
          </p:nvSpPr>
          <p:spPr>
            <a:xfrm>
              <a:off x="-12700" y="-12700"/>
              <a:ext cx="316229" cy="2463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42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97155" indent="-85089" algn="l" rtl="0" eaLnBrk="0">
                <a:lnSpc>
                  <a:spcPct val="127000"/>
                </a:lnSpc>
                <a:spcBef>
                  <a:spcPts val="177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0.45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97155" indent="-85089" algn="l" rtl="0" eaLnBrk="0">
                <a:lnSpc>
                  <a:spcPct val="123000"/>
                </a:lnSpc>
                <a:spcBef>
                  <a:spcPts val="16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0.35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97155" indent="-85089" algn="l" rtl="0" eaLnBrk="0">
                <a:lnSpc>
                  <a:spcPct val="123000"/>
                </a:lnSpc>
                <a:spcBef>
                  <a:spcPts val="19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0.25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97155" indent="-85089" algn="l" rtl="0" eaLnBrk="0">
                <a:lnSpc>
                  <a:spcPct val="123000"/>
                </a:lnSpc>
                <a:spcBef>
                  <a:spcPts val="18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0.15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224790" indent="-212090" algn="l" rtl="0" eaLnBrk="0">
                <a:lnSpc>
                  <a:spcPct val="123000"/>
                </a:lnSpc>
                <a:spcBef>
                  <a:spcPts val="17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0.05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200" kern="0" spc="-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32" name="textbox 432"/>
          <p:cNvSpPr/>
          <p:nvPr/>
        </p:nvSpPr>
        <p:spPr>
          <a:xfrm>
            <a:off x="7475411" y="1720786"/>
            <a:ext cx="2893695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Example: 4-Categ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ory Probabilities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551713" y="74930"/>
            <a:ext cx="219138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box 436"/>
          <p:cNvSpPr/>
          <p:nvPr/>
        </p:nvSpPr>
        <p:spPr>
          <a:xfrm>
            <a:off x="550995" y="74930"/>
            <a:ext cx="5316854" cy="396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CONTINUOUS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4000"/>
              </a:lnSpc>
              <a:spcBef>
                <a:spcPts val="705"/>
              </a:spcBef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Uniform D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istribution</a:t>
            </a:r>
            <a:r>
              <a:rPr sz="3200" b="1" kern="0" spc="26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(Brief)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9000"/>
              </a:lnSpc>
              <a:spcBef>
                <a:spcPts val="551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fU(x) =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1/(b-a)</a:t>
            </a:r>
            <a:r>
              <a:rPr sz="1800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x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∈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[a,b],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zero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otherwise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ct val="83000"/>
              </a:lnSpc>
              <a:spcBef>
                <a:spcPts val="1731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E[U] =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(a+b)/2, 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Var(U)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(b-a)²/12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6379" indent="-225425" algn="l" rtl="0" eaLnBrk="0">
              <a:lnSpc>
                <a:spcPct val="104000"/>
              </a:lnSpc>
              <a:spcBef>
                <a:spcPts val="1509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uses: wei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ght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initialization,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action exploration,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Monte Carlo samplin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g,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random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image crops.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ct val="83000"/>
              </a:lnSpc>
              <a:spcBef>
                <a:spcPts val="1633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Assumption: every value in</a:t>
            </a:r>
            <a:r>
              <a:rPr sz="1800" i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equally likely.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25425" indent="-206375" algn="l" rtl="0" eaLnBrk="0">
              <a:lnSpc>
                <a:spcPct val="104000"/>
              </a:lnSpc>
              <a:spcBef>
                <a:spcPts val="5"/>
              </a:spcBef>
              <a:tabLst/>
            </a:pPr>
            <a:r>
              <a:rPr sz="1800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Limitation: rarely matches</a:t>
            </a:r>
            <a:r>
              <a:rPr sz="1800" i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peaked</a:t>
            </a:r>
            <a:r>
              <a:rPr sz="1800" i="1" kern="0" spc="4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</a:t>
            </a:r>
            <a:r>
              <a:rPr sz="1800" i="1" kern="0" spc="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data;</a:t>
            </a:r>
            <a:r>
              <a:rPr sz="1800" i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proper unif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orm over the</a:t>
            </a:r>
            <a:r>
              <a:rPr sz="1800" i="1" kern="0" spc="1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whole</a:t>
            </a:r>
            <a:r>
              <a:rPr sz="1800" i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 line.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38" name="group 38"/>
          <p:cNvGrpSpPr/>
          <p:nvPr/>
        </p:nvGrpSpPr>
        <p:grpSpPr>
          <a:xfrm rot="21600000">
            <a:off x="6260338" y="2572321"/>
            <a:ext cx="5310123" cy="2054308"/>
            <a:chOff x="0" y="0"/>
            <a:chExt cx="5310123" cy="2054308"/>
          </a:xfrm>
        </p:grpSpPr>
        <p:pic>
          <p:nvPicPr>
            <p:cNvPr id="438" name="picture 4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310123" cy="1877948"/>
            </a:xfrm>
            <a:prstGeom prst="rect">
              <a:avLst/>
            </a:prstGeom>
          </p:spPr>
        </p:pic>
        <p:sp>
          <p:nvSpPr>
            <p:cNvPr id="440" name="textbox 440"/>
            <p:cNvSpPr/>
            <p:nvPr/>
          </p:nvSpPr>
          <p:spPr>
            <a:xfrm>
              <a:off x="14715" y="1922959"/>
              <a:ext cx="5266690" cy="1441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-0.5 -0.4 -0.3 -0.2 -0.1  0.0  0.1</a:t>
              </a:r>
              <a:r>
                <a:rPr sz="900" kern="0" spc="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0.7</a:t>
              </a:r>
              <a:r>
                <a:rPr sz="900" kern="0" spc="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.9   1.0</a:t>
              </a:r>
              <a:r>
                <a:rPr sz="900" kern="0" spc="10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1.1</a:t>
              </a:r>
              <a:r>
                <a:rPr sz="900" kern="0" spc="1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1.2</a:t>
              </a:r>
              <a:r>
                <a:rPr sz="900" kern="0" spc="10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1.3</a:t>
              </a:r>
              <a:r>
                <a:rPr sz="900" kern="0" spc="10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1.4</a:t>
              </a:r>
              <a:r>
                <a:rPr sz="900" kern="0" spc="10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1.5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42" name="textbox 442"/>
          <p:cNvSpPr/>
          <p:nvPr/>
        </p:nvSpPr>
        <p:spPr>
          <a:xfrm>
            <a:off x="8045386" y="1905761"/>
            <a:ext cx="1757679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3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Uniform(0,1) Density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extbox 444"/>
          <p:cNvSpPr/>
          <p:nvPr/>
        </p:nvSpPr>
        <p:spPr>
          <a:xfrm>
            <a:off x="554250" y="393355"/>
            <a:ext cx="5132070" cy="3433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Normal Dis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tribution: Shape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3000"/>
              </a:lnSpc>
              <a:spcBef>
                <a:spcPts val="551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fX(x)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1/(σ√</a:t>
            </a:r>
            <a:r>
              <a:rPr sz="1800" kern="0" spc="-2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(2π))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exp(-(x-μ)²/(2σ²</a:t>
            </a:r>
            <a:r>
              <a:rPr sz="1800" kern="0" spc="-3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7779" algn="l" rtl="0" eaLnBrk="0">
              <a:lnSpc>
                <a:spcPct val="84000"/>
              </a:lnSpc>
              <a:spcBef>
                <a:spcPts val="175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μ =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cente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 the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curve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(location).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7779" algn="l" rtl="0" eaLnBrk="0">
              <a:lnSpc>
                <a:spcPct val="84000"/>
              </a:lnSpc>
              <a:spcBef>
                <a:spcPts val="1776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σ = spre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ad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000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curve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(scale).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6059" indent="-208279" algn="l" rtl="0" eaLnBrk="0">
              <a:lnSpc>
                <a:spcPct val="111000"/>
              </a:lnSpc>
              <a:spcBef>
                <a:spcPts val="1519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Symmetric,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unimoda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l,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light-tailed,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defined on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whole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line.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4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Normal(0,1)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called the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standard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446" name="picture 4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49733" y="2032825"/>
            <a:ext cx="5331333" cy="1236345"/>
          </a:xfrm>
          <a:prstGeom prst="rect">
            <a:avLst/>
          </a:prstGeom>
        </p:spPr>
      </p:pic>
      <p:pic>
        <p:nvPicPr>
          <p:cNvPr id="448" name="picture 4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49733" y="4593145"/>
            <a:ext cx="5331333" cy="1236344"/>
          </a:xfrm>
          <a:prstGeom prst="rect">
            <a:avLst/>
          </a:prstGeom>
        </p:spPr>
      </p:pic>
      <p:sp>
        <p:nvSpPr>
          <p:cNvPr id="450" name="textbox 450"/>
          <p:cNvSpPr/>
          <p:nvPr/>
        </p:nvSpPr>
        <p:spPr>
          <a:xfrm>
            <a:off x="8037830" y="3414140"/>
            <a:ext cx="1801495" cy="785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ct val="83000"/>
              </a:lnSpc>
              <a:tabLst>
                <a:tab pos="29464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	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μ=0, σ=1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μ=0,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σ=2</a:t>
            </a:r>
            <a:endParaRPr sz="12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0650" algn="l" rtl="0" eaLnBrk="0">
              <a:lnSpc>
                <a:spcPct val="79000"/>
              </a:lnSpc>
              <a:spcBef>
                <a:spcPts val="2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Different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μ, Same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σ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452" name="picture 4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06089" y="3453193"/>
            <a:ext cx="243840" cy="85725"/>
          </a:xfrm>
          <a:prstGeom prst="rect">
            <a:avLst/>
          </a:prstGeom>
        </p:spPr>
      </p:pic>
      <p:pic>
        <p:nvPicPr>
          <p:cNvPr id="454" name="picture 4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50530" y="3453193"/>
            <a:ext cx="243839" cy="85725"/>
          </a:xfrm>
          <a:prstGeom prst="rect">
            <a:avLst/>
          </a:prstGeom>
        </p:spPr>
      </p:pic>
      <p:sp>
        <p:nvSpPr>
          <p:cNvPr id="456" name="textbox 456"/>
          <p:cNvSpPr/>
          <p:nvPr/>
        </p:nvSpPr>
        <p:spPr>
          <a:xfrm>
            <a:off x="551713" y="74930"/>
            <a:ext cx="265557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CONTINUOUS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58" name="textbox 458"/>
          <p:cNvSpPr/>
          <p:nvPr/>
        </p:nvSpPr>
        <p:spPr>
          <a:xfrm>
            <a:off x="7950961" y="5975095"/>
            <a:ext cx="1974850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00"/>
              </a:lnSpc>
              <a:tabLst/>
            </a:pPr>
            <a:r>
              <a:rPr sz="2400" kern="0" spc="20" dirty="0">
                <a:solidFill>
                  <a:srgbClr val="2E7D5B">
                    <a:alpha val="100000"/>
                  </a:srgbClr>
                </a:solidFill>
                <a:latin typeface="Arial"/>
                <a:ea typeface="Arial"/>
                <a:cs typeface="Arial"/>
              </a:rPr>
              <a:t>--</a:t>
            </a:r>
            <a:r>
              <a:rPr sz="2400" kern="0" spc="-370" dirty="0">
                <a:solidFill>
                  <a:srgbClr val="2E7D5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μ=-1, σ=1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400" kern="0" spc="20" dirty="0">
                <a:solidFill>
                  <a:srgbClr val="C97F1E">
                    <a:alpha val="100000"/>
                  </a:srgbClr>
                </a:solidFill>
                <a:latin typeface="Arial"/>
                <a:ea typeface="Arial"/>
                <a:cs typeface="Arial"/>
              </a:rPr>
              <a:t>--</a:t>
            </a:r>
            <a:r>
              <a:rPr sz="2400" kern="0" spc="-340" dirty="0">
                <a:solidFill>
                  <a:srgbClr val="C97F1E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μ=1.5,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σ=1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60" name="textbox 460"/>
          <p:cNvSpPr/>
          <p:nvPr/>
        </p:nvSpPr>
        <p:spPr>
          <a:xfrm>
            <a:off x="8138945" y="1443284"/>
            <a:ext cx="1564005" cy="194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Same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μ,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Different σ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picture 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833" y="1446517"/>
            <a:ext cx="5525122" cy="1979898"/>
          </a:xfrm>
          <a:prstGeom prst="rect">
            <a:avLst/>
          </a:prstGeom>
        </p:spPr>
      </p:pic>
      <p:sp>
        <p:nvSpPr>
          <p:cNvPr id="464" name="textbox 464"/>
          <p:cNvSpPr/>
          <p:nvPr/>
        </p:nvSpPr>
        <p:spPr>
          <a:xfrm>
            <a:off x="557428" y="1318767"/>
            <a:ext cx="5016500" cy="2969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 conne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ctions: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57834" indent="-216534" algn="l" rtl="0" eaLnBrk="0">
              <a:lnSpc>
                <a:spcPct val="106000"/>
              </a:lnSpc>
              <a:spcBef>
                <a:spcPts val="1469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Linear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regression error, Gaussian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Naive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Bayes,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GMMs,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Kalma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 filters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1300" algn="l" rtl="0" eaLnBrk="0">
              <a:lnSpc>
                <a:spcPct val="83000"/>
              </a:lnSpc>
              <a:spcBef>
                <a:spcPts val="1558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VAE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latent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variables,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GAN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input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noise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spcBef>
                <a:spcPts val="548"/>
              </a:spcBef>
              <a:tabLst/>
            </a:pPr>
            <a:r>
              <a:rPr sz="1800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“</a:t>
            </a:r>
            <a:r>
              <a:rPr sz="1800" b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1800" b="1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every</a:t>
            </a:r>
            <a:r>
              <a:rPr sz="1800" b="1" kern="0" spc="14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dataset</a:t>
            </a:r>
            <a:r>
              <a:rPr sz="1800" b="1" kern="0" spc="13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800" b="1" kern="0" spc="8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Gaussian</a:t>
            </a:r>
            <a:r>
              <a:rPr sz="1800" b="1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.”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49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Heavy-tailed d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ata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(finance), non-negative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1775" indent="635" algn="l" rtl="0" eaLnBrk="0">
              <a:lnSpc>
                <a:spcPct val="104000"/>
              </a:lnSpc>
              <a:spcBef>
                <a:spcPts val="288"/>
              </a:spcBef>
              <a:tabLst/>
            </a:pP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(durations),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multimodal data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(clusters) all break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Gaussian assumption.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66" name="textbox 466"/>
          <p:cNvSpPr/>
          <p:nvPr/>
        </p:nvSpPr>
        <p:spPr>
          <a:xfrm>
            <a:off x="6126479" y="3611879"/>
            <a:ext cx="5577840" cy="2469514"/>
          </a:xfrm>
          <a:prstGeom prst="rect">
            <a:avLst/>
          </a:prstGeom>
          <a:solidFill>
            <a:srgbClr val="EEF2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3845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Multimodal image-pixel intensit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ies,</a:t>
            </a:r>
            <a:r>
              <a:rPr sz="1800" i="1" kern="0" spc="-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example,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1940" indent="1270" algn="l" rtl="0" eaLnBrk="0">
              <a:lnSpc>
                <a:spcPct val="93000"/>
              </a:lnSpc>
              <a:spcBef>
                <a:spcPts val="303"/>
              </a:spcBef>
              <a:tabLst/>
            </a:pP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cannot be captured by a single</a:t>
            </a:r>
            <a:r>
              <a:rPr sz="1800" i="1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Gaussian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 a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mixture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 is ne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eded.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6120129" y="1410970"/>
            <a:ext cx="5499100" cy="1978659"/>
            <a:chOff x="0" y="0"/>
            <a:chExt cx="5499100" cy="1978659"/>
          </a:xfrm>
        </p:grpSpPr>
        <p:grpSp>
          <p:nvGrpSpPr>
            <p:cNvPr id="42" name="group 42"/>
            <p:cNvGrpSpPr/>
            <p:nvPr/>
          </p:nvGrpSpPr>
          <p:grpSpPr>
            <a:xfrm rot="21600000">
              <a:off x="0" y="0"/>
              <a:ext cx="5499100" cy="1978659"/>
              <a:chOff x="0" y="0"/>
              <a:chExt cx="5499100" cy="1978659"/>
            </a:xfrm>
          </p:grpSpPr>
          <p:sp>
            <p:nvSpPr>
              <p:cNvPr id="468" name="path 468"/>
              <p:cNvSpPr/>
              <p:nvPr/>
            </p:nvSpPr>
            <p:spPr>
              <a:xfrm>
                <a:off x="6350" y="6350"/>
                <a:ext cx="173736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44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339"/>
                    </a:lnTo>
                    <a:cubicBezTo>
                      <a:pt x="2736" y="1394"/>
                      <a:pt x="2690" y="1440"/>
                      <a:pt x="2635" y="1440"/>
                    </a:cubicBezTo>
                    <a:lnTo>
                      <a:pt x="100" y="1440"/>
                    </a:lnTo>
                    <a:cubicBezTo>
                      <a:pt x="45" y="1440"/>
                      <a:pt x="0" y="1394"/>
                      <a:pt x="0" y="133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0" name="path 470"/>
              <p:cNvSpPr/>
              <p:nvPr/>
            </p:nvSpPr>
            <p:spPr>
              <a:xfrm>
                <a:off x="0" y="0"/>
                <a:ext cx="1750060" cy="927100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46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349"/>
                    </a:lnTo>
                    <a:cubicBezTo>
                      <a:pt x="2746" y="1404"/>
                      <a:pt x="2700" y="1450"/>
                      <a:pt x="2645" y="1450"/>
                    </a:cubicBezTo>
                    <a:lnTo>
                      <a:pt x="110" y="1450"/>
                    </a:lnTo>
                    <a:cubicBezTo>
                      <a:pt x="55" y="1450"/>
                      <a:pt x="10" y="1404"/>
                      <a:pt x="10" y="134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2" name="path 472"/>
              <p:cNvSpPr/>
              <p:nvPr/>
            </p:nvSpPr>
            <p:spPr>
              <a:xfrm>
                <a:off x="1880870" y="6350"/>
                <a:ext cx="1737359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735" h="144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5" y="45"/>
                      <a:pt x="2735" y="100"/>
                    </a:cubicBezTo>
                    <a:lnTo>
                      <a:pt x="2735" y="1339"/>
                    </a:lnTo>
                    <a:cubicBezTo>
                      <a:pt x="2735" y="1394"/>
                      <a:pt x="2690" y="1440"/>
                      <a:pt x="2635" y="1440"/>
                    </a:cubicBezTo>
                    <a:lnTo>
                      <a:pt x="100" y="1440"/>
                    </a:lnTo>
                    <a:cubicBezTo>
                      <a:pt x="45" y="1440"/>
                      <a:pt x="0" y="1394"/>
                      <a:pt x="0" y="133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4" name="path 474"/>
              <p:cNvSpPr/>
              <p:nvPr/>
            </p:nvSpPr>
            <p:spPr>
              <a:xfrm>
                <a:off x="1874520" y="0"/>
                <a:ext cx="1750059" cy="927100"/>
              </a:xfrm>
              <a:custGeom>
                <a:avLst/>
                <a:gdLst/>
                <a:ahLst/>
                <a:cxnLst/>
                <a:rect l="0" t="0" r="0" b="0"/>
                <a:pathLst>
                  <a:path w="2755" h="146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5" y="55"/>
                      <a:pt x="2745" y="110"/>
                    </a:cubicBezTo>
                    <a:lnTo>
                      <a:pt x="2745" y="1349"/>
                    </a:lnTo>
                    <a:cubicBezTo>
                      <a:pt x="2745" y="1404"/>
                      <a:pt x="2700" y="1450"/>
                      <a:pt x="2645" y="1450"/>
                    </a:cubicBezTo>
                    <a:lnTo>
                      <a:pt x="110" y="1450"/>
                    </a:lnTo>
                    <a:cubicBezTo>
                      <a:pt x="55" y="1450"/>
                      <a:pt x="10" y="1404"/>
                      <a:pt x="10" y="134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6" name="path 476"/>
              <p:cNvSpPr/>
              <p:nvPr/>
            </p:nvSpPr>
            <p:spPr>
              <a:xfrm>
                <a:off x="3755389" y="6350"/>
                <a:ext cx="173736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44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339"/>
                    </a:lnTo>
                    <a:cubicBezTo>
                      <a:pt x="2736" y="1394"/>
                      <a:pt x="2690" y="1440"/>
                      <a:pt x="2635" y="1440"/>
                    </a:cubicBezTo>
                    <a:lnTo>
                      <a:pt x="100" y="1440"/>
                    </a:lnTo>
                    <a:cubicBezTo>
                      <a:pt x="45" y="1440"/>
                      <a:pt x="0" y="1394"/>
                      <a:pt x="0" y="133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8" name="path 478"/>
              <p:cNvSpPr/>
              <p:nvPr/>
            </p:nvSpPr>
            <p:spPr>
              <a:xfrm>
                <a:off x="3749039" y="0"/>
                <a:ext cx="1750060" cy="927100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46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349"/>
                    </a:lnTo>
                    <a:cubicBezTo>
                      <a:pt x="2746" y="1404"/>
                      <a:pt x="2700" y="1450"/>
                      <a:pt x="2645" y="1450"/>
                    </a:cubicBezTo>
                    <a:lnTo>
                      <a:pt x="110" y="1450"/>
                    </a:lnTo>
                    <a:cubicBezTo>
                      <a:pt x="55" y="1450"/>
                      <a:pt x="10" y="1404"/>
                      <a:pt x="10" y="134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0" name="path 480"/>
              <p:cNvSpPr/>
              <p:nvPr/>
            </p:nvSpPr>
            <p:spPr>
              <a:xfrm>
                <a:off x="6350" y="1057909"/>
                <a:ext cx="173736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44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339"/>
                    </a:lnTo>
                    <a:cubicBezTo>
                      <a:pt x="2736" y="1394"/>
                      <a:pt x="2690" y="1440"/>
                      <a:pt x="2635" y="1440"/>
                    </a:cubicBezTo>
                    <a:lnTo>
                      <a:pt x="100" y="1440"/>
                    </a:lnTo>
                    <a:cubicBezTo>
                      <a:pt x="45" y="1440"/>
                      <a:pt x="0" y="1394"/>
                      <a:pt x="0" y="133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2" name="path 482"/>
              <p:cNvSpPr/>
              <p:nvPr/>
            </p:nvSpPr>
            <p:spPr>
              <a:xfrm>
                <a:off x="0" y="1051559"/>
                <a:ext cx="1750060" cy="927100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46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349"/>
                    </a:lnTo>
                    <a:cubicBezTo>
                      <a:pt x="2746" y="1404"/>
                      <a:pt x="2700" y="1450"/>
                      <a:pt x="2645" y="1450"/>
                    </a:cubicBezTo>
                    <a:lnTo>
                      <a:pt x="110" y="1450"/>
                    </a:lnTo>
                    <a:cubicBezTo>
                      <a:pt x="55" y="1450"/>
                      <a:pt x="10" y="1404"/>
                      <a:pt x="10" y="134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4" name="path 484"/>
              <p:cNvSpPr/>
              <p:nvPr/>
            </p:nvSpPr>
            <p:spPr>
              <a:xfrm>
                <a:off x="1880870" y="1057909"/>
                <a:ext cx="1737359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735" h="144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5" y="45"/>
                      <a:pt x="2735" y="100"/>
                    </a:cubicBezTo>
                    <a:lnTo>
                      <a:pt x="2735" y="1339"/>
                    </a:lnTo>
                    <a:cubicBezTo>
                      <a:pt x="2735" y="1394"/>
                      <a:pt x="2690" y="1440"/>
                      <a:pt x="2635" y="1440"/>
                    </a:cubicBezTo>
                    <a:lnTo>
                      <a:pt x="100" y="1440"/>
                    </a:lnTo>
                    <a:cubicBezTo>
                      <a:pt x="45" y="1440"/>
                      <a:pt x="0" y="1394"/>
                      <a:pt x="0" y="133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6" name="path 486"/>
              <p:cNvSpPr/>
              <p:nvPr/>
            </p:nvSpPr>
            <p:spPr>
              <a:xfrm>
                <a:off x="1874520" y="1051559"/>
                <a:ext cx="1750059" cy="927100"/>
              </a:xfrm>
              <a:custGeom>
                <a:avLst/>
                <a:gdLst/>
                <a:ahLst/>
                <a:cxnLst/>
                <a:rect l="0" t="0" r="0" b="0"/>
                <a:pathLst>
                  <a:path w="2755" h="146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5" y="55"/>
                      <a:pt x="2745" y="110"/>
                    </a:cubicBezTo>
                    <a:lnTo>
                      <a:pt x="2745" y="1349"/>
                    </a:lnTo>
                    <a:cubicBezTo>
                      <a:pt x="2745" y="1404"/>
                      <a:pt x="2700" y="1450"/>
                      <a:pt x="2645" y="1450"/>
                    </a:cubicBezTo>
                    <a:lnTo>
                      <a:pt x="110" y="1450"/>
                    </a:lnTo>
                    <a:cubicBezTo>
                      <a:pt x="55" y="1450"/>
                      <a:pt x="10" y="1404"/>
                      <a:pt x="10" y="134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8" name="path 488"/>
              <p:cNvSpPr/>
              <p:nvPr/>
            </p:nvSpPr>
            <p:spPr>
              <a:xfrm>
                <a:off x="3755389" y="1057909"/>
                <a:ext cx="173736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44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339"/>
                    </a:lnTo>
                    <a:cubicBezTo>
                      <a:pt x="2736" y="1394"/>
                      <a:pt x="2690" y="1440"/>
                      <a:pt x="2635" y="1440"/>
                    </a:cubicBezTo>
                    <a:lnTo>
                      <a:pt x="100" y="1440"/>
                    </a:lnTo>
                    <a:cubicBezTo>
                      <a:pt x="45" y="1440"/>
                      <a:pt x="0" y="1394"/>
                      <a:pt x="0" y="133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0" name="path 490"/>
              <p:cNvSpPr/>
              <p:nvPr/>
            </p:nvSpPr>
            <p:spPr>
              <a:xfrm>
                <a:off x="3749039" y="1051559"/>
                <a:ext cx="1750060" cy="927100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46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349"/>
                    </a:lnTo>
                    <a:cubicBezTo>
                      <a:pt x="2746" y="1404"/>
                      <a:pt x="2700" y="1450"/>
                      <a:pt x="2645" y="1450"/>
                    </a:cubicBezTo>
                    <a:lnTo>
                      <a:pt x="110" y="1450"/>
                    </a:lnTo>
                    <a:cubicBezTo>
                      <a:pt x="55" y="1450"/>
                      <a:pt x="10" y="1404"/>
                      <a:pt x="10" y="134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2" name="textbox 492"/>
            <p:cNvSpPr/>
            <p:nvPr/>
          </p:nvSpPr>
          <p:spPr>
            <a:xfrm>
              <a:off x="2182647" y="218465"/>
              <a:ext cx="1149350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96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133985" algn="l" rtl="0" eaLnBrk="0">
                <a:lnSpc>
                  <a:spcPct val="9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Gaussian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Naive</a:t>
              </a:r>
              <a:r>
                <a:rPr sz="1800" b="1" kern="0" spc="16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Bayes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94" name="textbox 494"/>
            <p:cNvSpPr/>
            <p:nvPr/>
          </p:nvSpPr>
          <p:spPr>
            <a:xfrm>
              <a:off x="2227300" y="1270635"/>
              <a:ext cx="1047114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61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50825" indent="-238759" algn="l" rtl="0" eaLnBrk="0">
                <a:lnSpc>
                  <a:spcPct val="93000"/>
                </a:lnSpc>
                <a:tabLst/>
              </a:pP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VAE</a:t>
              </a:r>
              <a:r>
                <a:rPr sz="1800" b="1" kern="0" spc="16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Latent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Space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96" name="textbox 496"/>
            <p:cNvSpPr/>
            <p:nvPr/>
          </p:nvSpPr>
          <p:spPr>
            <a:xfrm>
              <a:off x="362737" y="218465"/>
              <a:ext cx="1042035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0" algn="l" rtl="0" eaLnBrk="0">
                <a:lnSpc>
                  <a:spcPct val="8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Linear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70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Regression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98" name="textbox 498"/>
            <p:cNvSpPr/>
            <p:nvPr/>
          </p:nvSpPr>
          <p:spPr>
            <a:xfrm>
              <a:off x="4121506" y="1270635"/>
              <a:ext cx="1014730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61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50190" indent="-237490" algn="l" rtl="0" eaLnBrk="0">
                <a:lnSpc>
                  <a:spcPct val="9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GAN</a:t>
              </a:r>
              <a:r>
                <a:rPr sz="1800" b="1" kern="0" spc="17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Input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Noise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00" name="textbox 500"/>
            <p:cNvSpPr/>
            <p:nvPr/>
          </p:nvSpPr>
          <p:spPr>
            <a:xfrm>
              <a:off x="4143528" y="240669"/>
              <a:ext cx="970914" cy="5067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87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5900" algn="l" rtl="0" eaLnBrk="0">
                <a:lnSpc>
                  <a:spcPct val="66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GMM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Clustering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02" name="textbox 502"/>
            <p:cNvSpPr/>
            <p:nvPr/>
          </p:nvSpPr>
          <p:spPr>
            <a:xfrm>
              <a:off x="519709" y="1270635"/>
              <a:ext cx="725805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61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105" indent="-65405" algn="l" rtl="0" eaLnBrk="0">
                <a:lnSpc>
                  <a:spcPct val="9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Kalman</a:t>
              </a:r>
              <a:r>
                <a:rPr sz="1800" b="1" kern="0" spc="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Filters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504" name="textbox 504"/>
          <p:cNvSpPr/>
          <p:nvPr/>
        </p:nvSpPr>
        <p:spPr>
          <a:xfrm>
            <a:off x="554250" y="393355"/>
            <a:ext cx="8460105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5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Normal Distribution: AI Connections &amp;</a:t>
            </a:r>
            <a:r>
              <a:rPr sz="3200" b="1" kern="0" spc="2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Limits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506" name="textbox 506"/>
          <p:cNvSpPr/>
          <p:nvPr/>
        </p:nvSpPr>
        <p:spPr>
          <a:xfrm>
            <a:off x="551713" y="74930"/>
            <a:ext cx="265557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CONTINUOUS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textbox 508"/>
          <p:cNvSpPr/>
          <p:nvPr/>
        </p:nvSpPr>
        <p:spPr>
          <a:xfrm>
            <a:off x="557428" y="1318767"/>
            <a:ext cx="5039995" cy="3402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Exponential: waiting time of a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memoryl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ess process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736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fT(t)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λe⁻λᵗ,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E[T]=1/λ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 Var(T)=1/λ²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3520" indent="-210820" algn="l" rtl="0" eaLnBrk="0">
              <a:lnSpc>
                <a:spcPct val="103000"/>
              </a:lnSpc>
              <a:spcBef>
                <a:spcPts val="1532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integer shape α,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Gamma can</a:t>
            </a:r>
            <a:r>
              <a:rPr sz="18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 viewed</a:t>
            </a:r>
            <a:r>
              <a:rPr sz="1800" b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 the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waiting time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until the α-th event in a</a:t>
            </a:r>
            <a:r>
              <a:rPr sz="1800" b="1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Poisson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3679" algn="l" rtl="0" eaLnBrk="0">
              <a:lnSpc>
                <a:spcPct val="83000"/>
              </a:lnSpc>
              <a:spcBef>
                <a:spcPts val="436"/>
              </a:spcBef>
              <a:tabLst/>
            </a:pP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process.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737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E[X]=αβ,  Var(X)=αβ²  (shape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α,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scale</a:t>
            </a:r>
            <a:r>
              <a:rPr sz="1800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β)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735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Exponential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Gamma</a:t>
            </a:r>
            <a:r>
              <a:rPr sz="1800" i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 shape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α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2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5425" indent="-213359" algn="l" rtl="0" eaLnBrk="0">
              <a:lnSpc>
                <a:spcPct val="104000"/>
              </a:lnSpc>
              <a:tabLst/>
            </a:pPr>
            <a:r>
              <a:rPr sz="1800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Memoryless assumption often</a:t>
            </a:r>
            <a:r>
              <a:rPr sz="1800" i="1" kern="0" spc="-18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fails</a:t>
            </a:r>
            <a:r>
              <a:rPr sz="1800" i="1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aging products,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buses);</a:t>
            </a:r>
            <a:r>
              <a:rPr sz="1800" i="1" kern="0" spc="15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Gamma/Weibull relax it.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510" name="textbox 510"/>
          <p:cNvSpPr/>
          <p:nvPr/>
        </p:nvSpPr>
        <p:spPr>
          <a:xfrm>
            <a:off x="6928357" y="1534724"/>
            <a:ext cx="4022090" cy="397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1805" algn="l" rtl="0" eaLnBrk="0">
              <a:lnSpc>
                <a:spcPct val="79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Exponenti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 = Special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Case of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Gamma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3000"/>
              </a:lnSpc>
              <a:tabLst>
                <a:tab pos="28892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Gamma(α=1)=Exp              Gamma(α=2)   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Gamma(α=4)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pic>
        <p:nvPicPr>
          <p:cNvPr id="512" name="picture 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860318" y="5373433"/>
            <a:ext cx="243840" cy="85725"/>
          </a:xfrm>
          <a:prstGeom prst="rect">
            <a:avLst/>
          </a:prstGeom>
        </p:spPr>
      </p:pic>
      <p:pic>
        <p:nvPicPr>
          <p:cNvPr id="514" name="picture 5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552090" y="5373433"/>
            <a:ext cx="243840" cy="85725"/>
          </a:xfrm>
          <a:prstGeom prst="rect">
            <a:avLst/>
          </a:prstGeom>
        </p:spPr>
      </p:pic>
      <p:pic>
        <p:nvPicPr>
          <p:cNvPr id="516" name="picture 5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941057" y="5373433"/>
            <a:ext cx="243840" cy="85725"/>
          </a:xfrm>
          <a:prstGeom prst="rect">
            <a:avLst/>
          </a:prstGeom>
        </p:spPr>
      </p:pic>
      <p:pic>
        <p:nvPicPr>
          <p:cNvPr id="518" name="picture 5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36017" y="2352865"/>
            <a:ext cx="5358764" cy="2603372"/>
          </a:xfrm>
          <a:prstGeom prst="rect">
            <a:avLst/>
          </a:prstGeom>
        </p:spPr>
      </p:pic>
      <p:sp>
        <p:nvSpPr>
          <p:cNvPr id="520" name="textbox 520"/>
          <p:cNvSpPr/>
          <p:nvPr/>
        </p:nvSpPr>
        <p:spPr>
          <a:xfrm>
            <a:off x="555064" y="393355"/>
            <a:ext cx="6736715" cy="434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Exponentia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l &amp; Gamma Distributions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522" name="textbox 522"/>
          <p:cNvSpPr/>
          <p:nvPr/>
        </p:nvSpPr>
        <p:spPr>
          <a:xfrm rot="16200000">
            <a:off x="8803809" y="2391234"/>
            <a:ext cx="246379" cy="5405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0.75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0.88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1.13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1.25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1.38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8000"/>
              </a:lnSpc>
              <a:spcBef>
                <a:spcPts val="196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1.63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1.75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1.88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2.13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2.25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2.38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2.63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2.75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2.88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3.13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3.38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3.63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3.75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3.88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4.13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4.63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8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4.75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4.88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78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5.00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551713" y="74930"/>
            <a:ext cx="265557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CONTINUOUS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box 526"/>
          <p:cNvSpPr/>
          <p:nvPr/>
        </p:nvSpPr>
        <p:spPr>
          <a:xfrm>
            <a:off x="555064" y="881035"/>
            <a:ext cx="4993640" cy="4225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Probability</a:t>
            </a:r>
            <a:endParaRPr sz="3200" dirty="0">
              <a:latin typeface="Cambria"/>
              <a:ea typeface="Cambria"/>
              <a:cs typeface="Cambria"/>
            </a:endParaRPr>
          </a:p>
          <a:p>
            <a:pPr marL="233045" indent="-215900" algn="l" rtl="0" eaLnBrk="0">
              <a:lnSpc>
                <a:spcPct val="103000"/>
              </a:lnSpc>
              <a:spcBef>
                <a:spcPts val="37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Beta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lives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2000" kern="0" spc="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[0,1] --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represents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about a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probability,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an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outcome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itself.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4950" indent="-220345" algn="l" rtl="0" eaLnBrk="0">
              <a:lnSpc>
                <a:spcPct val="103000"/>
              </a:lnSpc>
              <a:spcBef>
                <a:spcPts val="1419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 outcome. Beta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about the</a:t>
            </a:r>
            <a:r>
              <a:rPr sz="1800" b="1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 p itself.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7145" algn="l" rtl="0" eaLnBrk="0">
              <a:lnSpc>
                <a:spcPct val="84000"/>
              </a:lnSpc>
              <a:spcBef>
                <a:spcPts val="1655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Example question: “What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the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true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click-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3204" indent="-17145" algn="l" rtl="0" eaLnBrk="0">
              <a:lnSpc>
                <a:spcPct val="111000"/>
              </a:lnSpc>
              <a:spcBef>
                <a:spcPts val="319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through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rate?”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-- that's a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question,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20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one.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4000"/>
              </a:lnSpc>
              <a:spcBef>
                <a:spcPts val="1254"/>
              </a:spcBef>
              <a:tabLst/>
            </a:pPr>
            <a:r>
              <a:rPr sz="17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7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7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α and β behave like pr</a:t>
            </a:r>
            <a:r>
              <a:rPr sz="17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ior count parameters in</a:t>
            </a:r>
            <a:r>
              <a:rPr sz="17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Beta–</a:t>
            </a:r>
            <a:endParaRPr sz="1700" dirty="0">
              <a:latin typeface="Calibri"/>
              <a:ea typeface="Calibri"/>
              <a:cs typeface="Calibri"/>
            </a:endParaRPr>
          </a:p>
          <a:p>
            <a:pPr marL="201295" indent="29209" algn="l" rtl="0" eaLnBrk="0">
              <a:lnSpc>
                <a:spcPct val="105000"/>
              </a:lnSpc>
              <a:spcBef>
                <a:spcPts val="283"/>
              </a:spcBef>
              <a:tabLst/>
            </a:pPr>
            <a:r>
              <a:rPr sz="17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 updating.</a:t>
            </a:r>
            <a:r>
              <a:rPr sz="1700" i="1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When α,</a:t>
            </a:r>
            <a:r>
              <a:rPr sz="17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β &gt; 1,</a:t>
            </a:r>
            <a:r>
              <a:rPr sz="17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α-1</a:t>
            </a:r>
            <a:r>
              <a:rPr sz="17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7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β-1</a:t>
            </a:r>
            <a:r>
              <a:rPr sz="17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</a:t>
            </a:r>
            <a:r>
              <a:rPr sz="17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7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interpreted</a:t>
            </a:r>
            <a:r>
              <a:rPr sz="1700" i="1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approximately</a:t>
            </a:r>
            <a:r>
              <a:rPr sz="1700" i="1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1700" i="1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</a:t>
            </a:r>
            <a:r>
              <a:rPr sz="1700" i="1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successes</a:t>
            </a:r>
            <a:r>
              <a:rPr sz="1700" i="1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700" i="1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</a:t>
            </a:r>
            <a:r>
              <a:rPr sz="1700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failures.</a:t>
            </a:r>
            <a:endParaRPr sz="1700" dirty="0">
              <a:latin typeface="Calibri"/>
              <a:ea typeface="Calibri"/>
              <a:cs typeface="Calibri"/>
            </a:endParaRPr>
          </a:p>
        </p:txBody>
      </p:sp>
      <p:pic>
        <p:nvPicPr>
          <p:cNvPr id="528" name="picture 5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36017" y="2322385"/>
            <a:ext cx="5358764" cy="2423541"/>
          </a:xfrm>
          <a:prstGeom prst="rect">
            <a:avLst/>
          </a:prstGeom>
        </p:spPr>
      </p:pic>
      <p:sp>
        <p:nvSpPr>
          <p:cNvPr id="530" name="textbox 530"/>
          <p:cNvSpPr/>
          <p:nvPr/>
        </p:nvSpPr>
        <p:spPr>
          <a:xfrm>
            <a:off x="555064" y="404023"/>
            <a:ext cx="9025890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Beta Distribution: Modeling Unc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ertainty About a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532" name="textbox 532"/>
          <p:cNvSpPr/>
          <p:nvPr/>
        </p:nvSpPr>
        <p:spPr>
          <a:xfrm rot="16200000">
            <a:off x="8765333" y="2704029"/>
            <a:ext cx="243204" cy="5325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0.70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0.73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0.76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0.78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4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0.91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0.93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5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0.95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6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0.98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6815581" y="5609031"/>
            <a:ext cx="4245609" cy="17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6540" algn="l" rtl="0" eaLnBrk="0">
              <a:lnSpc>
                <a:spcPct val="83000"/>
              </a:lnSpc>
              <a:tabLst>
                <a:tab pos="29527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Beta(1,1)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Beta(2,2)              Beta(10,2)              Beta(0.5,0.5)</a:t>
            </a:r>
            <a:endParaRPr sz="1200" dirty="0">
              <a:latin typeface="Calibri"/>
              <a:ea typeface="Calibri"/>
              <a:cs typeface="Calibri"/>
            </a:endParaRPr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75822" y="5647753"/>
            <a:ext cx="243840" cy="85725"/>
          </a:xfrm>
          <a:prstGeom prst="rect">
            <a:avLst/>
          </a:prstGeom>
        </p:spPr>
      </p:pic>
      <p:pic>
        <p:nvPicPr>
          <p:cNvPr id="538" name="picture 5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869887" y="5647753"/>
            <a:ext cx="243839" cy="85725"/>
          </a:xfrm>
          <a:prstGeom prst="rect">
            <a:avLst/>
          </a:prstGeom>
        </p:spPr>
      </p:pic>
      <p:pic>
        <p:nvPicPr>
          <p:cNvPr id="540" name="picture 5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866786" y="5647753"/>
            <a:ext cx="243840" cy="85725"/>
          </a:xfrm>
          <a:prstGeom prst="rect">
            <a:avLst/>
          </a:prstGeom>
        </p:spPr>
      </p:pic>
      <p:pic>
        <p:nvPicPr>
          <p:cNvPr id="542" name="picture 5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28281" y="5647753"/>
            <a:ext cx="243840" cy="85725"/>
          </a:xfrm>
          <a:prstGeom prst="rect">
            <a:avLst/>
          </a:prstGeom>
        </p:spPr>
      </p:pic>
      <p:sp>
        <p:nvSpPr>
          <p:cNvPr id="544" name="textbox 544"/>
          <p:cNvSpPr/>
          <p:nvPr/>
        </p:nvSpPr>
        <p:spPr>
          <a:xfrm>
            <a:off x="551713" y="74930"/>
            <a:ext cx="265557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CONTINUOUS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546" name="textbox 546"/>
          <p:cNvSpPr/>
          <p:nvPr/>
        </p:nvSpPr>
        <p:spPr>
          <a:xfrm>
            <a:off x="8370379" y="1448561"/>
            <a:ext cx="1104264" cy="205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Beta Shap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box 548"/>
          <p:cNvSpPr/>
          <p:nvPr/>
        </p:nvSpPr>
        <p:spPr>
          <a:xfrm>
            <a:off x="557428" y="1273047"/>
            <a:ext cx="6141720" cy="3147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2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3520" indent="-211454" algn="l" rtl="0" eaLnBrk="0">
              <a:lnSpc>
                <a:spcPct val="97000"/>
              </a:lnSpc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Problem: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belief about click-through rate</a:t>
            </a:r>
            <a:r>
              <a:rPr sz="1800" b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Beta(2,2).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 observe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8 successes and 2 failures. Find the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342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1: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conjugate to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Bernoulli/Binomial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likelihoods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8125" indent="-226059" algn="l" rtl="0" eaLnBrk="0">
              <a:lnSpc>
                <a:spcPct val="104000"/>
              </a:lnSpc>
              <a:spcBef>
                <a:spcPts val="1092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2: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Update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rule:</a:t>
            </a:r>
            <a:r>
              <a:rPr sz="1800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Beta(α,β) +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 successes,</a:t>
            </a:r>
            <a:r>
              <a:rPr sz="1800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</a:t>
            </a:r>
            <a:r>
              <a:rPr sz="1800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failures</a:t>
            </a:r>
            <a:r>
              <a:rPr sz="18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Beta(α+s,</a:t>
            </a:r>
            <a:r>
              <a:rPr sz="1800" kern="0" spc="1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β+f)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228"/>
              </a:spcBef>
              <a:tabLst/>
            </a:pP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3: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α_new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r>
              <a:rPr sz="1800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8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10,    β_n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ew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 +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4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341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Step 4: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Beta(10,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4)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29870" indent="-217170" algn="l" rtl="0" eaLnBrk="0">
              <a:lnSpc>
                <a:spcPct val="104000"/>
              </a:lnSpc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Interpretation: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poster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ior mean shifts</a:t>
            </a:r>
            <a:r>
              <a:rPr sz="1800" i="1" kern="0" spc="-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0.5 (prior)</a:t>
            </a:r>
            <a:r>
              <a:rPr sz="1800" i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toward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10/14 ≈ 0.71, ref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lecting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observed high success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rate.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550" name="picture 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48893" y="2169985"/>
            <a:ext cx="4447413" cy="2077593"/>
          </a:xfrm>
          <a:prstGeom prst="rect">
            <a:avLst/>
          </a:prstGeom>
        </p:spPr>
      </p:pic>
      <p:sp>
        <p:nvSpPr>
          <p:cNvPr id="552" name="textbox 552"/>
          <p:cNvSpPr/>
          <p:nvPr/>
        </p:nvSpPr>
        <p:spPr>
          <a:xfrm>
            <a:off x="7265669" y="4923282"/>
            <a:ext cx="4235450" cy="847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18844" algn="l" rtl="0" eaLnBrk="0">
              <a:lnSpc>
                <a:spcPct val="83000"/>
              </a:lnSpc>
              <a:tabLst>
                <a:tab pos="95821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	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Beta(2,2)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sterior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Beta(10,4)</a:t>
            </a:r>
            <a:endParaRPr sz="12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321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posterior is sharper a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nd shifted right -- 10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71169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 points concentrated our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belief.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554" name="picture 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343252" y="4961953"/>
            <a:ext cx="243840" cy="85725"/>
          </a:xfrm>
          <a:prstGeom prst="rect">
            <a:avLst/>
          </a:prstGeom>
        </p:spPr>
      </p:pic>
      <p:pic>
        <p:nvPicPr>
          <p:cNvPr id="556" name="picture 5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940802" y="4961953"/>
            <a:ext cx="243840" cy="85725"/>
          </a:xfrm>
          <a:prstGeom prst="rect">
            <a:avLst/>
          </a:prstGeom>
        </p:spPr>
      </p:pic>
      <p:sp>
        <p:nvSpPr>
          <p:cNvPr id="558" name="textbox 558"/>
          <p:cNvSpPr/>
          <p:nvPr/>
        </p:nvSpPr>
        <p:spPr>
          <a:xfrm>
            <a:off x="541229" y="393355"/>
            <a:ext cx="7989569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Worked Example: Beta-Bernoulli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Updating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560" name="textbox 560"/>
          <p:cNvSpPr/>
          <p:nvPr/>
        </p:nvSpPr>
        <p:spPr>
          <a:xfrm rot="16200000">
            <a:off x="9262602" y="2432821"/>
            <a:ext cx="243204" cy="4495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0.04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0.07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0.13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0.18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0.24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0.28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0.34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0.36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0.42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0.52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0.55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0.57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8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0.64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0.67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0.69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0.72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0.76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0.79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0.84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0.88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0.91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7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0.94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200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0.96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99"/>
              </a:spcBef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0.99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62" name="textbox 562"/>
          <p:cNvSpPr/>
          <p:nvPr/>
        </p:nvSpPr>
        <p:spPr>
          <a:xfrm>
            <a:off x="551713" y="74930"/>
            <a:ext cx="265557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CONTINUOUS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564" name="textbox 564"/>
          <p:cNvSpPr/>
          <p:nvPr/>
        </p:nvSpPr>
        <p:spPr>
          <a:xfrm>
            <a:off x="8364106" y="1490965"/>
            <a:ext cx="2033904" cy="193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Prior →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 →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osterior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 rot="21600000">
            <a:off x="6399047" y="1345184"/>
            <a:ext cx="5035931" cy="3384295"/>
            <a:chOff x="0" y="0"/>
            <a:chExt cx="5035931" cy="3384295"/>
          </a:xfrm>
        </p:grpSpPr>
        <p:grpSp>
          <p:nvGrpSpPr>
            <p:cNvPr id="46" name="group 46"/>
            <p:cNvGrpSpPr/>
            <p:nvPr/>
          </p:nvGrpSpPr>
          <p:grpSpPr>
            <a:xfrm rot="21600000">
              <a:off x="406260" y="250218"/>
              <a:ext cx="4221708" cy="2941164"/>
              <a:chOff x="0" y="0"/>
              <a:chExt cx="4221708" cy="2941164"/>
            </a:xfrm>
          </p:grpSpPr>
          <p:sp>
            <p:nvSpPr>
              <p:cNvPr id="566" name="path 566"/>
              <p:cNvSpPr/>
              <p:nvPr/>
            </p:nvSpPr>
            <p:spPr>
              <a:xfrm>
                <a:off x="7734" y="5558"/>
                <a:ext cx="4206239" cy="2926080"/>
              </a:xfrm>
              <a:custGeom>
                <a:avLst/>
                <a:gdLst/>
                <a:ahLst/>
                <a:cxnLst/>
                <a:rect l="0" t="0" r="0" b="0"/>
                <a:pathLst>
                  <a:path w="6623" h="4608">
                    <a:moveTo>
                      <a:pt x="0" y="4608"/>
                    </a:moveTo>
                    <a:lnTo>
                      <a:pt x="3311" y="0"/>
                    </a:lnTo>
                    <a:lnTo>
                      <a:pt x="6623" y="4608"/>
                    </a:lnTo>
                    <a:lnTo>
                      <a:pt x="0" y="4608"/>
                    </a:lnTo>
                    <a:close/>
                  </a:path>
                </a:pathLst>
              </a:custGeom>
              <a:solidFill>
                <a:srgbClr val="D6E4F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8" name="path 568"/>
              <p:cNvSpPr/>
              <p:nvPr/>
            </p:nvSpPr>
            <p:spPr>
              <a:xfrm>
                <a:off x="0" y="0"/>
                <a:ext cx="4221708" cy="2941164"/>
              </a:xfrm>
              <a:custGeom>
                <a:avLst/>
                <a:gdLst/>
                <a:ahLst/>
                <a:cxnLst/>
                <a:rect l="0" t="0" r="0" b="0"/>
                <a:pathLst>
                  <a:path w="6648" h="4631">
                    <a:moveTo>
                      <a:pt x="12" y="4616"/>
                    </a:moveTo>
                    <a:lnTo>
                      <a:pt x="3324" y="8"/>
                    </a:lnTo>
                    <a:lnTo>
                      <a:pt x="6636" y="4616"/>
                    </a:lnTo>
                    <a:lnTo>
                      <a:pt x="12" y="4616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path 570"/>
              <p:cNvSpPr/>
              <p:nvPr/>
            </p:nvSpPr>
            <p:spPr>
              <a:xfrm>
                <a:off x="2018651" y="1376396"/>
                <a:ext cx="182880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288" h="287">
                    <a:moveTo>
                      <a:pt x="0" y="144"/>
                    </a:moveTo>
                    <a:cubicBezTo>
                      <a:pt x="0" y="64"/>
                      <a:pt x="64" y="0"/>
                      <a:pt x="144" y="0"/>
                    </a:cubicBezTo>
                    <a:cubicBezTo>
                      <a:pt x="223" y="0"/>
                      <a:pt x="288" y="64"/>
                      <a:pt x="288" y="144"/>
                    </a:cubicBezTo>
                    <a:cubicBezTo>
                      <a:pt x="288" y="223"/>
                      <a:pt x="223" y="287"/>
                      <a:pt x="144" y="287"/>
                    </a:cubicBezTo>
                    <a:cubicBezTo>
                      <a:pt x="64" y="287"/>
                      <a:pt x="0" y="223"/>
                      <a:pt x="0" y="144"/>
                    </a:cubicBezTo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72" name="textbox 572"/>
            <p:cNvSpPr/>
            <p:nvPr/>
          </p:nvSpPr>
          <p:spPr>
            <a:xfrm>
              <a:off x="-12700" y="3142995"/>
              <a:ext cx="5061584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Category</a:t>
              </a:r>
              <a:r>
                <a:rPr sz="1800" b="1" kern="0" spc="11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            </a:t>
              </a:r>
              <a:r>
                <a:rPr sz="1800" b="1" kern="0" spc="-1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                               Category</a:t>
              </a:r>
              <a:r>
                <a:rPr sz="1800" b="1" kern="0" spc="4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74" name="textbox 574"/>
            <p:cNvSpPr/>
            <p:nvPr/>
          </p:nvSpPr>
          <p:spPr>
            <a:xfrm>
              <a:off x="1994662" y="-12700"/>
              <a:ext cx="1054100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1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Category A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576" name="textbox 576"/>
          <p:cNvSpPr/>
          <p:nvPr/>
        </p:nvSpPr>
        <p:spPr>
          <a:xfrm>
            <a:off x="557428" y="1323720"/>
            <a:ext cx="4942204" cy="3442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8125" indent="-223520" algn="l" rtl="0" eaLnBrk="0">
              <a:lnSpc>
                <a:spcPct val="97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Beta describes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about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(two outcomes).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0029" indent="-225425" algn="l" rtl="0" eaLnBrk="0">
              <a:lnSpc>
                <a:spcPct val="104000"/>
              </a:lnSpc>
              <a:spcBef>
                <a:spcPts val="151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Dirichlet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des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cribes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 about a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 VECTOR over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 categories.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633"/>
              </a:spcBef>
              <a:tabLst/>
            </a:pP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Lives on the</a:t>
            </a:r>
            <a:r>
              <a:rPr sz="1800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simplex: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zᵢ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≥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0,</a:t>
            </a:r>
            <a:r>
              <a:rPr sz="1800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Σᵢ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zᵢ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9234" indent="-214629" algn="l" rtl="0" eaLnBrk="0">
              <a:lnSpc>
                <a:spcPct val="104000"/>
              </a:lnSpc>
              <a:spcBef>
                <a:spcPts val="1496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Applications: topic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(LDA),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multinomial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smoothing,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sian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naive</a:t>
            </a:r>
            <a:r>
              <a:rPr sz="2000" kern="0" spc="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26695" indent="-213995" algn="l" rtl="0" eaLnBrk="0">
              <a:lnSpc>
                <a:spcPct val="104000"/>
              </a:lnSpc>
              <a:spcBef>
                <a:spcPts val="1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Equal concentrat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ion parameters = symmetric prior;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large αi</a:t>
            </a:r>
            <a:r>
              <a:rPr sz="1800" i="1" kern="0" spc="-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favors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category</a:t>
            </a:r>
            <a:r>
              <a:rPr sz="1800" i="1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578" name="textbox 578"/>
          <p:cNvSpPr/>
          <p:nvPr/>
        </p:nvSpPr>
        <p:spPr>
          <a:xfrm>
            <a:off x="555064" y="393355"/>
            <a:ext cx="9885680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Dirichlet Distrib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ution: “Beta for Multiple</a:t>
            </a:r>
            <a:r>
              <a:rPr sz="3200" b="1" kern="0" spc="17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Categories”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580" name="textbox 580"/>
          <p:cNvSpPr/>
          <p:nvPr/>
        </p:nvSpPr>
        <p:spPr>
          <a:xfrm>
            <a:off x="6322694" y="4831079"/>
            <a:ext cx="5183504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sample</a:t>
            </a:r>
            <a:r>
              <a:rPr sz="1800" i="1" kern="0" spc="-1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Dirichlet(α) is a point on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this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triangle</a:t>
            </a:r>
            <a:r>
              <a:rPr sz="1800" i="1" kern="0" spc="9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1800" i="1" kern="0" spc="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35965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full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1800" i="1" kern="0" spc="1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vector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3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categories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582" name="textbox 582"/>
          <p:cNvSpPr/>
          <p:nvPr/>
        </p:nvSpPr>
        <p:spPr>
          <a:xfrm>
            <a:off x="551713" y="74930"/>
            <a:ext cx="265557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CONTINUOUS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picture 5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935" y="1263696"/>
            <a:ext cx="5616183" cy="3534285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 rot="21600000">
            <a:off x="6120129" y="1228090"/>
            <a:ext cx="5590539" cy="3533139"/>
            <a:chOff x="0" y="0"/>
            <a:chExt cx="5590539" cy="3533139"/>
          </a:xfrm>
        </p:grpSpPr>
        <p:grpSp>
          <p:nvGrpSpPr>
            <p:cNvPr id="50" name="group 50"/>
            <p:cNvGrpSpPr/>
            <p:nvPr/>
          </p:nvGrpSpPr>
          <p:grpSpPr>
            <a:xfrm rot="21600000">
              <a:off x="0" y="0"/>
              <a:ext cx="5590539" cy="3533139"/>
              <a:chOff x="0" y="0"/>
              <a:chExt cx="5590539" cy="3533139"/>
            </a:xfrm>
          </p:grpSpPr>
          <p:sp>
            <p:nvSpPr>
              <p:cNvPr id="586" name="path 586"/>
              <p:cNvSpPr/>
              <p:nvPr/>
            </p:nvSpPr>
            <p:spPr>
              <a:xfrm>
                <a:off x="6350" y="6350"/>
                <a:ext cx="2651760" cy="777239"/>
              </a:xfrm>
              <a:custGeom>
                <a:avLst/>
                <a:gdLst/>
                <a:ahLst/>
                <a:cxnLst/>
                <a:rect l="0" t="0" r="0" b="0"/>
                <a:pathLst>
                  <a:path w="4176" h="122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75" y="0"/>
                    </a:lnTo>
                    <a:cubicBezTo>
                      <a:pt x="4130" y="0"/>
                      <a:pt x="4176" y="45"/>
                      <a:pt x="4176" y="100"/>
                    </a:cubicBezTo>
                    <a:lnTo>
                      <a:pt x="4176" y="1123"/>
                    </a:lnTo>
                    <a:cubicBezTo>
                      <a:pt x="4176" y="1178"/>
                      <a:pt x="4130" y="1223"/>
                      <a:pt x="4075" y="1223"/>
                    </a:cubicBezTo>
                    <a:lnTo>
                      <a:pt x="100" y="1223"/>
                    </a:lnTo>
                    <a:cubicBezTo>
                      <a:pt x="45" y="1223"/>
                      <a:pt x="0" y="1178"/>
                      <a:pt x="0" y="112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path 588"/>
              <p:cNvSpPr/>
              <p:nvPr/>
            </p:nvSpPr>
            <p:spPr>
              <a:xfrm>
                <a:off x="0" y="0"/>
                <a:ext cx="2664460" cy="789939"/>
              </a:xfrm>
              <a:custGeom>
                <a:avLst/>
                <a:gdLst/>
                <a:ahLst/>
                <a:cxnLst/>
                <a:rect l="0" t="0" r="0" b="0"/>
                <a:pathLst>
                  <a:path w="4196" h="124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85" y="10"/>
                    </a:lnTo>
                    <a:cubicBezTo>
                      <a:pt x="4140" y="10"/>
                      <a:pt x="4186" y="55"/>
                      <a:pt x="4186" y="110"/>
                    </a:cubicBezTo>
                    <a:lnTo>
                      <a:pt x="4186" y="1133"/>
                    </a:lnTo>
                    <a:cubicBezTo>
                      <a:pt x="4186" y="1188"/>
                      <a:pt x="4140" y="1233"/>
                      <a:pt x="4085" y="1233"/>
                    </a:cubicBezTo>
                    <a:lnTo>
                      <a:pt x="110" y="1233"/>
                    </a:lnTo>
                    <a:cubicBezTo>
                      <a:pt x="55" y="1233"/>
                      <a:pt x="10" y="1188"/>
                      <a:pt x="10" y="113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0" name="path 590"/>
              <p:cNvSpPr/>
              <p:nvPr/>
            </p:nvSpPr>
            <p:spPr>
              <a:xfrm>
                <a:off x="2932429" y="6350"/>
                <a:ext cx="2651759" cy="777239"/>
              </a:xfrm>
              <a:custGeom>
                <a:avLst/>
                <a:gdLst/>
                <a:ahLst/>
                <a:cxnLst/>
                <a:rect l="0" t="0" r="0" b="0"/>
                <a:pathLst>
                  <a:path w="4175" h="122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75" y="0"/>
                    </a:lnTo>
                    <a:cubicBezTo>
                      <a:pt x="4130" y="0"/>
                      <a:pt x="4175" y="45"/>
                      <a:pt x="4175" y="100"/>
                    </a:cubicBezTo>
                    <a:lnTo>
                      <a:pt x="4175" y="1123"/>
                    </a:lnTo>
                    <a:cubicBezTo>
                      <a:pt x="4175" y="1178"/>
                      <a:pt x="4130" y="1223"/>
                      <a:pt x="4075" y="1223"/>
                    </a:cubicBezTo>
                    <a:lnTo>
                      <a:pt x="100" y="1223"/>
                    </a:lnTo>
                    <a:cubicBezTo>
                      <a:pt x="45" y="1223"/>
                      <a:pt x="0" y="1178"/>
                      <a:pt x="0" y="112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2" name="path 592"/>
              <p:cNvSpPr/>
              <p:nvPr/>
            </p:nvSpPr>
            <p:spPr>
              <a:xfrm>
                <a:off x="2926079" y="0"/>
                <a:ext cx="2664459" cy="789939"/>
              </a:xfrm>
              <a:custGeom>
                <a:avLst/>
                <a:gdLst/>
                <a:ahLst/>
                <a:cxnLst/>
                <a:rect l="0" t="0" r="0" b="0"/>
                <a:pathLst>
                  <a:path w="4195" h="124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85" y="10"/>
                    </a:lnTo>
                    <a:cubicBezTo>
                      <a:pt x="4140" y="10"/>
                      <a:pt x="4185" y="55"/>
                      <a:pt x="4185" y="110"/>
                    </a:cubicBezTo>
                    <a:lnTo>
                      <a:pt x="4185" y="1133"/>
                    </a:lnTo>
                    <a:cubicBezTo>
                      <a:pt x="4185" y="1188"/>
                      <a:pt x="4140" y="1233"/>
                      <a:pt x="4085" y="1233"/>
                    </a:cubicBezTo>
                    <a:lnTo>
                      <a:pt x="110" y="1233"/>
                    </a:lnTo>
                    <a:cubicBezTo>
                      <a:pt x="55" y="1233"/>
                      <a:pt x="10" y="1188"/>
                      <a:pt x="10" y="113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4" name="path 594"/>
              <p:cNvSpPr/>
              <p:nvPr/>
            </p:nvSpPr>
            <p:spPr>
              <a:xfrm>
                <a:off x="6350" y="920750"/>
                <a:ext cx="2651760" cy="777239"/>
              </a:xfrm>
              <a:custGeom>
                <a:avLst/>
                <a:gdLst/>
                <a:ahLst/>
                <a:cxnLst/>
                <a:rect l="0" t="0" r="0" b="0"/>
                <a:pathLst>
                  <a:path w="4176" h="122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75" y="0"/>
                    </a:lnTo>
                    <a:cubicBezTo>
                      <a:pt x="4130" y="0"/>
                      <a:pt x="4176" y="45"/>
                      <a:pt x="4176" y="100"/>
                    </a:cubicBezTo>
                    <a:lnTo>
                      <a:pt x="4176" y="1123"/>
                    </a:lnTo>
                    <a:cubicBezTo>
                      <a:pt x="4176" y="1178"/>
                      <a:pt x="4130" y="1223"/>
                      <a:pt x="4075" y="1223"/>
                    </a:cubicBezTo>
                    <a:lnTo>
                      <a:pt x="100" y="1223"/>
                    </a:lnTo>
                    <a:cubicBezTo>
                      <a:pt x="45" y="1223"/>
                      <a:pt x="0" y="1178"/>
                      <a:pt x="0" y="112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6" name="path 596"/>
              <p:cNvSpPr/>
              <p:nvPr/>
            </p:nvSpPr>
            <p:spPr>
              <a:xfrm>
                <a:off x="0" y="914400"/>
                <a:ext cx="2664460" cy="789939"/>
              </a:xfrm>
              <a:custGeom>
                <a:avLst/>
                <a:gdLst/>
                <a:ahLst/>
                <a:cxnLst/>
                <a:rect l="0" t="0" r="0" b="0"/>
                <a:pathLst>
                  <a:path w="4196" h="124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85" y="10"/>
                    </a:lnTo>
                    <a:cubicBezTo>
                      <a:pt x="4140" y="10"/>
                      <a:pt x="4186" y="55"/>
                      <a:pt x="4186" y="110"/>
                    </a:cubicBezTo>
                    <a:lnTo>
                      <a:pt x="4186" y="1133"/>
                    </a:lnTo>
                    <a:cubicBezTo>
                      <a:pt x="4186" y="1188"/>
                      <a:pt x="4140" y="1233"/>
                      <a:pt x="4085" y="1233"/>
                    </a:cubicBezTo>
                    <a:lnTo>
                      <a:pt x="110" y="1233"/>
                    </a:lnTo>
                    <a:cubicBezTo>
                      <a:pt x="55" y="1233"/>
                      <a:pt x="10" y="1188"/>
                      <a:pt x="10" y="113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8" name="path 598"/>
              <p:cNvSpPr/>
              <p:nvPr/>
            </p:nvSpPr>
            <p:spPr>
              <a:xfrm>
                <a:off x="2932429" y="920750"/>
                <a:ext cx="2651759" cy="777239"/>
              </a:xfrm>
              <a:custGeom>
                <a:avLst/>
                <a:gdLst/>
                <a:ahLst/>
                <a:cxnLst/>
                <a:rect l="0" t="0" r="0" b="0"/>
                <a:pathLst>
                  <a:path w="4175" h="122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75" y="0"/>
                    </a:lnTo>
                    <a:cubicBezTo>
                      <a:pt x="4130" y="0"/>
                      <a:pt x="4175" y="45"/>
                      <a:pt x="4175" y="100"/>
                    </a:cubicBezTo>
                    <a:lnTo>
                      <a:pt x="4175" y="1123"/>
                    </a:lnTo>
                    <a:cubicBezTo>
                      <a:pt x="4175" y="1178"/>
                      <a:pt x="4130" y="1223"/>
                      <a:pt x="4075" y="1223"/>
                    </a:cubicBezTo>
                    <a:lnTo>
                      <a:pt x="100" y="1223"/>
                    </a:lnTo>
                    <a:cubicBezTo>
                      <a:pt x="45" y="1223"/>
                      <a:pt x="0" y="1178"/>
                      <a:pt x="0" y="112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0" name="path 600"/>
              <p:cNvSpPr/>
              <p:nvPr/>
            </p:nvSpPr>
            <p:spPr>
              <a:xfrm>
                <a:off x="2926079" y="914400"/>
                <a:ext cx="2664459" cy="789939"/>
              </a:xfrm>
              <a:custGeom>
                <a:avLst/>
                <a:gdLst/>
                <a:ahLst/>
                <a:cxnLst/>
                <a:rect l="0" t="0" r="0" b="0"/>
                <a:pathLst>
                  <a:path w="4195" h="124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85" y="10"/>
                    </a:lnTo>
                    <a:cubicBezTo>
                      <a:pt x="4140" y="10"/>
                      <a:pt x="4185" y="55"/>
                      <a:pt x="4185" y="110"/>
                    </a:cubicBezTo>
                    <a:lnTo>
                      <a:pt x="4185" y="1133"/>
                    </a:lnTo>
                    <a:cubicBezTo>
                      <a:pt x="4185" y="1188"/>
                      <a:pt x="4140" y="1233"/>
                      <a:pt x="4085" y="1233"/>
                    </a:cubicBezTo>
                    <a:lnTo>
                      <a:pt x="110" y="1233"/>
                    </a:lnTo>
                    <a:cubicBezTo>
                      <a:pt x="55" y="1233"/>
                      <a:pt x="10" y="1188"/>
                      <a:pt x="10" y="113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2" name="path 602"/>
              <p:cNvSpPr/>
              <p:nvPr/>
            </p:nvSpPr>
            <p:spPr>
              <a:xfrm>
                <a:off x="6350" y="1835150"/>
                <a:ext cx="2651760" cy="777239"/>
              </a:xfrm>
              <a:custGeom>
                <a:avLst/>
                <a:gdLst/>
                <a:ahLst/>
                <a:cxnLst/>
                <a:rect l="0" t="0" r="0" b="0"/>
                <a:pathLst>
                  <a:path w="4176" h="122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75" y="0"/>
                    </a:lnTo>
                    <a:cubicBezTo>
                      <a:pt x="4130" y="0"/>
                      <a:pt x="4176" y="45"/>
                      <a:pt x="4176" y="100"/>
                    </a:cubicBezTo>
                    <a:lnTo>
                      <a:pt x="4176" y="1123"/>
                    </a:lnTo>
                    <a:cubicBezTo>
                      <a:pt x="4176" y="1178"/>
                      <a:pt x="4130" y="1223"/>
                      <a:pt x="4075" y="1223"/>
                    </a:cubicBezTo>
                    <a:lnTo>
                      <a:pt x="100" y="1223"/>
                    </a:lnTo>
                    <a:cubicBezTo>
                      <a:pt x="45" y="1223"/>
                      <a:pt x="0" y="1178"/>
                      <a:pt x="0" y="112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4" name="path 604"/>
              <p:cNvSpPr/>
              <p:nvPr/>
            </p:nvSpPr>
            <p:spPr>
              <a:xfrm>
                <a:off x="0" y="1828800"/>
                <a:ext cx="2664460" cy="789939"/>
              </a:xfrm>
              <a:custGeom>
                <a:avLst/>
                <a:gdLst/>
                <a:ahLst/>
                <a:cxnLst/>
                <a:rect l="0" t="0" r="0" b="0"/>
                <a:pathLst>
                  <a:path w="4196" h="124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85" y="10"/>
                    </a:lnTo>
                    <a:cubicBezTo>
                      <a:pt x="4140" y="10"/>
                      <a:pt x="4186" y="55"/>
                      <a:pt x="4186" y="110"/>
                    </a:cubicBezTo>
                    <a:lnTo>
                      <a:pt x="4186" y="1133"/>
                    </a:lnTo>
                    <a:cubicBezTo>
                      <a:pt x="4186" y="1188"/>
                      <a:pt x="4140" y="1233"/>
                      <a:pt x="4085" y="1233"/>
                    </a:cubicBezTo>
                    <a:lnTo>
                      <a:pt x="110" y="1233"/>
                    </a:lnTo>
                    <a:cubicBezTo>
                      <a:pt x="55" y="1233"/>
                      <a:pt x="10" y="1188"/>
                      <a:pt x="10" y="113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6" name="path 606"/>
              <p:cNvSpPr/>
              <p:nvPr/>
            </p:nvSpPr>
            <p:spPr>
              <a:xfrm>
                <a:off x="2932429" y="1835150"/>
                <a:ext cx="2651759" cy="777239"/>
              </a:xfrm>
              <a:custGeom>
                <a:avLst/>
                <a:gdLst/>
                <a:ahLst/>
                <a:cxnLst/>
                <a:rect l="0" t="0" r="0" b="0"/>
                <a:pathLst>
                  <a:path w="4175" h="122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75" y="0"/>
                    </a:lnTo>
                    <a:cubicBezTo>
                      <a:pt x="4130" y="0"/>
                      <a:pt x="4175" y="45"/>
                      <a:pt x="4175" y="100"/>
                    </a:cubicBezTo>
                    <a:lnTo>
                      <a:pt x="4175" y="1123"/>
                    </a:lnTo>
                    <a:cubicBezTo>
                      <a:pt x="4175" y="1178"/>
                      <a:pt x="4130" y="1223"/>
                      <a:pt x="4075" y="1223"/>
                    </a:cubicBezTo>
                    <a:lnTo>
                      <a:pt x="100" y="1223"/>
                    </a:lnTo>
                    <a:cubicBezTo>
                      <a:pt x="45" y="1223"/>
                      <a:pt x="0" y="1178"/>
                      <a:pt x="0" y="112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8" name="path 608"/>
              <p:cNvSpPr/>
              <p:nvPr/>
            </p:nvSpPr>
            <p:spPr>
              <a:xfrm>
                <a:off x="2926079" y="1828800"/>
                <a:ext cx="2664459" cy="789939"/>
              </a:xfrm>
              <a:custGeom>
                <a:avLst/>
                <a:gdLst/>
                <a:ahLst/>
                <a:cxnLst/>
                <a:rect l="0" t="0" r="0" b="0"/>
                <a:pathLst>
                  <a:path w="4195" h="124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85" y="10"/>
                    </a:lnTo>
                    <a:cubicBezTo>
                      <a:pt x="4140" y="10"/>
                      <a:pt x="4185" y="55"/>
                      <a:pt x="4185" y="110"/>
                    </a:cubicBezTo>
                    <a:lnTo>
                      <a:pt x="4185" y="1133"/>
                    </a:lnTo>
                    <a:cubicBezTo>
                      <a:pt x="4185" y="1188"/>
                      <a:pt x="4140" y="1233"/>
                      <a:pt x="4085" y="1233"/>
                    </a:cubicBezTo>
                    <a:lnTo>
                      <a:pt x="110" y="1233"/>
                    </a:lnTo>
                    <a:cubicBezTo>
                      <a:pt x="55" y="1233"/>
                      <a:pt x="10" y="1188"/>
                      <a:pt x="10" y="113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0" name="path 610"/>
              <p:cNvSpPr/>
              <p:nvPr/>
            </p:nvSpPr>
            <p:spPr>
              <a:xfrm>
                <a:off x="6350" y="2749549"/>
                <a:ext cx="2651760" cy="777239"/>
              </a:xfrm>
              <a:custGeom>
                <a:avLst/>
                <a:gdLst/>
                <a:ahLst/>
                <a:cxnLst/>
                <a:rect l="0" t="0" r="0" b="0"/>
                <a:pathLst>
                  <a:path w="4176" h="122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75" y="0"/>
                    </a:lnTo>
                    <a:cubicBezTo>
                      <a:pt x="4130" y="0"/>
                      <a:pt x="4176" y="45"/>
                      <a:pt x="4176" y="100"/>
                    </a:cubicBezTo>
                    <a:lnTo>
                      <a:pt x="4176" y="1123"/>
                    </a:lnTo>
                    <a:cubicBezTo>
                      <a:pt x="4176" y="1178"/>
                      <a:pt x="4130" y="1223"/>
                      <a:pt x="4075" y="1223"/>
                    </a:cubicBezTo>
                    <a:lnTo>
                      <a:pt x="100" y="1223"/>
                    </a:lnTo>
                    <a:cubicBezTo>
                      <a:pt x="45" y="1223"/>
                      <a:pt x="0" y="1178"/>
                      <a:pt x="0" y="112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2" name="path 612"/>
              <p:cNvSpPr/>
              <p:nvPr/>
            </p:nvSpPr>
            <p:spPr>
              <a:xfrm>
                <a:off x="0" y="2743199"/>
                <a:ext cx="2664460" cy="789939"/>
              </a:xfrm>
              <a:custGeom>
                <a:avLst/>
                <a:gdLst/>
                <a:ahLst/>
                <a:cxnLst/>
                <a:rect l="0" t="0" r="0" b="0"/>
                <a:pathLst>
                  <a:path w="4196" h="124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85" y="10"/>
                    </a:lnTo>
                    <a:cubicBezTo>
                      <a:pt x="4140" y="10"/>
                      <a:pt x="4186" y="55"/>
                      <a:pt x="4186" y="110"/>
                    </a:cubicBezTo>
                    <a:lnTo>
                      <a:pt x="4186" y="1133"/>
                    </a:lnTo>
                    <a:cubicBezTo>
                      <a:pt x="4186" y="1188"/>
                      <a:pt x="4140" y="1233"/>
                      <a:pt x="4085" y="1233"/>
                    </a:cubicBezTo>
                    <a:lnTo>
                      <a:pt x="110" y="1233"/>
                    </a:lnTo>
                    <a:cubicBezTo>
                      <a:pt x="55" y="1233"/>
                      <a:pt x="10" y="1188"/>
                      <a:pt x="10" y="113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4" name="path 614"/>
              <p:cNvSpPr/>
              <p:nvPr/>
            </p:nvSpPr>
            <p:spPr>
              <a:xfrm>
                <a:off x="2932429" y="2749549"/>
                <a:ext cx="2651759" cy="777239"/>
              </a:xfrm>
              <a:custGeom>
                <a:avLst/>
                <a:gdLst/>
                <a:ahLst/>
                <a:cxnLst/>
                <a:rect l="0" t="0" r="0" b="0"/>
                <a:pathLst>
                  <a:path w="4175" h="122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75" y="0"/>
                    </a:lnTo>
                    <a:cubicBezTo>
                      <a:pt x="4130" y="0"/>
                      <a:pt x="4175" y="45"/>
                      <a:pt x="4175" y="100"/>
                    </a:cubicBezTo>
                    <a:lnTo>
                      <a:pt x="4175" y="1123"/>
                    </a:lnTo>
                    <a:cubicBezTo>
                      <a:pt x="4175" y="1178"/>
                      <a:pt x="4130" y="1223"/>
                      <a:pt x="4075" y="1223"/>
                    </a:cubicBezTo>
                    <a:lnTo>
                      <a:pt x="100" y="1223"/>
                    </a:lnTo>
                    <a:cubicBezTo>
                      <a:pt x="45" y="1223"/>
                      <a:pt x="0" y="1178"/>
                      <a:pt x="0" y="112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6" name="path 616"/>
              <p:cNvSpPr/>
              <p:nvPr/>
            </p:nvSpPr>
            <p:spPr>
              <a:xfrm>
                <a:off x="2926079" y="2743199"/>
                <a:ext cx="2664459" cy="789939"/>
              </a:xfrm>
              <a:custGeom>
                <a:avLst/>
                <a:gdLst/>
                <a:ahLst/>
                <a:cxnLst/>
                <a:rect l="0" t="0" r="0" b="0"/>
                <a:pathLst>
                  <a:path w="4195" h="124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85" y="10"/>
                    </a:lnTo>
                    <a:cubicBezTo>
                      <a:pt x="4140" y="10"/>
                      <a:pt x="4185" y="55"/>
                      <a:pt x="4185" y="110"/>
                    </a:cubicBezTo>
                    <a:lnTo>
                      <a:pt x="4185" y="1133"/>
                    </a:lnTo>
                    <a:cubicBezTo>
                      <a:pt x="4185" y="1188"/>
                      <a:pt x="4140" y="1233"/>
                      <a:pt x="4085" y="1233"/>
                    </a:cubicBezTo>
                    <a:lnTo>
                      <a:pt x="110" y="1233"/>
                    </a:lnTo>
                    <a:cubicBezTo>
                      <a:pt x="55" y="1233"/>
                      <a:pt x="10" y="1188"/>
                      <a:pt x="10" y="113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18" name="textbox 618"/>
            <p:cNvSpPr/>
            <p:nvPr/>
          </p:nvSpPr>
          <p:spPr>
            <a:xfrm>
              <a:off x="772693" y="287273"/>
              <a:ext cx="1137285" cy="29984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5414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Bernoulli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10184" algn="l" rtl="0" eaLnBrk="0">
                <a:lnSpc>
                  <a:spcPct val="83000"/>
                </a:lnSpc>
                <a:spcBef>
                  <a:spcPts val="551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Poisson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550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Exponenti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al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358775" algn="l" rtl="0" eaLnBrk="0">
                <a:lnSpc>
                  <a:spcPct val="83000"/>
                </a:lnSpc>
                <a:spcBef>
                  <a:spcPts val="1"/>
                </a:spcBef>
                <a:tabLst/>
              </a:pP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Beta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20" name="textbox 620"/>
            <p:cNvSpPr/>
            <p:nvPr/>
          </p:nvSpPr>
          <p:spPr>
            <a:xfrm>
              <a:off x="3841013" y="287273"/>
              <a:ext cx="852169" cy="29984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Binomial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8105" algn="l" rtl="0" eaLnBrk="0">
                <a:lnSpc>
                  <a:spcPct val="83000"/>
                </a:lnSpc>
                <a:spcBef>
                  <a:spcPts val="551"/>
                </a:spcBef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Normal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3339" algn="l" rtl="0" eaLnBrk="0">
                <a:lnSpc>
                  <a:spcPct val="83000"/>
                </a:lnSpc>
                <a:spcBef>
                  <a:spcPts val="550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Gamma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9209" algn="l" rtl="0" eaLnBrk="0">
                <a:lnSpc>
                  <a:spcPct val="83000"/>
                </a:lnSpc>
                <a:spcBef>
                  <a:spcPts val="1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Dirichlet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622" name="textbox 622"/>
          <p:cNvSpPr/>
          <p:nvPr/>
        </p:nvSpPr>
        <p:spPr>
          <a:xfrm>
            <a:off x="557428" y="1323720"/>
            <a:ext cx="5199379" cy="3408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4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Bernoulli,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Binomial,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sson,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Normal,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0504" indent="10160" algn="l" rtl="0" eaLnBrk="0">
              <a:lnSpc>
                <a:spcPct val="104000"/>
              </a:lnSpc>
              <a:spcBef>
                <a:spcPts val="319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Exponential, Gamm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a,</a:t>
            </a:r>
            <a:r>
              <a:rPr sz="2000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Beta,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Dirichlet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 share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one general form.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633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f(x;η)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(x)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exp(η·T(x)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A(η))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3520" indent="-208915" algn="l" rtl="0" eaLnBrk="0">
              <a:lnSpc>
                <a:spcPct val="104000"/>
              </a:lnSpc>
              <a:spcBef>
                <a:spcPts val="1497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η =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natural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paramet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er,  T(x) =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sufficient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statistic,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A(η) =</a:t>
            </a:r>
            <a:r>
              <a:rPr sz="2000" kern="0" spc="2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log-partition function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633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Why AI/statistics</a:t>
            </a:r>
            <a:r>
              <a:rPr sz="1800" b="1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 this family: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29870" indent="-217170" algn="l" rtl="0" eaLnBrk="0">
              <a:lnSpc>
                <a:spcPct val="103000"/>
              </a:lnSpc>
              <a:spcBef>
                <a:spcPts val="4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Computationa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 convenience,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sufficient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statistics,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conjugate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priors, genera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lized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linear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24" name="textbox 624"/>
          <p:cNvSpPr/>
          <p:nvPr/>
        </p:nvSpPr>
        <p:spPr>
          <a:xfrm>
            <a:off x="551713" y="74930"/>
            <a:ext cx="7797165" cy="753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IONS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4000"/>
              </a:lnSpc>
              <a:spcBef>
                <a:spcPts val="708"/>
              </a:spcBef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Exponential</a:t>
            </a:r>
            <a:r>
              <a:rPr sz="3200" b="1" kern="0" spc="16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Family:</a:t>
            </a:r>
            <a:r>
              <a:rPr sz="3200" b="1" kern="0" spc="17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One Shared Stru</a:t>
            </a:r>
            <a:r>
              <a:rPr sz="3200" b="1" kern="0" spc="-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cture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2"/>
          <p:cNvGrpSpPr/>
          <p:nvPr/>
        </p:nvGrpSpPr>
        <p:grpSpPr>
          <a:xfrm rot="21600000">
            <a:off x="6104989" y="1228090"/>
            <a:ext cx="4999611" cy="3908731"/>
            <a:chOff x="0" y="0"/>
            <a:chExt cx="4999611" cy="3908731"/>
          </a:xfrm>
        </p:grpSpPr>
        <p:pic>
          <p:nvPicPr>
            <p:cNvPr id="626" name="picture 6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415849" cy="3908731"/>
            </a:xfrm>
            <a:prstGeom prst="rect">
              <a:avLst/>
            </a:prstGeom>
          </p:spPr>
        </p:pic>
        <p:sp>
          <p:nvSpPr>
            <p:cNvPr id="628" name="textbox 628"/>
            <p:cNvSpPr/>
            <p:nvPr/>
          </p:nvSpPr>
          <p:spPr>
            <a:xfrm>
              <a:off x="2676907" y="182117"/>
              <a:ext cx="2335529" cy="35471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3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→</a:t>
              </a:r>
              <a:r>
                <a:rPr sz="1800" b="1" kern="0" spc="17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Bernoulli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236000"/>
                </a:lnSpc>
                <a:spcBef>
                  <a:spcPts val="290"/>
                </a:spcBef>
                <a:tabLst/>
              </a:pPr>
              <a:r>
                <a:rPr sz="1800" b="1" kern="0" spc="-2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→</a:t>
              </a:r>
              <a:r>
                <a:rPr sz="1800" b="1" kern="0" spc="20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Poisson / alternatives</a:t>
              </a:r>
              <a:r>
                <a:rPr sz="1800" b="1" kern="0" spc="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→</a:t>
              </a:r>
              <a:r>
                <a:rPr sz="1800" b="1" kern="0" spc="20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Exponential / Gamma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545"/>
                </a:spcBef>
                <a:tabLst/>
              </a:pPr>
              <a:r>
                <a:rPr sz="1800" b="1" kern="0" spc="-1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→ Gaussian</a:t>
              </a:r>
              <a:r>
                <a:rPr sz="1800" b="1" kern="0" spc="8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(basel</a:t>
              </a:r>
              <a:r>
                <a:rPr sz="1800" b="1" kern="0" spc="-2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ine)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548"/>
                </a:spcBef>
                <a:tabLst/>
              </a:pPr>
              <a:r>
                <a:rPr sz="1800" b="1" kern="0" spc="-6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→</a:t>
              </a:r>
              <a:r>
                <a:rPr sz="1800" b="1" kern="0" spc="16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6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Beta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"/>
                </a:spcBef>
                <a:tabLst/>
              </a:pPr>
              <a:r>
                <a:rPr sz="1800" b="1" kern="0" spc="-3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→</a:t>
              </a:r>
              <a:r>
                <a:rPr sz="1800" b="1" kern="0" spc="17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C97F1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Dirichlet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30" name="textbox 630"/>
            <p:cNvSpPr/>
            <p:nvPr/>
          </p:nvSpPr>
          <p:spPr>
            <a:xfrm>
              <a:off x="209425" y="182117"/>
              <a:ext cx="2005964" cy="35471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57859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Binary?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72465" algn="l" rtl="0" eaLnBrk="0">
                <a:lnSpc>
                  <a:spcPct val="83000"/>
                </a:lnSpc>
                <a:spcBef>
                  <a:spcPts val="551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Count?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25" algn="l" rtl="0" eaLnBrk="0">
                <a:lnSpc>
                  <a:spcPct val="83000"/>
                </a:lnSpc>
                <a:spcBef>
                  <a:spcPts val="548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Positive continuous?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4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26719" algn="l" rtl="0" eaLnBrk="0">
                <a:lnSpc>
                  <a:spcPct val="83000"/>
                </a:lnSpc>
                <a:spcBef>
                  <a:spcPts val="550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Real-valued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,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455294" algn="l" rtl="0" eaLnBrk="0">
                <a:lnSpc>
                  <a:spcPts val="2272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symmetric?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35279" algn="l" rtl="0" eaLnBrk="0">
                <a:lnSpc>
                  <a:spcPct val="83000"/>
                </a:lnSpc>
                <a:spcBef>
                  <a:spcPts val="543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</a:t>
              </a:r>
              <a:r>
                <a:rPr sz="1800" b="1" kern="0" spc="10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probabil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ity?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</a:t>
              </a:r>
              <a:r>
                <a:rPr sz="1800" b="1" kern="0" spc="10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probability vecto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r?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632" name="textbox 632"/>
          <p:cNvSpPr/>
          <p:nvPr/>
        </p:nvSpPr>
        <p:spPr>
          <a:xfrm>
            <a:off x="559863" y="1323720"/>
            <a:ext cx="4862195" cy="3042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Don't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pick Gauss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ian just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because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it's familiar.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4000"/>
              </a:lnSpc>
              <a:spcBef>
                <a:spcPts val="1779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Consider: support, symmetry, tails,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3679" indent="2540" algn="l" rtl="0" eaLnBrk="0">
              <a:lnSpc>
                <a:spcPct val="104000"/>
              </a:lnSpc>
              <a:spcBef>
                <a:spcPts val="317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multimodality,</a:t>
            </a:r>
            <a:r>
              <a:rPr sz="2000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independence, data size,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interpretability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4000"/>
              </a:lnSpc>
              <a:spcBef>
                <a:spcPts val="1652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misspecified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distribution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introduces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6220" indent="-8889" algn="l" rtl="0" eaLnBrk="0">
              <a:lnSpc>
                <a:spcPct val="104000"/>
              </a:lnSpc>
              <a:spcBef>
                <a:spcPts val="31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systematic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bias -- e.g. a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ingle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Gaussian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multimodal</a:t>
            </a:r>
            <a:r>
              <a:rPr sz="2000" kern="0" spc="2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pixel data.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Simple decision</a:t>
            </a:r>
            <a:r>
              <a:rPr sz="20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tree: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634" name="textbox 634"/>
          <p:cNvSpPr/>
          <p:nvPr/>
        </p:nvSpPr>
        <p:spPr>
          <a:xfrm>
            <a:off x="554250" y="393355"/>
            <a:ext cx="9131300" cy="434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Model Selection: A Distrib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ution Is an Assumption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636" name="textbox 636"/>
          <p:cNvSpPr/>
          <p:nvPr/>
        </p:nvSpPr>
        <p:spPr>
          <a:xfrm>
            <a:off x="551713" y="74930"/>
            <a:ext cx="289877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IONS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rect 638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40" name="picture 6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743200"/>
            <a:ext cx="3657600" cy="4114797"/>
          </a:xfrm>
          <a:prstGeom prst="rect">
            <a:avLst/>
          </a:prstGeom>
        </p:spPr>
      </p:pic>
      <p:sp>
        <p:nvSpPr>
          <p:cNvPr id="642" name="textbox 642"/>
          <p:cNvSpPr/>
          <p:nvPr/>
        </p:nvSpPr>
        <p:spPr>
          <a:xfrm>
            <a:off x="956563" y="2288356"/>
            <a:ext cx="5561329" cy="3208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ct val="84000"/>
              </a:lnSpc>
              <a:tabLst/>
            </a:pPr>
            <a:r>
              <a:rPr sz="12900" b="1" kern="0" spc="-16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03</a:t>
            </a:r>
            <a:endParaRPr sz="129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83000"/>
              </a:lnSpc>
              <a:spcBef>
                <a:spcPts val="1150"/>
              </a:spcBef>
              <a:tabLst/>
            </a:pPr>
            <a:r>
              <a:rPr sz="3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Statistical Infere</a:t>
            </a:r>
            <a:r>
              <a:rPr sz="38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nce</a:t>
            </a:r>
            <a:endParaRPr sz="3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</a:t>
            </a:r>
            <a:r>
              <a:rPr sz="1800" i="1" kern="0" spc="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method</a:t>
            </a:r>
            <a:r>
              <a:rPr sz="1800" i="1" kern="0" spc="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800" i="1" kern="0" spc="-6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moments</a:t>
            </a:r>
            <a:r>
              <a:rPr sz="1800" i="1" kern="0" spc="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</a:t>
            </a:r>
            <a:r>
              <a:rPr sz="1800" i="1" kern="0" spc="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i="1" kern="0" spc="-19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full</a:t>
            </a:r>
            <a:r>
              <a:rPr sz="1800" i="1" kern="0" spc="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</a:t>
            </a:r>
            <a:r>
              <a:rPr sz="1800" i="1" kern="0" spc="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inference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644" name="picture 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75519" y="0"/>
            <a:ext cx="2316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picture 6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989" y="2726881"/>
            <a:ext cx="5524809" cy="1019453"/>
          </a:xfrm>
          <a:prstGeom prst="rect">
            <a:avLst/>
          </a:prstGeom>
        </p:spPr>
      </p:pic>
      <p:sp>
        <p:nvSpPr>
          <p:cNvPr id="648" name="textbox 648"/>
          <p:cNvSpPr/>
          <p:nvPr/>
        </p:nvSpPr>
        <p:spPr>
          <a:xfrm>
            <a:off x="559863" y="1323720"/>
            <a:ext cx="5107940" cy="2399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 observe data</a:t>
            </a:r>
            <a:r>
              <a:rPr sz="2000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{x1,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...,</a:t>
            </a:r>
            <a:r>
              <a:rPr sz="2000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xn}.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7965" indent="-215265" algn="l" rtl="0" eaLnBrk="0">
              <a:lnSpc>
                <a:spcPct val="104000"/>
              </a:lnSpc>
              <a:spcBef>
                <a:spcPts val="1520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has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an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unknown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parameter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(e.g. a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Gaussian's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 and σ,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Poisson's λ).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4000"/>
              </a:lnSpc>
              <a:spcBef>
                <a:spcPts val="1652"/>
              </a:spcBef>
              <a:tabLst/>
            </a:pPr>
            <a:r>
              <a:rPr sz="20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20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How do we</a:t>
            </a:r>
            <a:r>
              <a:rPr sz="20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estimate</a:t>
            </a:r>
            <a:r>
              <a:rPr sz="20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 fro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</a:t>
            </a:r>
            <a:r>
              <a:rPr sz="2000" b="1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D?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38125" indent="-225425" algn="l" rtl="0" eaLnBrk="0">
              <a:lnSpc>
                <a:spcPct val="104000"/>
              </a:lnSpc>
              <a:spcBef>
                <a:spcPts val="7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Four approaches: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MLE,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Method of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Moments,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MAP, and fu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ll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inference.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650" name="textbox 650"/>
          <p:cNvSpPr/>
          <p:nvPr/>
        </p:nvSpPr>
        <p:spPr>
          <a:xfrm>
            <a:off x="548961" y="74930"/>
            <a:ext cx="6687819" cy="724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RENCE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The Problem: Unknown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Parameters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652" name="textbox 652"/>
          <p:cNvSpPr/>
          <p:nvPr/>
        </p:nvSpPr>
        <p:spPr>
          <a:xfrm>
            <a:off x="9235440" y="2697479"/>
            <a:ext cx="2378075" cy="1006475"/>
          </a:xfrm>
          <a:prstGeom prst="roundRect">
            <a:avLst>
              <a:gd name="adj" fmla="val 7531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46734" algn="l" rtl="0" eaLnBrk="0">
              <a:lnSpc>
                <a:spcPct val="83000"/>
              </a:lnSpc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 p(x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|θ)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640715" algn="l" rtl="0" eaLnBrk="0">
              <a:lnSpc>
                <a:spcPct val="83000"/>
              </a:lnSpc>
              <a:spcBef>
                <a:spcPts val="369"/>
              </a:spcBef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</a:t>
            </a:r>
            <a:r>
              <a:rPr sz="1800" b="1" kern="0" spc="15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unknown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54" name="textbox 654"/>
          <p:cNvSpPr/>
          <p:nvPr/>
        </p:nvSpPr>
        <p:spPr>
          <a:xfrm>
            <a:off x="6126479" y="2697479"/>
            <a:ext cx="2377439" cy="1006475"/>
          </a:xfrm>
          <a:prstGeom prst="roundRect">
            <a:avLst>
              <a:gd name="adj" fmla="val 7531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59485" algn="l" rtl="0" eaLnBrk="0">
              <a:lnSpc>
                <a:spcPts val="1396"/>
              </a:lnSpc>
              <a:tabLst/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46734" algn="l" rtl="0" eaLnBrk="0">
              <a:lnSpc>
                <a:spcPct val="83000"/>
              </a:lnSpc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 =</a:t>
            </a:r>
            <a:r>
              <a:rPr sz="1800" b="1" kern="0" spc="5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{x1,..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.,xn}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56" name="textbox 656"/>
          <p:cNvSpPr/>
          <p:nvPr/>
        </p:nvSpPr>
        <p:spPr>
          <a:xfrm>
            <a:off x="6762750" y="5334000"/>
            <a:ext cx="4316729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Four estimati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 strategies covered in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this part.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58" name="textbox 658"/>
          <p:cNvSpPr/>
          <p:nvPr/>
        </p:nvSpPr>
        <p:spPr>
          <a:xfrm>
            <a:off x="6110981" y="4343400"/>
            <a:ext cx="1215389" cy="768350"/>
          </a:xfrm>
          <a:prstGeom prst="roundRect">
            <a:avLst>
              <a:gd name="adj" fmla="val 9824"/>
            </a:avLst>
          </a:prstGeom>
          <a:solidFill>
            <a:srgbClr val="9DBBE0">
              <a:alpha val="100000"/>
            </a:srgbClr>
          </a:solidFill>
          <a:ln w="12700" cap="flat">
            <a:solidFill>
              <a:srgbClr val="9DBBE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0050" algn="l" rtl="0" eaLnBrk="0">
              <a:lnSpc>
                <a:spcPts val="1407"/>
              </a:lnSpc>
              <a:tabLst/>
            </a:pPr>
            <a:r>
              <a:rPr sz="1800" b="1" kern="0" spc="-5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60" name="textbox 660"/>
          <p:cNvSpPr/>
          <p:nvPr/>
        </p:nvSpPr>
        <p:spPr>
          <a:xfrm>
            <a:off x="8762741" y="4343400"/>
            <a:ext cx="1215389" cy="768350"/>
          </a:xfrm>
          <a:prstGeom prst="roundRect">
            <a:avLst>
              <a:gd name="adj" fmla="val 9824"/>
            </a:avLst>
          </a:prstGeom>
          <a:solidFill>
            <a:srgbClr val="9DBBE0">
              <a:alpha val="100000"/>
            </a:srgbClr>
          </a:solidFill>
          <a:ln w="12700" cap="flat">
            <a:solidFill>
              <a:srgbClr val="9DBBE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0" algn="l" rtl="0" eaLnBrk="0">
              <a:lnSpc>
                <a:spcPts val="1407"/>
              </a:lnSpc>
              <a:tabLst/>
            </a:pPr>
            <a:r>
              <a:rPr sz="1800" b="1" kern="0" spc="-4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62" name="textbox 662"/>
          <p:cNvSpPr/>
          <p:nvPr/>
        </p:nvSpPr>
        <p:spPr>
          <a:xfrm>
            <a:off x="10088621" y="4343400"/>
            <a:ext cx="1215389" cy="768350"/>
          </a:xfrm>
          <a:prstGeom prst="roundRect">
            <a:avLst>
              <a:gd name="adj" fmla="val 9824"/>
            </a:avLst>
          </a:prstGeom>
          <a:solidFill>
            <a:srgbClr val="9DBBE0">
              <a:alpha val="100000"/>
            </a:srgbClr>
          </a:solidFill>
          <a:ln w="12700" cap="flat">
            <a:solidFill>
              <a:srgbClr val="9DBBE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9070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1800" b="1" kern="0" spc="-2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64" name="textbox 664"/>
          <p:cNvSpPr/>
          <p:nvPr/>
        </p:nvSpPr>
        <p:spPr>
          <a:xfrm>
            <a:off x="7437225" y="4343400"/>
            <a:ext cx="1214755" cy="768350"/>
          </a:xfrm>
          <a:prstGeom prst="roundRect">
            <a:avLst>
              <a:gd name="adj" fmla="val 9824"/>
            </a:avLst>
          </a:prstGeom>
          <a:solidFill>
            <a:srgbClr val="9DBBE0">
              <a:alpha val="100000"/>
            </a:srgbClr>
          </a:solidFill>
          <a:ln w="12700" cap="flat">
            <a:solidFill>
              <a:srgbClr val="9DBBE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6390" algn="l" rtl="0" eaLnBrk="0">
              <a:lnSpc>
                <a:spcPct val="66000"/>
              </a:lnSpc>
              <a:tabLst/>
            </a:pPr>
            <a:r>
              <a:rPr sz="1800" b="1" kern="0" spc="-5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MOM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66" name="path 666"/>
          <p:cNvSpPr/>
          <p:nvPr/>
        </p:nvSpPr>
        <p:spPr>
          <a:xfrm>
            <a:off x="8595359" y="3063240"/>
            <a:ext cx="548640" cy="256031"/>
          </a:xfrm>
          <a:custGeom>
            <a:avLst/>
            <a:gdLst/>
            <a:ahLst/>
            <a:cxnLst/>
            <a:rect l="0" t="0" r="0" b="0"/>
            <a:pathLst>
              <a:path w="864" h="403">
                <a:moveTo>
                  <a:pt x="0" y="100"/>
                </a:moveTo>
                <a:lnTo>
                  <a:pt x="662" y="100"/>
                </a:lnTo>
                <a:lnTo>
                  <a:pt x="662" y="0"/>
                </a:lnTo>
                <a:lnTo>
                  <a:pt x="864" y="201"/>
                </a:lnTo>
                <a:lnTo>
                  <a:pt x="662" y="403"/>
                </a:lnTo>
                <a:lnTo>
                  <a:pt x="662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picture 6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5076" y="1641652"/>
            <a:ext cx="5616076" cy="3018842"/>
          </a:xfrm>
          <a:prstGeom prst="rect">
            <a:avLst/>
          </a:prstGeom>
        </p:spPr>
      </p:pic>
      <p:sp>
        <p:nvSpPr>
          <p:cNvPr id="670" name="textbox 670"/>
          <p:cNvSpPr/>
          <p:nvPr/>
        </p:nvSpPr>
        <p:spPr>
          <a:xfrm>
            <a:off x="557428" y="1323720"/>
            <a:ext cx="4919345" cy="3248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884" indent="-208279" algn="l" rtl="0" eaLnBrk="0">
              <a:lnSpc>
                <a:spcPct val="97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Idea: choose the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parameter value</a:t>
            </a:r>
            <a:r>
              <a:rPr sz="2000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that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makes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observed data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LIKELY.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spcBef>
                <a:spcPts val="547"/>
              </a:spcBef>
              <a:tabLst/>
            </a:pPr>
            <a:r>
              <a:rPr sz="1800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θ̂_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=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argmax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_θ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(D|θ)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4000"/>
              </a:lnSpc>
              <a:spcBef>
                <a:spcPts val="1767"/>
              </a:spcBef>
              <a:tabLst/>
            </a:pP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For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33394A"/>
                      <wpsdc:folHlinkClr xmlns:wpsdc="http://www.wps.cn/officeDocument/2017/drawingmlCustomData" val="33394A"/>
                      <wpsdc:hlinkUnderline xmlns:wpsdc="http://www.wps.cn/officeDocument/2017/drawingmlCustomData" val="0"/>
                    </a:ext>
                  </a:extLst>
                </a:hlinkClick>
              </a:rPr>
              <a:t>i.i.d. data:</a:t>
            </a:r>
            <a:r>
              <a:rPr sz="2000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L(θ;D)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∏ᵢ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p(xᵢ|θ)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4000"/>
              </a:lnSpc>
              <a:spcBef>
                <a:spcPts val="1777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</a:t>
            </a:r>
            <a:r>
              <a:rPr sz="20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maximize the</a:t>
            </a:r>
            <a:r>
              <a:rPr sz="2000" b="1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LOG-likeli</a:t>
            </a:r>
            <a:r>
              <a:rPr sz="20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hood instead: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46"/>
              </a:spcBef>
              <a:tabLst/>
            </a:pP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Σᵢ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</a:t>
            </a:r>
            <a:r>
              <a:rPr sz="18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p(xᵢ|θ)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28600" indent="-215900" algn="l" rtl="0" eaLnBrk="0">
              <a:lnSpc>
                <a:spcPct val="104000"/>
              </a:lnSpc>
              <a:spcBef>
                <a:spcPts val="4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Why log?</a:t>
            </a:r>
            <a:r>
              <a:rPr sz="1800" i="1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Turns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a product into a sum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easier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differentiate and numer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ically stable.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72" name="textbox 672"/>
          <p:cNvSpPr/>
          <p:nvPr/>
        </p:nvSpPr>
        <p:spPr>
          <a:xfrm>
            <a:off x="551713" y="74930"/>
            <a:ext cx="7964169" cy="751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III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- 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</a:t>
            </a:r>
            <a:r>
              <a:rPr sz="1800" b="1" kern="0" spc="-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3000"/>
              </a:lnSpc>
              <a:spcBef>
                <a:spcPts val="724"/>
              </a:spcBef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Maximum Likel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ihood Estimation: Intuition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674" name="textbox 674"/>
          <p:cNvSpPr/>
          <p:nvPr/>
        </p:nvSpPr>
        <p:spPr>
          <a:xfrm>
            <a:off x="6126479" y="2697479"/>
            <a:ext cx="5577840" cy="823594"/>
          </a:xfrm>
          <a:prstGeom prst="roundRect">
            <a:avLst>
              <a:gd name="adj" fmla="val 9179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29739" algn="l" rtl="0" eaLnBrk="0">
              <a:lnSpc>
                <a:spcPct val="83000"/>
              </a:lnSpc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Compute likelihood of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600835" algn="l" rtl="0" eaLnBrk="0">
              <a:lnSpc>
                <a:spcPts val="2573"/>
              </a:lnSpc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observed data for each</a:t>
            </a:r>
            <a:r>
              <a:rPr sz="1800" b="1" kern="0" spc="8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76" name="textbox 676"/>
          <p:cNvSpPr/>
          <p:nvPr/>
        </p:nvSpPr>
        <p:spPr>
          <a:xfrm>
            <a:off x="6126479" y="3794759"/>
            <a:ext cx="5577840" cy="823594"/>
          </a:xfrm>
          <a:prstGeom prst="roundRect">
            <a:avLst>
              <a:gd name="adj" fmla="val 9179"/>
            </a:avLst>
          </a:prstGeom>
          <a:solidFill>
            <a:srgbClr val="2E7D5B">
              <a:alpha val="100000"/>
            </a:srgbClr>
          </a:solidFill>
          <a:ln w="12700" cap="flat">
            <a:solidFill>
              <a:srgbClr val="2E7D5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07514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Pick θ that</a:t>
            </a:r>
            <a:r>
              <a:rPr sz="1800" b="1" kern="0" spc="10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kes data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611630" algn="l" rtl="0" eaLnBrk="0">
              <a:lnSpc>
                <a:spcPts val="2271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most</a:t>
            </a:r>
            <a:r>
              <a:rPr sz="1800" b="1" kern="0" spc="9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probable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 θ̂_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78" name="textbox 678"/>
          <p:cNvSpPr/>
          <p:nvPr/>
        </p:nvSpPr>
        <p:spPr>
          <a:xfrm>
            <a:off x="6126479" y="1600200"/>
            <a:ext cx="5577840" cy="822960"/>
          </a:xfrm>
          <a:prstGeom prst="roundRect">
            <a:avLst>
              <a:gd name="adj" fmla="val 9179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8175" algn="l" rtl="0" eaLnBrk="0">
              <a:lnSpc>
                <a:spcPct val="83000"/>
              </a:lnSpc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Try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many θ values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textbox 680"/>
          <p:cNvSpPr/>
          <p:nvPr/>
        </p:nvSpPr>
        <p:spPr>
          <a:xfrm>
            <a:off x="541229" y="393355"/>
            <a:ext cx="10665459" cy="3949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Worked Example: Bernoulli</a:t>
            </a:r>
            <a:r>
              <a:rPr sz="3200" b="1" kern="0" spc="16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MLE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3000"/>
              </a:lnSpc>
              <a:spcBef>
                <a:spcPts val="551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Problem:</a:t>
            </a:r>
            <a:r>
              <a:rPr sz="1800" b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100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users visit a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page; 70 click. Estima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 the click</a:t>
            </a:r>
            <a:r>
              <a:rPr sz="1800" b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1800" b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9704" algn="l" rtl="0" eaLnBrk="0">
              <a:lnSpc>
                <a:spcPct val="83000"/>
              </a:lnSpc>
              <a:spcBef>
                <a:spcPts val="551"/>
              </a:spcBef>
              <a:tabLst/>
            </a:pPr>
            <a:r>
              <a:rPr sz="18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Step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1: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L(p)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800" kern="0" spc="-10" baseline="28937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N1</a:t>
            </a:r>
            <a:r>
              <a:rPr sz="11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(1-p)</a:t>
            </a:r>
            <a:r>
              <a:rPr sz="1800" kern="0" spc="-10" baseline="28937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N0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 with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N1=70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(successes),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N0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=30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(failures)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7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3000"/>
              </a:lnSpc>
              <a:spcBef>
                <a:spcPts val="548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2: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g-likelihood ℓ(p)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N1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N0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log(1-p)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544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 3: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Set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derivative</a:t>
            </a:r>
            <a:r>
              <a:rPr sz="1800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zero: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N1/p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N0/(1-p)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533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Step 4:</a:t>
            </a:r>
            <a:r>
              <a:rPr sz="18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Solve</a:t>
            </a: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p̂</a:t>
            </a:r>
            <a:r>
              <a:rPr sz="18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N1/</a:t>
            </a:r>
            <a:r>
              <a:rPr sz="18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8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70/100</a:t>
            </a: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0.70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0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2570" indent="-213995" algn="l" rtl="0" eaLnBrk="0">
              <a:lnSpc>
                <a:spcPct val="104000"/>
              </a:lnSpc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Interpretation: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 MLE is simply the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observed success</a:t>
            </a:r>
            <a:r>
              <a:rPr sz="1800" i="1" kern="0" spc="-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fraction.</a:t>
            </a:r>
            <a:r>
              <a:rPr sz="1800" i="1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This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connects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directly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cross-entropy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training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neural nets -- minimizing cross-entropy is maxim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izing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82" name="textbox 682"/>
          <p:cNvSpPr/>
          <p:nvPr/>
        </p:nvSpPr>
        <p:spPr>
          <a:xfrm>
            <a:off x="551713" y="74930"/>
            <a:ext cx="16573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III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- 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</a:t>
            </a:r>
            <a:r>
              <a:rPr sz="1800" b="1" kern="0" spc="-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extbox 684"/>
          <p:cNvSpPr/>
          <p:nvPr/>
        </p:nvSpPr>
        <p:spPr>
          <a:xfrm>
            <a:off x="556282" y="1318767"/>
            <a:ext cx="5125720" cy="3643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3000"/>
              </a:lnSpc>
              <a:tabLst/>
            </a:pP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μ̂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x̄ =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(1/n)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Σᵢ xᵢ</a:t>
            </a:r>
            <a:r>
              <a:rPr sz="1800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(sa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mple</a:t>
            </a:r>
            <a:r>
              <a:rPr sz="18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3000"/>
              </a:lnSpc>
              <a:spcBef>
                <a:spcPts val="1736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σ̂²_MLE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(1/n)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(xᵢ -</a:t>
            </a:r>
            <a:r>
              <a:rPr sz="1800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x̄)²    (MLE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 variance)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3045" indent="-220979" algn="l" rtl="0" eaLnBrk="0">
              <a:lnSpc>
                <a:spcPct val="110000"/>
              </a:lnSpc>
              <a:spcBef>
                <a:spcPts val="1523"/>
              </a:spcBef>
              <a:tabLst/>
            </a:pPr>
            <a:r>
              <a:rPr sz="1700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700" kern="0" spc="15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7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MLE uses denominator n.</a:t>
            </a:r>
            <a:r>
              <a:rPr sz="1700" i="1" kern="0" spc="15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700" i="1" kern="0" spc="9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unb</a:t>
            </a:r>
            <a:r>
              <a:rPr sz="17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iased sample</a:t>
            </a:r>
            <a:r>
              <a:rPr sz="17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sz="17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variance uses denominat</a:t>
            </a:r>
            <a:r>
              <a:rPr sz="17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 n-1.</a:t>
            </a:r>
            <a:endParaRPr sz="1700" dirty="0">
              <a:latin typeface="Calibri"/>
              <a:ea typeface="Calibri"/>
              <a:cs typeface="Calibri"/>
            </a:endParaRPr>
          </a:p>
          <a:p>
            <a:pPr marL="241300" indent="-225425" algn="l" rtl="0" eaLnBrk="0">
              <a:lnSpc>
                <a:spcPct val="105000"/>
              </a:lnSpc>
              <a:spcBef>
                <a:spcPts val="1130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Why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the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 “everywhere”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statistics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ML?</a:t>
            </a:r>
            <a:r>
              <a:rPr sz="2000" kern="0" spc="2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Because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under a Gaussian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model, the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1775" indent="-1270" algn="l" rtl="0" eaLnBrk="0">
              <a:lnSpc>
                <a:spcPct val="104000"/>
              </a:lnSpc>
              <a:spcBef>
                <a:spcPts val="120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2000" kern="0" spc="2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the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maximum-likelihood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estimator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</a:t>
            </a:r>
            <a:r>
              <a:rPr sz="2000" kern="0" spc="-3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27329" indent="-213995" algn="l" rtl="0" eaLnBrk="0">
              <a:lnSpc>
                <a:spcPct val="104000"/>
              </a:lnSpc>
              <a:spcBef>
                <a:spcPts val="2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Under Ga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ussian regression errors, maximizing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 ≡ minimizing mean-squared er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ror.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86" name="textbox 686"/>
          <p:cNvSpPr/>
          <p:nvPr/>
        </p:nvSpPr>
        <p:spPr>
          <a:xfrm>
            <a:off x="6126479" y="1600200"/>
            <a:ext cx="5577840" cy="3292475"/>
          </a:xfrm>
          <a:prstGeom prst="rect">
            <a:avLst/>
          </a:prstGeom>
          <a:solidFill>
            <a:srgbClr val="EEF2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3850" indent="-1905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This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why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mean-squ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ared-error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loss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so common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AI: for Gaussian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-distributed errors,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MSE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329565" indent="7620" algn="l" rtl="0" eaLnBrk="0">
              <a:lnSpc>
                <a:spcPct val="93000"/>
              </a:lnSpc>
              <a:spcBef>
                <a:spcPts val="303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minimization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ximization are the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same optimization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blem.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88" name="textbox 688"/>
          <p:cNvSpPr/>
          <p:nvPr/>
        </p:nvSpPr>
        <p:spPr>
          <a:xfrm>
            <a:off x="556285" y="433639"/>
            <a:ext cx="2588260" cy="365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Gaussian MLE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690" name="textbox 690"/>
          <p:cNvSpPr/>
          <p:nvPr/>
        </p:nvSpPr>
        <p:spPr>
          <a:xfrm>
            <a:off x="551713" y="74930"/>
            <a:ext cx="16573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III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- 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</a:t>
            </a:r>
            <a:r>
              <a:rPr sz="1800" b="1" kern="0" spc="-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picture 6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5076" y="1812277"/>
            <a:ext cx="5616076" cy="3488978"/>
          </a:xfrm>
          <a:prstGeom prst="rect">
            <a:avLst/>
          </a:prstGeom>
        </p:spPr>
      </p:pic>
      <p:sp>
        <p:nvSpPr>
          <p:cNvPr id="694" name="textbox 694"/>
          <p:cNvSpPr/>
          <p:nvPr/>
        </p:nvSpPr>
        <p:spPr>
          <a:xfrm>
            <a:off x="554250" y="393355"/>
            <a:ext cx="5218429" cy="399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5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Method of Moments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1300" indent="-223520" algn="l" rtl="0" eaLnBrk="0">
              <a:lnSpc>
                <a:spcPct val="105000"/>
              </a:lnSpc>
              <a:spcBef>
                <a:spcPts val="612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Idea: set theoretic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moments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equal to</a:t>
            </a:r>
            <a:r>
              <a:rPr sz="20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moments, then solve for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</a:t>
            </a:r>
            <a:r>
              <a:rPr sz="2000" kern="0" spc="-3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3000"/>
              </a:lnSpc>
              <a:spcBef>
                <a:spcPts val="1562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mᵣ(θ)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Eθ[Xʳ]   s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et equal to    m̂</a:t>
            </a:r>
            <a:r>
              <a:rPr sz="1800" kern="0" spc="-3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ᵣ =</a:t>
            </a:r>
            <a:r>
              <a:rPr sz="1800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(1/n)Σᵢ xᵢʳ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6695" indent="-208915" algn="l" rtl="0" eaLnBrk="0">
              <a:lnSpc>
                <a:spcPct val="104000"/>
              </a:lnSpc>
              <a:spcBef>
                <a:spcPts val="1497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Examples: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Poisson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 estimator,</a:t>
            </a:r>
            <a:r>
              <a:rPr sz="2000" kern="0" spc="2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frequency es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timator.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3000"/>
              </a:lnSpc>
              <a:spcBef>
                <a:spcPts val="1633"/>
              </a:spcBef>
              <a:tabLst/>
            </a:pPr>
            <a:r>
              <a:rPr sz="1800" kern="0" spc="-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9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Pros: often simple, avoids a complicated</a:t>
            </a:r>
            <a:r>
              <a:rPr sz="1800" b="1" kern="0" spc="1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</a:t>
            </a:r>
            <a:r>
              <a:rPr sz="1800" b="1" kern="0" spc="-20" dirty="0">
                <a:solidFill>
                  <a:srgbClr val="2E7D5B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3000"/>
              </a:lnSpc>
              <a:spcBef>
                <a:spcPts val="547"/>
              </a:spcBef>
              <a:tabLst/>
            </a:pPr>
            <a:r>
              <a:rPr sz="1800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Cons: can</a:t>
            </a:r>
            <a:r>
              <a:rPr sz="1800" b="1" kern="0" spc="10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1800" b="1" kern="0" spc="10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less efficie</a:t>
            </a:r>
            <a:r>
              <a:rPr sz="1800" b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nt than</a:t>
            </a:r>
            <a:r>
              <a:rPr sz="1800" b="1" kern="0" spc="1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MLE,</a:t>
            </a:r>
            <a:r>
              <a:rPr sz="1800" b="1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may yield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r" rtl="0" eaLnBrk="0">
              <a:lnSpc>
                <a:spcPct val="83000"/>
              </a:lnSpc>
              <a:spcBef>
                <a:spcPts val="535"/>
              </a:spcBef>
              <a:tabLst/>
            </a:pPr>
            <a:r>
              <a:rPr sz="1800" b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invalid parameter v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alues, higher moments are</a:t>
            </a:r>
            <a:r>
              <a:rPr sz="1800" b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noisy.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96" name="textbox 696"/>
          <p:cNvSpPr/>
          <p:nvPr/>
        </p:nvSpPr>
        <p:spPr>
          <a:xfrm>
            <a:off x="6126479" y="1783079"/>
            <a:ext cx="5577840" cy="914400"/>
          </a:xfrm>
          <a:prstGeom prst="roundRect">
            <a:avLst>
              <a:gd name="adj" fmla="val 8273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03400" algn="l" rtl="0" eaLnBrk="0">
              <a:lnSpc>
                <a:spcPct val="83000"/>
              </a:lnSpc>
              <a:tabLst/>
            </a:pP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Theoretical 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moment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97454" algn="l" rtl="0" eaLnBrk="0">
              <a:lnSpc>
                <a:spcPts val="2294"/>
              </a:lnSpc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Eθ[Xʳ]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698" name="textbox 698"/>
          <p:cNvSpPr/>
          <p:nvPr/>
        </p:nvSpPr>
        <p:spPr>
          <a:xfrm>
            <a:off x="6126479" y="3154679"/>
            <a:ext cx="5577840" cy="914400"/>
          </a:xfrm>
          <a:prstGeom prst="roundRect">
            <a:avLst>
              <a:gd name="adj" fmla="val 8273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93264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 moment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30450" algn="l" rtl="0" eaLnBrk="0">
              <a:lnSpc>
                <a:spcPts val="2281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(1/n)</a:t>
            </a:r>
            <a:r>
              <a:rPr sz="1800" b="1" kern="0" spc="9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 xᵢʳ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00" name="rect 700"/>
          <p:cNvSpPr/>
          <p:nvPr/>
        </p:nvSpPr>
        <p:spPr>
          <a:xfrm>
            <a:off x="7909559" y="4526279"/>
            <a:ext cx="2011680" cy="731520"/>
          </a:xfrm>
          <a:prstGeom prst="rect">
            <a:avLst/>
          </a:prstGeom>
          <a:solidFill>
            <a:srgbClr val="2E7D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02" name="textbox 702"/>
          <p:cNvSpPr/>
          <p:nvPr/>
        </p:nvSpPr>
        <p:spPr>
          <a:xfrm>
            <a:off x="7896859" y="4513579"/>
            <a:ext cx="2037714" cy="757555"/>
          </a:xfrm>
          <a:prstGeom prst="roundRect">
            <a:avLst>
              <a:gd name="adj" fmla="val 10307"/>
            </a:avLst>
          </a:prstGeom>
          <a:noFill/>
          <a:ln w="12700" cap="flat">
            <a:solidFill>
              <a:srgbClr val="2E7D5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9600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θ̂_MOM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04" name="textbox 704"/>
          <p:cNvSpPr/>
          <p:nvPr/>
        </p:nvSpPr>
        <p:spPr>
          <a:xfrm>
            <a:off x="551713" y="74930"/>
            <a:ext cx="180403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  III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</a:t>
            </a:r>
            <a:r>
              <a:rPr sz="18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MOM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06" name="textbox 706"/>
          <p:cNvSpPr/>
          <p:nvPr/>
        </p:nvSpPr>
        <p:spPr>
          <a:xfrm>
            <a:off x="8361071" y="2846197"/>
            <a:ext cx="111125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set equal</a:t>
            </a:r>
            <a:r>
              <a:rPr sz="1800" i="1" kern="0" spc="1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08" name="textbox 708"/>
          <p:cNvSpPr/>
          <p:nvPr/>
        </p:nvSpPr>
        <p:spPr>
          <a:xfrm>
            <a:off x="8420506" y="4218051"/>
            <a:ext cx="99885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solve</a:t>
            </a:r>
            <a:r>
              <a:rPr sz="1800" i="1" kern="0" spc="-1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800" i="1" kern="0" spc="9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θ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rect 710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12" name="textbox 712"/>
          <p:cNvSpPr/>
          <p:nvPr/>
        </p:nvSpPr>
        <p:spPr>
          <a:xfrm>
            <a:off x="910844" y="3064281"/>
            <a:ext cx="9773919" cy="2569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2564" algn="l" rtl="0" eaLnBrk="0">
              <a:lnSpc>
                <a:spcPct val="84000"/>
              </a:lnSpc>
              <a:tabLst/>
            </a:pP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(B) Whether an</a:t>
            </a:r>
            <a:r>
              <a:rPr sz="2000" kern="0" spc="14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email</a:t>
            </a:r>
            <a:r>
              <a:rPr sz="2000" kern="0" spc="1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8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spam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2564" algn="l" rtl="0" eaLnBrk="0">
              <a:lnSpc>
                <a:spcPct val="84000"/>
              </a:lnSpc>
              <a:spcBef>
                <a:spcPts val="602"/>
              </a:spcBef>
              <a:tabLst/>
            </a:pP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(C)</a:t>
            </a:r>
            <a:r>
              <a:rPr sz="2000" kern="0" spc="17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 that</a:t>
            </a:r>
            <a:r>
              <a:rPr sz="2000" kern="0" spc="10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14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user</a:t>
            </a:r>
            <a:r>
              <a:rPr sz="2000" kern="0" spc="10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clicks</a:t>
            </a:r>
            <a:r>
              <a:rPr sz="2000" kern="0" spc="1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 ad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2564" algn="l" rtl="0" eaLnBrk="0">
              <a:lnSpc>
                <a:spcPct val="84000"/>
              </a:lnSpc>
              <a:spcBef>
                <a:spcPts val="601"/>
              </a:spcBef>
              <a:tabLst/>
            </a:pPr>
            <a:r>
              <a:rPr sz="20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(D) Waiting time</a:t>
            </a:r>
            <a:r>
              <a:rPr sz="2000" kern="0" spc="16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etween server</a:t>
            </a:r>
            <a:r>
              <a:rPr sz="2000" kern="0" spc="17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requests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-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Match each</a:t>
            </a:r>
            <a:r>
              <a:rPr sz="1800" i="1" kern="0" spc="15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to: Poisson, Bernoulli, Beta,</a:t>
            </a:r>
            <a:r>
              <a:rPr sz="1800" i="1" kern="0" spc="6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Exponential.</a:t>
            </a:r>
            <a:r>
              <a:rPr sz="1800" i="1" kern="0" spc="7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Discuss,</a:t>
            </a:r>
            <a:r>
              <a:rPr sz="1800" i="1" kern="0" spc="14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then</a:t>
            </a:r>
            <a:r>
              <a:rPr sz="1800" i="1" kern="0" spc="6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check</a:t>
            </a:r>
            <a:r>
              <a:rPr sz="1800" i="1" kern="0" spc="9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7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answer in</a:t>
            </a:r>
            <a:r>
              <a:rPr sz="1800" i="1" kern="0" spc="1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speaker notes.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714" name="picture 7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2743200" cy="2743200"/>
          </a:xfrm>
          <a:prstGeom prst="rect">
            <a:avLst/>
          </a:prstGeom>
        </p:spPr>
      </p:pic>
      <p:sp>
        <p:nvSpPr>
          <p:cNvPr id="716" name="textbox 716"/>
          <p:cNvSpPr/>
          <p:nvPr/>
        </p:nvSpPr>
        <p:spPr>
          <a:xfrm>
            <a:off x="903071" y="968324"/>
            <a:ext cx="6723380" cy="1754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THINK</a:t>
            </a:r>
            <a:r>
              <a:rPr sz="1800" b="1" kern="0" spc="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5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PAIR</a:t>
            </a:r>
            <a:r>
              <a:rPr sz="1800" b="1" kern="0" spc="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SHAR</a:t>
            </a:r>
            <a:r>
              <a:rPr sz="1800" b="1" kern="0" spc="1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4000"/>
              </a:lnSpc>
              <a:spcBef>
                <a:spcPts val="902"/>
              </a:spcBef>
              <a:tabLst/>
            </a:pPr>
            <a:r>
              <a:rPr sz="30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Which distribution would</a:t>
            </a:r>
            <a:r>
              <a:rPr sz="30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you choose?</a:t>
            </a:r>
            <a:endParaRPr sz="30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0184" algn="l" rtl="0" eaLnBrk="0">
              <a:lnSpc>
                <a:spcPct val="84000"/>
              </a:lnSpc>
              <a:spcBef>
                <a:spcPts val="3"/>
              </a:spcBef>
              <a:tabLst/>
            </a:pP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(A)</a:t>
            </a:r>
            <a:r>
              <a:rPr sz="2000" kern="0" spc="17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 of</a:t>
            </a:r>
            <a:r>
              <a:rPr sz="2000" kern="0" spc="1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users</a:t>
            </a:r>
            <a:r>
              <a:rPr sz="2000" kern="0" spc="1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</a:t>
            </a:r>
            <a:r>
              <a:rPr sz="2000" kern="0" spc="-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riving</a:t>
            </a:r>
            <a:r>
              <a:rPr sz="2000" kern="0" spc="16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per</a:t>
            </a:r>
            <a:r>
              <a:rPr sz="2000" kern="0" spc="1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minute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picture 7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5076" y="1733286"/>
            <a:ext cx="5616076" cy="2653298"/>
          </a:xfrm>
          <a:prstGeom prst="rect">
            <a:avLst/>
          </a:prstGeom>
        </p:spPr>
      </p:pic>
      <p:sp>
        <p:nvSpPr>
          <p:cNvPr id="720" name="textbox 720"/>
          <p:cNvSpPr/>
          <p:nvPr/>
        </p:nvSpPr>
        <p:spPr>
          <a:xfrm>
            <a:off x="554250" y="393355"/>
            <a:ext cx="4704079" cy="4377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5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200" b="1" kern="0" spc="-4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MAP vs.</a:t>
            </a:r>
            <a:r>
              <a:rPr sz="3200" b="1" kern="0" spc="17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4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MLE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3045" indent="-217170" algn="l" rtl="0" eaLnBrk="0">
              <a:lnSpc>
                <a:spcPct val="103000"/>
              </a:lnSpc>
              <a:spcBef>
                <a:spcPts val="550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maximizes the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lone: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θ̂_MLE =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argmax_θ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p(D|θ)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7779" algn="l" rtl="0" eaLnBrk="0">
              <a:lnSpc>
                <a:spcPct val="84000"/>
              </a:lnSpc>
              <a:spcBef>
                <a:spcPts val="1658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20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</a:t>
            </a:r>
            <a:r>
              <a:rPr sz="20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maximizes</a:t>
            </a:r>
            <a:r>
              <a:rPr sz="20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 ×</a:t>
            </a:r>
            <a:r>
              <a:rPr sz="20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8000"/>
              </a:lnSpc>
              <a:spcBef>
                <a:spcPts val="544"/>
              </a:spcBef>
              <a:tabLst/>
            </a:pPr>
            <a:r>
              <a:rPr sz="1800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θ̂_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=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argmax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_θ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p(D|θ)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p(θ)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0029" indent="-224154" algn="l" rtl="0" eaLnBrk="0">
              <a:lnSpc>
                <a:spcPct val="104000"/>
              </a:lnSpc>
              <a:spcBef>
                <a:spcPts val="1489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Gaussian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weights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L2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penalty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ridge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regression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3000"/>
              </a:lnSpc>
              <a:spcBef>
                <a:spcPts val="1636"/>
              </a:spcBef>
              <a:tabLst/>
            </a:pP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Laplace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 on weights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L1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penalty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</a:t>
            </a:r>
            <a:r>
              <a:rPr sz="18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sso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1140" indent="-215265" algn="l" rtl="0" eaLnBrk="0">
              <a:lnSpc>
                <a:spcPct val="104000"/>
              </a:lnSpc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Regulariz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ation = prior belief,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expressed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optimizatio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 penalty.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22" name="textbox 722"/>
          <p:cNvSpPr/>
          <p:nvPr/>
        </p:nvSpPr>
        <p:spPr>
          <a:xfrm>
            <a:off x="6126479" y="3154679"/>
            <a:ext cx="5577840" cy="1189355"/>
          </a:xfrm>
          <a:prstGeom prst="roundRect">
            <a:avLst>
              <a:gd name="adj" fmla="val 6384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21585" algn="l" rtl="0" eaLnBrk="0">
              <a:lnSpc>
                <a:spcPts val="1412"/>
              </a:lnSpc>
              <a:spcBef>
                <a:spcPts val="5"/>
              </a:spcBef>
              <a:tabLst/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MAP: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645285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 +</a:t>
            </a:r>
            <a:r>
              <a:rPr sz="1800" b="1" kern="0" spc="2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1800" b="1" kern="0" spc="1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b="1" kern="0" spc="1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Estimate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24" name="textbox 724"/>
          <p:cNvSpPr/>
          <p:nvPr/>
        </p:nvSpPr>
        <p:spPr>
          <a:xfrm>
            <a:off x="6126479" y="1691640"/>
            <a:ext cx="5577840" cy="1188719"/>
          </a:xfrm>
          <a:prstGeom prst="roundRect">
            <a:avLst>
              <a:gd name="adj" fmla="val 6384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47620" algn="l" rtl="0" eaLnBrk="0">
              <a:lnSpc>
                <a:spcPts val="1412"/>
              </a:lnSpc>
              <a:spcBef>
                <a:spcPts val="3"/>
              </a:spcBef>
              <a:tabLst/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MLE: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986914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1800" b="1" kern="0" spc="1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b="1" kern="0" spc="1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Estimate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26" name="textbox 726"/>
          <p:cNvSpPr/>
          <p:nvPr/>
        </p:nvSpPr>
        <p:spPr>
          <a:xfrm>
            <a:off x="6384797" y="4556759"/>
            <a:ext cx="5074284" cy="528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 anchors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es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timate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using prior belief, especially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530350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useful</a:t>
            </a:r>
            <a:r>
              <a:rPr sz="1800" i="1" kern="0" spc="9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little</a:t>
            </a:r>
            <a:r>
              <a:rPr sz="1800" i="1" kern="0" spc="9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28" name="textbox 728"/>
          <p:cNvSpPr/>
          <p:nvPr/>
        </p:nvSpPr>
        <p:spPr>
          <a:xfrm>
            <a:off x="551713" y="74930"/>
            <a:ext cx="171005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  III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</a:t>
            </a:r>
            <a:r>
              <a:rPr sz="18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rect 730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32" name="textbox 732"/>
          <p:cNvSpPr/>
          <p:nvPr/>
        </p:nvSpPr>
        <p:spPr>
          <a:xfrm>
            <a:off x="903071" y="1242644"/>
            <a:ext cx="5588000" cy="2324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THINK</a:t>
            </a:r>
            <a:r>
              <a:rPr sz="1800" b="1" kern="0" spc="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5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PAIR</a:t>
            </a:r>
            <a:r>
              <a:rPr sz="1800" b="1" kern="0" spc="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SHAR</a:t>
            </a:r>
            <a:r>
              <a:rPr sz="1800" b="1" kern="0" spc="1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indent="-5080" algn="l" rtl="0" eaLnBrk="0">
              <a:lnSpc>
                <a:spcPct val="95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You have on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ly</a:t>
            </a:r>
            <a:r>
              <a:rPr sz="3200" b="1" kern="0" spc="23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5</a:t>
            </a:r>
            <a:r>
              <a:rPr sz="3200" b="1" kern="0" spc="14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observations,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but strong prior k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nowledge.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MLE or</a:t>
            </a:r>
            <a:r>
              <a:rPr sz="3200" b="1" kern="0" spc="14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MAP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?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pic>
        <p:nvPicPr>
          <p:cNvPr id="734" name="picture 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01200" y="0"/>
            <a:ext cx="2590799" cy="3017520"/>
          </a:xfrm>
          <a:prstGeom prst="rect">
            <a:avLst/>
          </a:prstGeom>
        </p:spPr>
      </p:pic>
      <p:sp>
        <p:nvSpPr>
          <p:cNvPr id="736" name="textbox 736"/>
          <p:cNvSpPr/>
          <p:nvPr/>
        </p:nvSpPr>
        <p:spPr>
          <a:xfrm>
            <a:off x="902614" y="4236110"/>
            <a:ext cx="8445500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6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8889" algn="l" rtl="0" eaLnBrk="0">
              <a:lnSpc>
                <a:spcPct val="93000"/>
              </a:lnSpc>
              <a:tabLst/>
            </a:pP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Discuss</a:t>
            </a:r>
            <a:r>
              <a:rPr sz="1800" i="1" kern="0" spc="19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 a partner.</a:t>
            </a:r>
            <a:r>
              <a:rPr sz="1800" i="1" kern="0" spc="19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</a:t>
            </a:r>
            <a:r>
              <a:rPr sz="1800" i="1" kern="0" spc="1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will compare MLE, MAP, and</a:t>
            </a:r>
            <a:r>
              <a:rPr sz="1800" i="1" kern="0" spc="-20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full</a:t>
            </a:r>
            <a:r>
              <a:rPr sz="1800" i="1" kern="0" spc="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</a:t>
            </a:r>
            <a:r>
              <a:rPr sz="1800" i="1" kern="0" spc="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inference</a:t>
            </a:r>
            <a:r>
              <a:rPr sz="1800" i="1" kern="0" spc="7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1800" i="1" kern="0" spc="10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next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slides.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8" name="table 738"/>
          <p:cNvGraphicFramePr>
            <a:graphicFrameLocks noGrp="1"/>
          </p:cNvGraphicFramePr>
          <p:nvPr/>
        </p:nvGraphicFramePr>
        <p:xfrm>
          <a:off x="452437" y="1275397"/>
          <a:ext cx="11256009" cy="2551429"/>
        </p:xfrm>
        <a:graphic>
          <a:graphicData uri="http://schemas.openxmlformats.org/drawingml/2006/table">
            <a:tbl>
              <a:tblPr/>
              <a:tblGrid>
                <a:gridCol w="2816225"/>
                <a:gridCol w="2811780"/>
                <a:gridCol w="2811779"/>
                <a:gridCol w="2816225"/>
              </a:tblGrid>
              <a:tr h="480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6155" algn="l" rtl="0" eaLnBrk="0">
                        <a:lnSpc>
                          <a:spcPct val="8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Question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8564" algn="l" rtl="0" eaLnBrk="0">
                        <a:lnSpc>
                          <a:spcPts val="140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MLE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1894" algn="l" rtl="0" eaLnBrk="0">
                        <a:lnSpc>
                          <a:spcPts val="140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MAP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1394" algn="l" rtl="0" eaLnBrk="0">
                        <a:lnSpc>
                          <a:spcPct val="8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Bayesian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583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What</a:t>
                      </a:r>
                      <a:r>
                        <a:rPr sz="1800" kern="0" spc="1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is</a:t>
                      </a:r>
                      <a:r>
                        <a:rPr sz="1800" kern="0" spc="8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θ?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10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Fixed,</a:t>
                      </a:r>
                      <a:r>
                        <a:rPr sz="1800" kern="0" spc="1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unknown va</a:t>
                      </a: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lue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10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Fixed,</a:t>
                      </a:r>
                      <a:r>
                        <a:rPr sz="1800" kern="0" spc="1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unknown va</a:t>
                      </a: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lue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0069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18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random variable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8389" algn="l" rtl="0" eaLnBrk="0">
                        <a:lnSpc>
                          <a:spcPct val="8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Output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880" algn="l" rtl="0" eaLnBrk="0">
                        <a:lnSpc>
                          <a:spcPct val="8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Single</a:t>
                      </a:r>
                      <a:r>
                        <a:rPr sz="1800" kern="0" spc="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poin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 estimate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0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Posterior</a:t>
                      </a:r>
                      <a:r>
                        <a:rPr sz="18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mode</a:t>
                      </a:r>
                      <a:r>
                        <a:rPr sz="1800" kern="0" spc="1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(single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145539" algn="l" rtl="0" eaLnBrk="0">
                        <a:lnSpc>
                          <a:spcPct val="83000"/>
                        </a:lnSpc>
                        <a:spcBef>
                          <a:spcPts val="367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point)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ct val="8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Full</a:t>
                      </a:r>
                      <a:r>
                        <a:rPr sz="1800" kern="0" spc="2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posterior distribution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3594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Uses</a:t>
                      </a:r>
                      <a:r>
                        <a:rPr sz="18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1800" kern="0" spc="1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prior?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0955" algn="l" rtl="0" eaLnBrk="0">
                        <a:lnSpc>
                          <a:spcPct val="6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-5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9839" algn="l" rtl="0" eaLnBrk="0">
                        <a:lnSpc>
                          <a:spcPts val="140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0475" algn="l" rtl="0" eaLnBrk="0">
                        <a:lnSpc>
                          <a:spcPts val="140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97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Captures</a:t>
                      </a:r>
                      <a:r>
                        <a:rPr sz="1800" kern="0" spc="18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uncertainty?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0955" algn="l" rtl="0" eaLnBrk="0">
                        <a:lnSpc>
                          <a:spcPts val="1413"/>
                        </a:lnSpc>
                        <a:tabLst/>
                      </a:pPr>
                      <a:r>
                        <a:rPr sz="1800" kern="0" spc="-5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0955" algn="l" rtl="0" eaLnBrk="0">
                        <a:lnSpc>
                          <a:spcPts val="1413"/>
                        </a:lnSpc>
                        <a:tabLst/>
                      </a:pPr>
                      <a:r>
                        <a:rPr sz="1800" kern="0" spc="-5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0475" algn="l" rtl="0" eaLnBrk="0">
                        <a:lnSpc>
                          <a:spcPts val="1402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4" name="group 54"/>
          <p:cNvGrpSpPr/>
          <p:nvPr/>
        </p:nvGrpSpPr>
        <p:grpSpPr>
          <a:xfrm rot="21600000">
            <a:off x="555223" y="4271009"/>
            <a:ext cx="11058765" cy="2245613"/>
            <a:chOff x="0" y="0"/>
            <a:chExt cx="11058765" cy="2245613"/>
          </a:xfrm>
        </p:grpSpPr>
        <p:pic>
          <p:nvPicPr>
            <p:cNvPr id="740" name="picture 7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35834" y="0"/>
              <a:ext cx="10979404" cy="1655063"/>
            </a:xfrm>
            <a:prstGeom prst="rect">
              <a:avLst/>
            </a:prstGeom>
          </p:spPr>
        </p:pic>
        <p:sp>
          <p:nvSpPr>
            <p:cNvPr id="742" name="textbox 742"/>
            <p:cNvSpPr/>
            <p:nvPr/>
          </p:nvSpPr>
          <p:spPr>
            <a:xfrm>
              <a:off x="-12700" y="2068322"/>
              <a:ext cx="11084559" cy="19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4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200" i="1" kern="0" spc="4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Point estimate</a:t>
              </a:r>
              <a:r>
                <a:rPr sz="1200" i="1" kern="0" spc="10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i="1" kern="0" spc="4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(MLE</a:t>
              </a:r>
              <a:r>
                <a:rPr sz="1200" i="1" kern="0" spc="-6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i="1" kern="0" spc="4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/</a:t>
              </a:r>
              <a:r>
                <a:rPr sz="1200" i="1" kern="0" spc="-4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200" i="1" kern="0" spc="4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MAP)</a:t>
              </a:r>
              <a:r>
                <a:rPr sz="1200" i="1" kern="0" spc="1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</a:t>
              </a:r>
              <a:r>
                <a:rPr sz="1200" i="1" kern="0" spc="0" dirty="0">
                  <a:solidFill>
                    <a:srgbClr val="5B627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                                                                                                                                                          </a:t>
              </a:r>
              <a:r>
                <a:rPr sz="1200" i="1" kern="0" spc="4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Full uncertainty distribution (posterior cu</a:t>
              </a:r>
              <a:r>
                <a:rPr sz="1200" i="1" kern="0" spc="3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rve)</a:t>
              </a:r>
              <a:endParaRPr sz="12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44" name="textbox 744"/>
            <p:cNvSpPr/>
            <p:nvPr/>
          </p:nvSpPr>
          <p:spPr>
            <a:xfrm rot="16200000">
              <a:off x="2639496" y="-908547"/>
              <a:ext cx="219709" cy="53479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0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-3.0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-2.9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-2.7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-2.5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-2.3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-2.0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-1.9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-1.7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-1.5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-1.3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1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-1.0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-0.9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3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-0.7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-0.5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-0.3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3"/>
                </a:spcBef>
                <a:tabLst/>
              </a:pP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-0.1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746" name="textbox 746"/>
            <p:cNvSpPr/>
            <p:nvPr/>
          </p:nvSpPr>
          <p:spPr>
            <a:xfrm rot="16200000">
              <a:off x="8142933" y="-1017406"/>
              <a:ext cx="182245" cy="55276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0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0.3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0.5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0.7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0.9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1.3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1.5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spcBef>
                  <a:spcPts val="572"/>
                </a:spcBef>
                <a:tabLst/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1.7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78000"/>
                </a:lnSpc>
                <a:spcBef>
                  <a:spcPts val="573"/>
                </a:spcBef>
                <a:tabLst/>
              </a:pP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1.9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2.0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2.1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2.2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2.3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2.4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2.5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2.6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2.7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2.8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spcBef>
                  <a:spcPts val="574"/>
                </a:spcBef>
                <a:tabLst/>
              </a:pP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2.9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78000"/>
                </a:lnSpc>
                <a:spcBef>
                  <a:spcPts val="3"/>
                </a:spcBef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3.0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748" name="textbox 748"/>
            <p:cNvSpPr/>
            <p:nvPr/>
          </p:nvSpPr>
          <p:spPr>
            <a:xfrm>
              <a:off x="5830184" y="25490"/>
              <a:ext cx="1510664" cy="19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4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200" b="1" kern="0" spc="160" dirty="0">
                  <a:solidFill>
                    <a:srgbClr val="2E7D5B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θ̂</a:t>
              </a:r>
              <a:r>
                <a:rPr sz="1200" b="1" kern="0" spc="0" dirty="0">
                  <a:solidFill>
                    <a:srgbClr val="2E7D5B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MAP</a:t>
              </a:r>
              <a:r>
                <a:rPr sz="1200" b="1" kern="0" spc="20" dirty="0">
                  <a:solidFill>
                    <a:srgbClr val="2E7D5B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        </a:t>
              </a:r>
              <a:r>
                <a:rPr sz="1200" b="1" kern="0" spc="10" dirty="0">
                  <a:solidFill>
                    <a:srgbClr val="2E7D5B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         </a:t>
              </a:r>
              <a:r>
                <a:rPr sz="1200" b="1" kern="0" spc="160" dirty="0">
                  <a:solidFill>
                    <a:srgbClr val="B0413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θ̂</a:t>
              </a:r>
              <a:r>
                <a:rPr sz="1200" b="1" kern="0" spc="0" dirty="0">
                  <a:solidFill>
                    <a:srgbClr val="B0413E">
                      <a:alpha val="100000"/>
                    </a:srgbClr>
                  </a:solidFill>
                  <a:latin typeface="Cambria"/>
                  <a:ea typeface="Cambria"/>
                  <a:cs typeface="Cambria"/>
                </a:rPr>
                <a:t>MLE</a:t>
              </a:r>
              <a:endParaRPr sz="1200" dirty="0">
                <a:latin typeface="Cambria"/>
                <a:ea typeface="Cambria"/>
                <a:cs typeface="Cambria"/>
              </a:endParaRPr>
            </a:p>
          </p:txBody>
        </p:sp>
      </p:grpSp>
      <p:sp>
        <p:nvSpPr>
          <p:cNvPr id="750" name="textbox 750"/>
          <p:cNvSpPr/>
          <p:nvPr/>
        </p:nvSpPr>
        <p:spPr>
          <a:xfrm>
            <a:off x="551713" y="74930"/>
            <a:ext cx="7401559" cy="753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RENCE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4000"/>
              </a:lnSpc>
              <a:spcBef>
                <a:spcPts val="708"/>
              </a:spcBef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MLE vs. MAP vs. Full Bayesian</a:t>
            </a:r>
            <a:r>
              <a:rPr sz="3200" b="1" kern="0" spc="15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Inference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752" name="textbox 752"/>
          <p:cNvSpPr/>
          <p:nvPr/>
        </p:nvSpPr>
        <p:spPr>
          <a:xfrm>
            <a:off x="3590303" y="4004112"/>
            <a:ext cx="5000625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Posterior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Distribution, with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MLE and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MAP as Single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Points on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picture 7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5076" y="1550976"/>
            <a:ext cx="5616076" cy="1646602"/>
          </a:xfrm>
          <a:prstGeom prst="rect">
            <a:avLst/>
          </a:prstGeom>
        </p:spPr>
      </p:pic>
      <p:sp>
        <p:nvSpPr>
          <p:cNvPr id="756" name="textbox 756"/>
          <p:cNvSpPr/>
          <p:nvPr/>
        </p:nvSpPr>
        <p:spPr>
          <a:xfrm>
            <a:off x="551713" y="74930"/>
            <a:ext cx="4908550" cy="444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4000"/>
              </a:lnSpc>
              <a:spcBef>
                <a:spcPts val="708"/>
              </a:spcBef>
              <a:tabLst/>
            </a:pPr>
            <a:r>
              <a:rPr sz="3200" b="1" kern="0" spc="-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Full Bayesian</a:t>
            </a:r>
            <a:r>
              <a:rPr sz="3200" b="1" kern="0" spc="17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Inference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8000"/>
              </a:lnSpc>
              <a:spcBef>
                <a:spcPts val="540"/>
              </a:spcBef>
              <a:tabLst/>
            </a:pPr>
            <a:r>
              <a:rPr sz="1800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p(θ|D)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p(D|θ)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p(θ) /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p(D)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2570" indent="-224154" algn="l" rtl="0" eaLnBrk="0">
              <a:lnSpc>
                <a:spcPct val="104000"/>
              </a:lnSpc>
              <a:spcBef>
                <a:spcPts val="1490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predictive: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p(x_new|D)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∫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p(x_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new|θ)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p(θ|D)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dθ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0320" algn="l" rtl="0" eaLnBrk="0">
              <a:lnSpc>
                <a:spcPct val="84000"/>
              </a:lnSpc>
              <a:spcBef>
                <a:spcPts val="1656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Instead of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pretending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known exactl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y,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6220" indent="10160" algn="l" rtl="0" eaLnBrk="0">
              <a:lnSpc>
                <a:spcPct val="104000"/>
              </a:lnSpc>
              <a:spcBef>
                <a:spcPts val="319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inference averages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predict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ions over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our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θ</a:t>
            </a:r>
            <a:r>
              <a:rPr sz="2000" kern="0" spc="-3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2409" indent="-213995" algn="l" rtl="0" eaLnBrk="0">
              <a:lnSpc>
                <a:spcPct val="103000"/>
              </a:lnSpc>
              <a:spcBef>
                <a:spcPts val="1414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When exact integration is impos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sible: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MCMC,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importance samplin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g,</a:t>
            </a:r>
            <a:r>
              <a:rPr sz="1800" i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variational inference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8125" algn="l" rtl="0" eaLnBrk="0">
              <a:lnSpc>
                <a:spcPct val="83000"/>
              </a:lnSpc>
              <a:spcBef>
                <a:spcPts val="437"/>
              </a:spcBef>
              <a:tabLst/>
            </a:pP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(approximations -- not cover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ed in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depth here).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56" name="group 56"/>
          <p:cNvGrpSpPr/>
          <p:nvPr/>
        </p:nvGrpSpPr>
        <p:grpSpPr>
          <a:xfrm rot="21600000">
            <a:off x="6105076" y="4245609"/>
            <a:ext cx="5616076" cy="963886"/>
            <a:chOff x="0" y="0"/>
            <a:chExt cx="5616076" cy="963886"/>
          </a:xfrm>
        </p:grpSpPr>
        <p:sp>
          <p:nvSpPr>
            <p:cNvPr id="758" name="rect 758"/>
            <p:cNvSpPr/>
            <p:nvPr/>
          </p:nvSpPr>
          <p:spPr>
            <a:xfrm>
              <a:off x="0" y="0"/>
              <a:ext cx="5616076" cy="963886"/>
            </a:xfrm>
            <a:prstGeom prst="rect">
              <a:avLst/>
            </a:prstGeom>
            <a:solidFill>
              <a:srgbClr val="9DBBE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0" name="textbox 760"/>
            <p:cNvSpPr/>
            <p:nvPr/>
          </p:nvSpPr>
          <p:spPr>
            <a:xfrm>
              <a:off x="1814511" y="219100"/>
              <a:ext cx="2007235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96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105" indent="-66039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→ Average over θ</a:t>
              </a:r>
              <a:r>
                <a:rPr sz="1800" b="1" kern="0" spc="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1800" b="1" kern="0" spc="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posterior predicti</a:t>
              </a: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ve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62" name="path 762"/>
            <p:cNvSpPr/>
            <p:nvPr/>
          </p:nvSpPr>
          <p:spPr>
            <a:xfrm>
              <a:off x="15053" y="0"/>
              <a:ext cx="76708" cy="76707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0" y="110"/>
                  </a:moveTo>
                  <a:cubicBezTo>
                    <a:pt x="10" y="55"/>
                    <a:pt x="55" y="10"/>
                    <a:pt x="110" y="10"/>
                  </a:cubicBezTo>
                </a:path>
              </a:pathLst>
            </a:custGeom>
            <a:noFill/>
            <a:ln w="12700" cap="flat">
              <a:solidFill>
                <a:srgbClr val="9DBBE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4" name="path 764"/>
            <p:cNvSpPr/>
            <p:nvPr/>
          </p:nvSpPr>
          <p:spPr>
            <a:xfrm>
              <a:off x="15053" y="850392"/>
              <a:ext cx="76708" cy="76707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10" y="110"/>
                  </a:moveTo>
                  <a:cubicBezTo>
                    <a:pt x="55" y="110"/>
                    <a:pt x="10" y="65"/>
                    <a:pt x="10" y="10"/>
                  </a:cubicBezTo>
                </a:path>
              </a:pathLst>
            </a:custGeom>
            <a:noFill/>
            <a:ln w="12700" cap="flat">
              <a:solidFill>
                <a:srgbClr val="9DBBE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6" name="path 766"/>
            <p:cNvSpPr/>
            <p:nvPr/>
          </p:nvSpPr>
          <p:spPr>
            <a:xfrm>
              <a:off x="5528885" y="0"/>
              <a:ext cx="76707" cy="76707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0" y="10"/>
                  </a:moveTo>
                  <a:cubicBezTo>
                    <a:pt x="65" y="10"/>
                    <a:pt x="110" y="55"/>
                    <a:pt x="110" y="110"/>
                  </a:cubicBezTo>
                </a:path>
              </a:pathLst>
            </a:custGeom>
            <a:noFill/>
            <a:ln w="12700" cap="flat">
              <a:solidFill>
                <a:srgbClr val="9DBBE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8" name="path 768"/>
            <p:cNvSpPr/>
            <p:nvPr/>
          </p:nvSpPr>
          <p:spPr>
            <a:xfrm>
              <a:off x="5528885" y="850392"/>
              <a:ext cx="76707" cy="76707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10" y="10"/>
                  </a:moveTo>
                  <a:cubicBezTo>
                    <a:pt x="110" y="65"/>
                    <a:pt x="65" y="110"/>
                    <a:pt x="10" y="110"/>
                  </a:cubicBezTo>
                </a:path>
              </a:pathLst>
            </a:custGeom>
            <a:noFill/>
            <a:ln w="12700" cap="flat">
              <a:solidFill>
                <a:srgbClr val="9DBBE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770" name="picture 7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05076" y="3337559"/>
            <a:ext cx="5616076" cy="774419"/>
          </a:xfrm>
          <a:prstGeom prst="rect">
            <a:avLst/>
          </a:prstGeom>
        </p:spPr>
      </p:pic>
      <p:sp>
        <p:nvSpPr>
          <p:cNvPr id="772" name="textbox 772"/>
          <p:cNvSpPr/>
          <p:nvPr/>
        </p:nvSpPr>
        <p:spPr>
          <a:xfrm>
            <a:off x="6098726" y="3324859"/>
            <a:ext cx="5629275" cy="793750"/>
          </a:xfrm>
          <a:prstGeom prst="roundRect">
            <a:avLst>
              <a:gd name="adj" fmla="val 9824"/>
            </a:avLst>
          </a:prstGeom>
          <a:noFill/>
          <a:ln w="12700" cap="flat">
            <a:solidFill>
              <a:srgbClr val="2E7D5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97379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b="1" kern="0" spc="1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 p(θ|D)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74" name="textbox 774"/>
          <p:cNvSpPr/>
          <p:nvPr/>
        </p:nvSpPr>
        <p:spPr>
          <a:xfrm>
            <a:off x="6126479" y="1508759"/>
            <a:ext cx="5577840" cy="732155"/>
          </a:xfrm>
          <a:prstGeom prst="roundRect">
            <a:avLst>
              <a:gd name="adj" fmla="val 10307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29814" algn="l" rtl="0" eaLnBrk="0">
              <a:lnSpc>
                <a:spcPct val="83000"/>
              </a:lnSpc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p(θ)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776" name="textbox 776"/>
          <p:cNvSpPr/>
          <p:nvPr/>
        </p:nvSpPr>
        <p:spPr>
          <a:xfrm>
            <a:off x="6126479" y="2423159"/>
            <a:ext cx="5577840" cy="732155"/>
          </a:xfrm>
          <a:prstGeom prst="roundRect">
            <a:avLst>
              <a:gd name="adj" fmla="val 10307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65375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1800" b="1" kern="0" spc="17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1800" b="1" kern="0" spc="1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picture 7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5677" y="1779346"/>
            <a:ext cx="6457561" cy="2469907"/>
          </a:xfrm>
          <a:prstGeom prst="rect">
            <a:avLst/>
          </a:prstGeom>
        </p:spPr>
      </p:pic>
      <p:sp>
        <p:nvSpPr>
          <p:cNvPr id="780" name="textbox 780"/>
          <p:cNvSpPr/>
          <p:nvPr/>
        </p:nvSpPr>
        <p:spPr>
          <a:xfrm>
            <a:off x="879449" y="4805364"/>
            <a:ext cx="10407650" cy="1011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4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7000"/>
              </a:lnSpc>
              <a:tabLst/>
            </a:pPr>
            <a:r>
              <a:rPr sz="2100" b="1" i="1" kern="0" spc="5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Statistical inference is not</a:t>
            </a:r>
            <a:r>
              <a:rPr sz="2100" b="1" i="1" kern="0" spc="-30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b="1" i="1" kern="0" spc="5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just optimizat</a:t>
            </a:r>
            <a:r>
              <a:rPr sz="2100" b="1" i="1" kern="0" spc="4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ion</a:t>
            </a:r>
            <a:r>
              <a:rPr sz="2100" b="1" i="1" kern="0" spc="15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b="1" i="1" kern="0" spc="4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-- model assumptions must be checked.</a:t>
            </a:r>
            <a:endParaRPr sz="21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Medical priors may come</a:t>
            </a:r>
            <a:r>
              <a:rPr sz="1800" i="1" kern="0" spc="-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experts; image models should account</a:t>
            </a:r>
            <a:r>
              <a:rPr sz="1800" i="1" kern="0" spc="-1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correlations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among neighboring pixels.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58" name="group 58"/>
          <p:cNvGrpSpPr/>
          <p:nvPr/>
        </p:nvGrpSpPr>
        <p:grpSpPr>
          <a:xfrm rot="21600000">
            <a:off x="450850" y="1731009"/>
            <a:ext cx="6431788" cy="1054735"/>
            <a:chOff x="0" y="0"/>
            <a:chExt cx="6431788" cy="1054735"/>
          </a:xfrm>
        </p:grpSpPr>
        <p:grpSp>
          <p:nvGrpSpPr>
            <p:cNvPr id="60" name="group 60"/>
            <p:cNvGrpSpPr/>
            <p:nvPr/>
          </p:nvGrpSpPr>
          <p:grpSpPr>
            <a:xfrm rot="21600000">
              <a:off x="0" y="0"/>
              <a:ext cx="6431788" cy="1018540"/>
              <a:chOff x="0" y="0"/>
              <a:chExt cx="6431788" cy="1018540"/>
            </a:xfrm>
          </p:grpSpPr>
          <p:sp>
            <p:nvSpPr>
              <p:cNvPr id="782" name="path 782"/>
              <p:cNvSpPr/>
              <p:nvPr/>
            </p:nvSpPr>
            <p:spPr>
              <a:xfrm>
                <a:off x="6350" y="6350"/>
                <a:ext cx="1225295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1929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828" y="0"/>
                    </a:lnTo>
                    <a:cubicBezTo>
                      <a:pt x="1884" y="0"/>
                      <a:pt x="1929" y="45"/>
                      <a:pt x="1929" y="100"/>
                    </a:cubicBezTo>
                    <a:lnTo>
                      <a:pt x="1929" y="1483"/>
                    </a:lnTo>
                    <a:cubicBezTo>
                      <a:pt x="1929" y="1538"/>
                      <a:pt x="1884" y="1584"/>
                      <a:pt x="1828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4" name="path 784"/>
              <p:cNvSpPr/>
              <p:nvPr/>
            </p:nvSpPr>
            <p:spPr>
              <a:xfrm>
                <a:off x="0" y="0"/>
                <a:ext cx="1237995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1949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838" y="10"/>
                    </a:lnTo>
                    <a:cubicBezTo>
                      <a:pt x="1894" y="10"/>
                      <a:pt x="1939" y="55"/>
                      <a:pt x="1939" y="110"/>
                    </a:cubicBezTo>
                    <a:lnTo>
                      <a:pt x="1939" y="1493"/>
                    </a:lnTo>
                    <a:cubicBezTo>
                      <a:pt x="1939" y="1548"/>
                      <a:pt x="1894" y="1594"/>
                      <a:pt x="1838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6" name="path 786"/>
              <p:cNvSpPr/>
              <p:nvPr/>
            </p:nvSpPr>
            <p:spPr>
              <a:xfrm>
                <a:off x="1240789" y="417830"/>
                <a:ext cx="54864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86" h="287">
                    <a:moveTo>
                      <a:pt x="0" y="71"/>
                    </a:moveTo>
                    <a:lnTo>
                      <a:pt x="43" y="71"/>
                    </a:lnTo>
                    <a:lnTo>
                      <a:pt x="43" y="0"/>
                    </a:lnTo>
                    <a:lnTo>
                      <a:pt x="86" y="143"/>
                    </a:lnTo>
                    <a:lnTo>
                      <a:pt x="43" y="287"/>
                    </a:lnTo>
                    <a:lnTo>
                      <a:pt x="43" y="215"/>
                    </a:lnTo>
                    <a:lnTo>
                      <a:pt x="0" y="215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8" name="path 788"/>
              <p:cNvSpPr/>
              <p:nvPr/>
            </p:nvSpPr>
            <p:spPr>
              <a:xfrm>
                <a:off x="1304797" y="6350"/>
                <a:ext cx="1225296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1929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828" y="0"/>
                    </a:lnTo>
                    <a:cubicBezTo>
                      <a:pt x="1884" y="0"/>
                      <a:pt x="1929" y="45"/>
                      <a:pt x="1929" y="100"/>
                    </a:cubicBezTo>
                    <a:lnTo>
                      <a:pt x="1929" y="1483"/>
                    </a:lnTo>
                    <a:cubicBezTo>
                      <a:pt x="1929" y="1538"/>
                      <a:pt x="1884" y="1584"/>
                      <a:pt x="1828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0" name="path 790"/>
              <p:cNvSpPr/>
              <p:nvPr/>
            </p:nvSpPr>
            <p:spPr>
              <a:xfrm>
                <a:off x="1298447" y="0"/>
                <a:ext cx="1237996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1949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838" y="10"/>
                    </a:lnTo>
                    <a:cubicBezTo>
                      <a:pt x="1894" y="10"/>
                      <a:pt x="1939" y="55"/>
                      <a:pt x="1939" y="110"/>
                    </a:cubicBezTo>
                    <a:lnTo>
                      <a:pt x="1939" y="1493"/>
                    </a:lnTo>
                    <a:cubicBezTo>
                      <a:pt x="1939" y="1548"/>
                      <a:pt x="1894" y="1594"/>
                      <a:pt x="1838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2" name="path 792"/>
              <p:cNvSpPr/>
              <p:nvPr/>
            </p:nvSpPr>
            <p:spPr>
              <a:xfrm>
                <a:off x="2539237" y="417830"/>
                <a:ext cx="54864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86" h="287">
                    <a:moveTo>
                      <a:pt x="0" y="71"/>
                    </a:moveTo>
                    <a:lnTo>
                      <a:pt x="43" y="71"/>
                    </a:lnTo>
                    <a:lnTo>
                      <a:pt x="43" y="0"/>
                    </a:lnTo>
                    <a:lnTo>
                      <a:pt x="86" y="143"/>
                    </a:lnTo>
                    <a:lnTo>
                      <a:pt x="43" y="287"/>
                    </a:lnTo>
                    <a:lnTo>
                      <a:pt x="43" y="215"/>
                    </a:lnTo>
                    <a:lnTo>
                      <a:pt x="0" y="215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4" name="path 794"/>
              <p:cNvSpPr/>
              <p:nvPr/>
            </p:nvSpPr>
            <p:spPr>
              <a:xfrm>
                <a:off x="2603245" y="6350"/>
                <a:ext cx="1225295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1929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828" y="0"/>
                    </a:lnTo>
                    <a:cubicBezTo>
                      <a:pt x="1884" y="0"/>
                      <a:pt x="1929" y="45"/>
                      <a:pt x="1929" y="100"/>
                    </a:cubicBezTo>
                    <a:lnTo>
                      <a:pt x="1929" y="1483"/>
                    </a:lnTo>
                    <a:cubicBezTo>
                      <a:pt x="1929" y="1538"/>
                      <a:pt x="1884" y="1584"/>
                      <a:pt x="1828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6" name="path 796"/>
              <p:cNvSpPr/>
              <p:nvPr/>
            </p:nvSpPr>
            <p:spPr>
              <a:xfrm>
                <a:off x="2596895" y="0"/>
                <a:ext cx="1237995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1949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838" y="10"/>
                    </a:lnTo>
                    <a:cubicBezTo>
                      <a:pt x="1894" y="10"/>
                      <a:pt x="1939" y="55"/>
                      <a:pt x="1939" y="110"/>
                    </a:cubicBezTo>
                    <a:lnTo>
                      <a:pt x="1939" y="1493"/>
                    </a:lnTo>
                    <a:cubicBezTo>
                      <a:pt x="1939" y="1548"/>
                      <a:pt x="1894" y="1594"/>
                      <a:pt x="1838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8" name="path 798"/>
              <p:cNvSpPr/>
              <p:nvPr/>
            </p:nvSpPr>
            <p:spPr>
              <a:xfrm>
                <a:off x="3837685" y="417830"/>
                <a:ext cx="54864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86" h="287">
                    <a:moveTo>
                      <a:pt x="0" y="71"/>
                    </a:moveTo>
                    <a:lnTo>
                      <a:pt x="43" y="71"/>
                    </a:lnTo>
                    <a:lnTo>
                      <a:pt x="43" y="0"/>
                    </a:lnTo>
                    <a:lnTo>
                      <a:pt x="86" y="143"/>
                    </a:lnTo>
                    <a:lnTo>
                      <a:pt x="43" y="287"/>
                    </a:lnTo>
                    <a:lnTo>
                      <a:pt x="43" y="215"/>
                    </a:lnTo>
                    <a:lnTo>
                      <a:pt x="0" y="215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0" name="path 800"/>
              <p:cNvSpPr/>
              <p:nvPr/>
            </p:nvSpPr>
            <p:spPr>
              <a:xfrm>
                <a:off x="3901694" y="6350"/>
                <a:ext cx="1225296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1929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828" y="0"/>
                    </a:lnTo>
                    <a:cubicBezTo>
                      <a:pt x="1884" y="0"/>
                      <a:pt x="1929" y="45"/>
                      <a:pt x="1929" y="100"/>
                    </a:cubicBezTo>
                    <a:lnTo>
                      <a:pt x="1929" y="1483"/>
                    </a:lnTo>
                    <a:cubicBezTo>
                      <a:pt x="1929" y="1538"/>
                      <a:pt x="1884" y="1584"/>
                      <a:pt x="1828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2" name="path 802"/>
              <p:cNvSpPr/>
              <p:nvPr/>
            </p:nvSpPr>
            <p:spPr>
              <a:xfrm>
                <a:off x="3895344" y="0"/>
                <a:ext cx="1237996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1949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838" y="10"/>
                    </a:lnTo>
                    <a:cubicBezTo>
                      <a:pt x="1894" y="10"/>
                      <a:pt x="1939" y="55"/>
                      <a:pt x="1939" y="110"/>
                    </a:cubicBezTo>
                    <a:lnTo>
                      <a:pt x="1939" y="1493"/>
                    </a:lnTo>
                    <a:cubicBezTo>
                      <a:pt x="1939" y="1548"/>
                      <a:pt x="1894" y="1594"/>
                      <a:pt x="1838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4" name="path 804"/>
              <p:cNvSpPr/>
              <p:nvPr/>
            </p:nvSpPr>
            <p:spPr>
              <a:xfrm>
                <a:off x="5136133" y="417830"/>
                <a:ext cx="54864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86" h="287">
                    <a:moveTo>
                      <a:pt x="0" y="71"/>
                    </a:moveTo>
                    <a:lnTo>
                      <a:pt x="43" y="71"/>
                    </a:lnTo>
                    <a:lnTo>
                      <a:pt x="43" y="0"/>
                    </a:lnTo>
                    <a:lnTo>
                      <a:pt x="86" y="143"/>
                    </a:lnTo>
                    <a:lnTo>
                      <a:pt x="43" y="287"/>
                    </a:lnTo>
                    <a:lnTo>
                      <a:pt x="43" y="215"/>
                    </a:lnTo>
                    <a:lnTo>
                      <a:pt x="0" y="215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6" name="path 806"/>
              <p:cNvSpPr/>
              <p:nvPr/>
            </p:nvSpPr>
            <p:spPr>
              <a:xfrm>
                <a:off x="5200141" y="6350"/>
                <a:ext cx="1225296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1929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828" y="0"/>
                    </a:lnTo>
                    <a:cubicBezTo>
                      <a:pt x="1884" y="0"/>
                      <a:pt x="1929" y="45"/>
                      <a:pt x="1929" y="100"/>
                    </a:cubicBezTo>
                    <a:lnTo>
                      <a:pt x="1929" y="1483"/>
                    </a:lnTo>
                    <a:cubicBezTo>
                      <a:pt x="1929" y="1538"/>
                      <a:pt x="1884" y="1584"/>
                      <a:pt x="1828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8" name="path 808"/>
              <p:cNvSpPr/>
              <p:nvPr/>
            </p:nvSpPr>
            <p:spPr>
              <a:xfrm>
                <a:off x="5193791" y="0"/>
                <a:ext cx="1237996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1949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838" y="10"/>
                    </a:lnTo>
                    <a:cubicBezTo>
                      <a:pt x="1894" y="10"/>
                      <a:pt x="1939" y="55"/>
                      <a:pt x="1939" y="110"/>
                    </a:cubicBezTo>
                    <a:lnTo>
                      <a:pt x="1939" y="1493"/>
                    </a:lnTo>
                    <a:cubicBezTo>
                      <a:pt x="1939" y="1548"/>
                      <a:pt x="1894" y="1594"/>
                      <a:pt x="1838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10" name="textbox 810"/>
            <p:cNvSpPr/>
            <p:nvPr/>
          </p:nvSpPr>
          <p:spPr>
            <a:xfrm>
              <a:off x="4057802" y="-10134"/>
              <a:ext cx="929639" cy="10775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96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7490" indent="-120650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Choose</a:t>
              </a:r>
              <a:r>
                <a:rPr sz="18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prior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368300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(if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Bayesian)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12" name="textbox 812"/>
            <p:cNvSpPr/>
            <p:nvPr/>
          </p:nvSpPr>
          <p:spPr>
            <a:xfrm>
              <a:off x="5400721" y="-10134"/>
              <a:ext cx="841375" cy="10775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Estimate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363854" algn="l" rtl="0" eaLnBrk="0">
                <a:lnSpc>
                  <a:spcPct val="83000"/>
                </a:lnSpc>
                <a:spcBef>
                  <a:spcPts val="370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/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200660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infer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73025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params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14" name="textbox 814"/>
            <p:cNvSpPr/>
            <p:nvPr/>
          </p:nvSpPr>
          <p:spPr>
            <a:xfrm>
              <a:off x="1479118" y="127635"/>
              <a:ext cx="885189" cy="803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8425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Choose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distributi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322579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on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16" name="textbox 816"/>
            <p:cNvSpPr/>
            <p:nvPr/>
          </p:nvSpPr>
          <p:spPr>
            <a:xfrm>
              <a:off x="2746705" y="264795"/>
              <a:ext cx="950594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191770" algn="l" rtl="0" eaLnBrk="0">
                <a:lnSpc>
                  <a:spcPct val="9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Write   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likelihood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18" name="textbox 818"/>
            <p:cNvSpPr/>
            <p:nvPr/>
          </p:nvSpPr>
          <p:spPr>
            <a:xfrm>
              <a:off x="266522" y="264795"/>
              <a:ext cx="713740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3500" indent="-50800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Choose</a:t>
              </a:r>
              <a:r>
                <a:rPr sz="1800" b="1" kern="0" spc="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model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21600000">
            <a:off x="450850" y="3194050"/>
            <a:ext cx="5133340" cy="1054989"/>
            <a:chOff x="0" y="0"/>
            <a:chExt cx="5133340" cy="1054989"/>
          </a:xfrm>
        </p:grpSpPr>
        <p:grpSp>
          <p:nvGrpSpPr>
            <p:cNvPr id="64" name="group 64"/>
            <p:cNvGrpSpPr/>
            <p:nvPr/>
          </p:nvGrpSpPr>
          <p:grpSpPr>
            <a:xfrm rot="21600000">
              <a:off x="0" y="0"/>
              <a:ext cx="5133340" cy="1018539"/>
              <a:chOff x="0" y="0"/>
              <a:chExt cx="5133340" cy="1018539"/>
            </a:xfrm>
          </p:grpSpPr>
          <p:sp>
            <p:nvSpPr>
              <p:cNvPr id="820" name="path 820"/>
              <p:cNvSpPr/>
              <p:nvPr/>
            </p:nvSpPr>
            <p:spPr>
              <a:xfrm>
                <a:off x="6350" y="6350"/>
                <a:ext cx="1225295" cy="1005839"/>
              </a:xfrm>
              <a:custGeom>
                <a:avLst/>
                <a:gdLst/>
                <a:ahLst/>
                <a:cxnLst/>
                <a:rect l="0" t="0" r="0" b="0"/>
                <a:pathLst>
                  <a:path w="1929" h="158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828" y="0"/>
                    </a:lnTo>
                    <a:cubicBezTo>
                      <a:pt x="1884" y="0"/>
                      <a:pt x="1929" y="45"/>
                      <a:pt x="1929" y="100"/>
                    </a:cubicBezTo>
                    <a:lnTo>
                      <a:pt x="1929" y="1483"/>
                    </a:lnTo>
                    <a:cubicBezTo>
                      <a:pt x="1929" y="1538"/>
                      <a:pt x="1884" y="1583"/>
                      <a:pt x="1828" y="1583"/>
                    </a:cubicBezTo>
                    <a:lnTo>
                      <a:pt x="100" y="1583"/>
                    </a:lnTo>
                    <a:cubicBezTo>
                      <a:pt x="45" y="1583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2" name="path 822"/>
              <p:cNvSpPr/>
              <p:nvPr/>
            </p:nvSpPr>
            <p:spPr>
              <a:xfrm>
                <a:off x="0" y="0"/>
                <a:ext cx="1237995" cy="1018539"/>
              </a:xfrm>
              <a:custGeom>
                <a:avLst/>
                <a:gdLst/>
                <a:ahLst/>
                <a:cxnLst/>
                <a:rect l="0" t="0" r="0" b="0"/>
                <a:pathLst>
                  <a:path w="1949" h="160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838" y="10"/>
                    </a:lnTo>
                    <a:cubicBezTo>
                      <a:pt x="1894" y="10"/>
                      <a:pt x="1939" y="55"/>
                      <a:pt x="1939" y="110"/>
                    </a:cubicBezTo>
                    <a:lnTo>
                      <a:pt x="1939" y="1493"/>
                    </a:lnTo>
                    <a:cubicBezTo>
                      <a:pt x="1939" y="1548"/>
                      <a:pt x="1894" y="1593"/>
                      <a:pt x="1838" y="1593"/>
                    </a:cubicBezTo>
                    <a:lnTo>
                      <a:pt x="110" y="1593"/>
                    </a:lnTo>
                    <a:cubicBezTo>
                      <a:pt x="55" y="1593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4" name="path 824"/>
              <p:cNvSpPr/>
              <p:nvPr/>
            </p:nvSpPr>
            <p:spPr>
              <a:xfrm>
                <a:off x="1240789" y="417829"/>
                <a:ext cx="54864" cy="182880"/>
              </a:xfrm>
              <a:custGeom>
                <a:avLst/>
                <a:gdLst/>
                <a:ahLst/>
                <a:cxnLst/>
                <a:rect l="0" t="0" r="0" b="0"/>
                <a:pathLst>
                  <a:path w="86" h="288">
                    <a:moveTo>
                      <a:pt x="0" y="72"/>
                    </a:moveTo>
                    <a:lnTo>
                      <a:pt x="43" y="72"/>
                    </a:lnTo>
                    <a:lnTo>
                      <a:pt x="43" y="0"/>
                    </a:lnTo>
                    <a:lnTo>
                      <a:pt x="86" y="144"/>
                    </a:lnTo>
                    <a:lnTo>
                      <a:pt x="43" y="288"/>
                    </a:lnTo>
                    <a:lnTo>
                      <a:pt x="43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6" name="path 826"/>
              <p:cNvSpPr/>
              <p:nvPr/>
            </p:nvSpPr>
            <p:spPr>
              <a:xfrm>
                <a:off x="1304797" y="6350"/>
                <a:ext cx="1225296" cy="1005839"/>
              </a:xfrm>
              <a:custGeom>
                <a:avLst/>
                <a:gdLst/>
                <a:ahLst/>
                <a:cxnLst/>
                <a:rect l="0" t="0" r="0" b="0"/>
                <a:pathLst>
                  <a:path w="1929" h="158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828" y="0"/>
                    </a:lnTo>
                    <a:cubicBezTo>
                      <a:pt x="1884" y="0"/>
                      <a:pt x="1929" y="45"/>
                      <a:pt x="1929" y="100"/>
                    </a:cubicBezTo>
                    <a:lnTo>
                      <a:pt x="1929" y="1483"/>
                    </a:lnTo>
                    <a:cubicBezTo>
                      <a:pt x="1929" y="1538"/>
                      <a:pt x="1884" y="1583"/>
                      <a:pt x="1828" y="1583"/>
                    </a:cubicBezTo>
                    <a:lnTo>
                      <a:pt x="100" y="1583"/>
                    </a:lnTo>
                    <a:cubicBezTo>
                      <a:pt x="45" y="1583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8" name="path 828"/>
              <p:cNvSpPr/>
              <p:nvPr/>
            </p:nvSpPr>
            <p:spPr>
              <a:xfrm>
                <a:off x="1298447" y="0"/>
                <a:ext cx="1237996" cy="1018539"/>
              </a:xfrm>
              <a:custGeom>
                <a:avLst/>
                <a:gdLst/>
                <a:ahLst/>
                <a:cxnLst/>
                <a:rect l="0" t="0" r="0" b="0"/>
                <a:pathLst>
                  <a:path w="1949" h="160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838" y="10"/>
                    </a:lnTo>
                    <a:cubicBezTo>
                      <a:pt x="1894" y="10"/>
                      <a:pt x="1939" y="55"/>
                      <a:pt x="1939" y="110"/>
                    </a:cubicBezTo>
                    <a:lnTo>
                      <a:pt x="1939" y="1493"/>
                    </a:lnTo>
                    <a:cubicBezTo>
                      <a:pt x="1939" y="1548"/>
                      <a:pt x="1894" y="1593"/>
                      <a:pt x="1838" y="1593"/>
                    </a:cubicBezTo>
                    <a:lnTo>
                      <a:pt x="110" y="1593"/>
                    </a:lnTo>
                    <a:cubicBezTo>
                      <a:pt x="55" y="1593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0" name="path 830"/>
              <p:cNvSpPr/>
              <p:nvPr/>
            </p:nvSpPr>
            <p:spPr>
              <a:xfrm>
                <a:off x="2539237" y="417829"/>
                <a:ext cx="54864" cy="182880"/>
              </a:xfrm>
              <a:custGeom>
                <a:avLst/>
                <a:gdLst/>
                <a:ahLst/>
                <a:cxnLst/>
                <a:rect l="0" t="0" r="0" b="0"/>
                <a:pathLst>
                  <a:path w="86" h="288">
                    <a:moveTo>
                      <a:pt x="0" y="72"/>
                    </a:moveTo>
                    <a:lnTo>
                      <a:pt x="43" y="72"/>
                    </a:lnTo>
                    <a:lnTo>
                      <a:pt x="43" y="0"/>
                    </a:lnTo>
                    <a:lnTo>
                      <a:pt x="86" y="144"/>
                    </a:lnTo>
                    <a:lnTo>
                      <a:pt x="43" y="288"/>
                    </a:lnTo>
                    <a:lnTo>
                      <a:pt x="43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2" name="path 832"/>
              <p:cNvSpPr/>
              <p:nvPr/>
            </p:nvSpPr>
            <p:spPr>
              <a:xfrm>
                <a:off x="2603245" y="6350"/>
                <a:ext cx="1225295" cy="1005839"/>
              </a:xfrm>
              <a:custGeom>
                <a:avLst/>
                <a:gdLst/>
                <a:ahLst/>
                <a:cxnLst/>
                <a:rect l="0" t="0" r="0" b="0"/>
                <a:pathLst>
                  <a:path w="1929" h="158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828" y="0"/>
                    </a:lnTo>
                    <a:cubicBezTo>
                      <a:pt x="1884" y="0"/>
                      <a:pt x="1929" y="45"/>
                      <a:pt x="1929" y="100"/>
                    </a:cubicBezTo>
                    <a:lnTo>
                      <a:pt x="1929" y="1483"/>
                    </a:lnTo>
                    <a:cubicBezTo>
                      <a:pt x="1929" y="1538"/>
                      <a:pt x="1884" y="1583"/>
                      <a:pt x="1828" y="1583"/>
                    </a:cubicBezTo>
                    <a:lnTo>
                      <a:pt x="100" y="1583"/>
                    </a:lnTo>
                    <a:cubicBezTo>
                      <a:pt x="45" y="1583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4" name="path 834"/>
              <p:cNvSpPr/>
              <p:nvPr/>
            </p:nvSpPr>
            <p:spPr>
              <a:xfrm>
                <a:off x="2596895" y="0"/>
                <a:ext cx="1237995" cy="1018539"/>
              </a:xfrm>
              <a:custGeom>
                <a:avLst/>
                <a:gdLst/>
                <a:ahLst/>
                <a:cxnLst/>
                <a:rect l="0" t="0" r="0" b="0"/>
                <a:pathLst>
                  <a:path w="1949" h="160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838" y="10"/>
                    </a:lnTo>
                    <a:cubicBezTo>
                      <a:pt x="1894" y="10"/>
                      <a:pt x="1939" y="55"/>
                      <a:pt x="1939" y="110"/>
                    </a:cubicBezTo>
                    <a:lnTo>
                      <a:pt x="1939" y="1493"/>
                    </a:lnTo>
                    <a:cubicBezTo>
                      <a:pt x="1939" y="1548"/>
                      <a:pt x="1894" y="1593"/>
                      <a:pt x="1838" y="1593"/>
                    </a:cubicBezTo>
                    <a:lnTo>
                      <a:pt x="110" y="1593"/>
                    </a:lnTo>
                    <a:cubicBezTo>
                      <a:pt x="55" y="1593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6" name="path 836"/>
              <p:cNvSpPr/>
              <p:nvPr/>
            </p:nvSpPr>
            <p:spPr>
              <a:xfrm>
                <a:off x="3837685" y="417829"/>
                <a:ext cx="54864" cy="182880"/>
              </a:xfrm>
              <a:custGeom>
                <a:avLst/>
                <a:gdLst/>
                <a:ahLst/>
                <a:cxnLst/>
                <a:rect l="0" t="0" r="0" b="0"/>
                <a:pathLst>
                  <a:path w="86" h="288">
                    <a:moveTo>
                      <a:pt x="0" y="72"/>
                    </a:moveTo>
                    <a:lnTo>
                      <a:pt x="43" y="72"/>
                    </a:lnTo>
                    <a:lnTo>
                      <a:pt x="43" y="0"/>
                    </a:lnTo>
                    <a:lnTo>
                      <a:pt x="86" y="144"/>
                    </a:lnTo>
                    <a:lnTo>
                      <a:pt x="43" y="288"/>
                    </a:lnTo>
                    <a:lnTo>
                      <a:pt x="43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8" name="path 838"/>
              <p:cNvSpPr/>
              <p:nvPr/>
            </p:nvSpPr>
            <p:spPr>
              <a:xfrm>
                <a:off x="3901694" y="6350"/>
                <a:ext cx="1225296" cy="1005839"/>
              </a:xfrm>
              <a:custGeom>
                <a:avLst/>
                <a:gdLst/>
                <a:ahLst/>
                <a:cxnLst/>
                <a:rect l="0" t="0" r="0" b="0"/>
                <a:pathLst>
                  <a:path w="1929" h="158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828" y="0"/>
                    </a:lnTo>
                    <a:cubicBezTo>
                      <a:pt x="1884" y="0"/>
                      <a:pt x="1929" y="45"/>
                      <a:pt x="1929" y="100"/>
                    </a:cubicBezTo>
                    <a:lnTo>
                      <a:pt x="1929" y="1483"/>
                    </a:lnTo>
                    <a:cubicBezTo>
                      <a:pt x="1929" y="1538"/>
                      <a:pt x="1884" y="1583"/>
                      <a:pt x="1828" y="1583"/>
                    </a:cubicBezTo>
                    <a:lnTo>
                      <a:pt x="100" y="1583"/>
                    </a:lnTo>
                    <a:cubicBezTo>
                      <a:pt x="45" y="1583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0" name="path 840"/>
              <p:cNvSpPr/>
              <p:nvPr/>
            </p:nvSpPr>
            <p:spPr>
              <a:xfrm>
                <a:off x="3895344" y="0"/>
                <a:ext cx="1237996" cy="1018539"/>
              </a:xfrm>
              <a:custGeom>
                <a:avLst/>
                <a:gdLst/>
                <a:ahLst/>
                <a:cxnLst/>
                <a:rect l="0" t="0" r="0" b="0"/>
                <a:pathLst>
                  <a:path w="1949" h="160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838" y="10"/>
                    </a:lnTo>
                    <a:cubicBezTo>
                      <a:pt x="1894" y="10"/>
                      <a:pt x="1939" y="55"/>
                      <a:pt x="1939" y="110"/>
                    </a:cubicBezTo>
                    <a:lnTo>
                      <a:pt x="1939" y="1493"/>
                    </a:lnTo>
                    <a:cubicBezTo>
                      <a:pt x="1939" y="1548"/>
                      <a:pt x="1894" y="1593"/>
                      <a:pt x="1838" y="1593"/>
                    </a:cubicBezTo>
                    <a:lnTo>
                      <a:pt x="110" y="1593"/>
                    </a:lnTo>
                    <a:cubicBezTo>
                      <a:pt x="55" y="1593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42" name="textbox 842"/>
            <p:cNvSpPr/>
            <p:nvPr/>
          </p:nvSpPr>
          <p:spPr>
            <a:xfrm>
              <a:off x="1510817" y="-9271"/>
              <a:ext cx="828675" cy="10775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0195" indent="-278129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Evaluate</a:t>
              </a:r>
              <a:r>
                <a:rPr sz="1800" b="1" kern="0" spc="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on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200025" indent="-186054" algn="l" rtl="0" eaLnBrk="0">
                <a:lnSpc>
                  <a:spcPct val="93000"/>
                </a:lnSpc>
                <a:spcBef>
                  <a:spcPts val="303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held-out</a:t>
              </a:r>
              <a:r>
                <a:rPr sz="1800" b="1" kern="0" spc="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data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44" name="textbox 844"/>
            <p:cNvSpPr/>
            <p:nvPr/>
          </p:nvSpPr>
          <p:spPr>
            <a:xfrm>
              <a:off x="2762783" y="127889"/>
              <a:ext cx="918844" cy="8026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5719" algn="l" rtl="0" eaLnBrk="0">
                <a:lnSpc>
                  <a:spcPct val="8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Quantify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uncertain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361315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ty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46" name="textbox 846"/>
            <p:cNvSpPr/>
            <p:nvPr/>
          </p:nvSpPr>
          <p:spPr>
            <a:xfrm>
              <a:off x="183007" y="127889"/>
              <a:ext cx="880110" cy="8026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080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Validate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assumpti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274320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ons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48" name="textbox 848"/>
            <p:cNvSpPr/>
            <p:nvPr/>
          </p:nvSpPr>
          <p:spPr>
            <a:xfrm>
              <a:off x="4109618" y="265048"/>
              <a:ext cx="825500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7160" indent="-124460" algn="l" rtl="0" eaLnBrk="0">
                <a:lnSpc>
                  <a:spcPct val="9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Deploy /</a:t>
              </a:r>
              <a:r>
                <a:rPr sz="1800" b="1" kern="0" spc="6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revise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850" name="textbox 850"/>
          <p:cNvSpPr/>
          <p:nvPr/>
        </p:nvSpPr>
        <p:spPr>
          <a:xfrm>
            <a:off x="548961" y="393355"/>
            <a:ext cx="5798820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Training &amp; Inference Workflo</a:t>
            </a:r>
            <a:r>
              <a:rPr sz="3200" b="1" kern="0" spc="-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w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852" name="textbox 852"/>
          <p:cNvSpPr/>
          <p:nvPr/>
        </p:nvSpPr>
        <p:spPr>
          <a:xfrm>
            <a:off x="551713" y="74930"/>
            <a:ext cx="245427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III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RENCE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rect 854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56" name="picture 8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743200"/>
            <a:ext cx="3657600" cy="4114797"/>
          </a:xfrm>
          <a:prstGeom prst="rect">
            <a:avLst/>
          </a:prstGeom>
        </p:spPr>
      </p:pic>
      <p:sp>
        <p:nvSpPr>
          <p:cNvPr id="858" name="textbox 858"/>
          <p:cNvSpPr/>
          <p:nvPr/>
        </p:nvSpPr>
        <p:spPr>
          <a:xfrm>
            <a:off x="959764" y="2288356"/>
            <a:ext cx="6819265" cy="3208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084" algn="l" rtl="0" eaLnBrk="0">
              <a:lnSpc>
                <a:spcPct val="84000"/>
              </a:lnSpc>
              <a:tabLst/>
            </a:pPr>
            <a:r>
              <a:rPr sz="12900" b="1" kern="0" spc="-16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04</a:t>
            </a:r>
            <a:endParaRPr sz="129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83000"/>
              </a:lnSpc>
              <a:spcBef>
                <a:spcPts val="1150"/>
              </a:spcBef>
              <a:tabLst/>
            </a:pPr>
            <a:r>
              <a:rPr sz="3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Probabilistic Models in AI</a:t>
            </a:r>
            <a:endParaRPr sz="3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Generative</a:t>
            </a:r>
            <a:r>
              <a:rPr sz="1800" i="1" kern="0" spc="10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vs discriminative,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graphical models, HMMs, and</a:t>
            </a:r>
            <a:r>
              <a:rPr sz="1800" i="1" kern="0" spc="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deep</a:t>
            </a:r>
            <a:r>
              <a:rPr sz="1800" i="1" kern="0" spc="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learning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860" name="picture 8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75519" y="0"/>
            <a:ext cx="2316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picture 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78854" y="1654149"/>
            <a:ext cx="2691079" cy="2641092"/>
          </a:xfrm>
          <a:prstGeom prst="rect">
            <a:avLst/>
          </a:prstGeom>
        </p:spPr>
      </p:pic>
      <p:sp>
        <p:nvSpPr>
          <p:cNvPr id="864" name="textbox 864"/>
          <p:cNvSpPr/>
          <p:nvPr/>
        </p:nvSpPr>
        <p:spPr>
          <a:xfrm>
            <a:off x="557428" y="1318767"/>
            <a:ext cx="5142229" cy="3836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Generative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r>
              <a:rPr sz="1800" b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learns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p(x,y) or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65455" indent="-224154" algn="l" rtl="0" eaLnBrk="0">
              <a:lnSpc>
                <a:spcPct val="104000"/>
              </a:lnSpc>
              <a:spcBef>
                <a:spcPts val="1490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Can generate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a,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 the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input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distribution,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handle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missing data.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1300" algn="l" rtl="0" eaLnBrk="0">
              <a:lnSpc>
                <a:spcPct val="83000"/>
              </a:lnSpc>
              <a:spcBef>
                <a:spcPts val="1624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Example: Naive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48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Discriminative: learns p(y|x) or a</a:t>
            </a:r>
            <a:r>
              <a:rPr sz="1800" b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decision</a:t>
            </a:r>
            <a:r>
              <a:rPr sz="1800" b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boundary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59105" indent="-217804" algn="l" rtl="0" eaLnBrk="0">
              <a:lnSpc>
                <a:spcPct val="103000"/>
              </a:lnSpc>
              <a:spcBef>
                <a:spcPts val="1520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Discriminative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 directly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p(y|x) or the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decision</a:t>
            </a:r>
            <a:r>
              <a:rPr sz="1800" kern="0" spc="2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boundary.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54659" indent="-213995" algn="l" rtl="0" eaLnBrk="0">
              <a:lnSpc>
                <a:spcPct val="103000"/>
              </a:lnSpc>
              <a:spcBef>
                <a:spcPts val="1419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They</a:t>
            </a:r>
            <a:r>
              <a:rPr sz="1800" i="1" kern="0" spc="-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focus on predicting y</a:t>
            </a:r>
            <a:r>
              <a:rPr sz="1800" i="1" kern="0" spc="-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x without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explicitly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modeling how x is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generated.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241300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Example: logistic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regression,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deep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classifiers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866" name="textbox 866"/>
          <p:cNvSpPr/>
          <p:nvPr/>
        </p:nvSpPr>
        <p:spPr>
          <a:xfrm>
            <a:off x="6215253" y="4373270"/>
            <a:ext cx="5078729" cy="1260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6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810" algn="l" rtl="0" eaLnBrk="0">
              <a:lnSpc>
                <a:spcPct val="9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Discriminative: x → y  (model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 the prediction</a:t>
            </a:r>
            <a:r>
              <a:rPr sz="1800" i="1" kern="0" spc="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boundary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directly)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indent="3810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(This arrow picture is intuition,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not strict mathematical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direction.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868" name="textbox 868"/>
          <p:cNvSpPr/>
          <p:nvPr/>
        </p:nvSpPr>
        <p:spPr>
          <a:xfrm>
            <a:off x="551713" y="97104"/>
            <a:ext cx="6889115" cy="728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  IV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MODELS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7145" algn="l" rtl="0" eaLnBrk="0">
              <a:lnSpc>
                <a:spcPct val="83000"/>
              </a:lnSpc>
              <a:spcBef>
                <a:spcPts val="915"/>
              </a:spcBef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Generative vs. Discriminative Models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grpSp>
        <p:nvGrpSpPr>
          <p:cNvPr id="66" name="group 66"/>
          <p:cNvGrpSpPr/>
          <p:nvPr/>
        </p:nvGrpSpPr>
        <p:grpSpPr>
          <a:xfrm rot="21600000">
            <a:off x="6394450" y="3422650"/>
            <a:ext cx="2664459" cy="835660"/>
            <a:chOff x="0" y="0"/>
            <a:chExt cx="2664459" cy="835660"/>
          </a:xfrm>
        </p:grpSpPr>
        <p:grpSp>
          <p:nvGrpSpPr>
            <p:cNvPr id="68" name="group 68"/>
            <p:cNvGrpSpPr/>
            <p:nvPr/>
          </p:nvGrpSpPr>
          <p:grpSpPr>
            <a:xfrm rot="21600000">
              <a:off x="0" y="0"/>
              <a:ext cx="2664459" cy="835660"/>
              <a:chOff x="0" y="0"/>
              <a:chExt cx="2664459" cy="835660"/>
            </a:xfrm>
          </p:grpSpPr>
          <p:sp>
            <p:nvSpPr>
              <p:cNvPr id="870" name="path 870"/>
              <p:cNvSpPr/>
              <p:nvPr/>
            </p:nvSpPr>
            <p:spPr>
              <a:xfrm>
                <a:off x="6350" y="6350"/>
                <a:ext cx="822959" cy="822960"/>
              </a:xfrm>
              <a:custGeom>
                <a:avLst/>
                <a:gdLst/>
                <a:ahLst/>
                <a:cxnLst/>
                <a:rect l="0" t="0" r="0" b="0"/>
                <a:pathLst>
                  <a:path w="1295" h="1296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195" y="0"/>
                    </a:lnTo>
                    <a:cubicBezTo>
                      <a:pt x="1250" y="0"/>
                      <a:pt x="1295" y="45"/>
                      <a:pt x="1295" y="100"/>
                    </a:cubicBezTo>
                    <a:lnTo>
                      <a:pt x="1295" y="1195"/>
                    </a:lnTo>
                    <a:cubicBezTo>
                      <a:pt x="1295" y="1250"/>
                      <a:pt x="1250" y="1296"/>
                      <a:pt x="1195" y="1296"/>
                    </a:cubicBezTo>
                    <a:lnTo>
                      <a:pt x="100" y="1296"/>
                    </a:lnTo>
                    <a:cubicBezTo>
                      <a:pt x="45" y="1296"/>
                      <a:pt x="0" y="1250"/>
                      <a:pt x="0" y="1195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2" name="path 872"/>
              <p:cNvSpPr/>
              <p:nvPr/>
            </p:nvSpPr>
            <p:spPr>
              <a:xfrm>
                <a:off x="0" y="0"/>
                <a:ext cx="835659" cy="835660"/>
              </a:xfrm>
              <a:custGeom>
                <a:avLst/>
                <a:gdLst/>
                <a:ahLst/>
                <a:cxnLst/>
                <a:rect l="0" t="0" r="0" b="0"/>
                <a:pathLst>
                  <a:path w="1315" h="1316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205" y="10"/>
                    </a:lnTo>
                    <a:cubicBezTo>
                      <a:pt x="1260" y="10"/>
                      <a:pt x="1305" y="55"/>
                      <a:pt x="1305" y="110"/>
                    </a:cubicBezTo>
                    <a:lnTo>
                      <a:pt x="1305" y="1205"/>
                    </a:lnTo>
                    <a:cubicBezTo>
                      <a:pt x="1305" y="1260"/>
                      <a:pt x="1260" y="1306"/>
                      <a:pt x="1205" y="1306"/>
                    </a:cubicBezTo>
                    <a:lnTo>
                      <a:pt x="110" y="1306"/>
                    </a:lnTo>
                    <a:cubicBezTo>
                      <a:pt x="55" y="1306"/>
                      <a:pt x="10" y="1260"/>
                      <a:pt x="10" y="1205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DBBE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4" name="path 874"/>
              <p:cNvSpPr/>
              <p:nvPr/>
            </p:nvSpPr>
            <p:spPr>
              <a:xfrm>
                <a:off x="920750" y="6350"/>
                <a:ext cx="1737359" cy="822960"/>
              </a:xfrm>
              <a:custGeom>
                <a:avLst/>
                <a:gdLst/>
                <a:ahLst/>
                <a:cxnLst/>
                <a:rect l="0" t="0" r="0" b="0"/>
                <a:pathLst>
                  <a:path w="2735" h="1296">
                    <a:moveTo>
                      <a:pt x="0" y="604"/>
                    </a:moveTo>
                    <a:lnTo>
                      <a:pt x="1094" y="604"/>
                    </a:lnTo>
                    <a:lnTo>
                      <a:pt x="1094" y="503"/>
                    </a:lnTo>
                    <a:lnTo>
                      <a:pt x="1295" y="705"/>
                    </a:lnTo>
                    <a:lnTo>
                      <a:pt x="1094" y="907"/>
                    </a:lnTo>
                    <a:lnTo>
                      <a:pt x="1094" y="806"/>
                    </a:lnTo>
                    <a:lnTo>
                      <a:pt x="0" y="806"/>
                    </a:lnTo>
                    <a:lnTo>
                      <a:pt x="0" y="604"/>
                    </a:lnTo>
                    <a:close/>
                  </a:path>
                  <a:path w="2735" h="1296">
                    <a:moveTo>
                      <a:pt x="1440" y="100"/>
                    </a:moveTo>
                    <a:moveTo>
                      <a:pt x="1440" y="100"/>
                    </a:moveTo>
                    <a:cubicBezTo>
                      <a:pt x="1440" y="45"/>
                      <a:pt x="1485" y="0"/>
                      <a:pt x="1540" y="0"/>
                    </a:cubicBezTo>
                    <a:lnTo>
                      <a:pt x="2635" y="0"/>
                    </a:lnTo>
                    <a:cubicBezTo>
                      <a:pt x="2690" y="0"/>
                      <a:pt x="2735" y="45"/>
                      <a:pt x="2735" y="100"/>
                    </a:cubicBezTo>
                    <a:lnTo>
                      <a:pt x="2735" y="1195"/>
                    </a:lnTo>
                    <a:cubicBezTo>
                      <a:pt x="2735" y="1250"/>
                      <a:pt x="2690" y="1296"/>
                      <a:pt x="2635" y="1296"/>
                    </a:cubicBezTo>
                    <a:lnTo>
                      <a:pt x="1540" y="1296"/>
                    </a:lnTo>
                    <a:cubicBezTo>
                      <a:pt x="1485" y="1296"/>
                      <a:pt x="1440" y="1250"/>
                      <a:pt x="1440" y="1195"/>
                    </a:cubicBezTo>
                    <a:lnTo>
                      <a:pt x="144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6" name="path 876"/>
              <p:cNvSpPr/>
              <p:nvPr/>
            </p:nvSpPr>
            <p:spPr>
              <a:xfrm>
                <a:off x="1828800" y="0"/>
                <a:ext cx="835659" cy="835660"/>
              </a:xfrm>
              <a:custGeom>
                <a:avLst/>
                <a:gdLst/>
                <a:ahLst/>
                <a:cxnLst/>
                <a:rect l="0" t="0" r="0" b="0"/>
                <a:pathLst>
                  <a:path w="1315" h="1316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205" y="10"/>
                    </a:lnTo>
                    <a:cubicBezTo>
                      <a:pt x="1260" y="10"/>
                      <a:pt x="1305" y="55"/>
                      <a:pt x="1305" y="110"/>
                    </a:cubicBezTo>
                    <a:lnTo>
                      <a:pt x="1305" y="1205"/>
                    </a:lnTo>
                    <a:cubicBezTo>
                      <a:pt x="1305" y="1260"/>
                      <a:pt x="1260" y="1306"/>
                      <a:pt x="1205" y="1306"/>
                    </a:cubicBezTo>
                    <a:lnTo>
                      <a:pt x="110" y="1306"/>
                    </a:lnTo>
                    <a:cubicBezTo>
                      <a:pt x="55" y="1306"/>
                      <a:pt x="10" y="1260"/>
                      <a:pt x="10" y="1205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78" name="textbox 878"/>
            <p:cNvSpPr/>
            <p:nvPr/>
          </p:nvSpPr>
          <p:spPr>
            <a:xfrm>
              <a:off x="351035" y="300482"/>
              <a:ext cx="1969770" cy="2800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34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tabLst/>
              </a:pPr>
              <a:r>
                <a:rPr sz="2000" b="1" kern="0" spc="-3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x</a:t>
              </a:r>
              <a:r>
                <a:rPr sz="2000" b="1" kern="0" spc="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</a:t>
              </a:r>
              <a:r>
                <a:rPr sz="2000" b="1" kern="0" spc="1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</a:t>
              </a: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y</a:t>
              </a:r>
              <a:endParaRPr sz="20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 rot="21600000">
            <a:off x="6394450" y="1593850"/>
            <a:ext cx="2664459" cy="835659"/>
            <a:chOff x="0" y="0"/>
            <a:chExt cx="2664459" cy="835659"/>
          </a:xfrm>
        </p:grpSpPr>
        <p:grpSp>
          <p:nvGrpSpPr>
            <p:cNvPr id="72" name="group 72"/>
            <p:cNvGrpSpPr/>
            <p:nvPr/>
          </p:nvGrpSpPr>
          <p:grpSpPr>
            <a:xfrm rot="21600000">
              <a:off x="0" y="0"/>
              <a:ext cx="2664459" cy="835659"/>
              <a:chOff x="0" y="0"/>
              <a:chExt cx="2664459" cy="835659"/>
            </a:xfrm>
          </p:grpSpPr>
          <p:sp>
            <p:nvSpPr>
              <p:cNvPr id="880" name="path 880"/>
              <p:cNvSpPr/>
              <p:nvPr/>
            </p:nvSpPr>
            <p:spPr>
              <a:xfrm>
                <a:off x="6350" y="6350"/>
                <a:ext cx="822959" cy="822959"/>
              </a:xfrm>
              <a:custGeom>
                <a:avLst/>
                <a:gdLst/>
                <a:ahLst/>
                <a:cxnLst/>
                <a:rect l="0" t="0" r="0" b="0"/>
                <a:pathLst>
                  <a:path w="1295" h="1295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195" y="0"/>
                    </a:lnTo>
                    <a:cubicBezTo>
                      <a:pt x="1250" y="0"/>
                      <a:pt x="1295" y="45"/>
                      <a:pt x="1295" y="100"/>
                    </a:cubicBezTo>
                    <a:lnTo>
                      <a:pt x="1295" y="1195"/>
                    </a:lnTo>
                    <a:cubicBezTo>
                      <a:pt x="1295" y="1250"/>
                      <a:pt x="1250" y="1295"/>
                      <a:pt x="1195" y="1295"/>
                    </a:cubicBezTo>
                    <a:lnTo>
                      <a:pt x="100" y="1295"/>
                    </a:lnTo>
                    <a:cubicBezTo>
                      <a:pt x="45" y="1295"/>
                      <a:pt x="0" y="1250"/>
                      <a:pt x="0" y="1195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2" name="path 882"/>
              <p:cNvSpPr/>
              <p:nvPr/>
            </p:nvSpPr>
            <p:spPr>
              <a:xfrm>
                <a:off x="0" y="0"/>
                <a:ext cx="835659" cy="835659"/>
              </a:xfrm>
              <a:custGeom>
                <a:avLst/>
                <a:gdLst/>
                <a:ahLst/>
                <a:cxnLst/>
                <a:rect l="0" t="0" r="0" b="0"/>
                <a:pathLst>
                  <a:path w="1315" h="1315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205" y="10"/>
                    </a:lnTo>
                    <a:cubicBezTo>
                      <a:pt x="1260" y="10"/>
                      <a:pt x="1305" y="55"/>
                      <a:pt x="1305" y="110"/>
                    </a:cubicBezTo>
                    <a:lnTo>
                      <a:pt x="1305" y="1205"/>
                    </a:lnTo>
                    <a:cubicBezTo>
                      <a:pt x="1305" y="1260"/>
                      <a:pt x="1260" y="1305"/>
                      <a:pt x="1205" y="1305"/>
                    </a:cubicBezTo>
                    <a:lnTo>
                      <a:pt x="110" y="1305"/>
                    </a:lnTo>
                    <a:cubicBezTo>
                      <a:pt x="55" y="1305"/>
                      <a:pt x="10" y="1260"/>
                      <a:pt x="10" y="1205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4" name="path 884"/>
              <p:cNvSpPr/>
              <p:nvPr/>
            </p:nvSpPr>
            <p:spPr>
              <a:xfrm>
                <a:off x="920750" y="6350"/>
                <a:ext cx="1737359" cy="822959"/>
              </a:xfrm>
              <a:custGeom>
                <a:avLst/>
                <a:gdLst/>
                <a:ahLst/>
                <a:cxnLst/>
                <a:rect l="0" t="0" r="0" b="0"/>
                <a:pathLst>
                  <a:path w="2735" h="1295">
                    <a:moveTo>
                      <a:pt x="0" y="604"/>
                    </a:moveTo>
                    <a:lnTo>
                      <a:pt x="1094" y="604"/>
                    </a:lnTo>
                    <a:lnTo>
                      <a:pt x="1094" y="504"/>
                    </a:lnTo>
                    <a:lnTo>
                      <a:pt x="1295" y="705"/>
                    </a:lnTo>
                    <a:lnTo>
                      <a:pt x="1094" y="907"/>
                    </a:lnTo>
                    <a:lnTo>
                      <a:pt x="1094" y="806"/>
                    </a:lnTo>
                    <a:lnTo>
                      <a:pt x="0" y="806"/>
                    </a:lnTo>
                    <a:lnTo>
                      <a:pt x="0" y="604"/>
                    </a:lnTo>
                    <a:close/>
                  </a:path>
                  <a:path w="2735" h="1295">
                    <a:moveTo>
                      <a:pt x="1440" y="100"/>
                    </a:moveTo>
                    <a:moveTo>
                      <a:pt x="1440" y="100"/>
                    </a:moveTo>
                    <a:cubicBezTo>
                      <a:pt x="1440" y="45"/>
                      <a:pt x="1485" y="0"/>
                      <a:pt x="1540" y="0"/>
                    </a:cubicBezTo>
                    <a:lnTo>
                      <a:pt x="2635" y="0"/>
                    </a:lnTo>
                    <a:cubicBezTo>
                      <a:pt x="2690" y="0"/>
                      <a:pt x="2735" y="45"/>
                      <a:pt x="2735" y="100"/>
                    </a:cubicBezTo>
                    <a:lnTo>
                      <a:pt x="2735" y="1195"/>
                    </a:lnTo>
                    <a:cubicBezTo>
                      <a:pt x="2735" y="1250"/>
                      <a:pt x="2690" y="1295"/>
                      <a:pt x="2635" y="1295"/>
                    </a:cubicBezTo>
                    <a:lnTo>
                      <a:pt x="1540" y="1295"/>
                    </a:lnTo>
                    <a:cubicBezTo>
                      <a:pt x="1485" y="1295"/>
                      <a:pt x="1440" y="1250"/>
                      <a:pt x="1440" y="1195"/>
                    </a:cubicBezTo>
                    <a:lnTo>
                      <a:pt x="1440" y="100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6" name="path 886"/>
              <p:cNvSpPr/>
              <p:nvPr/>
            </p:nvSpPr>
            <p:spPr>
              <a:xfrm>
                <a:off x="1828800" y="0"/>
                <a:ext cx="835659" cy="835659"/>
              </a:xfrm>
              <a:custGeom>
                <a:avLst/>
                <a:gdLst/>
                <a:ahLst/>
                <a:cxnLst/>
                <a:rect l="0" t="0" r="0" b="0"/>
                <a:pathLst>
                  <a:path w="1315" h="1315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205" y="10"/>
                    </a:lnTo>
                    <a:cubicBezTo>
                      <a:pt x="1260" y="10"/>
                      <a:pt x="1305" y="55"/>
                      <a:pt x="1305" y="110"/>
                    </a:cubicBezTo>
                    <a:lnTo>
                      <a:pt x="1305" y="1205"/>
                    </a:lnTo>
                    <a:cubicBezTo>
                      <a:pt x="1305" y="1260"/>
                      <a:pt x="1260" y="1305"/>
                      <a:pt x="1205" y="1305"/>
                    </a:cubicBezTo>
                    <a:lnTo>
                      <a:pt x="110" y="1305"/>
                    </a:lnTo>
                    <a:cubicBezTo>
                      <a:pt x="55" y="1305"/>
                      <a:pt x="10" y="1260"/>
                      <a:pt x="10" y="1205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DBBE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88" name="textbox 888"/>
            <p:cNvSpPr/>
            <p:nvPr/>
          </p:nvSpPr>
          <p:spPr>
            <a:xfrm>
              <a:off x="348239" y="300228"/>
              <a:ext cx="1970404" cy="2800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35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tabLst/>
              </a:pP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y</a:t>
              </a:r>
              <a:r>
                <a:rPr sz="2000" b="1" kern="0" spc="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</a:t>
              </a:r>
              <a:r>
                <a:rPr sz="20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</a:t>
              </a:r>
              <a:r>
                <a:rPr sz="20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x</a:t>
              </a:r>
              <a:endParaRPr sz="20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890" name="textbox 890"/>
          <p:cNvSpPr/>
          <p:nvPr/>
        </p:nvSpPr>
        <p:spPr>
          <a:xfrm>
            <a:off x="6218453" y="2681605"/>
            <a:ext cx="469519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Generative: y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x  (models how data is</a:t>
            </a:r>
            <a:r>
              <a:rPr sz="1800" i="1" kern="0" spc="5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generated)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picture 8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763" y="3367152"/>
            <a:ext cx="3605021" cy="744826"/>
          </a:xfrm>
          <a:prstGeom prst="rect">
            <a:avLst/>
          </a:prstGeom>
        </p:spPr>
      </p:pic>
      <p:sp>
        <p:nvSpPr>
          <p:cNvPr id="894" name="textbox 894"/>
          <p:cNvSpPr/>
          <p:nvPr/>
        </p:nvSpPr>
        <p:spPr>
          <a:xfrm>
            <a:off x="557428" y="1323720"/>
            <a:ext cx="5017134" cy="3008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4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Nodes =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random variables.</a:t>
            </a:r>
            <a:r>
              <a:rPr sz="2000" kern="0" spc="2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Edges</a:t>
            </a:r>
            <a:r>
              <a:rPr sz="20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1775" algn="l" rtl="0" eaLnBrk="0">
              <a:lnSpc>
                <a:spcPts val="2592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dependencies.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47"/>
              </a:spcBef>
              <a:tabLst/>
            </a:pP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P(x1,...,xn)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∏ᵢ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P(xᵢ</a:t>
            </a:r>
            <a:r>
              <a:rPr sz="1800" kern="0" spc="3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|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Parents(xᵢ))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5425" indent="-210820" algn="l" rtl="0" eaLnBrk="0">
              <a:lnSpc>
                <a:spcPct val="104000"/>
              </a:lnSpc>
              <a:spcBef>
                <a:spcPts val="1496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node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independent of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non-descendan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ts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given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pare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nts.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2884" indent="-208279" algn="l" rtl="0" eaLnBrk="0">
              <a:lnSpc>
                <a:spcPct val="104000"/>
              </a:lnSpc>
              <a:spcBef>
                <a:spcPts val="1394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Observing symptoms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update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 our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belief about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disease --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Bayes' theorem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running on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6059" algn="l" rtl="0" eaLnBrk="0">
              <a:lnSpc>
                <a:spcPct val="84000"/>
              </a:lnSpc>
              <a:spcBef>
                <a:spcPts val="453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graph.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74" name="group 74"/>
          <p:cNvGrpSpPr/>
          <p:nvPr/>
        </p:nvGrpSpPr>
        <p:grpSpPr>
          <a:xfrm rot="21600000">
            <a:off x="7979416" y="1228090"/>
            <a:ext cx="3650336" cy="2883889"/>
            <a:chOff x="0" y="0"/>
            <a:chExt cx="3650336" cy="2883889"/>
          </a:xfrm>
        </p:grpSpPr>
        <p:pic>
          <p:nvPicPr>
            <p:cNvPr id="896" name="picture 89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650336" cy="2883889"/>
            </a:xfrm>
            <a:prstGeom prst="rect">
              <a:avLst/>
            </a:prstGeom>
          </p:spPr>
        </p:pic>
        <p:sp>
          <p:nvSpPr>
            <p:cNvPr id="898" name="textbox 898"/>
            <p:cNvSpPr/>
            <p:nvPr/>
          </p:nvSpPr>
          <p:spPr>
            <a:xfrm>
              <a:off x="587520" y="2368168"/>
              <a:ext cx="2436495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Cough</a:t>
              </a:r>
              <a:r>
                <a:rPr sz="18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Test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00" name="textbox 900"/>
            <p:cNvSpPr/>
            <p:nvPr/>
          </p:nvSpPr>
          <p:spPr>
            <a:xfrm>
              <a:off x="576091" y="264414"/>
              <a:ext cx="736600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Disease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02" name="textbox 902"/>
          <p:cNvSpPr/>
          <p:nvPr/>
        </p:nvSpPr>
        <p:spPr>
          <a:xfrm>
            <a:off x="6277220" y="4373270"/>
            <a:ext cx="5289550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Observing “Fever” and</a:t>
            </a:r>
            <a:r>
              <a:rPr sz="1800" i="1" kern="0" spc="1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“positive</a:t>
            </a:r>
            <a:r>
              <a:rPr sz="1800" i="1" kern="0" spc="15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Test” updates P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(Disease)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194435" algn="l" rtl="0" eaLnBrk="0">
              <a:lnSpc>
                <a:spcPct val="83000"/>
              </a:lnSpc>
              <a:spcBef>
                <a:spcPts val="370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via the sha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red parent structure.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904" name="textbox 904"/>
          <p:cNvSpPr/>
          <p:nvPr/>
        </p:nvSpPr>
        <p:spPr>
          <a:xfrm>
            <a:off x="551713" y="99390"/>
            <a:ext cx="3604259" cy="729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GRAPHICAL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4000"/>
              </a:lnSpc>
              <a:spcBef>
                <a:spcPts val="881"/>
              </a:spcBef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Bayesian Networ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ks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906" name="textbox 906"/>
          <p:cNvSpPr/>
          <p:nvPr/>
        </p:nvSpPr>
        <p:spPr>
          <a:xfrm>
            <a:off x="6126479" y="3337559"/>
            <a:ext cx="1646554" cy="732155"/>
          </a:xfrm>
          <a:prstGeom prst="roundRect">
            <a:avLst>
              <a:gd name="adj" fmla="val 10307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5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3719" algn="l" rtl="0" eaLnBrk="0">
              <a:lnSpc>
                <a:spcPts val="1411"/>
              </a:lnSpc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Fever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6"/>
          <p:cNvGrpSpPr/>
          <p:nvPr/>
        </p:nvGrpSpPr>
        <p:grpSpPr>
          <a:xfrm rot="21600000">
            <a:off x="7034530" y="1502409"/>
            <a:ext cx="3069589" cy="3075940"/>
            <a:chOff x="0" y="0"/>
            <a:chExt cx="3069589" cy="3075940"/>
          </a:xfrm>
        </p:grpSpPr>
        <p:sp>
          <p:nvSpPr>
            <p:cNvPr id="908" name="path 908"/>
            <p:cNvSpPr/>
            <p:nvPr/>
          </p:nvSpPr>
          <p:spPr>
            <a:xfrm>
              <a:off x="6350" y="635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D6E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0" name="path 910"/>
            <p:cNvSpPr/>
            <p:nvPr/>
          </p:nvSpPr>
          <p:spPr>
            <a:xfrm>
              <a:off x="0" y="0"/>
              <a:ext cx="744219" cy="744220"/>
            </a:xfrm>
            <a:custGeom>
              <a:avLst/>
              <a:gdLst/>
              <a:ahLst/>
              <a:cxnLst/>
              <a:rect l="0" t="0" r="0" b="0"/>
              <a:pathLst>
                <a:path w="1171" h="1172">
                  <a:moveTo>
                    <a:pt x="10" y="1162"/>
                  </a:moveTo>
                  <a:lnTo>
                    <a:pt x="1161" y="1162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2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2" name="path 912"/>
            <p:cNvSpPr/>
            <p:nvPr/>
          </p:nvSpPr>
          <p:spPr>
            <a:xfrm>
              <a:off x="783589" y="635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C97F1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4" name="path 914"/>
            <p:cNvSpPr/>
            <p:nvPr/>
          </p:nvSpPr>
          <p:spPr>
            <a:xfrm>
              <a:off x="777239" y="0"/>
              <a:ext cx="744219" cy="744220"/>
            </a:xfrm>
            <a:custGeom>
              <a:avLst/>
              <a:gdLst/>
              <a:ahLst/>
              <a:cxnLst/>
              <a:rect l="0" t="0" r="0" b="0"/>
              <a:pathLst>
                <a:path w="1171" h="1172">
                  <a:moveTo>
                    <a:pt x="10" y="1162"/>
                  </a:moveTo>
                  <a:lnTo>
                    <a:pt x="1161" y="1162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2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6" name="path 916"/>
            <p:cNvSpPr/>
            <p:nvPr/>
          </p:nvSpPr>
          <p:spPr>
            <a:xfrm>
              <a:off x="1560829" y="635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C97F1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8" name="path 918"/>
            <p:cNvSpPr/>
            <p:nvPr/>
          </p:nvSpPr>
          <p:spPr>
            <a:xfrm>
              <a:off x="1554479" y="0"/>
              <a:ext cx="744219" cy="744220"/>
            </a:xfrm>
            <a:custGeom>
              <a:avLst/>
              <a:gdLst/>
              <a:ahLst/>
              <a:cxnLst/>
              <a:rect l="0" t="0" r="0" b="0"/>
              <a:pathLst>
                <a:path w="1171" h="1172">
                  <a:moveTo>
                    <a:pt x="10" y="1162"/>
                  </a:moveTo>
                  <a:lnTo>
                    <a:pt x="1161" y="1162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2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0" name="path 920"/>
            <p:cNvSpPr/>
            <p:nvPr/>
          </p:nvSpPr>
          <p:spPr>
            <a:xfrm>
              <a:off x="2338069" y="635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D6E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2" name="path 922"/>
            <p:cNvSpPr/>
            <p:nvPr/>
          </p:nvSpPr>
          <p:spPr>
            <a:xfrm>
              <a:off x="2331719" y="0"/>
              <a:ext cx="737869" cy="744220"/>
            </a:xfrm>
            <a:custGeom>
              <a:avLst/>
              <a:gdLst/>
              <a:ahLst/>
              <a:cxnLst/>
              <a:rect l="0" t="0" r="0" b="0"/>
              <a:pathLst>
                <a:path w="1161" h="1172">
                  <a:moveTo>
                    <a:pt x="10" y="1162"/>
                  </a:moveTo>
                  <a:lnTo>
                    <a:pt x="1161" y="1162"/>
                  </a:lnTo>
                  <a:moveTo>
                    <a:pt x="1161" y="10"/>
                  </a:moveTo>
                  <a:lnTo>
                    <a:pt x="10" y="10"/>
                  </a:lnTo>
                  <a:lnTo>
                    <a:pt x="10" y="1162"/>
                  </a:ln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4" name="path 924"/>
            <p:cNvSpPr/>
            <p:nvPr/>
          </p:nvSpPr>
          <p:spPr>
            <a:xfrm>
              <a:off x="6350" y="78359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D6E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6" name="path 926"/>
            <p:cNvSpPr/>
            <p:nvPr/>
          </p:nvSpPr>
          <p:spPr>
            <a:xfrm>
              <a:off x="0" y="777240"/>
              <a:ext cx="744219" cy="744220"/>
            </a:xfrm>
            <a:custGeom>
              <a:avLst/>
              <a:gdLst/>
              <a:ahLst/>
              <a:cxnLst/>
              <a:rect l="0" t="0" r="0" b="0"/>
              <a:pathLst>
                <a:path w="1171" h="1172">
                  <a:moveTo>
                    <a:pt x="10" y="1162"/>
                  </a:moveTo>
                  <a:lnTo>
                    <a:pt x="1161" y="1162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2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8" name="path 928"/>
            <p:cNvSpPr/>
            <p:nvPr/>
          </p:nvSpPr>
          <p:spPr>
            <a:xfrm>
              <a:off x="783589" y="78359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C97F1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0" name="path 930"/>
            <p:cNvSpPr/>
            <p:nvPr/>
          </p:nvSpPr>
          <p:spPr>
            <a:xfrm>
              <a:off x="777239" y="777240"/>
              <a:ext cx="744219" cy="744220"/>
            </a:xfrm>
            <a:custGeom>
              <a:avLst/>
              <a:gdLst/>
              <a:ahLst/>
              <a:cxnLst/>
              <a:rect l="0" t="0" r="0" b="0"/>
              <a:pathLst>
                <a:path w="1171" h="1172">
                  <a:moveTo>
                    <a:pt x="10" y="1162"/>
                  </a:moveTo>
                  <a:lnTo>
                    <a:pt x="1161" y="1162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2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2" name="path 932"/>
            <p:cNvSpPr/>
            <p:nvPr/>
          </p:nvSpPr>
          <p:spPr>
            <a:xfrm>
              <a:off x="1560829" y="78359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C97F1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4" name="path 934"/>
            <p:cNvSpPr/>
            <p:nvPr/>
          </p:nvSpPr>
          <p:spPr>
            <a:xfrm>
              <a:off x="1554479" y="777240"/>
              <a:ext cx="744219" cy="744220"/>
            </a:xfrm>
            <a:custGeom>
              <a:avLst/>
              <a:gdLst/>
              <a:ahLst/>
              <a:cxnLst/>
              <a:rect l="0" t="0" r="0" b="0"/>
              <a:pathLst>
                <a:path w="1171" h="1172">
                  <a:moveTo>
                    <a:pt x="10" y="1162"/>
                  </a:moveTo>
                  <a:lnTo>
                    <a:pt x="1161" y="1162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2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6" name="path 936"/>
            <p:cNvSpPr/>
            <p:nvPr/>
          </p:nvSpPr>
          <p:spPr>
            <a:xfrm>
              <a:off x="2338069" y="78359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C97F1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8" name="path 938"/>
            <p:cNvSpPr/>
            <p:nvPr/>
          </p:nvSpPr>
          <p:spPr>
            <a:xfrm>
              <a:off x="2331719" y="777240"/>
              <a:ext cx="737869" cy="744220"/>
            </a:xfrm>
            <a:custGeom>
              <a:avLst/>
              <a:gdLst/>
              <a:ahLst/>
              <a:cxnLst/>
              <a:rect l="0" t="0" r="0" b="0"/>
              <a:pathLst>
                <a:path w="1161" h="1172">
                  <a:moveTo>
                    <a:pt x="10" y="1162"/>
                  </a:moveTo>
                  <a:lnTo>
                    <a:pt x="1161" y="1162"/>
                  </a:lnTo>
                  <a:moveTo>
                    <a:pt x="1161" y="10"/>
                  </a:moveTo>
                  <a:lnTo>
                    <a:pt x="10" y="10"/>
                  </a:lnTo>
                  <a:lnTo>
                    <a:pt x="10" y="1162"/>
                  </a:ln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0" name="path 940"/>
            <p:cNvSpPr/>
            <p:nvPr/>
          </p:nvSpPr>
          <p:spPr>
            <a:xfrm>
              <a:off x="6350" y="1560830"/>
              <a:ext cx="731519" cy="731519"/>
            </a:xfrm>
            <a:custGeom>
              <a:avLst/>
              <a:gdLst/>
              <a:ahLst/>
              <a:cxnLst/>
              <a:rect l="0" t="0" r="0" b="0"/>
              <a:pathLst>
                <a:path w="1151" h="1151">
                  <a:moveTo>
                    <a:pt x="0" y="1151"/>
                  </a:moveTo>
                  <a:lnTo>
                    <a:pt x="1151" y="1151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1"/>
                  </a:lnTo>
                  <a:close/>
                </a:path>
              </a:pathLst>
            </a:custGeom>
            <a:solidFill>
              <a:srgbClr val="C97F1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2" name="path 942"/>
            <p:cNvSpPr/>
            <p:nvPr/>
          </p:nvSpPr>
          <p:spPr>
            <a:xfrm>
              <a:off x="0" y="1554480"/>
              <a:ext cx="744219" cy="744219"/>
            </a:xfrm>
            <a:custGeom>
              <a:avLst/>
              <a:gdLst/>
              <a:ahLst/>
              <a:cxnLst/>
              <a:rect l="0" t="0" r="0" b="0"/>
              <a:pathLst>
                <a:path w="1171" h="1171">
                  <a:moveTo>
                    <a:pt x="10" y="1161"/>
                  </a:moveTo>
                  <a:lnTo>
                    <a:pt x="1161" y="1161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1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4" name="path 944"/>
            <p:cNvSpPr/>
            <p:nvPr/>
          </p:nvSpPr>
          <p:spPr>
            <a:xfrm>
              <a:off x="783589" y="1560830"/>
              <a:ext cx="731519" cy="731519"/>
            </a:xfrm>
            <a:custGeom>
              <a:avLst/>
              <a:gdLst/>
              <a:ahLst/>
              <a:cxnLst/>
              <a:rect l="0" t="0" r="0" b="0"/>
              <a:pathLst>
                <a:path w="1151" h="1151">
                  <a:moveTo>
                    <a:pt x="0" y="1151"/>
                  </a:moveTo>
                  <a:lnTo>
                    <a:pt x="1151" y="1151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1"/>
                  </a:lnTo>
                  <a:close/>
                </a:path>
              </a:pathLst>
            </a:custGeom>
            <a:solidFill>
              <a:srgbClr val="C97F1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6" name="path 946"/>
            <p:cNvSpPr/>
            <p:nvPr/>
          </p:nvSpPr>
          <p:spPr>
            <a:xfrm>
              <a:off x="777239" y="1554480"/>
              <a:ext cx="744219" cy="744219"/>
            </a:xfrm>
            <a:custGeom>
              <a:avLst/>
              <a:gdLst/>
              <a:ahLst/>
              <a:cxnLst/>
              <a:rect l="0" t="0" r="0" b="0"/>
              <a:pathLst>
                <a:path w="1171" h="1171">
                  <a:moveTo>
                    <a:pt x="10" y="1161"/>
                  </a:moveTo>
                  <a:lnTo>
                    <a:pt x="1161" y="1161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1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8" name="path 948"/>
            <p:cNvSpPr/>
            <p:nvPr/>
          </p:nvSpPr>
          <p:spPr>
            <a:xfrm>
              <a:off x="1560829" y="1560830"/>
              <a:ext cx="731519" cy="731519"/>
            </a:xfrm>
            <a:custGeom>
              <a:avLst/>
              <a:gdLst/>
              <a:ahLst/>
              <a:cxnLst/>
              <a:rect l="0" t="0" r="0" b="0"/>
              <a:pathLst>
                <a:path w="1151" h="1151">
                  <a:moveTo>
                    <a:pt x="0" y="1151"/>
                  </a:moveTo>
                  <a:lnTo>
                    <a:pt x="1151" y="1151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1"/>
                  </a:lnTo>
                  <a:close/>
                </a:path>
              </a:pathLst>
            </a:custGeom>
            <a:solidFill>
              <a:srgbClr val="D6E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0" name="path 950"/>
            <p:cNvSpPr/>
            <p:nvPr/>
          </p:nvSpPr>
          <p:spPr>
            <a:xfrm>
              <a:off x="1554479" y="1554480"/>
              <a:ext cx="744219" cy="744219"/>
            </a:xfrm>
            <a:custGeom>
              <a:avLst/>
              <a:gdLst/>
              <a:ahLst/>
              <a:cxnLst/>
              <a:rect l="0" t="0" r="0" b="0"/>
              <a:pathLst>
                <a:path w="1171" h="1171">
                  <a:moveTo>
                    <a:pt x="10" y="1161"/>
                  </a:moveTo>
                  <a:lnTo>
                    <a:pt x="1161" y="1161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1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2" name="path 952"/>
            <p:cNvSpPr/>
            <p:nvPr/>
          </p:nvSpPr>
          <p:spPr>
            <a:xfrm>
              <a:off x="2338069" y="1560830"/>
              <a:ext cx="731519" cy="731519"/>
            </a:xfrm>
            <a:custGeom>
              <a:avLst/>
              <a:gdLst/>
              <a:ahLst/>
              <a:cxnLst/>
              <a:rect l="0" t="0" r="0" b="0"/>
              <a:pathLst>
                <a:path w="1151" h="1151">
                  <a:moveTo>
                    <a:pt x="0" y="1151"/>
                  </a:moveTo>
                  <a:lnTo>
                    <a:pt x="1151" y="1151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1"/>
                  </a:lnTo>
                  <a:close/>
                </a:path>
              </a:pathLst>
            </a:custGeom>
            <a:solidFill>
              <a:srgbClr val="D6E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4" name="path 954"/>
            <p:cNvSpPr/>
            <p:nvPr/>
          </p:nvSpPr>
          <p:spPr>
            <a:xfrm>
              <a:off x="2331719" y="1554480"/>
              <a:ext cx="737869" cy="744219"/>
            </a:xfrm>
            <a:custGeom>
              <a:avLst/>
              <a:gdLst/>
              <a:ahLst/>
              <a:cxnLst/>
              <a:rect l="0" t="0" r="0" b="0"/>
              <a:pathLst>
                <a:path w="1161" h="1171">
                  <a:moveTo>
                    <a:pt x="10" y="1161"/>
                  </a:moveTo>
                  <a:lnTo>
                    <a:pt x="1161" y="1161"/>
                  </a:lnTo>
                  <a:moveTo>
                    <a:pt x="1161" y="10"/>
                  </a:moveTo>
                  <a:lnTo>
                    <a:pt x="10" y="10"/>
                  </a:lnTo>
                  <a:lnTo>
                    <a:pt x="10" y="1161"/>
                  </a:ln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6" name="path 956"/>
            <p:cNvSpPr/>
            <p:nvPr/>
          </p:nvSpPr>
          <p:spPr>
            <a:xfrm>
              <a:off x="6350" y="233807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C97F1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8" name="path 958"/>
            <p:cNvSpPr/>
            <p:nvPr/>
          </p:nvSpPr>
          <p:spPr>
            <a:xfrm>
              <a:off x="0" y="2331720"/>
              <a:ext cx="744219" cy="744220"/>
            </a:xfrm>
            <a:custGeom>
              <a:avLst/>
              <a:gdLst/>
              <a:ahLst/>
              <a:cxnLst/>
              <a:rect l="0" t="0" r="0" b="0"/>
              <a:pathLst>
                <a:path w="1171" h="1172">
                  <a:moveTo>
                    <a:pt x="10" y="1162"/>
                  </a:moveTo>
                  <a:lnTo>
                    <a:pt x="1161" y="1162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2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0" name="path 960"/>
            <p:cNvSpPr/>
            <p:nvPr/>
          </p:nvSpPr>
          <p:spPr>
            <a:xfrm>
              <a:off x="783589" y="233807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D6E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2" name="path 962"/>
            <p:cNvSpPr/>
            <p:nvPr/>
          </p:nvSpPr>
          <p:spPr>
            <a:xfrm>
              <a:off x="777239" y="2331720"/>
              <a:ext cx="744219" cy="744220"/>
            </a:xfrm>
            <a:custGeom>
              <a:avLst/>
              <a:gdLst/>
              <a:ahLst/>
              <a:cxnLst/>
              <a:rect l="0" t="0" r="0" b="0"/>
              <a:pathLst>
                <a:path w="1171" h="1172">
                  <a:moveTo>
                    <a:pt x="10" y="1162"/>
                  </a:moveTo>
                  <a:lnTo>
                    <a:pt x="1161" y="1162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2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4" name="path 964"/>
            <p:cNvSpPr/>
            <p:nvPr/>
          </p:nvSpPr>
          <p:spPr>
            <a:xfrm>
              <a:off x="1560829" y="233807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D6E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6" name="path 966"/>
            <p:cNvSpPr/>
            <p:nvPr/>
          </p:nvSpPr>
          <p:spPr>
            <a:xfrm>
              <a:off x="1554479" y="2331720"/>
              <a:ext cx="744219" cy="744220"/>
            </a:xfrm>
            <a:custGeom>
              <a:avLst/>
              <a:gdLst/>
              <a:ahLst/>
              <a:cxnLst/>
              <a:rect l="0" t="0" r="0" b="0"/>
              <a:pathLst>
                <a:path w="1171" h="1172">
                  <a:moveTo>
                    <a:pt x="10" y="1162"/>
                  </a:moveTo>
                  <a:lnTo>
                    <a:pt x="1161" y="1162"/>
                  </a:lnTo>
                  <a:lnTo>
                    <a:pt x="1161" y="10"/>
                  </a:lnTo>
                  <a:lnTo>
                    <a:pt x="10" y="10"/>
                  </a:lnTo>
                  <a:lnTo>
                    <a:pt x="10" y="1162"/>
                  </a:lnTo>
                  <a:close/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8" name="path 968"/>
            <p:cNvSpPr/>
            <p:nvPr/>
          </p:nvSpPr>
          <p:spPr>
            <a:xfrm>
              <a:off x="2338069" y="2338070"/>
              <a:ext cx="731519" cy="731520"/>
            </a:xfrm>
            <a:custGeom>
              <a:avLst/>
              <a:gdLst/>
              <a:ahLst/>
              <a:cxnLst/>
              <a:rect l="0" t="0" r="0" b="0"/>
              <a:pathLst>
                <a:path w="1151" h="1152">
                  <a:moveTo>
                    <a:pt x="0" y="1152"/>
                  </a:moveTo>
                  <a:lnTo>
                    <a:pt x="1151" y="1152"/>
                  </a:lnTo>
                  <a:lnTo>
                    <a:pt x="1151" y="0"/>
                  </a:lnTo>
                  <a:lnTo>
                    <a:pt x="0" y="0"/>
                  </a:lnTo>
                  <a:lnTo>
                    <a:pt x="0" y="1152"/>
                  </a:lnTo>
                  <a:close/>
                </a:path>
              </a:pathLst>
            </a:custGeom>
            <a:solidFill>
              <a:srgbClr val="D6E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0" name="path 970"/>
            <p:cNvSpPr/>
            <p:nvPr/>
          </p:nvSpPr>
          <p:spPr>
            <a:xfrm>
              <a:off x="2331719" y="2331720"/>
              <a:ext cx="737869" cy="744220"/>
            </a:xfrm>
            <a:custGeom>
              <a:avLst/>
              <a:gdLst/>
              <a:ahLst/>
              <a:cxnLst/>
              <a:rect l="0" t="0" r="0" b="0"/>
              <a:pathLst>
                <a:path w="1161" h="1172">
                  <a:moveTo>
                    <a:pt x="10" y="1162"/>
                  </a:moveTo>
                  <a:lnTo>
                    <a:pt x="1161" y="1162"/>
                  </a:lnTo>
                  <a:moveTo>
                    <a:pt x="1161" y="10"/>
                  </a:moveTo>
                  <a:lnTo>
                    <a:pt x="10" y="10"/>
                  </a:lnTo>
                  <a:lnTo>
                    <a:pt x="10" y="1162"/>
                  </a:ln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972" name="textbox 972"/>
          <p:cNvSpPr/>
          <p:nvPr/>
        </p:nvSpPr>
        <p:spPr>
          <a:xfrm>
            <a:off x="557428" y="1496059"/>
            <a:ext cx="11064240" cy="3863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0504" algn="l" rtl="0" eaLnBrk="0">
              <a:lnSpc>
                <a:spcPct val="84000"/>
              </a:lnSpc>
              <a:spcBef>
                <a:spcPts val="4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compatibility,</a:t>
            </a:r>
            <a:r>
              <a:rPr sz="2000" kern="0" spc="2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causal direction.                                                                                                       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4000"/>
              </a:lnSpc>
              <a:spcBef>
                <a:spcPts val="603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a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normalizing constant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(ofte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hard to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                                                                     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8125" indent="-223520" algn="l" rtl="0" eaLnBrk="0">
              <a:lnSpc>
                <a:spcPct val="113000"/>
              </a:lnSpc>
              <a:spcBef>
                <a:spcPts val="60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Image segmentation: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neighbori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ng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pixels tend to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                                                                                     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have similar</a:t>
            </a:r>
            <a:r>
              <a:rPr sz="2000" kern="0" spc="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labels.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295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 networks: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directed,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causal.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MRFs: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1775" algn="l" rtl="0" eaLnBrk="0">
              <a:lnSpc>
                <a:spcPts val="2342"/>
              </a:lnSpc>
              <a:tabLst/>
            </a:pP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undirected, compatib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ility constraints.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r" rtl="0" eaLnBrk="0">
              <a:lnSpc>
                <a:spcPct val="83000"/>
              </a:lnSpc>
              <a:spcBef>
                <a:spcPts val="835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Neighboring pixels of the same color (label) re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inforce each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6436995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other -- a small image-segmenta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tion grid.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974" name="path 974"/>
          <p:cNvSpPr/>
          <p:nvPr/>
        </p:nvSpPr>
        <p:spPr>
          <a:xfrm>
            <a:off x="10095697" y="3063240"/>
            <a:ext cx="12700" cy="731519"/>
          </a:xfrm>
          <a:custGeom>
            <a:avLst/>
            <a:gdLst/>
            <a:ahLst/>
            <a:cxnLst/>
            <a:rect l="0" t="0" r="0" b="0"/>
            <a:pathLst>
              <a:path w="20" h="1151">
                <a:moveTo>
                  <a:pt x="10" y="1151"/>
                </a:moveTo>
                <a:lnTo>
                  <a:pt x="1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6" name="path 976"/>
          <p:cNvSpPr/>
          <p:nvPr/>
        </p:nvSpPr>
        <p:spPr>
          <a:xfrm>
            <a:off x="10095127" y="2286000"/>
            <a:ext cx="12700" cy="731520"/>
          </a:xfrm>
          <a:custGeom>
            <a:avLst/>
            <a:gdLst/>
            <a:ahLst/>
            <a:cxnLst/>
            <a:rect l="0" t="0" r="0" b="0"/>
            <a:pathLst>
              <a:path w="20" h="1152">
                <a:moveTo>
                  <a:pt x="10" y="1152"/>
                </a:moveTo>
                <a:lnTo>
                  <a:pt x="1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8" name="path 978"/>
          <p:cNvSpPr/>
          <p:nvPr/>
        </p:nvSpPr>
        <p:spPr>
          <a:xfrm>
            <a:off x="10097254" y="1508759"/>
            <a:ext cx="12700" cy="731520"/>
          </a:xfrm>
          <a:custGeom>
            <a:avLst/>
            <a:gdLst/>
            <a:ahLst/>
            <a:cxnLst/>
            <a:rect l="0" t="0" r="0" b="0"/>
            <a:pathLst>
              <a:path w="20" h="1152">
                <a:moveTo>
                  <a:pt x="10" y="1152"/>
                </a:moveTo>
                <a:lnTo>
                  <a:pt x="1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0" name="textbox 980"/>
          <p:cNvSpPr/>
          <p:nvPr/>
        </p:nvSpPr>
        <p:spPr>
          <a:xfrm>
            <a:off x="557428" y="1323720"/>
            <a:ext cx="4039870" cy="1060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4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Undirected edges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express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symmetric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P(x)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(1/Z)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∏_C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Ψ_C(x_C)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982" name="textbox 982"/>
          <p:cNvSpPr/>
          <p:nvPr/>
        </p:nvSpPr>
        <p:spPr>
          <a:xfrm>
            <a:off x="554250" y="421432"/>
            <a:ext cx="4315459" cy="374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Markov Random Fields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984" name="textbox 984"/>
          <p:cNvSpPr/>
          <p:nvPr/>
        </p:nvSpPr>
        <p:spPr>
          <a:xfrm>
            <a:off x="551713" y="99390"/>
            <a:ext cx="3529965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GRAPHICAL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986" name="textbox 986"/>
          <p:cNvSpPr/>
          <p:nvPr/>
        </p:nvSpPr>
        <p:spPr>
          <a:xfrm>
            <a:off x="775751" y="2911881"/>
            <a:ext cx="1863089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compute exactly).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988" name="path 988"/>
          <p:cNvSpPr/>
          <p:nvPr/>
        </p:nvSpPr>
        <p:spPr>
          <a:xfrm>
            <a:off x="10097769" y="3840479"/>
            <a:ext cx="12700" cy="731520"/>
          </a:xfrm>
          <a:custGeom>
            <a:avLst/>
            <a:gdLst/>
            <a:ahLst/>
            <a:cxnLst/>
            <a:rect l="0" t="0" r="0" b="0"/>
            <a:pathLst>
              <a:path w="20" h="1152">
                <a:moveTo>
                  <a:pt x="10" y="1152"/>
                </a:moveTo>
                <a:lnTo>
                  <a:pt x="1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picture 9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685" y="2738932"/>
            <a:ext cx="5067931" cy="824788"/>
          </a:xfrm>
          <a:prstGeom prst="rect">
            <a:avLst/>
          </a:prstGeom>
        </p:spPr>
      </p:pic>
      <p:sp>
        <p:nvSpPr>
          <p:cNvPr id="992" name="textbox 992"/>
          <p:cNvSpPr/>
          <p:nvPr/>
        </p:nvSpPr>
        <p:spPr>
          <a:xfrm>
            <a:off x="557428" y="1323720"/>
            <a:ext cx="5213350" cy="311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4000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20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First-order</a:t>
            </a:r>
            <a:r>
              <a:rPr sz="20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Markov as</a:t>
            </a:r>
            <a:r>
              <a:rPr sz="20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sumption: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21"/>
              </a:spcBef>
              <a:tabLst/>
            </a:pPr>
            <a:r>
              <a:rPr sz="17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7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7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P(sₜ  |</a:t>
            </a:r>
            <a:r>
              <a:rPr sz="17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sₜ-1,</a:t>
            </a:r>
            <a:r>
              <a:rPr sz="17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sₜ</a:t>
            </a:r>
            <a:r>
              <a:rPr sz="17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-₂,</a:t>
            </a:r>
            <a:r>
              <a:rPr sz="17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...)</a:t>
            </a:r>
            <a:r>
              <a:rPr sz="17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700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P(sₜ  |</a:t>
            </a:r>
            <a:r>
              <a:rPr sz="17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sₜ-1)</a:t>
            </a:r>
            <a:endParaRPr sz="1700" dirty="0">
              <a:latin typeface="Calibri"/>
              <a:ea typeface="Calibri"/>
              <a:cs typeface="Calibri"/>
            </a:endParaRPr>
          </a:p>
          <a:p>
            <a:pPr marL="223520" indent="-210820" algn="l" rtl="0" eaLnBrk="0">
              <a:lnSpc>
                <a:spcPct val="104000"/>
              </a:lnSpc>
              <a:spcBef>
                <a:spcPts val="1489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“The</a:t>
            </a:r>
            <a:r>
              <a:rPr sz="1800" b="1" i="1" kern="0" spc="-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future depends only on the present, not the</a:t>
            </a:r>
            <a:r>
              <a:rPr sz="1800" b="1" i="1" kern="0" spc="-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full</a:t>
            </a:r>
            <a:r>
              <a:rPr sz="1800" b="1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history.”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5425" indent="-210820" algn="l" rtl="0" eaLnBrk="0">
              <a:lnSpc>
                <a:spcPct val="104000"/>
              </a:lnSpc>
              <a:spcBef>
                <a:spcPts val="1385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Example: weather tomorrow depends</a:t>
            </a:r>
            <a:r>
              <a:rPr sz="20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only</a:t>
            </a:r>
            <a:r>
              <a:rPr sz="20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weather today,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ot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last week.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38125" indent="-223520" algn="l" rtl="0" eaLnBrk="0">
              <a:lnSpc>
                <a:spcPct val="104000"/>
              </a:lnSpc>
              <a:spcBef>
                <a:spcPts val="6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Key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parameters: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initia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distribution + transition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matrix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aij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P(sₜ=j  |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sₜ-1=i).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78" name="group 78"/>
          <p:cNvGrpSpPr/>
          <p:nvPr/>
        </p:nvGrpSpPr>
        <p:grpSpPr>
          <a:xfrm rot="21600000">
            <a:off x="6120129" y="2691129"/>
            <a:ext cx="5041900" cy="835660"/>
            <a:chOff x="0" y="0"/>
            <a:chExt cx="5041900" cy="835660"/>
          </a:xfrm>
        </p:grpSpPr>
        <p:grpSp>
          <p:nvGrpSpPr>
            <p:cNvPr id="80" name="group 80"/>
            <p:cNvGrpSpPr/>
            <p:nvPr/>
          </p:nvGrpSpPr>
          <p:grpSpPr>
            <a:xfrm rot="21600000">
              <a:off x="0" y="0"/>
              <a:ext cx="5041900" cy="835660"/>
              <a:chOff x="0" y="0"/>
              <a:chExt cx="5041900" cy="835660"/>
            </a:xfrm>
          </p:grpSpPr>
          <p:sp>
            <p:nvSpPr>
              <p:cNvPr id="994" name="path 994"/>
              <p:cNvSpPr/>
              <p:nvPr/>
            </p:nvSpPr>
            <p:spPr>
              <a:xfrm>
                <a:off x="6350" y="6350"/>
                <a:ext cx="1554479" cy="822960"/>
              </a:xfrm>
              <a:custGeom>
                <a:avLst/>
                <a:gdLst/>
                <a:ahLst/>
                <a:cxnLst/>
                <a:rect l="0" t="0" r="0" b="0"/>
                <a:pathLst>
                  <a:path w="2447" h="1296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347" y="0"/>
                    </a:lnTo>
                    <a:cubicBezTo>
                      <a:pt x="2402" y="0"/>
                      <a:pt x="2447" y="45"/>
                      <a:pt x="2447" y="100"/>
                    </a:cubicBezTo>
                    <a:lnTo>
                      <a:pt x="2447" y="1195"/>
                    </a:lnTo>
                    <a:cubicBezTo>
                      <a:pt x="2447" y="1250"/>
                      <a:pt x="2402" y="1296"/>
                      <a:pt x="2347" y="1296"/>
                    </a:cubicBezTo>
                    <a:lnTo>
                      <a:pt x="100" y="1296"/>
                    </a:lnTo>
                    <a:cubicBezTo>
                      <a:pt x="45" y="1296"/>
                      <a:pt x="0" y="1250"/>
                      <a:pt x="0" y="1195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E8A33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6" name="path 996"/>
              <p:cNvSpPr/>
              <p:nvPr/>
            </p:nvSpPr>
            <p:spPr>
              <a:xfrm>
                <a:off x="0" y="0"/>
                <a:ext cx="1567179" cy="835660"/>
              </a:xfrm>
              <a:custGeom>
                <a:avLst/>
                <a:gdLst/>
                <a:ahLst/>
                <a:cxnLst/>
                <a:rect l="0" t="0" r="0" b="0"/>
                <a:pathLst>
                  <a:path w="2467" h="1316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357" y="10"/>
                    </a:lnTo>
                    <a:cubicBezTo>
                      <a:pt x="2412" y="10"/>
                      <a:pt x="2457" y="55"/>
                      <a:pt x="2457" y="110"/>
                    </a:cubicBezTo>
                    <a:lnTo>
                      <a:pt x="2457" y="1205"/>
                    </a:lnTo>
                    <a:cubicBezTo>
                      <a:pt x="2457" y="1260"/>
                      <a:pt x="2412" y="1306"/>
                      <a:pt x="2357" y="1306"/>
                    </a:cubicBezTo>
                    <a:lnTo>
                      <a:pt x="110" y="1306"/>
                    </a:lnTo>
                    <a:cubicBezTo>
                      <a:pt x="55" y="1306"/>
                      <a:pt x="10" y="1260"/>
                      <a:pt x="10" y="1205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E8A33D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8" name="path 998"/>
              <p:cNvSpPr/>
              <p:nvPr/>
            </p:nvSpPr>
            <p:spPr>
              <a:xfrm>
                <a:off x="1579117" y="372110"/>
                <a:ext cx="155448" cy="256031"/>
              </a:xfrm>
              <a:custGeom>
                <a:avLst/>
                <a:gdLst/>
                <a:ahLst/>
                <a:cxnLst/>
                <a:rect l="0" t="0" r="0" b="0"/>
                <a:pathLst>
                  <a:path w="244" h="403">
                    <a:moveTo>
                      <a:pt x="0" y="100"/>
                    </a:moveTo>
                    <a:lnTo>
                      <a:pt x="122" y="100"/>
                    </a:lnTo>
                    <a:lnTo>
                      <a:pt x="122" y="0"/>
                    </a:lnTo>
                    <a:lnTo>
                      <a:pt x="244" y="201"/>
                    </a:lnTo>
                    <a:lnTo>
                      <a:pt x="122" y="403"/>
                    </a:lnTo>
                    <a:lnTo>
                      <a:pt x="122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0" name="path 1000"/>
              <p:cNvSpPr/>
              <p:nvPr/>
            </p:nvSpPr>
            <p:spPr>
              <a:xfrm>
                <a:off x="1743710" y="6350"/>
                <a:ext cx="1554479" cy="822960"/>
              </a:xfrm>
              <a:custGeom>
                <a:avLst/>
                <a:gdLst/>
                <a:ahLst/>
                <a:cxnLst/>
                <a:rect l="0" t="0" r="0" b="0"/>
                <a:pathLst>
                  <a:path w="2447" h="1296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347" y="0"/>
                    </a:lnTo>
                    <a:cubicBezTo>
                      <a:pt x="2402" y="0"/>
                      <a:pt x="2447" y="45"/>
                      <a:pt x="2447" y="100"/>
                    </a:cubicBezTo>
                    <a:lnTo>
                      <a:pt x="2447" y="1195"/>
                    </a:lnTo>
                    <a:cubicBezTo>
                      <a:pt x="2447" y="1250"/>
                      <a:pt x="2402" y="1296"/>
                      <a:pt x="2347" y="1296"/>
                    </a:cubicBezTo>
                    <a:lnTo>
                      <a:pt x="100" y="1296"/>
                    </a:lnTo>
                    <a:cubicBezTo>
                      <a:pt x="45" y="1296"/>
                      <a:pt x="0" y="1250"/>
                      <a:pt x="0" y="1195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2" name="path 1002"/>
              <p:cNvSpPr/>
              <p:nvPr/>
            </p:nvSpPr>
            <p:spPr>
              <a:xfrm>
                <a:off x="1737360" y="0"/>
                <a:ext cx="1567179" cy="835660"/>
              </a:xfrm>
              <a:custGeom>
                <a:avLst/>
                <a:gdLst/>
                <a:ahLst/>
                <a:cxnLst/>
                <a:rect l="0" t="0" r="0" b="0"/>
                <a:pathLst>
                  <a:path w="2467" h="1316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357" y="10"/>
                    </a:lnTo>
                    <a:cubicBezTo>
                      <a:pt x="2412" y="10"/>
                      <a:pt x="2457" y="55"/>
                      <a:pt x="2457" y="110"/>
                    </a:cubicBezTo>
                    <a:lnTo>
                      <a:pt x="2457" y="1205"/>
                    </a:lnTo>
                    <a:cubicBezTo>
                      <a:pt x="2457" y="1260"/>
                      <a:pt x="2412" y="1306"/>
                      <a:pt x="2357" y="1306"/>
                    </a:cubicBezTo>
                    <a:lnTo>
                      <a:pt x="110" y="1306"/>
                    </a:lnTo>
                    <a:cubicBezTo>
                      <a:pt x="55" y="1306"/>
                      <a:pt x="10" y="1260"/>
                      <a:pt x="10" y="1205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4" name="path 1004"/>
              <p:cNvSpPr/>
              <p:nvPr/>
            </p:nvSpPr>
            <p:spPr>
              <a:xfrm>
                <a:off x="3316477" y="372110"/>
                <a:ext cx="155448" cy="256031"/>
              </a:xfrm>
              <a:custGeom>
                <a:avLst/>
                <a:gdLst/>
                <a:ahLst/>
                <a:cxnLst/>
                <a:rect l="0" t="0" r="0" b="0"/>
                <a:pathLst>
                  <a:path w="244" h="403">
                    <a:moveTo>
                      <a:pt x="0" y="100"/>
                    </a:moveTo>
                    <a:lnTo>
                      <a:pt x="122" y="100"/>
                    </a:lnTo>
                    <a:lnTo>
                      <a:pt x="122" y="0"/>
                    </a:lnTo>
                    <a:lnTo>
                      <a:pt x="244" y="201"/>
                    </a:lnTo>
                    <a:lnTo>
                      <a:pt x="122" y="403"/>
                    </a:lnTo>
                    <a:lnTo>
                      <a:pt x="122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6" name="path 1006"/>
              <p:cNvSpPr/>
              <p:nvPr/>
            </p:nvSpPr>
            <p:spPr>
              <a:xfrm>
                <a:off x="3481070" y="6350"/>
                <a:ext cx="1554480" cy="822960"/>
              </a:xfrm>
              <a:custGeom>
                <a:avLst/>
                <a:gdLst/>
                <a:ahLst/>
                <a:cxnLst/>
                <a:rect l="0" t="0" r="0" b="0"/>
                <a:pathLst>
                  <a:path w="2448" h="1296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347" y="0"/>
                    </a:lnTo>
                    <a:cubicBezTo>
                      <a:pt x="2402" y="0"/>
                      <a:pt x="2448" y="45"/>
                      <a:pt x="2448" y="100"/>
                    </a:cubicBezTo>
                    <a:lnTo>
                      <a:pt x="2448" y="1195"/>
                    </a:lnTo>
                    <a:cubicBezTo>
                      <a:pt x="2448" y="1250"/>
                      <a:pt x="2402" y="1296"/>
                      <a:pt x="2347" y="1296"/>
                    </a:cubicBezTo>
                    <a:lnTo>
                      <a:pt x="100" y="1296"/>
                    </a:lnTo>
                    <a:cubicBezTo>
                      <a:pt x="45" y="1296"/>
                      <a:pt x="0" y="1250"/>
                      <a:pt x="0" y="1195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8" name="path 1008"/>
              <p:cNvSpPr/>
              <p:nvPr/>
            </p:nvSpPr>
            <p:spPr>
              <a:xfrm>
                <a:off x="3474720" y="0"/>
                <a:ext cx="1567180" cy="835660"/>
              </a:xfrm>
              <a:custGeom>
                <a:avLst/>
                <a:gdLst/>
                <a:ahLst/>
                <a:cxnLst/>
                <a:rect l="0" t="0" r="0" b="0"/>
                <a:pathLst>
                  <a:path w="2468" h="1316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357" y="10"/>
                    </a:lnTo>
                    <a:cubicBezTo>
                      <a:pt x="2412" y="10"/>
                      <a:pt x="2458" y="55"/>
                      <a:pt x="2458" y="110"/>
                    </a:cubicBezTo>
                    <a:lnTo>
                      <a:pt x="2458" y="1205"/>
                    </a:lnTo>
                    <a:cubicBezTo>
                      <a:pt x="2458" y="1260"/>
                      <a:pt x="2412" y="1306"/>
                      <a:pt x="2357" y="1306"/>
                    </a:cubicBezTo>
                    <a:lnTo>
                      <a:pt x="110" y="1306"/>
                    </a:lnTo>
                    <a:cubicBezTo>
                      <a:pt x="55" y="1306"/>
                      <a:pt x="10" y="1260"/>
                      <a:pt x="10" y="1205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DBBE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10" name="textbox 1010"/>
            <p:cNvSpPr/>
            <p:nvPr/>
          </p:nvSpPr>
          <p:spPr>
            <a:xfrm>
              <a:off x="488172" y="310286"/>
              <a:ext cx="4111625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10" dirty="0">
                  <a:solidFill>
                    <a:srgbClr val="1B1F2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Sunny                      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Rainy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      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Cloudy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012" name="textbox 1012"/>
          <p:cNvSpPr/>
          <p:nvPr/>
        </p:nvSpPr>
        <p:spPr>
          <a:xfrm>
            <a:off x="6384188" y="3824858"/>
            <a:ext cx="5068570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s(t-1)</a:t>
            </a:r>
            <a:r>
              <a:rPr sz="1800" i="1" kern="0" spc="1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 s(t)</a:t>
            </a:r>
            <a:r>
              <a:rPr sz="1800" i="1" kern="0" spc="15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s(t+1): each next state depends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only on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804035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current</a:t>
            </a:r>
            <a:r>
              <a:rPr sz="1800" i="1" kern="0" spc="5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014" name="textbox 1014"/>
          <p:cNvSpPr/>
          <p:nvPr/>
        </p:nvSpPr>
        <p:spPr>
          <a:xfrm>
            <a:off x="551713" y="97104"/>
            <a:ext cx="3472815" cy="702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TEMPORAL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71000"/>
              </a:lnSpc>
              <a:spcBef>
                <a:spcPts val="1"/>
              </a:spcBef>
              <a:tabLst/>
            </a:pPr>
            <a:r>
              <a:rPr sz="3200" b="1" kern="0" spc="-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Markov Chains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picture 10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515" y="1550976"/>
            <a:ext cx="5251437" cy="2287239"/>
          </a:xfrm>
          <a:prstGeom prst="rect">
            <a:avLst/>
          </a:prstGeom>
        </p:spPr>
      </p:pic>
      <p:sp>
        <p:nvSpPr>
          <p:cNvPr id="1018" name="textbox 1018"/>
          <p:cNvSpPr/>
          <p:nvPr/>
        </p:nvSpPr>
        <p:spPr>
          <a:xfrm>
            <a:off x="557428" y="1323720"/>
            <a:ext cx="4650740" cy="2682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0504" indent="-215900" algn="l" rtl="0" eaLnBrk="0">
              <a:lnSpc>
                <a:spcPct val="97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3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state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hidden; we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only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observe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emission.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4000"/>
              </a:lnSpc>
              <a:spcBef>
                <a:spcPts val="1779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Hidden =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user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ntent,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observed</a:t>
            </a:r>
            <a:r>
              <a:rPr sz="20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0504" algn="l" rtl="0" eaLnBrk="0">
              <a:lnSpc>
                <a:spcPts val="2592"/>
              </a:lnSpc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click/search/purchase.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9234" indent="-214629" algn="l" rtl="0" eaLnBrk="0">
              <a:lnSpc>
                <a:spcPct val="104000"/>
              </a:lnSpc>
              <a:spcBef>
                <a:spcPts val="1518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OR: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hidden =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phoneme, observed</a:t>
            </a:r>
            <a:r>
              <a:rPr sz="20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audio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signal.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8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P(s1:T,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o1:T)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P(s1)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P(o1|s1)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∏ₜ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P(sₜ |sₜ₋₁</a:t>
            </a:r>
            <a:r>
              <a:rPr sz="1800" kern="0" spc="-3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)P(oₜ |sₜ</a:t>
            </a:r>
            <a:r>
              <a:rPr sz="1800" kern="0" spc="-3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82" name="group 82"/>
          <p:cNvGrpSpPr/>
          <p:nvPr/>
        </p:nvGrpSpPr>
        <p:grpSpPr>
          <a:xfrm rot="21600000">
            <a:off x="6120129" y="1502409"/>
            <a:ext cx="5224779" cy="2298700"/>
            <a:chOff x="0" y="0"/>
            <a:chExt cx="5224779" cy="2298700"/>
          </a:xfrm>
        </p:grpSpPr>
        <p:grpSp>
          <p:nvGrpSpPr>
            <p:cNvPr id="84" name="group 84"/>
            <p:cNvGrpSpPr/>
            <p:nvPr/>
          </p:nvGrpSpPr>
          <p:grpSpPr>
            <a:xfrm rot="21600000">
              <a:off x="0" y="0"/>
              <a:ext cx="5224779" cy="2298700"/>
              <a:chOff x="0" y="0"/>
              <a:chExt cx="5224779" cy="2298700"/>
            </a:xfrm>
          </p:grpSpPr>
          <p:sp>
            <p:nvSpPr>
              <p:cNvPr id="1020" name="path 1020"/>
              <p:cNvSpPr/>
              <p:nvPr/>
            </p:nvSpPr>
            <p:spPr>
              <a:xfrm>
                <a:off x="6350" y="6350"/>
                <a:ext cx="1097279" cy="731520"/>
              </a:xfrm>
              <a:custGeom>
                <a:avLst/>
                <a:gdLst/>
                <a:ahLst/>
                <a:cxnLst/>
                <a:rect l="0" t="0" r="0" b="0"/>
                <a:pathLst>
                  <a:path w="1727" h="1152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627" y="0"/>
                    </a:lnTo>
                    <a:cubicBezTo>
                      <a:pt x="1682" y="0"/>
                      <a:pt x="1727" y="45"/>
                      <a:pt x="1727" y="100"/>
                    </a:cubicBezTo>
                    <a:lnTo>
                      <a:pt x="1727" y="1051"/>
                    </a:lnTo>
                    <a:cubicBezTo>
                      <a:pt x="1727" y="1106"/>
                      <a:pt x="1682" y="1152"/>
                      <a:pt x="1627" y="1152"/>
                    </a:cubicBezTo>
                    <a:lnTo>
                      <a:pt x="100" y="1152"/>
                    </a:lnTo>
                    <a:cubicBezTo>
                      <a:pt x="45" y="1152"/>
                      <a:pt x="0" y="1106"/>
                      <a:pt x="0" y="105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2" name="path 1022"/>
              <p:cNvSpPr/>
              <p:nvPr/>
            </p:nvSpPr>
            <p:spPr>
              <a:xfrm>
                <a:off x="0" y="0"/>
                <a:ext cx="1109979" cy="744220"/>
              </a:xfrm>
              <a:custGeom>
                <a:avLst/>
                <a:gdLst/>
                <a:ahLst/>
                <a:cxnLst/>
                <a:rect l="0" t="0" r="0" b="0"/>
                <a:pathLst>
                  <a:path w="1747" h="1172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637" y="10"/>
                    </a:lnTo>
                    <a:cubicBezTo>
                      <a:pt x="1692" y="10"/>
                      <a:pt x="1737" y="55"/>
                      <a:pt x="1737" y="110"/>
                    </a:cubicBezTo>
                    <a:lnTo>
                      <a:pt x="1737" y="1061"/>
                    </a:lnTo>
                    <a:cubicBezTo>
                      <a:pt x="1737" y="1116"/>
                      <a:pt x="1692" y="1162"/>
                      <a:pt x="1637" y="1162"/>
                    </a:cubicBezTo>
                    <a:lnTo>
                      <a:pt x="110" y="1162"/>
                    </a:lnTo>
                    <a:cubicBezTo>
                      <a:pt x="55" y="1162"/>
                      <a:pt x="10" y="1116"/>
                      <a:pt x="10" y="106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4" name="path 1024"/>
              <p:cNvSpPr/>
              <p:nvPr/>
            </p:nvSpPr>
            <p:spPr>
              <a:xfrm>
                <a:off x="6350" y="1560830"/>
                <a:ext cx="1097279" cy="731519"/>
              </a:xfrm>
              <a:custGeom>
                <a:avLst/>
                <a:gdLst/>
                <a:ahLst/>
                <a:cxnLst/>
                <a:rect l="0" t="0" r="0" b="0"/>
                <a:pathLst>
                  <a:path w="1727" h="115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627" y="0"/>
                    </a:lnTo>
                    <a:cubicBezTo>
                      <a:pt x="1682" y="0"/>
                      <a:pt x="1727" y="45"/>
                      <a:pt x="1727" y="100"/>
                    </a:cubicBezTo>
                    <a:lnTo>
                      <a:pt x="1727" y="1051"/>
                    </a:lnTo>
                    <a:cubicBezTo>
                      <a:pt x="1727" y="1106"/>
                      <a:pt x="1682" y="1151"/>
                      <a:pt x="1627" y="1151"/>
                    </a:cubicBezTo>
                    <a:lnTo>
                      <a:pt x="100" y="1151"/>
                    </a:lnTo>
                    <a:cubicBezTo>
                      <a:pt x="45" y="1151"/>
                      <a:pt x="0" y="1106"/>
                      <a:pt x="0" y="105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6" name="path 1026"/>
              <p:cNvSpPr/>
              <p:nvPr/>
            </p:nvSpPr>
            <p:spPr>
              <a:xfrm>
                <a:off x="0" y="1554480"/>
                <a:ext cx="1109979" cy="744219"/>
              </a:xfrm>
              <a:custGeom>
                <a:avLst/>
                <a:gdLst/>
                <a:ahLst/>
                <a:cxnLst/>
                <a:rect l="0" t="0" r="0" b="0"/>
                <a:pathLst>
                  <a:path w="1747" h="117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637" y="10"/>
                    </a:lnTo>
                    <a:cubicBezTo>
                      <a:pt x="1692" y="10"/>
                      <a:pt x="1737" y="55"/>
                      <a:pt x="1737" y="110"/>
                    </a:cubicBezTo>
                    <a:lnTo>
                      <a:pt x="1737" y="1061"/>
                    </a:lnTo>
                    <a:cubicBezTo>
                      <a:pt x="1737" y="1116"/>
                      <a:pt x="1692" y="1161"/>
                      <a:pt x="1637" y="1161"/>
                    </a:cubicBezTo>
                    <a:lnTo>
                      <a:pt x="110" y="1161"/>
                    </a:lnTo>
                    <a:cubicBezTo>
                      <a:pt x="55" y="1161"/>
                      <a:pt x="10" y="1116"/>
                      <a:pt x="10" y="106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8" name="path 1028"/>
              <p:cNvSpPr/>
              <p:nvPr/>
            </p:nvSpPr>
            <p:spPr>
              <a:xfrm>
                <a:off x="546226" y="738632"/>
                <a:ext cx="19050" cy="822959"/>
              </a:xfrm>
              <a:custGeom>
                <a:avLst/>
                <a:gdLst/>
                <a:ahLst/>
                <a:cxnLst/>
                <a:rect l="0" t="0" r="0" b="0"/>
                <a:pathLst>
                  <a:path w="30" h="1295">
                    <a:moveTo>
                      <a:pt x="15" y="0"/>
                    </a:moveTo>
                    <a:lnTo>
                      <a:pt x="15" y="1295"/>
                    </a:lnTo>
                  </a:path>
                </a:pathLst>
              </a:custGeom>
              <a:noFill/>
              <a:ln w="19050" cap="flat">
                <a:solidFill>
                  <a:srgbClr val="5B627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0" name="path 1030"/>
              <p:cNvSpPr/>
              <p:nvPr/>
            </p:nvSpPr>
            <p:spPr>
              <a:xfrm>
                <a:off x="1121917" y="280670"/>
                <a:ext cx="256032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403" h="287">
                    <a:moveTo>
                      <a:pt x="0" y="72"/>
                    </a:moveTo>
                    <a:lnTo>
                      <a:pt x="259" y="72"/>
                    </a:lnTo>
                    <a:lnTo>
                      <a:pt x="259" y="0"/>
                    </a:lnTo>
                    <a:lnTo>
                      <a:pt x="403" y="144"/>
                    </a:lnTo>
                    <a:lnTo>
                      <a:pt x="259" y="287"/>
                    </a:lnTo>
                    <a:lnTo>
                      <a:pt x="259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2" name="path 1032"/>
              <p:cNvSpPr/>
              <p:nvPr/>
            </p:nvSpPr>
            <p:spPr>
              <a:xfrm>
                <a:off x="1377950" y="6350"/>
                <a:ext cx="1097279" cy="731520"/>
              </a:xfrm>
              <a:custGeom>
                <a:avLst/>
                <a:gdLst/>
                <a:ahLst/>
                <a:cxnLst/>
                <a:rect l="0" t="0" r="0" b="0"/>
                <a:pathLst>
                  <a:path w="1727" h="1152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627" y="0"/>
                    </a:lnTo>
                    <a:cubicBezTo>
                      <a:pt x="1682" y="0"/>
                      <a:pt x="1727" y="45"/>
                      <a:pt x="1727" y="100"/>
                    </a:cubicBezTo>
                    <a:lnTo>
                      <a:pt x="1727" y="1051"/>
                    </a:lnTo>
                    <a:cubicBezTo>
                      <a:pt x="1727" y="1106"/>
                      <a:pt x="1682" y="1152"/>
                      <a:pt x="1627" y="1152"/>
                    </a:cubicBezTo>
                    <a:lnTo>
                      <a:pt x="100" y="1152"/>
                    </a:lnTo>
                    <a:cubicBezTo>
                      <a:pt x="45" y="1152"/>
                      <a:pt x="0" y="1106"/>
                      <a:pt x="0" y="105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4" name="path 1034"/>
              <p:cNvSpPr/>
              <p:nvPr/>
            </p:nvSpPr>
            <p:spPr>
              <a:xfrm>
                <a:off x="1371600" y="0"/>
                <a:ext cx="1109979" cy="744220"/>
              </a:xfrm>
              <a:custGeom>
                <a:avLst/>
                <a:gdLst/>
                <a:ahLst/>
                <a:cxnLst/>
                <a:rect l="0" t="0" r="0" b="0"/>
                <a:pathLst>
                  <a:path w="1747" h="1172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637" y="10"/>
                    </a:lnTo>
                    <a:cubicBezTo>
                      <a:pt x="1692" y="10"/>
                      <a:pt x="1737" y="55"/>
                      <a:pt x="1737" y="110"/>
                    </a:cubicBezTo>
                    <a:lnTo>
                      <a:pt x="1737" y="1061"/>
                    </a:lnTo>
                    <a:cubicBezTo>
                      <a:pt x="1737" y="1116"/>
                      <a:pt x="1692" y="1162"/>
                      <a:pt x="1637" y="1162"/>
                    </a:cubicBezTo>
                    <a:lnTo>
                      <a:pt x="110" y="1162"/>
                    </a:lnTo>
                    <a:cubicBezTo>
                      <a:pt x="55" y="1162"/>
                      <a:pt x="10" y="1116"/>
                      <a:pt x="10" y="106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6" name="path 1036"/>
              <p:cNvSpPr/>
              <p:nvPr/>
            </p:nvSpPr>
            <p:spPr>
              <a:xfrm>
                <a:off x="1377950" y="1560830"/>
                <a:ext cx="1097279" cy="731519"/>
              </a:xfrm>
              <a:custGeom>
                <a:avLst/>
                <a:gdLst/>
                <a:ahLst/>
                <a:cxnLst/>
                <a:rect l="0" t="0" r="0" b="0"/>
                <a:pathLst>
                  <a:path w="1727" h="115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627" y="0"/>
                    </a:lnTo>
                    <a:cubicBezTo>
                      <a:pt x="1682" y="0"/>
                      <a:pt x="1727" y="45"/>
                      <a:pt x="1727" y="100"/>
                    </a:cubicBezTo>
                    <a:lnTo>
                      <a:pt x="1727" y="1051"/>
                    </a:lnTo>
                    <a:cubicBezTo>
                      <a:pt x="1727" y="1106"/>
                      <a:pt x="1682" y="1151"/>
                      <a:pt x="1627" y="1151"/>
                    </a:cubicBezTo>
                    <a:lnTo>
                      <a:pt x="100" y="1151"/>
                    </a:lnTo>
                    <a:cubicBezTo>
                      <a:pt x="45" y="1151"/>
                      <a:pt x="0" y="1106"/>
                      <a:pt x="0" y="105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8" name="path 1038"/>
              <p:cNvSpPr/>
              <p:nvPr/>
            </p:nvSpPr>
            <p:spPr>
              <a:xfrm>
                <a:off x="1371600" y="1554480"/>
                <a:ext cx="1109979" cy="744219"/>
              </a:xfrm>
              <a:custGeom>
                <a:avLst/>
                <a:gdLst/>
                <a:ahLst/>
                <a:cxnLst/>
                <a:rect l="0" t="0" r="0" b="0"/>
                <a:pathLst>
                  <a:path w="1747" h="117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637" y="10"/>
                    </a:lnTo>
                    <a:cubicBezTo>
                      <a:pt x="1692" y="10"/>
                      <a:pt x="1737" y="55"/>
                      <a:pt x="1737" y="110"/>
                    </a:cubicBezTo>
                    <a:lnTo>
                      <a:pt x="1737" y="1061"/>
                    </a:lnTo>
                    <a:cubicBezTo>
                      <a:pt x="1737" y="1116"/>
                      <a:pt x="1692" y="1161"/>
                      <a:pt x="1637" y="1161"/>
                    </a:cubicBezTo>
                    <a:lnTo>
                      <a:pt x="110" y="1161"/>
                    </a:lnTo>
                    <a:cubicBezTo>
                      <a:pt x="55" y="1161"/>
                      <a:pt x="10" y="1116"/>
                      <a:pt x="10" y="106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0" name="path 1040"/>
              <p:cNvSpPr/>
              <p:nvPr/>
            </p:nvSpPr>
            <p:spPr>
              <a:xfrm>
                <a:off x="1917826" y="738632"/>
                <a:ext cx="19050" cy="822959"/>
              </a:xfrm>
              <a:custGeom>
                <a:avLst/>
                <a:gdLst/>
                <a:ahLst/>
                <a:cxnLst/>
                <a:rect l="0" t="0" r="0" b="0"/>
                <a:pathLst>
                  <a:path w="30" h="1295">
                    <a:moveTo>
                      <a:pt x="15" y="0"/>
                    </a:moveTo>
                    <a:lnTo>
                      <a:pt x="15" y="1295"/>
                    </a:lnTo>
                  </a:path>
                </a:pathLst>
              </a:custGeom>
              <a:noFill/>
              <a:ln w="19050" cap="flat">
                <a:solidFill>
                  <a:srgbClr val="5B627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2" name="path 1042"/>
              <p:cNvSpPr/>
              <p:nvPr/>
            </p:nvSpPr>
            <p:spPr>
              <a:xfrm>
                <a:off x="2493517" y="280670"/>
                <a:ext cx="256032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403" h="287">
                    <a:moveTo>
                      <a:pt x="0" y="72"/>
                    </a:moveTo>
                    <a:lnTo>
                      <a:pt x="259" y="72"/>
                    </a:lnTo>
                    <a:lnTo>
                      <a:pt x="259" y="0"/>
                    </a:lnTo>
                    <a:lnTo>
                      <a:pt x="403" y="144"/>
                    </a:lnTo>
                    <a:lnTo>
                      <a:pt x="259" y="287"/>
                    </a:lnTo>
                    <a:lnTo>
                      <a:pt x="259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4" name="path 1044"/>
              <p:cNvSpPr/>
              <p:nvPr/>
            </p:nvSpPr>
            <p:spPr>
              <a:xfrm>
                <a:off x="2749550" y="6350"/>
                <a:ext cx="1097279" cy="731520"/>
              </a:xfrm>
              <a:custGeom>
                <a:avLst/>
                <a:gdLst/>
                <a:ahLst/>
                <a:cxnLst/>
                <a:rect l="0" t="0" r="0" b="0"/>
                <a:pathLst>
                  <a:path w="1727" h="1152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627" y="0"/>
                    </a:lnTo>
                    <a:cubicBezTo>
                      <a:pt x="1682" y="0"/>
                      <a:pt x="1727" y="45"/>
                      <a:pt x="1727" y="100"/>
                    </a:cubicBezTo>
                    <a:lnTo>
                      <a:pt x="1727" y="1051"/>
                    </a:lnTo>
                    <a:cubicBezTo>
                      <a:pt x="1727" y="1106"/>
                      <a:pt x="1682" y="1152"/>
                      <a:pt x="1627" y="1152"/>
                    </a:cubicBezTo>
                    <a:lnTo>
                      <a:pt x="100" y="1152"/>
                    </a:lnTo>
                    <a:cubicBezTo>
                      <a:pt x="45" y="1152"/>
                      <a:pt x="0" y="1106"/>
                      <a:pt x="0" y="105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6" name="path 1046"/>
              <p:cNvSpPr/>
              <p:nvPr/>
            </p:nvSpPr>
            <p:spPr>
              <a:xfrm>
                <a:off x="2743200" y="0"/>
                <a:ext cx="1109979" cy="744220"/>
              </a:xfrm>
              <a:custGeom>
                <a:avLst/>
                <a:gdLst/>
                <a:ahLst/>
                <a:cxnLst/>
                <a:rect l="0" t="0" r="0" b="0"/>
                <a:pathLst>
                  <a:path w="1747" h="1172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637" y="10"/>
                    </a:lnTo>
                    <a:cubicBezTo>
                      <a:pt x="1692" y="10"/>
                      <a:pt x="1737" y="55"/>
                      <a:pt x="1737" y="110"/>
                    </a:cubicBezTo>
                    <a:lnTo>
                      <a:pt x="1737" y="1061"/>
                    </a:lnTo>
                    <a:cubicBezTo>
                      <a:pt x="1737" y="1116"/>
                      <a:pt x="1692" y="1162"/>
                      <a:pt x="1637" y="1162"/>
                    </a:cubicBezTo>
                    <a:lnTo>
                      <a:pt x="110" y="1162"/>
                    </a:lnTo>
                    <a:cubicBezTo>
                      <a:pt x="55" y="1162"/>
                      <a:pt x="10" y="1116"/>
                      <a:pt x="10" y="106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8" name="path 1048"/>
              <p:cNvSpPr/>
              <p:nvPr/>
            </p:nvSpPr>
            <p:spPr>
              <a:xfrm>
                <a:off x="2749550" y="1560830"/>
                <a:ext cx="1097279" cy="731519"/>
              </a:xfrm>
              <a:custGeom>
                <a:avLst/>
                <a:gdLst/>
                <a:ahLst/>
                <a:cxnLst/>
                <a:rect l="0" t="0" r="0" b="0"/>
                <a:pathLst>
                  <a:path w="1727" h="115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627" y="0"/>
                    </a:lnTo>
                    <a:cubicBezTo>
                      <a:pt x="1682" y="0"/>
                      <a:pt x="1727" y="45"/>
                      <a:pt x="1727" y="100"/>
                    </a:cubicBezTo>
                    <a:lnTo>
                      <a:pt x="1727" y="1051"/>
                    </a:lnTo>
                    <a:cubicBezTo>
                      <a:pt x="1727" y="1106"/>
                      <a:pt x="1682" y="1151"/>
                      <a:pt x="1627" y="1151"/>
                    </a:cubicBezTo>
                    <a:lnTo>
                      <a:pt x="100" y="1151"/>
                    </a:lnTo>
                    <a:cubicBezTo>
                      <a:pt x="45" y="1151"/>
                      <a:pt x="0" y="1106"/>
                      <a:pt x="0" y="105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0" name="path 1050"/>
              <p:cNvSpPr/>
              <p:nvPr/>
            </p:nvSpPr>
            <p:spPr>
              <a:xfrm>
                <a:off x="2743200" y="1554480"/>
                <a:ext cx="1109979" cy="744219"/>
              </a:xfrm>
              <a:custGeom>
                <a:avLst/>
                <a:gdLst/>
                <a:ahLst/>
                <a:cxnLst/>
                <a:rect l="0" t="0" r="0" b="0"/>
                <a:pathLst>
                  <a:path w="1747" h="117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637" y="10"/>
                    </a:lnTo>
                    <a:cubicBezTo>
                      <a:pt x="1692" y="10"/>
                      <a:pt x="1737" y="55"/>
                      <a:pt x="1737" y="110"/>
                    </a:cubicBezTo>
                    <a:lnTo>
                      <a:pt x="1737" y="1061"/>
                    </a:lnTo>
                    <a:cubicBezTo>
                      <a:pt x="1737" y="1116"/>
                      <a:pt x="1692" y="1161"/>
                      <a:pt x="1637" y="1161"/>
                    </a:cubicBezTo>
                    <a:lnTo>
                      <a:pt x="110" y="1161"/>
                    </a:lnTo>
                    <a:cubicBezTo>
                      <a:pt x="55" y="1161"/>
                      <a:pt x="10" y="1116"/>
                      <a:pt x="10" y="106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2" name="path 1052"/>
              <p:cNvSpPr/>
              <p:nvPr/>
            </p:nvSpPr>
            <p:spPr>
              <a:xfrm>
                <a:off x="3289426" y="738632"/>
                <a:ext cx="19050" cy="822959"/>
              </a:xfrm>
              <a:custGeom>
                <a:avLst/>
                <a:gdLst/>
                <a:ahLst/>
                <a:cxnLst/>
                <a:rect l="0" t="0" r="0" b="0"/>
                <a:pathLst>
                  <a:path w="30" h="1295">
                    <a:moveTo>
                      <a:pt x="15" y="0"/>
                    </a:moveTo>
                    <a:lnTo>
                      <a:pt x="15" y="1295"/>
                    </a:lnTo>
                  </a:path>
                </a:pathLst>
              </a:custGeom>
              <a:noFill/>
              <a:ln w="19050" cap="flat">
                <a:solidFill>
                  <a:srgbClr val="5B627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4" name="path 1054"/>
              <p:cNvSpPr/>
              <p:nvPr/>
            </p:nvSpPr>
            <p:spPr>
              <a:xfrm>
                <a:off x="3865117" y="280670"/>
                <a:ext cx="256032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403" h="287">
                    <a:moveTo>
                      <a:pt x="0" y="72"/>
                    </a:moveTo>
                    <a:lnTo>
                      <a:pt x="259" y="72"/>
                    </a:lnTo>
                    <a:lnTo>
                      <a:pt x="259" y="0"/>
                    </a:lnTo>
                    <a:lnTo>
                      <a:pt x="403" y="144"/>
                    </a:lnTo>
                    <a:lnTo>
                      <a:pt x="259" y="287"/>
                    </a:lnTo>
                    <a:lnTo>
                      <a:pt x="259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6" name="path 1056"/>
              <p:cNvSpPr/>
              <p:nvPr/>
            </p:nvSpPr>
            <p:spPr>
              <a:xfrm>
                <a:off x="4121150" y="6350"/>
                <a:ext cx="1097279" cy="731520"/>
              </a:xfrm>
              <a:custGeom>
                <a:avLst/>
                <a:gdLst/>
                <a:ahLst/>
                <a:cxnLst/>
                <a:rect l="0" t="0" r="0" b="0"/>
                <a:pathLst>
                  <a:path w="1727" h="1152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627" y="0"/>
                    </a:lnTo>
                    <a:cubicBezTo>
                      <a:pt x="1682" y="0"/>
                      <a:pt x="1727" y="45"/>
                      <a:pt x="1727" y="100"/>
                    </a:cubicBezTo>
                    <a:lnTo>
                      <a:pt x="1727" y="1051"/>
                    </a:lnTo>
                    <a:cubicBezTo>
                      <a:pt x="1727" y="1106"/>
                      <a:pt x="1682" y="1152"/>
                      <a:pt x="1627" y="1152"/>
                    </a:cubicBezTo>
                    <a:lnTo>
                      <a:pt x="100" y="1152"/>
                    </a:lnTo>
                    <a:cubicBezTo>
                      <a:pt x="45" y="1152"/>
                      <a:pt x="0" y="1106"/>
                      <a:pt x="0" y="105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8" name="path 1058"/>
              <p:cNvSpPr/>
              <p:nvPr/>
            </p:nvSpPr>
            <p:spPr>
              <a:xfrm>
                <a:off x="4114800" y="0"/>
                <a:ext cx="1109979" cy="744220"/>
              </a:xfrm>
              <a:custGeom>
                <a:avLst/>
                <a:gdLst/>
                <a:ahLst/>
                <a:cxnLst/>
                <a:rect l="0" t="0" r="0" b="0"/>
                <a:pathLst>
                  <a:path w="1747" h="1172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637" y="10"/>
                    </a:lnTo>
                    <a:cubicBezTo>
                      <a:pt x="1692" y="10"/>
                      <a:pt x="1737" y="55"/>
                      <a:pt x="1737" y="110"/>
                    </a:cubicBezTo>
                    <a:lnTo>
                      <a:pt x="1737" y="1061"/>
                    </a:lnTo>
                    <a:cubicBezTo>
                      <a:pt x="1737" y="1116"/>
                      <a:pt x="1692" y="1162"/>
                      <a:pt x="1637" y="1162"/>
                    </a:cubicBezTo>
                    <a:lnTo>
                      <a:pt x="110" y="1162"/>
                    </a:lnTo>
                    <a:cubicBezTo>
                      <a:pt x="55" y="1162"/>
                      <a:pt x="10" y="1116"/>
                      <a:pt x="10" y="106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0" name="path 1060"/>
              <p:cNvSpPr/>
              <p:nvPr/>
            </p:nvSpPr>
            <p:spPr>
              <a:xfrm>
                <a:off x="4121150" y="1560830"/>
                <a:ext cx="1097279" cy="731519"/>
              </a:xfrm>
              <a:custGeom>
                <a:avLst/>
                <a:gdLst/>
                <a:ahLst/>
                <a:cxnLst/>
                <a:rect l="0" t="0" r="0" b="0"/>
                <a:pathLst>
                  <a:path w="1727" h="115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1627" y="0"/>
                    </a:lnTo>
                    <a:cubicBezTo>
                      <a:pt x="1682" y="0"/>
                      <a:pt x="1727" y="45"/>
                      <a:pt x="1727" y="100"/>
                    </a:cubicBezTo>
                    <a:lnTo>
                      <a:pt x="1727" y="1051"/>
                    </a:lnTo>
                    <a:cubicBezTo>
                      <a:pt x="1727" y="1106"/>
                      <a:pt x="1682" y="1151"/>
                      <a:pt x="1627" y="1151"/>
                    </a:cubicBezTo>
                    <a:lnTo>
                      <a:pt x="100" y="1151"/>
                    </a:lnTo>
                    <a:cubicBezTo>
                      <a:pt x="45" y="1151"/>
                      <a:pt x="0" y="1106"/>
                      <a:pt x="0" y="105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2" name="path 1062"/>
              <p:cNvSpPr/>
              <p:nvPr/>
            </p:nvSpPr>
            <p:spPr>
              <a:xfrm>
                <a:off x="4114800" y="1554480"/>
                <a:ext cx="1109979" cy="744219"/>
              </a:xfrm>
              <a:custGeom>
                <a:avLst/>
                <a:gdLst/>
                <a:ahLst/>
                <a:cxnLst/>
                <a:rect l="0" t="0" r="0" b="0"/>
                <a:pathLst>
                  <a:path w="1747" h="117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1637" y="10"/>
                    </a:lnTo>
                    <a:cubicBezTo>
                      <a:pt x="1692" y="10"/>
                      <a:pt x="1737" y="55"/>
                      <a:pt x="1737" y="110"/>
                    </a:cubicBezTo>
                    <a:lnTo>
                      <a:pt x="1737" y="1061"/>
                    </a:lnTo>
                    <a:cubicBezTo>
                      <a:pt x="1737" y="1116"/>
                      <a:pt x="1692" y="1161"/>
                      <a:pt x="1637" y="1161"/>
                    </a:cubicBezTo>
                    <a:lnTo>
                      <a:pt x="110" y="1161"/>
                    </a:lnTo>
                    <a:cubicBezTo>
                      <a:pt x="55" y="1161"/>
                      <a:pt x="10" y="1116"/>
                      <a:pt x="10" y="106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4" name="path 1064"/>
              <p:cNvSpPr/>
              <p:nvPr/>
            </p:nvSpPr>
            <p:spPr>
              <a:xfrm>
                <a:off x="4661026" y="738632"/>
                <a:ext cx="19050" cy="822959"/>
              </a:xfrm>
              <a:custGeom>
                <a:avLst/>
                <a:gdLst/>
                <a:ahLst/>
                <a:cxnLst/>
                <a:rect l="0" t="0" r="0" b="0"/>
                <a:pathLst>
                  <a:path w="30" h="1295">
                    <a:moveTo>
                      <a:pt x="15" y="0"/>
                    </a:moveTo>
                    <a:lnTo>
                      <a:pt x="15" y="1295"/>
                    </a:lnTo>
                  </a:path>
                </a:pathLst>
              </a:custGeom>
              <a:noFill/>
              <a:ln w="19050" cap="flat">
                <a:solidFill>
                  <a:srgbClr val="5B627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66" name="textbox 1066"/>
            <p:cNvSpPr/>
            <p:nvPr/>
          </p:nvSpPr>
          <p:spPr>
            <a:xfrm>
              <a:off x="431165" y="1819529"/>
              <a:ext cx="4371975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o1</a:t>
              </a:r>
              <a:r>
                <a:rPr sz="1800" b="1" kern="0" spc="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 </a:t>
              </a:r>
              <a:r>
                <a:rPr sz="18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</a:t>
              </a: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o2</a:t>
              </a:r>
              <a:r>
                <a:rPr sz="1800" b="1" kern="0" spc="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</a:t>
              </a:r>
              <a:r>
                <a:rPr sz="18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</a:t>
              </a: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o3</a:t>
              </a:r>
              <a:r>
                <a:rPr sz="1800" b="1" kern="0" spc="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</a:t>
              </a:r>
              <a:r>
                <a:rPr sz="18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</a:t>
              </a:r>
              <a:r>
                <a:rPr sz="1800" b="1" kern="0" spc="-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o4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68" name="textbox 1068"/>
            <p:cNvSpPr/>
            <p:nvPr/>
          </p:nvSpPr>
          <p:spPr>
            <a:xfrm>
              <a:off x="448168" y="264185"/>
              <a:ext cx="4340225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s1                       s2  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     s3</a:t>
              </a:r>
              <a:r>
                <a:rPr sz="18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s4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070" name="textbox 1070"/>
          <p:cNvSpPr/>
          <p:nvPr/>
        </p:nvSpPr>
        <p:spPr>
          <a:xfrm>
            <a:off x="555064" y="393355"/>
            <a:ext cx="5449570" cy="43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Hidden Markov Models</a:t>
            </a:r>
            <a:r>
              <a:rPr sz="3200" b="1" kern="0" spc="30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(1/2)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072" name="textbox 1072"/>
          <p:cNvSpPr/>
          <p:nvPr/>
        </p:nvSpPr>
        <p:spPr>
          <a:xfrm>
            <a:off x="6334505" y="4144898"/>
            <a:ext cx="5173979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Hidden states s1→s2→s3→s4 emit observations o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1..o4.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074" name="textbox 1074"/>
          <p:cNvSpPr/>
          <p:nvPr/>
        </p:nvSpPr>
        <p:spPr>
          <a:xfrm>
            <a:off x="551713" y="97104"/>
            <a:ext cx="347281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TEMPORAL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textbox 1076"/>
          <p:cNvSpPr/>
          <p:nvPr/>
        </p:nvSpPr>
        <p:spPr>
          <a:xfrm>
            <a:off x="8046719" y="1508759"/>
            <a:ext cx="3566795" cy="3292475"/>
          </a:xfrm>
          <a:prstGeom prst="rect">
            <a:avLst/>
          </a:prstGeom>
          <a:solidFill>
            <a:srgbClr val="2E7D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48994" algn="l" rtl="0" eaLnBrk="0">
              <a:lnSpc>
                <a:spcPct val="84000"/>
              </a:lnSpc>
              <a:spcBef>
                <a:spcPts val="6"/>
              </a:spcBef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Baum-Welch</a:t>
            </a:r>
            <a:r>
              <a:rPr sz="1800" b="1" kern="0" spc="20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(EM)</a:t>
            </a:r>
            <a:endParaRPr sz="1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0045" algn="l" rtl="0" eaLnBrk="0">
              <a:lnSpc>
                <a:spcPct val="83000"/>
              </a:lnSpc>
              <a:spcBef>
                <a:spcPts val="551"/>
              </a:spcBef>
              <a:tabLst/>
            </a:pP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Learns the</a:t>
            </a:r>
            <a:r>
              <a:rPr sz="1800" kern="0" spc="2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model's</a:t>
            </a:r>
            <a:r>
              <a:rPr sz="1800" kern="0" spc="1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parameters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297939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</a:t>
            </a:r>
            <a:r>
              <a:rPr sz="1800" kern="0" spc="1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078" name="textbox 1078"/>
          <p:cNvSpPr/>
          <p:nvPr/>
        </p:nvSpPr>
        <p:spPr>
          <a:xfrm>
            <a:off x="457200" y="1508759"/>
            <a:ext cx="3566159" cy="3292475"/>
          </a:xfrm>
          <a:prstGeom prst="rect">
            <a:avLst/>
          </a:prstGeom>
          <a:solidFill>
            <a:srgbClr val="1E2A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79144" algn="l" rtl="0" eaLnBrk="0">
              <a:lnSpc>
                <a:spcPct val="84000"/>
              </a:lnSpc>
              <a:spcBef>
                <a:spcPts val="5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Forward Algorithm</a:t>
            </a:r>
            <a:endParaRPr sz="1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83259" algn="l" rtl="0" eaLnBrk="0">
              <a:lnSpc>
                <a:spcPct val="83000"/>
              </a:lnSpc>
              <a:spcBef>
                <a:spcPts val="552"/>
              </a:spcBef>
              <a:tabLst/>
            </a:pP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Computes</a:t>
            </a:r>
            <a:r>
              <a:rPr sz="1800" kern="0" spc="1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P(o1:T) -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the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534669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 of the</a:t>
            </a:r>
            <a:r>
              <a:rPr sz="1800" kern="0" spc="9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obser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ved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17625" algn="l" rtl="0" eaLnBrk="0">
              <a:lnSpc>
                <a:spcPct val="83000"/>
              </a:lnSpc>
              <a:spcBef>
                <a:spcPts val="369"/>
              </a:spcBef>
              <a:tabLst/>
            </a:pP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sequence.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080" name="textbox 1080"/>
          <p:cNvSpPr/>
          <p:nvPr/>
        </p:nvSpPr>
        <p:spPr>
          <a:xfrm>
            <a:off x="4251959" y="1508759"/>
            <a:ext cx="3566159" cy="3292475"/>
          </a:xfrm>
          <a:prstGeom prst="rect">
            <a:avLst/>
          </a:prstGeom>
          <a:solidFill>
            <a:srgbClr val="C97F1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58519" algn="l" rtl="0" eaLnBrk="0">
              <a:lnSpc>
                <a:spcPct val="84000"/>
              </a:lnSpc>
              <a:spcBef>
                <a:spcPts val="5"/>
              </a:spcBef>
              <a:tabLst/>
            </a:pP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Viterbi Alg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orithm</a:t>
            </a:r>
            <a:endParaRPr sz="1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708659" indent="-151764" algn="l" rtl="0" eaLnBrk="0">
              <a:lnSpc>
                <a:spcPct val="93000"/>
              </a:lnSpc>
              <a:tabLst/>
            </a:pP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Finds the single</a:t>
            </a:r>
            <a:r>
              <a:rPr sz="1800" kern="0" spc="1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most</a:t>
            </a:r>
            <a:r>
              <a:rPr sz="1800" kern="0" spc="13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likely</a:t>
            </a:r>
            <a:r>
              <a:rPr sz="1800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</a:t>
            </a:r>
            <a:r>
              <a:rPr sz="1800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hidden-state sequence.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082" name="textbox 1082"/>
          <p:cNvSpPr/>
          <p:nvPr/>
        </p:nvSpPr>
        <p:spPr>
          <a:xfrm>
            <a:off x="555064" y="393355"/>
            <a:ext cx="10288905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Hidden Markov Models</a:t>
            </a:r>
            <a:r>
              <a:rPr sz="3200" b="1" kern="0" spc="27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(2/2): Three C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lassic Algorithms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084" name="textbox 1084"/>
          <p:cNvSpPr/>
          <p:nvPr/>
        </p:nvSpPr>
        <p:spPr>
          <a:xfrm>
            <a:off x="2235835" y="5151120"/>
            <a:ext cx="769620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Named here</a:t>
            </a:r>
            <a:r>
              <a:rPr sz="1800" i="1" kern="0" spc="1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without derivation --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point is knowing</a:t>
            </a:r>
            <a:r>
              <a:rPr sz="1800" i="1" kern="0" spc="1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what each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algorithm is</a:t>
            </a:r>
            <a:r>
              <a:rPr sz="18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086" name="textbox 1086"/>
          <p:cNvSpPr/>
          <p:nvPr/>
        </p:nvSpPr>
        <p:spPr>
          <a:xfrm>
            <a:off x="551713" y="99390"/>
            <a:ext cx="3472815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TEMPORAL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8" name="picture 10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833" y="1263841"/>
            <a:ext cx="5616303" cy="3396893"/>
          </a:xfrm>
          <a:prstGeom prst="rect">
            <a:avLst/>
          </a:prstGeom>
        </p:spPr>
      </p:pic>
      <p:grpSp>
        <p:nvGrpSpPr>
          <p:cNvPr id="86" name="group 86"/>
          <p:cNvGrpSpPr/>
          <p:nvPr/>
        </p:nvGrpSpPr>
        <p:grpSpPr>
          <a:xfrm rot="21600000">
            <a:off x="6120129" y="1228090"/>
            <a:ext cx="5590539" cy="3395979"/>
            <a:chOff x="0" y="0"/>
            <a:chExt cx="5590539" cy="3395979"/>
          </a:xfrm>
        </p:grpSpPr>
        <p:grpSp>
          <p:nvGrpSpPr>
            <p:cNvPr id="88" name="group 88"/>
            <p:cNvGrpSpPr/>
            <p:nvPr/>
          </p:nvGrpSpPr>
          <p:grpSpPr>
            <a:xfrm rot="21600000">
              <a:off x="0" y="0"/>
              <a:ext cx="5590539" cy="3395979"/>
              <a:chOff x="0" y="0"/>
              <a:chExt cx="5590539" cy="3395979"/>
            </a:xfrm>
          </p:grpSpPr>
          <p:sp>
            <p:nvSpPr>
              <p:cNvPr id="1090" name="path 1090"/>
              <p:cNvSpPr/>
              <p:nvPr/>
            </p:nvSpPr>
            <p:spPr>
              <a:xfrm>
                <a:off x="6350" y="6350"/>
                <a:ext cx="1737360" cy="1005839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58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483"/>
                    </a:lnTo>
                    <a:cubicBezTo>
                      <a:pt x="2736" y="1538"/>
                      <a:pt x="2690" y="1583"/>
                      <a:pt x="2635" y="1583"/>
                    </a:cubicBezTo>
                    <a:lnTo>
                      <a:pt x="100" y="1583"/>
                    </a:lnTo>
                    <a:cubicBezTo>
                      <a:pt x="45" y="1583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2" name="path 1092"/>
              <p:cNvSpPr/>
              <p:nvPr/>
            </p:nvSpPr>
            <p:spPr>
              <a:xfrm>
                <a:off x="0" y="0"/>
                <a:ext cx="1750060" cy="1018539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60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493"/>
                    </a:lnTo>
                    <a:cubicBezTo>
                      <a:pt x="2746" y="1548"/>
                      <a:pt x="2700" y="1593"/>
                      <a:pt x="2645" y="1593"/>
                    </a:cubicBezTo>
                    <a:lnTo>
                      <a:pt x="110" y="1593"/>
                    </a:lnTo>
                    <a:cubicBezTo>
                      <a:pt x="55" y="1593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4" name="path 1094"/>
              <p:cNvSpPr/>
              <p:nvPr/>
            </p:nvSpPr>
            <p:spPr>
              <a:xfrm>
                <a:off x="1926589" y="6350"/>
                <a:ext cx="1737360" cy="1005839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58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483"/>
                    </a:lnTo>
                    <a:cubicBezTo>
                      <a:pt x="2736" y="1538"/>
                      <a:pt x="2690" y="1583"/>
                      <a:pt x="2635" y="1583"/>
                    </a:cubicBezTo>
                    <a:lnTo>
                      <a:pt x="100" y="1583"/>
                    </a:lnTo>
                    <a:cubicBezTo>
                      <a:pt x="45" y="1583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6" name="path 1096"/>
              <p:cNvSpPr/>
              <p:nvPr/>
            </p:nvSpPr>
            <p:spPr>
              <a:xfrm>
                <a:off x="1920239" y="0"/>
                <a:ext cx="1750060" cy="1018539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60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493"/>
                    </a:lnTo>
                    <a:cubicBezTo>
                      <a:pt x="2746" y="1548"/>
                      <a:pt x="2700" y="1593"/>
                      <a:pt x="2645" y="1593"/>
                    </a:cubicBezTo>
                    <a:lnTo>
                      <a:pt x="110" y="1593"/>
                    </a:lnTo>
                    <a:cubicBezTo>
                      <a:pt x="55" y="1593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8" name="path 1098"/>
              <p:cNvSpPr/>
              <p:nvPr/>
            </p:nvSpPr>
            <p:spPr>
              <a:xfrm>
                <a:off x="3846829" y="6350"/>
                <a:ext cx="1737359" cy="1005839"/>
              </a:xfrm>
              <a:custGeom>
                <a:avLst/>
                <a:gdLst/>
                <a:ahLst/>
                <a:cxnLst/>
                <a:rect l="0" t="0" r="0" b="0"/>
                <a:pathLst>
                  <a:path w="2735" h="1583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5" y="45"/>
                      <a:pt x="2735" y="100"/>
                    </a:cubicBezTo>
                    <a:lnTo>
                      <a:pt x="2735" y="1483"/>
                    </a:lnTo>
                    <a:cubicBezTo>
                      <a:pt x="2735" y="1538"/>
                      <a:pt x="2690" y="1583"/>
                      <a:pt x="2635" y="1583"/>
                    </a:cubicBezTo>
                    <a:lnTo>
                      <a:pt x="100" y="1583"/>
                    </a:lnTo>
                    <a:cubicBezTo>
                      <a:pt x="45" y="1583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0" name="path 1100"/>
              <p:cNvSpPr/>
              <p:nvPr/>
            </p:nvSpPr>
            <p:spPr>
              <a:xfrm>
                <a:off x="3840479" y="0"/>
                <a:ext cx="1750059" cy="1018539"/>
              </a:xfrm>
              <a:custGeom>
                <a:avLst/>
                <a:gdLst/>
                <a:ahLst/>
                <a:cxnLst/>
                <a:rect l="0" t="0" r="0" b="0"/>
                <a:pathLst>
                  <a:path w="2755" h="1603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5" y="55"/>
                      <a:pt x="2745" y="110"/>
                    </a:cubicBezTo>
                    <a:lnTo>
                      <a:pt x="2745" y="1493"/>
                    </a:lnTo>
                    <a:cubicBezTo>
                      <a:pt x="2745" y="1548"/>
                      <a:pt x="2700" y="1593"/>
                      <a:pt x="2645" y="1593"/>
                    </a:cubicBezTo>
                    <a:lnTo>
                      <a:pt x="110" y="1593"/>
                    </a:lnTo>
                    <a:cubicBezTo>
                      <a:pt x="55" y="1593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DBBE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2" name="path 1102"/>
              <p:cNvSpPr/>
              <p:nvPr/>
            </p:nvSpPr>
            <p:spPr>
              <a:xfrm>
                <a:off x="6350" y="1195069"/>
                <a:ext cx="1737360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483"/>
                    </a:lnTo>
                    <a:cubicBezTo>
                      <a:pt x="2736" y="1538"/>
                      <a:pt x="2690" y="1584"/>
                      <a:pt x="2635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4" name="path 1104"/>
              <p:cNvSpPr/>
              <p:nvPr/>
            </p:nvSpPr>
            <p:spPr>
              <a:xfrm>
                <a:off x="0" y="1188719"/>
                <a:ext cx="1750060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493"/>
                    </a:lnTo>
                    <a:cubicBezTo>
                      <a:pt x="2746" y="1548"/>
                      <a:pt x="2700" y="1594"/>
                      <a:pt x="2645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6" name="path 1106"/>
              <p:cNvSpPr/>
              <p:nvPr/>
            </p:nvSpPr>
            <p:spPr>
              <a:xfrm>
                <a:off x="1926589" y="1195069"/>
                <a:ext cx="1737360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483"/>
                    </a:lnTo>
                    <a:cubicBezTo>
                      <a:pt x="2736" y="1538"/>
                      <a:pt x="2690" y="1584"/>
                      <a:pt x="2635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8" name="path 1108"/>
              <p:cNvSpPr/>
              <p:nvPr/>
            </p:nvSpPr>
            <p:spPr>
              <a:xfrm>
                <a:off x="1920239" y="1188719"/>
                <a:ext cx="1750060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493"/>
                    </a:lnTo>
                    <a:cubicBezTo>
                      <a:pt x="2746" y="1548"/>
                      <a:pt x="2700" y="1594"/>
                      <a:pt x="2645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0" name="path 1110"/>
              <p:cNvSpPr/>
              <p:nvPr/>
            </p:nvSpPr>
            <p:spPr>
              <a:xfrm>
                <a:off x="3846829" y="1195069"/>
                <a:ext cx="1737359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2735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5" y="45"/>
                      <a:pt x="2735" y="100"/>
                    </a:cubicBezTo>
                    <a:lnTo>
                      <a:pt x="2735" y="1483"/>
                    </a:lnTo>
                    <a:cubicBezTo>
                      <a:pt x="2735" y="1538"/>
                      <a:pt x="2690" y="1584"/>
                      <a:pt x="2635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2" name="path 1112"/>
              <p:cNvSpPr/>
              <p:nvPr/>
            </p:nvSpPr>
            <p:spPr>
              <a:xfrm>
                <a:off x="3840479" y="1188719"/>
                <a:ext cx="1750059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2755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5" y="55"/>
                      <a:pt x="2745" y="110"/>
                    </a:cubicBezTo>
                    <a:lnTo>
                      <a:pt x="2745" y="1493"/>
                    </a:lnTo>
                    <a:cubicBezTo>
                      <a:pt x="2745" y="1548"/>
                      <a:pt x="2700" y="1594"/>
                      <a:pt x="2645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DBBE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4" name="path 1114"/>
              <p:cNvSpPr/>
              <p:nvPr/>
            </p:nvSpPr>
            <p:spPr>
              <a:xfrm>
                <a:off x="6350" y="2383789"/>
                <a:ext cx="1737360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483"/>
                    </a:lnTo>
                    <a:cubicBezTo>
                      <a:pt x="2736" y="1538"/>
                      <a:pt x="2690" y="1584"/>
                      <a:pt x="2635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6" name="path 1116"/>
              <p:cNvSpPr/>
              <p:nvPr/>
            </p:nvSpPr>
            <p:spPr>
              <a:xfrm>
                <a:off x="0" y="2377439"/>
                <a:ext cx="1750060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493"/>
                    </a:lnTo>
                    <a:cubicBezTo>
                      <a:pt x="2746" y="1548"/>
                      <a:pt x="2700" y="1594"/>
                      <a:pt x="2645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8" name="path 1118"/>
              <p:cNvSpPr/>
              <p:nvPr/>
            </p:nvSpPr>
            <p:spPr>
              <a:xfrm>
                <a:off x="1926589" y="2383789"/>
                <a:ext cx="1737360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2736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6" y="45"/>
                      <a:pt x="2736" y="100"/>
                    </a:cubicBezTo>
                    <a:lnTo>
                      <a:pt x="2736" y="1483"/>
                    </a:lnTo>
                    <a:cubicBezTo>
                      <a:pt x="2736" y="1538"/>
                      <a:pt x="2690" y="1584"/>
                      <a:pt x="2635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0" name="path 1120"/>
              <p:cNvSpPr/>
              <p:nvPr/>
            </p:nvSpPr>
            <p:spPr>
              <a:xfrm>
                <a:off x="1920239" y="2377439"/>
                <a:ext cx="1750060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2756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6" y="55"/>
                      <a:pt x="2746" y="110"/>
                    </a:cubicBezTo>
                    <a:lnTo>
                      <a:pt x="2746" y="1493"/>
                    </a:lnTo>
                    <a:cubicBezTo>
                      <a:pt x="2746" y="1548"/>
                      <a:pt x="2700" y="1594"/>
                      <a:pt x="2645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2" name="path 1122"/>
              <p:cNvSpPr/>
              <p:nvPr/>
            </p:nvSpPr>
            <p:spPr>
              <a:xfrm>
                <a:off x="3846829" y="2383789"/>
                <a:ext cx="1737359" cy="1005840"/>
              </a:xfrm>
              <a:custGeom>
                <a:avLst/>
                <a:gdLst/>
                <a:ahLst/>
                <a:cxnLst/>
                <a:rect l="0" t="0" r="0" b="0"/>
                <a:pathLst>
                  <a:path w="2735" h="1584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2635" y="0"/>
                    </a:lnTo>
                    <a:cubicBezTo>
                      <a:pt x="2690" y="0"/>
                      <a:pt x="2735" y="45"/>
                      <a:pt x="2735" y="100"/>
                    </a:cubicBezTo>
                    <a:lnTo>
                      <a:pt x="2735" y="1483"/>
                    </a:lnTo>
                    <a:cubicBezTo>
                      <a:pt x="2735" y="1538"/>
                      <a:pt x="2690" y="1584"/>
                      <a:pt x="2635" y="1584"/>
                    </a:cubicBezTo>
                    <a:lnTo>
                      <a:pt x="100" y="1584"/>
                    </a:lnTo>
                    <a:cubicBezTo>
                      <a:pt x="45" y="1584"/>
                      <a:pt x="0" y="1538"/>
                      <a:pt x="0" y="1483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4" name="path 1124"/>
              <p:cNvSpPr/>
              <p:nvPr/>
            </p:nvSpPr>
            <p:spPr>
              <a:xfrm>
                <a:off x="3840479" y="2377439"/>
                <a:ext cx="1750059" cy="1018540"/>
              </a:xfrm>
              <a:custGeom>
                <a:avLst/>
                <a:gdLst/>
                <a:ahLst/>
                <a:cxnLst/>
                <a:rect l="0" t="0" r="0" b="0"/>
                <a:pathLst>
                  <a:path w="2755" h="1604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2645" y="10"/>
                    </a:lnTo>
                    <a:cubicBezTo>
                      <a:pt x="2700" y="10"/>
                      <a:pt x="2745" y="55"/>
                      <a:pt x="2745" y="110"/>
                    </a:cubicBezTo>
                    <a:lnTo>
                      <a:pt x="2745" y="1493"/>
                    </a:lnTo>
                    <a:cubicBezTo>
                      <a:pt x="2745" y="1548"/>
                      <a:pt x="2700" y="1594"/>
                      <a:pt x="2645" y="1594"/>
                    </a:cubicBezTo>
                    <a:lnTo>
                      <a:pt x="110" y="1594"/>
                    </a:lnTo>
                    <a:cubicBezTo>
                      <a:pt x="55" y="1594"/>
                      <a:pt x="10" y="1548"/>
                      <a:pt x="10" y="1493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DBBE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26" name="textbox 1126"/>
            <p:cNvSpPr/>
            <p:nvPr/>
          </p:nvSpPr>
          <p:spPr>
            <a:xfrm>
              <a:off x="278917" y="1590675"/>
              <a:ext cx="1208405" cy="15805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Bayesian</a:t>
              </a:r>
              <a:r>
                <a:rPr sz="1800" b="1" kern="0" spc="1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NN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95885" indent="-45719" algn="l" rtl="0" eaLnBrk="0">
                <a:lnSpc>
                  <a:spcPct val="93000"/>
                </a:lnSpc>
                <a:spcBef>
                  <a:spcPts val="3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Uncertainty</a:t>
              </a:r>
              <a:r>
                <a:rPr sz="1800" b="1" kern="0" spc="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Regression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28" name="textbox 1128"/>
            <p:cNvSpPr/>
            <p:nvPr/>
          </p:nvSpPr>
          <p:spPr>
            <a:xfrm>
              <a:off x="4190771" y="1590675"/>
              <a:ext cx="1061085" cy="1443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5275" algn="l" rtl="0" eaLnBrk="0">
                <a:lnSpc>
                  <a:spcPct val="83000"/>
                </a:lnSpc>
                <a:tabLst/>
              </a:pPr>
              <a:r>
                <a:rPr sz="1800" b="1" kern="0" spc="-4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VAEs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"/>
                </a:spcBef>
                <a:tabLst/>
              </a:pPr>
              <a:r>
                <a:rPr sz="1800" b="1" kern="0" spc="-1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Calibration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30" name="textbox 1130"/>
            <p:cNvSpPr/>
            <p:nvPr/>
          </p:nvSpPr>
          <p:spPr>
            <a:xfrm>
              <a:off x="2293899" y="1590675"/>
              <a:ext cx="1021080" cy="14433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45745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GANs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Ensembles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32" name="textbox 1132"/>
            <p:cNvSpPr/>
            <p:nvPr/>
          </p:nvSpPr>
          <p:spPr>
            <a:xfrm>
              <a:off x="475979" y="401345"/>
              <a:ext cx="4650740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Softmax</a:t>
              </a:r>
              <a:r>
                <a:rPr sz="1800" b="1" kern="0" spc="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</a:t>
              </a:r>
              <a:r>
                <a:rPr sz="18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Cross-Entropy</a:t>
              </a:r>
              <a:r>
                <a:rPr sz="1800" b="1" kern="0" spc="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</a:t>
              </a:r>
              <a:r>
                <a:rPr sz="18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</a:t>
              </a:r>
              <a:r>
                <a:rPr sz="1800" b="1" kern="0" spc="-1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Dropo</a:t>
              </a: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ut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134" name="textbox 1134"/>
          <p:cNvSpPr/>
          <p:nvPr/>
        </p:nvSpPr>
        <p:spPr>
          <a:xfrm>
            <a:off x="558574" y="1321815"/>
            <a:ext cx="5048884" cy="3162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53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1140" indent="-218440" algn="l" rtl="0" eaLnBrk="0">
              <a:lnSpc>
                <a:spcPct val="112000"/>
              </a:lnSpc>
              <a:tabLst/>
            </a:pPr>
            <a:r>
              <a:rPr sz="1800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 is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separate</a:t>
            </a:r>
            <a:r>
              <a:rPr sz="18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deep</a:t>
            </a:r>
            <a:r>
              <a:rPr sz="1800" b="1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arning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built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800" b="1" kern="0" spc="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970" algn="l" rtl="0" eaLnBrk="0">
              <a:lnSpc>
                <a:spcPct val="84000"/>
              </a:lnSpc>
              <a:spcBef>
                <a:spcPts val="135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2000" kern="0" spc="4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Softmax &amp; cross-entropy, calibration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7490" indent="-223520" algn="l" rtl="0" eaLnBrk="0">
              <a:lnSpc>
                <a:spcPct val="111000"/>
              </a:lnSpc>
              <a:spcBef>
                <a:spcPts val="1519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Dropout &amp;</a:t>
            </a:r>
            <a:r>
              <a:rPr sz="2000" kern="0" spc="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Monte Carlo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uncertainty,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neural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rks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7490" indent="-223520" algn="l" rtl="0" eaLnBrk="0">
              <a:lnSpc>
                <a:spcPct val="111000"/>
              </a:lnSpc>
              <a:spcBef>
                <a:spcPts val="1058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GANs and VAEs as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probabilistic gene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rative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4000"/>
              </a:lnSpc>
              <a:spcBef>
                <a:spcPts val="7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Uncertainty-aware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regression,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ensembles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1136" name="textbox 1136"/>
          <p:cNvSpPr/>
          <p:nvPr/>
        </p:nvSpPr>
        <p:spPr>
          <a:xfrm>
            <a:off x="551713" y="99390"/>
            <a:ext cx="6974840" cy="731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DEEP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LEARNING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4000"/>
              </a:lnSpc>
              <a:spcBef>
                <a:spcPts val="899"/>
              </a:spcBef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Statistics in Deep Learning:</a:t>
            </a:r>
            <a:r>
              <a:rPr sz="3200" b="1" kern="0" spc="18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Overview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picture 1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5076" y="4156252"/>
            <a:ext cx="5616076" cy="824788"/>
          </a:xfrm>
          <a:prstGeom prst="rect">
            <a:avLst/>
          </a:prstGeom>
        </p:spPr>
      </p:pic>
      <p:sp>
        <p:nvSpPr>
          <p:cNvPr id="1140" name="textbox 1140"/>
          <p:cNvSpPr/>
          <p:nvPr/>
        </p:nvSpPr>
        <p:spPr>
          <a:xfrm>
            <a:off x="557428" y="1318767"/>
            <a:ext cx="4936490" cy="4006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2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6220" indent="-224154" algn="l" rtl="0" eaLnBrk="0">
              <a:lnSpc>
                <a:spcPct val="97000"/>
              </a:lnSpc>
              <a:tabLst/>
            </a:pP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p̂</a:t>
            </a:r>
            <a:r>
              <a:rPr sz="1800" kern="0" spc="-3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ₖ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exp(z</a:t>
            </a:r>
            <a:r>
              <a:rPr sz="1800" kern="0" spc="-3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ₖ</a:t>
            </a:r>
            <a:r>
              <a:rPr sz="1800" kern="0" spc="-3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 / Σⱼ exp(z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ⱼ)    (softmax: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logits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normalized scores)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3520" indent="-208915" algn="l" rtl="0" eaLnBrk="0">
              <a:lnSpc>
                <a:spcPct val="111000"/>
              </a:lnSpc>
              <a:spcBef>
                <a:spcPts val="1511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Cross-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entropy training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maximum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the correct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class.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33045" indent="-220979" algn="l" rtl="0" eaLnBrk="0">
              <a:lnSpc>
                <a:spcPct val="104000"/>
              </a:lnSpc>
              <a:spcBef>
                <a:spcPts val="1038"/>
              </a:spcBef>
              <a:tabLst/>
            </a:pPr>
            <a:r>
              <a:rPr sz="1800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softmax score is</a:t>
            </a:r>
            <a:r>
              <a:rPr sz="1800" b="1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1800" b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automatically</a:t>
            </a:r>
            <a:r>
              <a:rPr sz="1800" b="1" kern="0" spc="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b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calibrated</a:t>
            </a:r>
            <a:r>
              <a:rPr sz="1800" b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1800" b="1" kern="0" spc="-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5425" indent="-210820" algn="l" rtl="0" eaLnBrk="0">
              <a:lnSpc>
                <a:spcPct val="110000"/>
              </a:lnSpc>
              <a:spcBef>
                <a:spcPts val="1397"/>
              </a:spcBef>
              <a:tabLst/>
            </a:pP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Calibration check: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among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predictions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made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 80% confidence, are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about</a:t>
            </a:r>
            <a:r>
              <a:rPr sz="20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80%</a:t>
            </a:r>
            <a:r>
              <a:rPr sz="20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actually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correct?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27965" indent="-215265" algn="l" rtl="0" eaLnBrk="0">
              <a:lnSpc>
                <a:spcPct val="103000"/>
              </a:lnSpc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Temperat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ure scaling can correct over/under-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confident soft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max outputs.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42" name="table 1142"/>
          <p:cNvGraphicFramePr>
            <a:graphicFrameLocks noGrp="1"/>
          </p:cNvGraphicFramePr>
          <p:nvPr/>
        </p:nvGraphicFramePr>
        <p:xfrm>
          <a:off x="6105076" y="3056890"/>
          <a:ext cx="5605145" cy="1886585"/>
        </p:xfrm>
        <a:graphic>
          <a:graphicData uri="http://schemas.openxmlformats.org/drawingml/2006/table">
            <a:tbl>
              <a:tblPr/>
              <a:tblGrid>
                <a:gridCol w="5605145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8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25700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Softmax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</a:tr>
              <a:tr h="4114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97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3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5580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Normalized scores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747520" algn="l" rtl="0" eaLnBrk="0">
                        <a:lnSpc>
                          <a:spcPts val="2284"/>
                        </a:lnSpc>
                        <a:tabLst/>
                      </a:pPr>
                      <a:r>
                        <a:rPr sz="18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(NOT auto-</a:t>
                      </a: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calibrated!)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04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04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1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413E"/>
                    </a:solidFill>
                  </a:tcPr>
                </a:tc>
              </a:tr>
            </a:tbl>
          </a:graphicData>
        </a:graphic>
      </p:graphicFrame>
      <p:sp>
        <p:nvSpPr>
          <p:cNvPr id="1144" name="textbox 1144"/>
          <p:cNvSpPr/>
          <p:nvPr/>
        </p:nvSpPr>
        <p:spPr>
          <a:xfrm>
            <a:off x="6111426" y="1783079"/>
            <a:ext cx="5603875" cy="860425"/>
          </a:xfrm>
          <a:prstGeom prst="roundRect">
            <a:avLst>
              <a:gd name="adj" fmla="val 8790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20314" algn="l" rtl="0" eaLnBrk="0">
              <a:lnSpc>
                <a:spcPct val="83000"/>
              </a:lnSpc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Logits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69185" algn="l" rtl="0" eaLnBrk="0">
              <a:lnSpc>
                <a:spcPts val="2335"/>
              </a:lnSpc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z1,</a:t>
            </a:r>
            <a:r>
              <a:rPr sz="1800" b="1" kern="0" spc="9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z2,</a:t>
            </a:r>
            <a:r>
              <a:rPr sz="1800" b="1" kern="0" spc="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z3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46" name="textbox 1146"/>
          <p:cNvSpPr/>
          <p:nvPr/>
        </p:nvSpPr>
        <p:spPr>
          <a:xfrm>
            <a:off x="552623" y="393355"/>
            <a:ext cx="6938009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Softmax, Cross-Entropy &amp; Calibratio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148" name="textbox 1148"/>
          <p:cNvSpPr/>
          <p:nvPr/>
        </p:nvSpPr>
        <p:spPr>
          <a:xfrm>
            <a:off x="551713" y="97104"/>
            <a:ext cx="30168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DEEP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LEARNING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50" name="path 1150"/>
          <p:cNvSpPr/>
          <p:nvPr/>
        </p:nvSpPr>
        <p:spPr>
          <a:xfrm>
            <a:off x="8778240" y="2651759"/>
            <a:ext cx="274319" cy="320040"/>
          </a:xfrm>
          <a:custGeom>
            <a:avLst/>
            <a:gdLst/>
            <a:ahLst/>
            <a:cxnLst/>
            <a:rect l="0" t="0" r="0" b="0"/>
            <a:pathLst>
              <a:path w="431" h="504">
                <a:moveTo>
                  <a:pt x="0" y="288"/>
                </a:moveTo>
                <a:lnTo>
                  <a:pt x="107" y="288"/>
                </a:lnTo>
                <a:lnTo>
                  <a:pt x="107" y="0"/>
                </a:lnTo>
                <a:lnTo>
                  <a:pt x="324" y="0"/>
                </a:lnTo>
                <a:lnTo>
                  <a:pt x="324" y="288"/>
                </a:lnTo>
                <a:lnTo>
                  <a:pt x="431" y="288"/>
                </a:lnTo>
                <a:lnTo>
                  <a:pt x="215" y="504"/>
                </a:lnTo>
                <a:lnTo>
                  <a:pt x="0" y="288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52" name="path 1152"/>
          <p:cNvSpPr/>
          <p:nvPr/>
        </p:nvSpPr>
        <p:spPr>
          <a:xfrm>
            <a:off x="8778240" y="3749040"/>
            <a:ext cx="274319" cy="320039"/>
          </a:xfrm>
          <a:custGeom>
            <a:avLst/>
            <a:gdLst/>
            <a:ahLst/>
            <a:cxnLst/>
            <a:rect l="0" t="0" r="0" b="0"/>
            <a:pathLst>
              <a:path w="431" h="503">
                <a:moveTo>
                  <a:pt x="0" y="288"/>
                </a:moveTo>
                <a:lnTo>
                  <a:pt x="107" y="288"/>
                </a:lnTo>
                <a:lnTo>
                  <a:pt x="107" y="0"/>
                </a:lnTo>
                <a:lnTo>
                  <a:pt x="324" y="0"/>
                </a:lnTo>
                <a:lnTo>
                  <a:pt x="324" y="288"/>
                </a:lnTo>
                <a:lnTo>
                  <a:pt x="431" y="288"/>
                </a:lnTo>
                <a:lnTo>
                  <a:pt x="215" y="503"/>
                </a:lnTo>
                <a:lnTo>
                  <a:pt x="0" y="288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picture 1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4833" y="2452560"/>
            <a:ext cx="5616319" cy="2207934"/>
          </a:xfrm>
          <a:prstGeom prst="rect">
            <a:avLst/>
          </a:prstGeom>
        </p:spPr>
      </p:pic>
      <p:sp>
        <p:nvSpPr>
          <p:cNvPr id="1156" name="textbox 1156"/>
          <p:cNvSpPr/>
          <p:nvPr/>
        </p:nvSpPr>
        <p:spPr>
          <a:xfrm>
            <a:off x="557428" y="1323720"/>
            <a:ext cx="5054600" cy="3255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4000"/>
              </a:lnSpc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Dropout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z="20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random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mask to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23520" indent="7620" algn="l" rtl="0" eaLnBrk="0">
              <a:lnSpc>
                <a:spcPct val="111000"/>
              </a:lnSpc>
              <a:spcBef>
                <a:spcPts val="321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disable</a:t>
            </a:r>
            <a:r>
              <a:rPr sz="2000" kern="0" spc="2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units --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lives</a:t>
            </a:r>
            <a:r>
              <a:rPr sz="20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directly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inside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0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83000"/>
              </a:lnSpc>
              <a:spcBef>
                <a:spcPts val="1295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Monte Carlo dropout: run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multiple sto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chastic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2250" algn="l" rtl="0" eaLnBrk="0">
              <a:lnSpc>
                <a:spcPct val="83000"/>
              </a:lnSpc>
              <a:spcBef>
                <a:spcPts val="535"/>
              </a:spcBef>
              <a:tabLst/>
            </a:pP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forward</a:t>
            </a:r>
            <a:r>
              <a:rPr sz="1800" b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passes → estimat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 predictive uncertainty.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38125" indent="-223520" algn="l" rtl="0" eaLnBrk="0">
              <a:lnSpc>
                <a:spcPct val="104000"/>
              </a:lnSpc>
              <a:spcBef>
                <a:spcPts val="1509"/>
              </a:spcBef>
              <a:tabLst/>
            </a:pP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Bayesian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neural</a:t>
            </a:r>
            <a:r>
              <a:rPr sz="20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networks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(more general</a:t>
            </a:r>
            <a:r>
              <a:rPr sz="20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idea</a:t>
            </a:r>
            <a:r>
              <a:rPr sz="20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):</a:t>
            </a:r>
            <a:r>
              <a:rPr sz="20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place a</a:t>
            </a:r>
            <a:r>
              <a:rPr sz="20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 on weight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</a:t>
            </a:r>
            <a:r>
              <a:rPr sz="2000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w,</a:t>
            </a:r>
            <a:r>
              <a:rPr sz="20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infer</a:t>
            </a:r>
            <a:r>
              <a:rPr sz="20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p(w|D).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27965" indent="-215265" algn="l" rtl="0" eaLnBrk="0">
              <a:lnSpc>
                <a:spcPct val="103000"/>
              </a:lnSpc>
              <a:spcBef>
                <a:spcPts val="5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BNNs reveal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where a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</a:t>
            </a:r>
            <a:r>
              <a:rPr sz="1800" i="1" kern="0" spc="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“does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n't</a:t>
            </a:r>
            <a:r>
              <a:rPr sz="1800" i="1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know”,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but</a:t>
            </a:r>
            <a:r>
              <a:rPr sz="1800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computationally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expensive.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58" name="textbox 1158"/>
          <p:cNvSpPr/>
          <p:nvPr/>
        </p:nvSpPr>
        <p:spPr>
          <a:xfrm>
            <a:off x="6126479" y="3794759"/>
            <a:ext cx="5577840" cy="823594"/>
          </a:xfrm>
          <a:prstGeom prst="roundRect">
            <a:avLst>
              <a:gd name="adj" fmla="val 9179"/>
            </a:avLst>
          </a:prstGeom>
          <a:solidFill>
            <a:srgbClr val="2E7D5B">
              <a:alpha val="100000"/>
            </a:srgbClr>
          </a:solidFill>
          <a:ln w="12700" cap="flat">
            <a:solidFill>
              <a:srgbClr val="2E7D5B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20725" algn="l" rtl="0" eaLnBrk="0">
              <a:lnSpc>
                <a:spcPct val="83000"/>
              </a:lnSpc>
              <a:spcBef>
                <a:spcPts val="2"/>
              </a:spcBef>
              <a:tabLst/>
            </a:pP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Spread of output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 →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predictive uncertainty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60" name="rect 1160"/>
          <p:cNvSpPr/>
          <p:nvPr/>
        </p:nvSpPr>
        <p:spPr>
          <a:xfrm>
            <a:off x="6105076" y="1508759"/>
            <a:ext cx="5616076" cy="683133"/>
          </a:xfrm>
          <a:prstGeom prst="rect">
            <a:avLst/>
          </a:prstGeom>
          <a:solidFill>
            <a:srgbClr val="1E2A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2" name="textbox 1162"/>
          <p:cNvSpPr/>
          <p:nvPr/>
        </p:nvSpPr>
        <p:spPr>
          <a:xfrm>
            <a:off x="6113779" y="1496059"/>
            <a:ext cx="5603240" cy="666115"/>
          </a:xfrm>
          <a:prstGeom prst="roundRect">
            <a:avLst>
              <a:gd name="adj" fmla="val 11750"/>
            </a:avLst>
          </a:prstGeom>
          <a:noFill/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69795" algn="l" rtl="0" eaLnBrk="0">
              <a:lnSpc>
                <a:spcPct val="83000"/>
              </a:lnSpc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Same</a:t>
            </a:r>
            <a:r>
              <a:rPr sz="1800" b="1" kern="0" spc="8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input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x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64" name="textbox 1164"/>
          <p:cNvSpPr/>
          <p:nvPr/>
        </p:nvSpPr>
        <p:spPr>
          <a:xfrm>
            <a:off x="9875519" y="2423159"/>
            <a:ext cx="1737995" cy="1006475"/>
          </a:xfrm>
          <a:prstGeom prst="roundRect">
            <a:avLst>
              <a:gd name="adj" fmla="val 7531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50495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Forward</a:t>
            </a:r>
            <a:r>
              <a:rPr sz="1800" b="1" kern="0" spc="9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pass 3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61925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(dropout mas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59459" algn="l" rtl="0" eaLnBrk="0">
              <a:lnSpc>
                <a:spcPct val="83000"/>
              </a:lnSpc>
              <a:spcBef>
                <a:spcPts val="368"/>
              </a:spcBef>
              <a:tabLst/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66" name="textbox 1166"/>
          <p:cNvSpPr/>
          <p:nvPr/>
        </p:nvSpPr>
        <p:spPr>
          <a:xfrm>
            <a:off x="6126479" y="2423159"/>
            <a:ext cx="1737995" cy="1006475"/>
          </a:xfrm>
          <a:prstGeom prst="roundRect">
            <a:avLst>
              <a:gd name="adj" fmla="val 7531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46685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Forward pa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ss</a:t>
            </a:r>
            <a:r>
              <a:rPr sz="1800" b="1" kern="0" spc="10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61289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(dropout mask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43584" algn="l" rtl="0" eaLnBrk="0">
              <a:lnSpc>
                <a:spcPct val="83000"/>
              </a:lnSpc>
              <a:spcBef>
                <a:spcPts val="368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68" name="textbox 1168"/>
          <p:cNvSpPr/>
          <p:nvPr/>
        </p:nvSpPr>
        <p:spPr>
          <a:xfrm>
            <a:off x="8001000" y="2423159"/>
            <a:ext cx="1737360" cy="1006475"/>
          </a:xfrm>
          <a:prstGeom prst="roundRect">
            <a:avLst>
              <a:gd name="adj" fmla="val 7531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50495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Forward</a:t>
            </a:r>
            <a:r>
              <a:rPr sz="1800" b="1" kern="0" spc="9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pass 2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61289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(dropout mas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62634" algn="l" rtl="0" eaLnBrk="0">
              <a:lnSpc>
                <a:spcPct val="83000"/>
              </a:lnSpc>
              <a:spcBef>
                <a:spcPts val="368"/>
              </a:spcBef>
              <a:tabLst/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70" name="textbox 1170"/>
          <p:cNvSpPr/>
          <p:nvPr/>
        </p:nvSpPr>
        <p:spPr>
          <a:xfrm>
            <a:off x="555064" y="393355"/>
            <a:ext cx="4277359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Dropout &amp; Uncertainty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172" name="textbox 1172"/>
          <p:cNvSpPr/>
          <p:nvPr/>
        </p:nvSpPr>
        <p:spPr>
          <a:xfrm>
            <a:off x="551713" y="97104"/>
            <a:ext cx="30168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DEEP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LEARNING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picture 11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05076" y="1276086"/>
            <a:ext cx="5616076" cy="2516138"/>
          </a:xfrm>
          <a:prstGeom prst="rect">
            <a:avLst/>
          </a:prstGeom>
        </p:spPr>
      </p:pic>
      <p:sp>
        <p:nvSpPr>
          <p:cNvPr id="1176" name="textbox 1176"/>
          <p:cNvSpPr/>
          <p:nvPr/>
        </p:nvSpPr>
        <p:spPr>
          <a:xfrm>
            <a:off x="557428" y="1318767"/>
            <a:ext cx="5059679" cy="2800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16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0" indent="-222884" algn="l" rtl="0" eaLnBrk="0">
              <a:lnSpc>
                <a:spcPct val="87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GAN: generator G(z)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produces samples; goa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 is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Pg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≈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Pdata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7965" indent="-215265" algn="l" rtl="0" eaLnBrk="0">
              <a:lnSpc>
                <a:spcPct val="103000"/>
              </a:lnSpc>
              <a:spcBef>
                <a:spcPts val="549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Implicit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distribution, no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explicit</a:t>
            </a:r>
            <a:r>
              <a:rPr sz="1800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likelihood.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collapse = some modes of</a:t>
            </a:r>
            <a:r>
              <a:rPr sz="1800" i="1" kern="0" spc="-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Pd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ata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missed.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27965" indent="-215265" algn="l" rtl="0" eaLnBrk="0">
              <a:lnSpc>
                <a:spcPct val="103000"/>
              </a:lnSpc>
              <a:spcBef>
                <a:spcPts val="1419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VAE: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latent z,</a:t>
            </a:r>
            <a:r>
              <a:rPr sz="18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 p(z), decoder</a:t>
            </a:r>
            <a:r>
              <a:rPr sz="1800" b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p(x|z),</a:t>
            </a:r>
            <a:r>
              <a:rPr sz="1800" b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encoder</a:t>
            </a:r>
            <a:r>
              <a:rPr sz="1800" b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q(z|x)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28600" indent="-215900" algn="l" rtl="0" eaLnBrk="0">
              <a:lnSpc>
                <a:spcPct val="104000"/>
              </a:lnSpc>
              <a:spcBef>
                <a:spcPts val="4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VAE training maximizes</a:t>
            </a:r>
            <a:r>
              <a:rPr sz="1800" i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ELBO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(E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vidence Lower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Bound), shown in</a:t>
            </a:r>
            <a:r>
              <a:rPr sz="1800" i="1" kern="0" spc="-1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full on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ri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ght.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78" name="textbox 1178"/>
          <p:cNvSpPr/>
          <p:nvPr/>
        </p:nvSpPr>
        <p:spPr>
          <a:xfrm>
            <a:off x="6126479" y="2560320"/>
            <a:ext cx="5577840" cy="1188719"/>
          </a:xfrm>
          <a:prstGeom prst="roundRect">
            <a:avLst>
              <a:gd name="adj" fmla="val 6384"/>
            </a:avLst>
          </a:prstGeom>
          <a:solidFill>
            <a:srgbClr val="C97F1E">
              <a:alpha val="100000"/>
            </a:srgbClr>
          </a:solidFill>
          <a:ln w="12700" cap="flat">
            <a:solidFill>
              <a:srgbClr val="C97F1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76829" algn="l" rtl="0" eaLnBrk="0">
              <a:lnSpc>
                <a:spcPts val="1407"/>
              </a:lnSpc>
              <a:spcBef>
                <a:spcPts val="3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692275" algn="l" rtl="0" eaLnBrk="0">
              <a:lnSpc>
                <a:spcPct val="83000"/>
              </a:lnSpc>
              <a:spcBef>
                <a:spcPts val="570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 ~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p(z)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 dec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oder</a:t>
            </a:r>
            <a:r>
              <a:rPr sz="1800" b="1" kern="0" spc="8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b="1" kern="0" spc="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870710" algn="l" rtl="0" eaLnBrk="0">
              <a:lnSpc>
                <a:spcPct val="83000"/>
              </a:lnSpc>
              <a:spcBef>
                <a:spcPts val="369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encoder q(z|x)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← x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80" name="textbox 1180"/>
          <p:cNvSpPr/>
          <p:nvPr/>
        </p:nvSpPr>
        <p:spPr>
          <a:xfrm>
            <a:off x="6126479" y="1234440"/>
            <a:ext cx="5577840" cy="1188719"/>
          </a:xfrm>
          <a:prstGeom prst="roundRect">
            <a:avLst>
              <a:gd name="adj" fmla="val 6384"/>
            </a:avLst>
          </a:prstGeom>
          <a:solidFill>
            <a:srgbClr val="1E2A5E">
              <a:alpha val="100000"/>
            </a:srgbClr>
          </a:solidFill>
          <a:ln w="12700" cap="flat">
            <a:solidFill>
              <a:srgbClr val="1E2A5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6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7145" algn="l" rtl="0" eaLnBrk="0">
              <a:lnSpc>
                <a:spcPct val="66000"/>
              </a:lnSpc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GAN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175510" algn="l" rtl="0" eaLnBrk="0">
              <a:lnSpc>
                <a:spcPct val="83000"/>
              </a:lnSpc>
              <a:spcBef>
                <a:spcPts val="541"/>
              </a:spcBef>
              <a:tabLst/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z</a:t>
            </a:r>
            <a:r>
              <a:rPr sz="1800" b="1" kern="0" spc="1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b="1" kern="0" spc="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G(z)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 x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774189" algn="l" rtl="0" eaLnBrk="0">
              <a:lnSpc>
                <a:spcPct val="83000"/>
              </a:lnSpc>
              <a:spcBef>
                <a:spcPts val="370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(implicit distribution)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82" name="textbox 1182"/>
          <p:cNvSpPr/>
          <p:nvPr/>
        </p:nvSpPr>
        <p:spPr>
          <a:xfrm>
            <a:off x="6578834" y="4066031"/>
            <a:ext cx="4681220" cy="959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ts val="1976"/>
              </a:lnSpc>
              <a:tabLst/>
            </a:pP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L(θ,φ)</a:t>
            </a:r>
            <a:r>
              <a:rPr sz="1400" kern="0" spc="1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=</a:t>
            </a:r>
            <a:r>
              <a:rPr sz="1400" kern="0" spc="10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</a:t>
            </a:r>
            <a:r>
              <a:rPr sz="1500" kern="0" spc="-20" baseline="-71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qφ(z|x)</a:t>
            </a:r>
            <a:r>
              <a:rPr sz="900" kern="0" spc="-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[log</a:t>
            </a:r>
            <a:r>
              <a:rPr sz="1400" kern="0" spc="9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</a:t>
            </a:r>
            <a:r>
              <a:rPr sz="1500" kern="0" spc="-20" baseline="-71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θ</a:t>
            </a:r>
            <a:r>
              <a:rPr sz="900" kern="0" spc="-7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(x|z)]</a:t>
            </a:r>
            <a:r>
              <a:rPr sz="1400" kern="0" spc="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 </a:t>
            </a: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−</a:t>
            </a:r>
            <a:r>
              <a:rPr sz="1400" kern="0" spc="-2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 </a:t>
            </a: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D</a:t>
            </a:r>
            <a:r>
              <a:rPr sz="1500" kern="0" spc="-20" baseline="-71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KL</a:t>
            </a:r>
            <a:r>
              <a:rPr sz="900" kern="0" spc="-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(q</a:t>
            </a:r>
            <a:r>
              <a:rPr sz="1500" kern="0" spc="-20" baseline="-71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φ</a:t>
            </a:r>
            <a:r>
              <a:rPr sz="900" kern="0" spc="-6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300" kern="0" spc="-2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(z|</a:t>
            </a:r>
            <a:r>
              <a:rPr sz="2300" kern="0" spc="-3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x)</a:t>
            </a:r>
            <a:r>
              <a:rPr sz="1400" kern="0" spc="18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300" kern="0" spc="-3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‖</a:t>
            </a:r>
            <a:r>
              <a:rPr sz="1400" kern="0" spc="-3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300" kern="0" spc="-30" baseline="20274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p(z))</a:t>
            </a:r>
            <a:endParaRPr sz="2300" baseline="20274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451"/>
              </a:spcBef>
              <a:tabLst/>
            </a:pPr>
            <a:r>
              <a:rPr sz="15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First term (reconstru</a:t>
            </a:r>
            <a:r>
              <a:rPr sz="15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ction):</a:t>
            </a:r>
            <a:r>
              <a:rPr sz="1500" i="1" kern="0" spc="-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fits the</a:t>
            </a:r>
            <a:r>
              <a:rPr sz="15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data. Second</a:t>
            </a:r>
            <a:r>
              <a:rPr sz="15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term</a:t>
            </a:r>
            <a:r>
              <a:rPr sz="15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(KL</a:t>
            </a:r>
            <a:endParaRPr sz="1500" dirty="0">
              <a:latin typeface="Calibri"/>
              <a:ea typeface="Calibri"/>
              <a:cs typeface="Calibri"/>
            </a:endParaRPr>
          </a:p>
          <a:p>
            <a:pPr marL="746759" algn="l" rtl="0" eaLnBrk="0">
              <a:lnSpc>
                <a:spcPct val="89000"/>
              </a:lnSpc>
              <a:spcBef>
                <a:spcPts val="318"/>
              </a:spcBef>
              <a:tabLst/>
            </a:pPr>
            <a:r>
              <a:rPr sz="15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regularization): stays close</a:t>
            </a:r>
            <a:r>
              <a:rPr sz="15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500" i="1" kern="0" spc="1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</a:t>
            </a:r>
            <a:r>
              <a:rPr sz="1500" i="1" kern="0" spc="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 prior.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1184" name="textbox 1184"/>
          <p:cNvSpPr/>
          <p:nvPr/>
        </p:nvSpPr>
        <p:spPr>
          <a:xfrm>
            <a:off x="556285" y="393355"/>
            <a:ext cx="7378700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GANs &amp; VAEs: A Pr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obability Perspective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186" name="textbox 1186"/>
          <p:cNvSpPr/>
          <p:nvPr/>
        </p:nvSpPr>
        <p:spPr>
          <a:xfrm>
            <a:off x="6326885" y="5288279"/>
            <a:ext cx="5208270" cy="528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</a:t>
            </a:r>
            <a:r>
              <a:rPr sz="18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architecture</a:t>
            </a:r>
            <a:r>
              <a:rPr sz="18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deep</a:t>
            </a:r>
            <a:r>
              <a:rPr sz="18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dive</a:t>
            </a:r>
            <a:r>
              <a:rPr sz="18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--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just</a:t>
            </a:r>
            <a:r>
              <a:rPr sz="18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probabilistic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role</a:t>
            </a:r>
            <a:r>
              <a:rPr sz="18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081529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each piece.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188" name="textbox 1188"/>
          <p:cNvSpPr/>
          <p:nvPr/>
        </p:nvSpPr>
        <p:spPr>
          <a:xfrm>
            <a:off x="551713" y="97104"/>
            <a:ext cx="30168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  DEEP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LEARNING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rect 1190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92" name="picture 11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743200"/>
            <a:ext cx="3657600" cy="4114797"/>
          </a:xfrm>
          <a:prstGeom prst="rect">
            <a:avLst/>
          </a:prstGeom>
        </p:spPr>
      </p:pic>
      <p:sp>
        <p:nvSpPr>
          <p:cNvPr id="1194" name="textbox 1194"/>
          <p:cNvSpPr/>
          <p:nvPr/>
        </p:nvSpPr>
        <p:spPr>
          <a:xfrm>
            <a:off x="947877" y="2288356"/>
            <a:ext cx="7827009" cy="3208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ct val="84000"/>
              </a:lnSpc>
              <a:tabLst/>
            </a:pPr>
            <a:r>
              <a:rPr sz="12900" b="1" kern="0" spc="-16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05</a:t>
            </a:r>
            <a:endParaRPr sz="129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84000"/>
              </a:lnSpc>
              <a:spcBef>
                <a:spcPts val="1142"/>
              </a:spcBef>
              <a:tabLst/>
            </a:pPr>
            <a:r>
              <a:rPr sz="38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Practical Applications</a:t>
            </a:r>
            <a:endParaRPr sz="38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Spam</a:t>
            </a:r>
            <a:r>
              <a:rPr sz="1800" i="1" kern="0" spc="-18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filtering, diagnosis, recommendation, segmentation, and RL</a:t>
            </a:r>
            <a:r>
              <a:rPr sz="1800" i="1" kern="0" spc="10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under uncertain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ty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1196" name="picture 11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75519" y="0"/>
            <a:ext cx="2316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picture 1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5709" y="3046184"/>
            <a:ext cx="8405223" cy="746311"/>
          </a:xfrm>
          <a:prstGeom prst="rect">
            <a:avLst/>
          </a:prstGeom>
        </p:spPr>
      </p:pic>
      <p:graphicFrame>
        <p:nvGraphicFramePr>
          <p:cNvPr id="1200" name="table 1200"/>
          <p:cNvGraphicFramePr>
            <a:graphicFrameLocks noGrp="1"/>
          </p:cNvGraphicFramePr>
          <p:nvPr/>
        </p:nvGraphicFramePr>
        <p:xfrm>
          <a:off x="450850" y="1280159"/>
          <a:ext cx="5590540" cy="1423670"/>
        </p:xfrm>
        <a:graphic>
          <a:graphicData uri="http://schemas.openxmlformats.org/drawingml/2006/table">
            <a:tbl>
              <a:tblPr/>
              <a:tblGrid>
                <a:gridCol w="2749550"/>
                <a:gridCol w="91439"/>
                <a:gridCol w="2749550"/>
              </a:tblGrid>
              <a:tr h="457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0" algn="l" rtl="0" eaLnBrk="0">
                        <a:lnSpc>
                          <a:spcPct val="6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Problem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7530" algn="l" rtl="0" eaLnBrk="0">
                        <a:lnSpc>
                          <a:spcPct val="7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Probabilistic Model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</a:tr>
              <a:tr h="9664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844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Classify</a:t>
                      </a:r>
                      <a:r>
                        <a:rPr sz="1800" kern="0" spc="1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an</a:t>
                      </a:r>
                      <a:r>
                        <a:rPr sz="1800" kern="0" spc="1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incoming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4790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message</a:t>
                      </a:r>
                      <a:r>
                        <a:rPr sz="1800" kern="0" spc="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as</a:t>
                      </a:r>
                      <a:r>
                        <a:rPr sz="1800" kern="0" spc="8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  <a:r>
                        <a:rPr sz="1800" kern="0" spc="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or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4790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normal</a:t>
                      </a:r>
                      <a:r>
                        <a:rPr sz="18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from</a:t>
                      </a:r>
                      <a:r>
                        <a:rPr sz="1800" kern="0" spc="1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its</a:t>
                      </a:r>
                      <a:r>
                        <a:rPr sz="18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words</a:t>
                      </a:r>
                      <a:r>
                        <a:rPr sz="18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P(Y=spam|x)</a:t>
                      </a:r>
                      <a:r>
                        <a:rPr sz="1800" kern="0" spc="-1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20979" algn="l" rtl="0" eaLnBrk="0">
                        <a:lnSpc>
                          <a:spcPct val="86000"/>
                        </a:lnSpc>
                        <a:spcBef>
                          <a:spcPts val="34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P(Y=spam)</a:t>
                      </a:r>
                      <a:r>
                        <a:rPr sz="1800" kern="0" spc="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∏ᵢ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0979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P(Xᵢ=xᵢ|Y=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spam</a:t>
                      </a: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02" name="textbox 1202"/>
          <p:cNvSpPr/>
          <p:nvPr/>
        </p:nvSpPr>
        <p:spPr>
          <a:xfrm>
            <a:off x="551713" y="99390"/>
            <a:ext cx="8217534" cy="731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CASE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STUDIES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7145" algn="l" rtl="0" eaLnBrk="0">
              <a:lnSpc>
                <a:spcPct val="84000"/>
              </a:lnSpc>
              <a:spcBef>
                <a:spcPts val="898"/>
              </a:spcBef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Case Study: Spam Filtering with</a:t>
            </a:r>
            <a:r>
              <a:rPr sz="3200" b="1" kern="0" spc="14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Naive</a:t>
            </a:r>
            <a:r>
              <a:rPr sz="3200" b="1" kern="0" spc="16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Bayes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204" name="path 1204"/>
          <p:cNvSpPr/>
          <p:nvPr/>
        </p:nvSpPr>
        <p:spPr>
          <a:xfrm>
            <a:off x="6039611" y="1897379"/>
            <a:ext cx="82296" cy="182879"/>
          </a:xfrm>
          <a:custGeom>
            <a:avLst/>
            <a:gdLst/>
            <a:ahLst/>
            <a:cxnLst/>
            <a:rect l="0" t="0" r="0" b="0"/>
            <a:pathLst>
              <a:path w="129" h="287">
                <a:moveTo>
                  <a:pt x="0" y="72"/>
                </a:moveTo>
                <a:lnTo>
                  <a:pt x="64" y="72"/>
                </a:lnTo>
                <a:lnTo>
                  <a:pt x="64" y="0"/>
                </a:lnTo>
                <a:lnTo>
                  <a:pt x="129" y="144"/>
                </a:lnTo>
                <a:lnTo>
                  <a:pt x="64" y="287"/>
                </a:lnTo>
                <a:lnTo>
                  <a:pt x="64" y="216"/>
                </a:lnTo>
                <a:lnTo>
                  <a:pt x="0" y="216"/>
                </a:lnTo>
                <a:lnTo>
                  <a:pt x="0" y="72"/>
                </a:lnTo>
                <a:close/>
              </a:path>
            </a:pathLst>
          </a:custGeom>
          <a:solidFill>
            <a:srgbClr val="5B627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6" name="textbox 1206"/>
          <p:cNvSpPr/>
          <p:nvPr/>
        </p:nvSpPr>
        <p:spPr>
          <a:xfrm>
            <a:off x="6126479" y="1280159"/>
            <a:ext cx="2743835" cy="457200"/>
          </a:xfrm>
          <a:prstGeom prst="rect">
            <a:avLst/>
          </a:prstGeom>
          <a:solidFill>
            <a:srgbClr val="2E7D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935989" algn="l" rtl="0" eaLnBrk="0">
              <a:lnSpc>
                <a:spcPct val="83000"/>
              </a:lnSpc>
              <a:spcBef>
                <a:spcPts val="3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Inference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08" name="table 1208"/>
          <p:cNvGraphicFramePr>
            <a:graphicFrameLocks noGrp="1"/>
          </p:cNvGraphicFramePr>
          <p:nvPr/>
        </p:nvGraphicFramePr>
        <p:xfrm>
          <a:off x="6120129" y="1731009"/>
          <a:ext cx="2755900" cy="972820"/>
        </p:xfrm>
        <a:graphic>
          <a:graphicData uri="http://schemas.openxmlformats.org/drawingml/2006/table">
            <a:tbl>
              <a:tblPr/>
              <a:tblGrid>
                <a:gridCol w="2755900"/>
              </a:tblGrid>
              <a:tr h="960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96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Estimate</a:t>
                      </a:r>
                      <a:r>
                        <a:rPr sz="1800" kern="0" spc="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word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likelihoods</a:t>
                      </a:r>
                      <a:r>
                        <a:rPr sz="1800" kern="0" spc="1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and</a:t>
                      </a:r>
                      <a:r>
                        <a:rPr sz="1800" kern="0" spc="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prior</a:t>
                      </a:r>
                      <a:r>
                        <a:rPr sz="1800" kern="0" spc="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from</a:t>
                      </a:r>
                      <a:r>
                        <a:rPr sz="1800" kern="0" spc="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training</a:t>
                      </a:r>
                      <a:r>
                        <a:rPr sz="18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  <a:r>
                        <a:rPr sz="1800" kern="0" spc="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10" name="path 1210"/>
          <p:cNvSpPr/>
          <p:nvPr/>
        </p:nvSpPr>
        <p:spPr>
          <a:xfrm>
            <a:off x="8874252" y="1897379"/>
            <a:ext cx="82295" cy="182879"/>
          </a:xfrm>
          <a:custGeom>
            <a:avLst/>
            <a:gdLst/>
            <a:ahLst/>
            <a:cxnLst/>
            <a:rect l="0" t="0" r="0" b="0"/>
            <a:pathLst>
              <a:path w="129" h="287">
                <a:moveTo>
                  <a:pt x="0" y="72"/>
                </a:moveTo>
                <a:lnTo>
                  <a:pt x="64" y="72"/>
                </a:lnTo>
                <a:lnTo>
                  <a:pt x="64" y="0"/>
                </a:lnTo>
                <a:lnTo>
                  <a:pt x="129" y="144"/>
                </a:lnTo>
                <a:lnTo>
                  <a:pt x="64" y="287"/>
                </a:lnTo>
                <a:lnTo>
                  <a:pt x="64" y="216"/>
                </a:lnTo>
                <a:lnTo>
                  <a:pt x="0" y="216"/>
                </a:lnTo>
                <a:lnTo>
                  <a:pt x="0" y="72"/>
                </a:lnTo>
                <a:close/>
              </a:path>
            </a:pathLst>
          </a:custGeom>
          <a:solidFill>
            <a:srgbClr val="5B627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12" name="textbox 1212"/>
          <p:cNvSpPr/>
          <p:nvPr/>
        </p:nvSpPr>
        <p:spPr>
          <a:xfrm>
            <a:off x="8961119" y="1280159"/>
            <a:ext cx="2743200" cy="457200"/>
          </a:xfrm>
          <a:prstGeom prst="rect">
            <a:avLst/>
          </a:pr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1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84885" algn="l" rtl="0" eaLnBrk="0">
              <a:lnSpc>
                <a:spcPct val="68000"/>
              </a:lnSpc>
              <a:tabLst/>
            </a:pPr>
            <a:r>
              <a:rPr sz="1800" b="1" kern="0" spc="-2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Decision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14" name="table 1214"/>
          <p:cNvGraphicFramePr>
            <a:graphicFrameLocks noGrp="1"/>
          </p:cNvGraphicFramePr>
          <p:nvPr/>
        </p:nvGraphicFramePr>
        <p:xfrm>
          <a:off x="8954769" y="1731009"/>
          <a:ext cx="2755900" cy="972820"/>
        </p:xfrm>
        <a:graphic>
          <a:graphicData uri="http://schemas.openxmlformats.org/drawingml/2006/table">
            <a:tbl>
              <a:tblPr/>
              <a:tblGrid>
                <a:gridCol w="2755900"/>
              </a:tblGrid>
              <a:tr h="960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96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Pick class</a:t>
                      </a:r>
                      <a:r>
                        <a:rPr sz="1800" kern="0" spc="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with</a:t>
                      </a:r>
                      <a:r>
                        <a:rPr sz="1800" kern="0" spc="15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lar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ger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6059" algn="l" rtl="0" eaLnBrk="0">
                        <a:lnSpc>
                          <a:spcPct val="96000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posterior</a:t>
                      </a: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;</a:t>
                      </a:r>
                      <a:r>
                        <a:rPr sz="18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report</a:t>
                      </a:r>
                      <a:r>
                        <a:rPr sz="18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spam 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probability</a:t>
                      </a:r>
                      <a:r>
                        <a:rPr sz="1800" kern="0" spc="1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;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threshold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16" name="textbox 1216"/>
          <p:cNvSpPr/>
          <p:nvPr/>
        </p:nvSpPr>
        <p:spPr>
          <a:xfrm>
            <a:off x="545096" y="4464710"/>
            <a:ext cx="945134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Independence assumption is strong, but th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 model is</a:t>
            </a:r>
            <a:r>
              <a:rPr sz="1800" i="1" kern="0" spc="9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transparent,</a:t>
            </a:r>
            <a:r>
              <a:rPr sz="1800" i="1" kern="0" spc="-1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fast,</a:t>
            </a:r>
            <a:r>
              <a:rPr sz="1800" i="1" kern="0" spc="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i="1" kern="0" spc="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hard</a:t>
            </a:r>
            <a:r>
              <a:rPr sz="18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i="1" kern="0" spc="5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beat</a:t>
            </a:r>
            <a:r>
              <a:rPr sz="18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1800" i="1" kern="0" spc="8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i="1" kern="0" spc="4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baseline.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90" name="group 90"/>
          <p:cNvGrpSpPr/>
          <p:nvPr/>
        </p:nvGrpSpPr>
        <p:grpSpPr>
          <a:xfrm rot="21600000">
            <a:off x="3011170" y="3011170"/>
            <a:ext cx="2664459" cy="737869"/>
            <a:chOff x="0" y="0"/>
            <a:chExt cx="2664459" cy="737869"/>
          </a:xfrm>
        </p:grpSpPr>
        <p:sp>
          <p:nvSpPr>
            <p:cNvPr id="1218" name="rect 1218"/>
            <p:cNvSpPr/>
            <p:nvPr/>
          </p:nvSpPr>
          <p:spPr>
            <a:xfrm>
              <a:off x="0" y="0"/>
              <a:ext cx="2664459" cy="737869"/>
            </a:xfrm>
            <a:prstGeom prst="rect">
              <a:avLst/>
            </a:prstGeom>
            <a:solidFill>
              <a:srgbClr val="C97F1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0" name="textbox 1220"/>
            <p:cNvSpPr/>
            <p:nvPr/>
          </p:nvSpPr>
          <p:spPr>
            <a:xfrm>
              <a:off x="445871" y="127889"/>
              <a:ext cx="1781810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2090" indent="-199389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× Word</a:t>
              </a:r>
              <a:r>
                <a:rPr sz="1800" b="1" kern="0" spc="1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likelihoo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ds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P(word|spam)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222" name="path 1222"/>
            <p:cNvSpPr/>
            <p:nvPr/>
          </p:nvSpPr>
          <p:spPr>
            <a:xfrm>
              <a:off x="2587751" y="0"/>
              <a:ext cx="76708" cy="76708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0" y="10"/>
                  </a:moveTo>
                  <a:cubicBezTo>
                    <a:pt x="65" y="10"/>
                    <a:pt x="110" y="55"/>
                    <a:pt x="110" y="110"/>
                  </a:cubicBezTo>
                </a:path>
              </a:pathLst>
            </a:custGeom>
            <a:noFill/>
            <a:ln w="12700" cap="flat">
              <a:solidFill>
                <a:srgbClr val="C97F1E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4" name="path 1224"/>
            <p:cNvSpPr/>
            <p:nvPr/>
          </p:nvSpPr>
          <p:spPr>
            <a:xfrm>
              <a:off x="0" y="0"/>
              <a:ext cx="76707" cy="76708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0" y="110"/>
                  </a:moveTo>
                  <a:cubicBezTo>
                    <a:pt x="10" y="55"/>
                    <a:pt x="55" y="10"/>
                    <a:pt x="110" y="10"/>
                  </a:cubicBezTo>
                </a:path>
              </a:pathLst>
            </a:custGeom>
            <a:noFill/>
            <a:ln w="12700" cap="flat">
              <a:solidFill>
                <a:srgbClr val="C97F1E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group 92"/>
          <p:cNvGrpSpPr/>
          <p:nvPr/>
        </p:nvGrpSpPr>
        <p:grpSpPr>
          <a:xfrm rot="21600000">
            <a:off x="6165850" y="3011170"/>
            <a:ext cx="2664459" cy="737869"/>
            <a:chOff x="0" y="0"/>
            <a:chExt cx="2664459" cy="737869"/>
          </a:xfrm>
        </p:grpSpPr>
        <p:sp>
          <p:nvSpPr>
            <p:cNvPr id="1226" name="rect 1226"/>
            <p:cNvSpPr/>
            <p:nvPr/>
          </p:nvSpPr>
          <p:spPr>
            <a:xfrm>
              <a:off x="0" y="0"/>
              <a:ext cx="2664459" cy="737869"/>
            </a:xfrm>
            <a:prstGeom prst="rect">
              <a:avLst/>
            </a:prstGeom>
            <a:solidFill>
              <a:srgbClr val="2E7D5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8" name="textbox 1228"/>
            <p:cNvSpPr/>
            <p:nvPr/>
          </p:nvSpPr>
          <p:spPr>
            <a:xfrm>
              <a:off x="597433" y="145491"/>
              <a:ext cx="1483994" cy="5111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2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14325" algn="l" rtl="0" eaLnBrk="0">
                <a:lnSpc>
                  <a:spcPct val="68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Posterior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1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P(spam|word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s)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230" name="path 1230"/>
            <p:cNvSpPr/>
            <p:nvPr/>
          </p:nvSpPr>
          <p:spPr>
            <a:xfrm>
              <a:off x="0" y="0"/>
              <a:ext cx="76708" cy="76708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0" y="110"/>
                  </a:moveTo>
                  <a:cubicBezTo>
                    <a:pt x="10" y="55"/>
                    <a:pt x="55" y="10"/>
                    <a:pt x="110" y="10"/>
                  </a:cubicBezTo>
                </a:path>
              </a:pathLst>
            </a:custGeom>
            <a:noFill/>
            <a:ln w="12700" cap="flat">
              <a:solidFill>
                <a:srgbClr val="2E7D5B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32" name="path 1232"/>
            <p:cNvSpPr/>
            <p:nvPr/>
          </p:nvSpPr>
          <p:spPr>
            <a:xfrm>
              <a:off x="2587752" y="0"/>
              <a:ext cx="76707" cy="76708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0" y="10"/>
                  </a:moveTo>
                  <a:cubicBezTo>
                    <a:pt x="65" y="10"/>
                    <a:pt x="110" y="55"/>
                    <a:pt x="110" y="110"/>
                  </a:cubicBezTo>
                </a:path>
              </a:pathLst>
            </a:custGeom>
            <a:noFill/>
            <a:ln w="12700" cap="flat">
              <a:solidFill>
                <a:srgbClr val="2E7D5B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94" name="group 94"/>
          <p:cNvGrpSpPr/>
          <p:nvPr/>
        </p:nvGrpSpPr>
        <p:grpSpPr>
          <a:xfrm rot="21600000">
            <a:off x="450850" y="3011170"/>
            <a:ext cx="2390139" cy="737869"/>
            <a:chOff x="0" y="0"/>
            <a:chExt cx="2390139" cy="737869"/>
          </a:xfrm>
        </p:grpSpPr>
        <p:sp>
          <p:nvSpPr>
            <p:cNvPr id="1234" name="rect 1234"/>
            <p:cNvSpPr/>
            <p:nvPr/>
          </p:nvSpPr>
          <p:spPr>
            <a:xfrm>
              <a:off x="0" y="0"/>
              <a:ext cx="2390139" cy="737869"/>
            </a:xfrm>
            <a:prstGeom prst="rect">
              <a:avLst/>
            </a:prstGeom>
            <a:solidFill>
              <a:srgbClr val="1E2A5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36" name="textbox 1236"/>
            <p:cNvSpPr/>
            <p:nvPr/>
          </p:nvSpPr>
          <p:spPr>
            <a:xfrm>
              <a:off x="551357" y="265048"/>
              <a:ext cx="1301750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Prior</a:t>
              </a:r>
              <a:r>
                <a:rPr sz="1800" b="1" kern="0" spc="1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P(sp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am)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238" name="path 1238"/>
            <p:cNvSpPr/>
            <p:nvPr/>
          </p:nvSpPr>
          <p:spPr>
            <a:xfrm>
              <a:off x="0" y="0"/>
              <a:ext cx="76708" cy="76708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0" y="110"/>
                  </a:moveTo>
                  <a:cubicBezTo>
                    <a:pt x="10" y="55"/>
                    <a:pt x="55" y="10"/>
                    <a:pt x="110" y="10"/>
                  </a:cubicBezTo>
                </a:path>
              </a:pathLst>
            </a:custGeom>
            <a:noFill/>
            <a:ln w="12700" cap="flat">
              <a:solidFill>
                <a:srgbClr val="1E2A5E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0" name="path 1240"/>
            <p:cNvSpPr/>
            <p:nvPr/>
          </p:nvSpPr>
          <p:spPr>
            <a:xfrm>
              <a:off x="2313432" y="0"/>
              <a:ext cx="76707" cy="76708"/>
            </a:xfrm>
            <a:custGeom>
              <a:avLst/>
              <a:gdLst/>
              <a:ahLst/>
              <a:cxnLst/>
              <a:rect l="0" t="0" r="0" b="0"/>
              <a:pathLst>
                <a:path w="120" h="120">
                  <a:moveTo>
                    <a:pt x="10" y="10"/>
                  </a:moveTo>
                  <a:cubicBezTo>
                    <a:pt x="65" y="10"/>
                    <a:pt x="110" y="55"/>
                    <a:pt x="110" y="110"/>
                  </a:cubicBezTo>
                </a:path>
              </a:pathLst>
            </a:custGeom>
            <a:noFill/>
            <a:ln w="12700" cap="flat">
              <a:solidFill>
                <a:srgbClr val="1E2A5E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42" name="textbox 1242"/>
          <p:cNvSpPr/>
          <p:nvPr/>
        </p:nvSpPr>
        <p:spPr>
          <a:xfrm>
            <a:off x="9166112" y="2705989"/>
            <a:ext cx="1741804" cy="542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1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96000"/>
              </a:lnSpc>
              <a:tabLst/>
            </a:pP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(e.g. 0.9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 for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auto-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blocking.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96" name="group 96"/>
          <p:cNvGrpSpPr/>
          <p:nvPr/>
        </p:nvGrpSpPr>
        <p:grpSpPr>
          <a:xfrm rot="21600000">
            <a:off x="450850" y="3678682"/>
            <a:ext cx="8379459" cy="76707"/>
            <a:chOff x="0" y="0"/>
            <a:chExt cx="8379459" cy="76707"/>
          </a:xfrm>
        </p:grpSpPr>
        <p:sp>
          <p:nvSpPr>
            <p:cNvPr id="1244" name="path 1244"/>
            <p:cNvSpPr/>
            <p:nvPr/>
          </p:nvSpPr>
          <p:spPr>
            <a:xfrm>
              <a:off x="0" y="0"/>
              <a:ext cx="2390139" cy="76707"/>
            </a:xfrm>
            <a:custGeom>
              <a:avLst/>
              <a:gdLst/>
              <a:ahLst/>
              <a:cxnLst/>
              <a:rect l="0" t="0" r="0" b="0"/>
              <a:pathLst>
                <a:path w="3763" h="120">
                  <a:moveTo>
                    <a:pt x="3753" y="10"/>
                  </a:moveTo>
                  <a:cubicBezTo>
                    <a:pt x="3753" y="65"/>
                    <a:pt x="3708" y="110"/>
                    <a:pt x="3653" y="110"/>
                  </a:cubicBezTo>
                  <a:lnTo>
                    <a:pt x="110" y="110"/>
                  </a:lnTo>
                  <a:cubicBezTo>
                    <a:pt x="55" y="110"/>
                    <a:pt x="10" y="65"/>
                    <a:pt x="10" y="10"/>
                  </a:cubicBezTo>
                </a:path>
              </a:pathLst>
            </a:custGeom>
            <a:noFill/>
            <a:ln w="12700" cap="flat">
              <a:solidFill>
                <a:srgbClr val="1E2A5E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6" name="path 1246"/>
            <p:cNvSpPr/>
            <p:nvPr/>
          </p:nvSpPr>
          <p:spPr>
            <a:xfrm>
              <a:off x="2560320" y="0"/>
              <a:ext cx="2664459" cy="76707"/>
            </a:xfrm>
            <a:custGeom>
              <a:avLst/>
              <a:gdLst/>
              <a:ahLst/>
              <a:cxnLst/>
              <a:rect l="0" t="0" r="0" b="0"/>
              <a:pathLst>
                <a:path w="4195" h="120">
                  <a:moveTo>
                    <a:pt x="4185" y="10"/>
                  </a:moveTo>
                  <a:cubicBezTo>
                    <a:pt x="4185" y="65"/>
                    <a:pt x="4140" y="110"/>
                    <a:pt x="4085" y="110"/>
                  </a:cubicBezTo>
                  <a:lnTo>
                    <a:pt x="110" y="110"/>
                  </a:lnTo>
                  <a:cubicBezTo>
                    <a:pt x="55" y="110"/>
                    <a:pt x="10" y="65"/>
                    <a:pt x="10" y="10"/>
                  </a:cubicBezTo>
                </a:path>
              </a:pathLst>
            </a:custGeom>
            <a:noFill/>
            <a:ln w="12700" cap="flat">
              <a:solidFill>
                <a:srgbClr val="C97F1E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8" name="path 1248"/>
            <p:cNvSpPr/>
            <p:nvPr/>
          </p:nvSpPr>
          <p:spPr>
            <a:xfrm>
              <a:off x="5715000" y="0"/>
              <a:ext cx="2664459" cy="76707"/>
            </a:xfrm>
            <a:custGeom>
              <a:avLst/>
              <a:gdLst/>
              <a:ahLst/>
              <a:cxnLst/>
              <a:rect l="0" t="0" r="0" b="0"/>
              <a:pathLst>
                <a:path w="4195" h="120">
                  <a:moveTo>
                    <a:pt x="4185" y="10"/>
                  </a:moveTo>
                  <a:cubicBezTo>
                    <a:pt x="4185" y="65"/>
                    <a:pt x="4140" y="110"/>
                    <a:pt x="4085" y="110"/>
                  </a:cubicBezTo>
                  <a:lnTo>
                    <a:pt x="110" y="110"/>
                  </a:lnTo>
                  <a:cubicBezTo>
                    <a:pt x="55" y="110"/>
                    <a:pt x="10" y="65"/>
                    <a:pt x="10" y="10"/>
                  </a:cubicBezTo>
                </a:path>
              </a:pathLst>
            </a:custGeom>
            <a:noFill/>
            <a:ln w="12700" cap="flat">
              <a:solidFill>
                <a:srgbClr val="2E7D5B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250" name="textbox 1250"/>
          <p:cNvSpPr/>
          <p:nvPr/>
        </p:nvSpPr>
        <p:spPr>
          <a:xfrm>
            <a:off x="6335551" y="2705989"/>
            <a:ext cx="1792604" cy="260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Laplace smoothin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252" name="path 1252"/>
          <p:cNvSpPr/>
          <p:nvPr/>
        </p:nvSpPr>
        <p:spPr>
          <a:xfrm>
            <a:off x="5715000" y="3291840"/>
            <a:ext cx="365759" cy="256031"/>
          </a:xfrm>
          <a:custGeom>
            <a:avLst/>
            <a:gdLst/>
            <a:ahLst/>
            <a:cxnLst/>
            <a:rect l="0" t="0" r="0" b="0"/>
            <a:pathLst>
              <a:path w="575" h="403">
                <a:moveTo>
                  <a:pt x="0" y="100"/>
                </a:moveTo>
                <a:lnTo>
                  <a:pt x="374" y="100"/>
                </a:lnTo>
                <a:lnTo>
                  <a:pt x="374" y="0"/>
                </a:lnTo>
                <a:lnTo>
                  <a:pt x="575" y="201"/>
                </a:lnTo>
                <a:lnTo>
                  <a:pt x="374" y="403"/>
                </a:lnTo>
                <a:lnTo>
                  <a:pt x="374" y="302"/>
                </a:lnTo>
                <a:lnTo>
                  <a:pt x="0" y="302"/>
                </a:lnTo>
                <a:lnTo>
                  <a:pt x="0" y="100"/>
                </a:lnTo>
                <a:close/>
              </a:path>
            </a:pathLst>
          </a:cu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54" name="path 1254"/>
          <p:cNvSpPr/>
          <p:nvPr/>
        </p:nvSpPr>
        <p:spPr>
          <a:xfrm>
            <a:off x="3204972" y="1897379"/>
            <a:ext cx="82295" cy="182879"/>
          </a:xfrm>
          <a:custGeom>
            <a:avLst/>
            <a:gdLst/>
            <a:ahLst/>
            <a:cxnLst/>
            <a:rect l="0" t="0" r="0" b="0"/>
            <a:pathLst>
              <a:path w="129" h="287">
                <a:moveTo>
                  <a:pt x="0" y="72"/>
                </a:moveTo>
                <a:lnTo>
                  <a:pt x="64" y="72"/>
                </a:lnTo>
                <a:lnTo>
                  <a:pt x="64" y="0"/>
                </a:lnTo>
                <a:lnTo>
                  <a:pt x="129" y="144"/>
                </a:lnTo>
                <a:lnTo>
                  <a:pt x="64" y="287"/>
                </a:lnTo>
                <a:lnTo>
                  <a:pt x="64" y="216"/>
                </a:lnTo>
                <a:lnTo>
                  <a:pt x="0" y="216"/>
                </a:lnTo>
                <a:lnTo>
                  <a:pt x="0" y="72"/>
                </a:lnTo>
                <a:close/>
              </a:path>
            </a:pathLst>
          </a:custGeom>
          <a:solidFill>
            <a:srgbClr val="5B627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rect 1256"/>
          <p:cNvSpPr/>
          <p:nvPr/>
        </p:nvSpPr>
        <p:spPr>
          <a:xfrm>
            <a:off x="457200" y="3017520"/>
            <a:ext cx="11247119" cy="1828800"/>
          </a:xfrm>
          <a:prstGeom prst="rect">
            <a:avLst/>
          </a:prstGeom>
          <a:solidFill>
            <a:srgbClr val="EEF2F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58" name="textbox 1258"/>
          <p:cNvSpPr/>
          <p:nvPr/>
        </p:nvSpPr>
        <p:spPr>
          <a:xfrm>
            <a:off x="656229" y="2705989"/>
            <a:ext cx="10668000" cy="1098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accuracy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                                   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specificity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                                   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computed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test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gives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only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≈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15.4%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ct val="83000"/>
              </a:lnSpc>
              <a:spcBef>
                <a:spcPts val="550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Echoes the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 worked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 from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I: doctors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</a:t>
            </a:r>
            <a:r>
              <a:rPr sz="18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MORE than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single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positive t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est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before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concluding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r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disease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obability -- a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Bayesian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 can combine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several</a:t>
            </a:r>
            <a:r>
              <a:rPr sz="1800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tests,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symptoms,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expert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priors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coherently.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260" name="textbox 1260"/>
          <p:cNvSpPr/>
          <p:nvPr/>
        </p:nvSpPr>
        <p:spPr>
          <a:xfrm>
            <a:off x="457200" y="1280159"/>
            <a:ext cx="2743200" cy="457200"/>
          </a:xfrm>
          <a:prstGeom prst="rect">
            <a:avLst/>
          </a:prstGeom>
          <a:solidFill>
            <a:srgbClr val="1E2A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984250" algn="l" rtl="0" eaLnBrk="0">
              <a:lnSpc>
                <a:spcPct val="69000"/>
              </a:lnSpc>
              <a:spcBef>
                <a:spcPts val="6"/>
              </a:spcBef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Problem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262" name="textbox 1262"/>
          <p:cNvSpPr/>
          <p:nvPr/>
        </p:nvSpPr>
        <p:spPr>
          <a:xfrm>
            <a:off x="3291840" y="1280159"/>
            <a:ext cx="2743200" cy="457200"/>
          </a:xfrm>
          <a:prstGeom prst="rect">
            <a:avLst/>
          </a:prstGeom>
          <a:solidFill>
            <a:srgbClr val="C97F1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69265" algn="l" rtl="0" eaLnBrk="0">
              <a:lnSpc>
                <a:spcPct val="69000"/>
              </a:lnSpc>
              <a:spcBef>
                <a:spcPts val="6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Probabilistic</a:t>
            </a:r>
            <a:r>
              <a:rPr sz="1800" b="1" kern="0" spc="1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264" name="textbox 1264"/>
          <p:cNvSpPr/>
          <p:nvPr/>
        </p:nvSpPr>
        <p:spPr>
          <a:xfrm>
            <a:off x="6126479" y="1280159"/>
            <a:ext cx="2743835" cy="457200"/>
          </a:xfrm>
          <a:prstGeom prst="rect">
            <a:avLst/>
          </a:prstGeom>
          <a:solidFill>
            <a:srgbClr val="2E7D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935989" algn="l" rtl="0" eaLnBrk="0">
              <a:lnSpc>
                <a:spcPct val="83000"/>
              </a:lnSpc>
              <a:spcBef>
                <a:spcPts val="3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Inference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266" name="textbox 1266"/>
          <p:cNvSpPr/>
          <p:nvPr/>
        </p:nvSpPr>
        <p:spPr>
          <a:xfrm>
            <a:off x="8961119" y="1280159"/>
            <a:ext cx="2743200" cy="457200"/>
          </a:xfrm>
          <a:prstGeom prst="rect">
            <a:avLst/>
          </a:pr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984885" algn="l" rtl="0" eaLnBrk="0">
              <a:lnSpc>
                <a:spcPct val="68000"/>
              </a:lnSpc>
              <a:spcBef>
                <a:spcPts val="5"/>
              </a:spcBef>
              <a:tabLst/>
            </a:pPr>
            <a:r>
              <a:rPr sz="1800" b="1" kern="0" spc="-2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Decision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68" name="table 1268"/>
          <p:cNvGraphicFramePr>
            <a:graphicFrameLocks noGrp="1"/>
          </p:cNvGraphicFramePr>
          <p:nvPr/>
        </p:nvGraphicFramePr>
        <p:xfrm>
          <a:off x="450850" y="1731009"/>
          <a:ext cx="11259184" cy="972820"/>
        </p:xfrm>
        <a:graphic>
          <a:graphicData uri="http://schemas.openxmlformats.org/drawingml/2006/table">
            <a:tbl>
              <a:tblPr/>
              <a:tblGrid>
                <a:gridCol w="2749550"/>
                <a:gridCol w="91439"/>
                <a:gridCol w="2743200"/>
                <a:gridCol w="91440"/>
                <a:gridCol w="2743200"/>
                <a:gridCol w="90805"/>
                <a:gridCol w="2749550"/>
              </a:tblGrid>
              <a:tr h="972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669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Estimate</a:t>
                      </a:r>
                      <a:r>
                        <a:rPr sz="1800" kern="0" spc="1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P(disease</a:t>
                      </a:r>
                      <a:r>
                        <a:rPr sz="1800" kern="0" spc="3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|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10820" algn="l" rtl="0" eaLnBrk="0">
                        <a:lnSpc>
                          <a:spcPts val="222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test</a:t>
                      </a:r>
                      <a:r>
                        <a:rPr sz="1800" kern="0" spc="1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  <a:r>
                        <a:rPr sz="1800" kern="0" spc="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from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4790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prevalence and</a:t>
                      </a:r>
                      <a:r>
                        <a:rPr sz="1800" kern="0" spc="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tes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979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Prior =</a:t>
                      </a:r>
                      <a:r>
                        <a:rPr sz="1800" kern="0" spc="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populati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05104" indent="13334" algn="l" rtl="0" eaLnBrk="0">
                        <a:lnSpc>
                          <a:spcPct val="96000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prevalence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r>
                        <a:rPr sz="1800" kern="0" spc="1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Likelihood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=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test</a:t>
                      </a:r>
                      <a:r>
                        <a:rPr sz="1800" kern="0" spc="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sensitivity</a:t>
                      </a:r>
                      <a:r>
                        <a:rPr sz="1800" kern="0" spc="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/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61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Bayes</a:t>
                      </a:r>
                      <a:r>
                        <a:rPr sz="1800" kern="0" spc="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'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theorem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12090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combines</a:t>
                      </a:r>
                      <a:r>
                        <a:rPr sz="18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prior</a:t>
                      </a:r>
                      <a:r>
                        <a:rPr sz="1800" kern="0" spc="8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and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19075" algn="l" rtl="0" eaLnBrk="0">
                        <a:lnSpc>
                          <a:spcPts val="2219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likelihood</a:t>
                      </a:r>
                      <a:r>
                        <a:rPr sz="1800" kern="0" spc="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into</a:t>
                      </a:r>
                      <a:r>
                        <a:rPr sz="1800" kern="0" spc="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090" indent="1016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  <a:r>
                        <a:rPr sz="1800" kern="0" spc="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prevalence +</a:t>
                      </a:r>
                      <a:r>
                        <a:rPr sz="1800" kern="0" spc="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90%        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sensitivity</a:t>
                      </a:r>
                      <a:r>
                        <a:rPr sz="1800" kern="0" spc="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+</a:t>
                      </a:r>
                      <a:r>
                        <a:rPr sz="1800" kern="0" spc="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95%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12090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specificity</a:t>
                      </a:r>
                      <a:r>
                        <a:rPr sz="18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→</a:t>
                      </a:r>
                      <a:r>
                        <a:rPr sz="1800" kern="0" spc="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posit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ive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70" name="textbox 1270"/>
          <p:cNvSpPr/>
          <p:nvPr/>
        </p:nvSpPr>
        <p:spPr>
          <a:xfrm>
            <a:off x="556285" y="393355"/>
            <a:ext cx="7146925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Case Study: Medical Diagno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sis</a:t>
            </a:r>
            <a:r>
              <a:rPr sz="3200" b="1" kern="0" spc="27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(Recap)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272" name="textbox 1272"/>
          <p:cNvSpPr/>
          <p:nvPr/>
        </p:nvSpPr>
        <p:spPr>
          <a:xfrm>
            <a:off x="551713" y="97104"/>
            <a:ext cx="270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CASE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STUDIES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274" name="path 1274"/>
          <p:cNvSpPr/>
          <p:nvPr/>
        </p:nvSpPr>
        <p:spPr>
          <a:xfrm>
            <a:off x="6039611" y="1897379"/>
            <a:ext cx="82296" cy="182879"/>
          </a:xfrm>
          <a:custGeom>
            <a:avLst/>
            <a:gdLst/>
            <a:ahLst/>
            <a:cxnLst/>
            <a:rect l="0" t="0" r="0" b="0"/>
            <a:pathLst>
              <a:path w="129" h="287">
                <a:moveTo>
                  <a:pt x="0" y="72"/>
                </a:moveTo>
                <a:lnTo>
                  <a:pt x="64" y="72"/>
                </a:lnTo>
                <a:lnTo>
                  <a:pt x="64" y="0"/>
                </a:lnTo>
                <a:lnTo>
                  <a:pt x="129" y="144"/>
                </a:lnTo>
                <a:lnTo>
                  <a:pt x="64" y="287"/>
                </a:lnTo>
                <a:lnTo>
                  <a:pt x="64" y="216"/>
                </a:lnTo>
                <a:lnTo>
                  <a:pt x="0" y="216"/>
                </a:lnTo>
                <a:lnTo>
                  <a:pt x="0" y="72"/>
                </a:lnTo>
                <a:close/>
              </a:path>
            </a:pathLst>
          </a:custGeom>
          <a:solidFill>
            <a:srgbClr val="5B627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76" name="path 1276"/>
          <p:cNvSpPr/>
          <p:nvPr/>
        </p:nvSpPr>
        <p:spPr>
          <a:xfrm>
            <a:off x="3204972" y="1897379"/>
            <a:ext cx="82295" cy="182879"/>
          </a:xfrm>
          <a:custGeom>
            <a:avLst/>
            <a:gdLst/>
            <a:ahLst/>
            <a:cxnLst/>
            <a:rect l="0" t="0" r="0" b="0"/>
            <a:pathLst>
              <a:path w="129" h="287">
                <a:moveTo>
                  <a:pt x="0" y="72"/>
                </a:moveTo>
                <a:lnTo>
                  <a:pt x="64" y="72"/>
                </a:lnTo>
                <a:lnTo>
                  <a:pt x="64" y="0"/>
                </a:lnTo>
                <a:lnTo>
                  <a:pt x="129" y="144"/>
                </a:lnTo>
                <a:lnTo>
                  <a:pt x="64" y="287"/>
                </a:lnTo>
                <a:lnTo>
                  <a:pt x="64" y="216"/>
                </a:lnTo>
                <a:lnTo>
                  <a:pt x="0" y="216"/>
                </a:lnTo>
                <a:lnTo>
                  <a:pt x="0" y="72"/>
                </a:lnTo>
                <a:close/>
              </a:path>
            </a:pathLst>
          </a:custGeom>
          <a:solidFill>
            <a:srgbClr val="5B627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78" name="path 1278"/>
          <p:cNvSpPr/>
          <p:nvPr/>
        </p:nvSpPr>
        <p:spPr>
          <a:xfrm>
            <a:off x="8874252" y="1897379"/>
            <a:ext cx="82295" cy="182879"/>
          </a:xfrm>
          <a:custGeom>
            <a:avLst/>
            <a:gdLst/>
            <a:ahLst/>
            <a:cxnLst/>
            <a:rect l="0" t="0" r="0" b="0"/>
            <a:pathLst>
              <a:path w="129" h="287">
                <a:moveTo>
                  <a:pt x="0" y="72"/>
                </a:moveTo>
                <a:lnTo>
                  <a:pt x="64" y="72"/>
                </a:lnTo>
                <a:lnTo>
                  <a:pt x="64" y="0"/>
                </a:lnTo>
                <a:lnTo>
                  <a:pt x="129" y="144"/>
                </a:lnTo>
                <a:lnTo>
                  <a:pt x="64" y="287"/>
                </a:lnTo>
                <a:lnTo>
                  <a:pt x="64" y="216"/>
                </a:lnTo>
                <a:lnTo>
                  <a:pt x="0" y="216"/>
                </a:lnTo>
                <a:lnTo>
                  <a:pt x="0" y="72"/>
                </a:lnTo>
                <a:close/>
              </a:path>
            </a:pathLst>
          </a:custGeom>
          <a:solidFill>
            <a:srgbClr val="5B627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picture 12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5695" y="3046857"/>
            <a:ext cx="9548197" cy="1659635"/>
          </a:xfrm>
          <a:prstGeom prst="rect">
            <a:avLst/>
          </a:prstGeom>
        </p:spPr>
      </p:pic>
      <p:grpSp>
        <p:nvGrpSpPr>
          <p:cNvPr id="98" name="group 98"/>
          <p:cNvGrpSpPr/>
          <p:nvPr/>
        </p:nvGrpSpPr>
        <p:grpSpPr>
          <a:xfrm rot="21600000">
            <a:off x="450850" y="1280159"/>
            <a:ext cx="11259819" cy="3389630"/>
            <a:chOff x="0" y="0"/>
            <a:chExt cx="11259819" cy="3389630"/>
          </a:xfrm>
        </p:grpSpPr>
        <p:grpSp>
          <p:nvGrpSpPr>
            <p:cNvPr id="100" name="group 100"/>
            <p:cNvGrpSpPr/>
            <p:nvPr/>
          </p:nvGrpSpPr>
          <p:grpSpPr>
            <a:xfrm rot="21600000">
              <a:off x="0" y="0"/>
              <a:ext cx="11259819" cy="3389630"/>
              <a:chOff x="0" y="0"/>
              <a:chExt cx="11259819" cy="3389630"/>
            </a:xfrm>
          </p:grpSpPr>
          <p:sp>
            <p:nvSpPr>
              <p:cNvPr id="1282" name="path 1282"/>
              <p:cNvSpPr/>
              <p:nvPr/>
            </p:nvSpPr>
            <p:spPr>
              <a:xfrm>
                <a:off x="6350" y="0"/>
                <a:ext cx="2743200" cy="457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720">
                    <a:moveTo>
                      <a:pt x="0" y="86"/>
                    </a:moveTo>
                    <a:moveTo>
                      <a:pt x="0" y="86"/>
                    </a:moveTo>
                    <a:cubicBezTo>
                      <a:pt x="0" y="38"/>
                      <a:pt x="38" y="0"/>
                      <a:pt x="86" y="0"/>
                    </a:cubicBezTo>
                    <a:lnTo>
                      <a:pt x="4233" y="0"/>
                    </a:lnTo>
                    <a:cubicBezTo>
                      <a:pt x="4281" y="0"/>
                      <a:pt x="4320" y="38"/>
                      <a:pt x="4320" y="86"/>
                    </a:cubicBezTo>
                    <a:lnTo>
                      <a:pt x="4320" y="633"/>
                    </a:lnTo>
                    <a:cubicBezTo>
                      <a:pt x="4320" y="681"/>
                      <a:pt x="4281" y="720"/>
                      <a:pt x="4233" y="720"/>
                    </a:cubicBezTo>
                    <a:lnTo>
                      <a:pt x="86" y="720"/>
                    </a:lnTo>
                    <a:cubicBezTo>
                      <a:pt x="38" y="720"/>
                      <a:pt x="0" y="681"/>
                      <a:pt x="0" y="633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4" name="path 1284"/>
              <p:cNvSpPr/>
              <p:nvPr/>
            </p:nvSpPr>
            <p:spPr>
              <a:xfrm>
                <a:off x="0" y="450850"/>
                <a:ext cx="2755900" cy="972820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1532">
                    <a:moveTo>
                      <a:pt x="10" y="1522"/>
                    </a:moveTo>
                    <a:lnTo>
                      <a:pt x="4330" y="1522"/>
                    </a:lnTo>
                    <a:lnTo>
                      <a:pt x="4330" y="10"/>
                    </a:lnTo>
                    <a:lnTo>
                      <a:pt x="10" y="10"/>
                    </a:lnTo>
                    <a:lnTo>
                      <a:pt x="10" y="1522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D8DEEA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6" name="path 1286"/>
              <p:cNvSpPr/>
              <p:nvPr/>
            </p:nvSpPr>
            <p:spPr>
              <a:xfrm>
                <a:off x="2754122" y="617220"/>
                <a:ext cx="82295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129" h="287">
                    <a:moveTo>
                      <a:pt x="0" y="72"/>
                    </a:moveTo>
                    <a:lnTo>
                      <a:pt x="64" y="72"/>
                    </a:lnTo>
                    <a:lnTo>
                      <a:pt x="64" y="0"/>
                    </a:lnTo>
                    <a:lnTo>
                      <a:pt x="129" y="144"/>
                    </a:lnTo>
                    <a:lnTo>
                      <a:pt x="64" y="287"/>
                    </a:lnTo>
                    <a:lnTo>
                      <a:pt x="64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8" name="path 1288"/>
              <p:cNvSpPr/>
              <p:nvPr/>
            </p:nvSpPr>
            <p:spPr>
              <a:xfrm>
                <a:off x="2840990" y="0"/>
                <a:ext cx="2743200" cy="457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720">
                    <a:moveTo>
                      <a:pt x="0" y="86"/>
                    </a:moveTo>
                    <a:moveTo>
                      <a:pt x="0" y="86"/>
                    </a:moveTo>
                    <a:cubicBezTo>
                      <a:pt x="0" y="38"/>
                      <a:pt x="38" y="0"/>
                      <a:pt x="86" y="0"/>
                    </a:cubicBezTo>
                    <a:lnTo>
                      <a:pt x="4233" y="0"/>
                    </a:lnTo>
                    <a:cubicBezTo>
                      <a:pt x="4281" y="0"/>
                      <a:pt x="4320" y="38"/>
                      <a:pt x="4320" y="86"/>
                    </a:cubicBezTo>
                    <a:lnTo>
                      <a:pt x="4320" y="633"/>
                    </a:lnTo>
                    <a:cubicBezTo>
                      <a:pt x="4320" y="681"/>
                      <a:pt x="4281" y="720"/>
                      <a:pt x="4233" y="720"/>
                    </a:cubicBezTo>
                    <a:lnTo>
                      <a:pt x="86" y="720"/>
                    </a:lnTo>
                    <a:cubicBezTo>
                      <a:pt x="38" y="720"/>
                      <a:pt x="0" y="681"/>
                      <a:pt x="0" y="633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0" name="path 1290"/>
              <p:cNvSpPr/>
              <p:nvPr/>
            </p:nvSpPr>
            <p:spPr>
              <a:xfrm>
                <a:off x="2834640" y="450850"/>
                <a:ext cx="2755900" cy="972820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1532">
                    <a:moveTo>
                      <a:pt x="10" y="1522"/>
                    </a:moveTo>
                    <a:lnTo>
                      <a:pt x="4330" y="1522"/>
                    </a:lnTo>
                    <a:lnTo>
                      <a:pt x="4330" y="10"/>
                    </a:lnTo>
                    <a:lnTo>
                      <a:pt x="10" y="10"/>
                    </a:lnTo>
                    <a:lnTo>
                      <a:pt x="10" y="1522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D8DEEA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2" name="path 1292"/>
              <p:cNvSpPr/>
              <p:nvPr/>
            </p:nvSpPr>
            <p:spPr>
              <a:xfrm>
                <a:off x="5588761" y="617220"/>
                <a:ext cx="82296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129" h="287">
                    <a:moveTo>
                      <a:pt x="0" y="72"/>
                    </a:moveTo>
                    <a:lnTo>
                      <a:pt x="64" y="72"/>
                    </a:lnTo>
                    <a:lnTo>
                      <a:pt x="64" y="0"/>
                    </a:lnTo>
                    <a:lnTo>
                      <a:pt x="129" y="144"/>
                    </a:lnTo>
                    <a:lnTo>
                      <a:pt x="64" y="287"/>
                    </a:lnTo>
                    <a:lnTo>
                      <a:pt x="64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4" name="path 1294"/>
              <p:cNvSpPr/>
              <p:nvPr/>
            </p:nvSpPr>
            <p:spPr>
              <a:xfrm>
                <a:off x="5675629" y="0"/>
                <a:ext cx="2743200" cy="457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720">
                    <a:moveTo>
                      <a:pt x="0" y="86"/>
                    </a:moveTo>
                    <a:moveTo>
                      <a:pt x="0" y="86"/>
                    </a:moveTo>
                    <a:cubicBezTo>
                      <a:pt x="0" y="38"/>
                      <a:pt x="38" y="0"/>
                      <a:pt x="86" y="0"/>
                    </a:cubicBezTo>
                    <a:lnTo>
                      <a:pt x="4233" y="0"/>
                    </a:lnTo>
                    <a:cubicBezTo>
                      <a:pt x="4281" y="0"/>
                      <a:pt x="4320" y="38"/>
                      <a:pt x="4320" y="86"/>
                    </a:cubicBezTo>
                    <a:lnTo>
                      <a:pt x="4320" y="633"/>
                    </a:lnTo>
                    <a:cubicBezTo>
                      <a:pt x="4320" y="681"/>
                      <a:pt x="4281" y="720"/>
                      <a:pt x="4233" y="720"/>
                    </a:cubicBezTo>
                    <a:lnTo>
                      <a:pt x="86" y="720"/>
                    </a:lnTo>
                    <a:cubicBezTo>
                      <a:pt x="38" y="720"/>
                      <a:pt x="0" y="681"/>
                      <a:pt x="0" y="633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2E7D5B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6" name="path 1296"/>
              <p:cNvSpPr/>
              <p:nvPr/>
            </p:nvSpPr>
            <p:spPr>
              <a:xfrm>
                <a:off x="5669279" y="450850"/>
                <a:ext cx="2755900" cy="972820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1532">
                    <a:moveTo>
                      <a:pt x="10" y="1522"/>
                    </a:moveTo>
                    <a:lnTo>
                      <a:pt x="4330" y="1522"/>
                    </a:lnTo>
                    <a:lnTo>
                      <a:pt x="4330" y="10"/>
                    </a:lnTo>
                    <a:lnTo>
                      <a:pt x="10" y="10"/>
                    </a:lnTo>
                    <a:lnTo>
                      <a:pt x="10" y="1522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D8DEEA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8" name="path 1298"/>
              <p:cNvSpPr/>
              <p:nvPr/>
            </p:nvSpPr>
            <p:spPr>
              <a:xfrm>
                <a:off x="8423402" y="617220"/>
                <a:ext cx="82295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129" h="287">
                    <a:moveTo>
                      <a:pt x="0" y="72"/>
                    </a:moveTo>
                    <a:lnTo>
                      <a:pt x="64" y="72"/>
                    </a:lnTo>
                    <a:lnTo>
                      <a:pt x="64" y="0"/>
                    </a:lnTo>
                    <a:lnTo>
                      <a:pt x="129" y="144"/>
                    </a:lnTo>
                    <a:lnTo>
                      <a:pt x="64" y="287"/>
                    </a:lnTo>
                    <a:lnTo>
                      <a:pt x="64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0" name="path 1300"/>
              <p:cNvSpPr/>
              <p:nvPr/>
            </p:nvSpPr>
            <p:spPr>
              <a:xfrm>
                <a:off x="8510269" y="0"/>
                <a:ext cx="2743200" cy="457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720">
                    <a:moveTo>
                      <a:pt x="0" y="86"/>
                    </a:moveTo>
                    <a:moveTo>
                      <a:pt x="0" y="86"/>
                    </a:moveTo>
                    <a:cubicBezTo>
                      <a:pt x="0" y="38"/>
                      <a:pt x="38" y="0"/>
                      <a:pt x="86" y="0"/>
                    </a:cubicBezTo>
                    <a:lnTo>
                      <a:pt x="4233" y="0"/>
                    </a:lnTo>
                    <a:cubicBezTo>
                      <a:pt x="4281" y="0"/>
                      <a:pt x="4320" y="38"/>
                      <a:pt x="4320" y="86"/>
                    </a:cubicBezTo>
                    <a:lnTo>
                      <a:pt x="4320" y="633"/>
                    </a:lnTo>
                    <a:cubicBezTo>
                      <a:pt x="4320" y="681"/>
                      <a:pt x="4281" y="720"/>
                      <a:pt x="4233" y="720"/>
                    </a:cubicBezTo>
                    <a:lnTo>
                      <a:pt x="86" y="720"/>
                    </a:lnTo>
                    <a:cubicBezTo>
                      <a:pt x="38" y="720"/>
                      <a:pt x="0" y="681"/>
                      <a:pt x="0" y="633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2" name="path 1302"/>
              <p:cNvSpPr/>
              <p:nvPr/>
            </p:nvSpPr>
            <p:spPr>
              <a:xfrm>
                <a:off x="8503919" y="450850"/>
                <a:ext cx="2755900" cy="972820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1532">
                    <a:moveTo>
                      <a:pt x="10" y="1522"/>
                    </a:moveTo>
                    <a:lnTo>
                      <a:pt x="4330" y="1522"/>
                    </a:lnTo>
                    <a:lnTo>
                      <a:pt x="4330" y="10"/>
                    </a:lnTo>
                    <a:lnTo>
                      <a:pt x="10" y="10"/>
                    </a:lnTo>
                    <a:lnTo>
                      <a:pt x="10" y="1522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D8DEEA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4" name="path 1304"/>
              <p:cNvSpPr/>
              <p:nvPr/>
            </p:nvSpPr>
            <p:spPr>
              <a:xfrm>
                <a:off x="6350" y="1737360"/>
                <a:ext cx="2743200" cy="1645919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259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219" y="0"/>
                    </a:lnTo>
                    <a:cubicBezTo>
                      <a:pt x="4274" y="0"/>
                      <a:pt x="4320" y="45"/>
                      <a:pt x="4320" y="100"/>
                    </a:cubicBezTo>
                    <a:lnTo>
                      <a:pt x="4320" y="2491"/>
                    </a:lnTo>
                    <a:cubicBezTo>
                      <a:pt x="4320" y="2546"/>
                      <a:pt x="4274" y="2591"/>
                      <a:pt x="4219" y="2591"/>
                    </a:cubicBezTo>
                    <a:lnTo>
                      <a:pt x="100" y="2591"/>
                    </a:lnTo>
                    <a:cubicBezTo>
                      <a:pt x="45" y="2591"/>
                      <a:pt x="0" y="2546"/>
                      <a:pt x="0" y="249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6" name="path 1306"/>
              <p:cNvSpPr/>
              <p:nvPr/>
            </p:nvSpPr>
            <p:spPr>
              <a:xfrm>
                <a:off x="0" y="1731010"/>
                <a:ext cx="2755900" cy="1658619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261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229" y="10"/>
                    </a:lnTo>
                    <a:cubicBezTo>
                      <a:pt x="4284" y="10"/>
                      <a:pt x="4330" y="55"/>
                      <a:pt x="4330" y="110"/>
                    </a:cubicBezTo>
                    <a:lnTo>
                      <a:pt x="4330" y="2501"/>
                    </a:lnTo>
                    <a:cubicBezTo>
                      <a:pt x="4330" y="2556"/>
                      <a:pt x="4284" y="2601"/>
                      <a:pt x="4229" y="2601"/>
                    </a:cubicBezTo>
                    <a:lnTo>
                      <a:pt x="110" y="2601"/>
                    </a:lnTo>
                    <a:cubicBezTo>
                      <a:pt x="55" y="2601"/>
                      <a:pt x="10" y="2556"/>
                      <a:pt x="10" y="250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8" name="path 1308"/>
              <p:cNvSpPr/>
              <p:nvPr/>
            </p:nvSpPr>
            <p:spPr>
              <a:xfrm>
                <a:off x="2840990" y="2423160"/>
                <a:ext cx="457200" cy="256032"/>
              </a:xfrm>
              <a:custGeom>
                <a:avLst/>
                <a:gdLst/>
                <a:ahLst/>
                <a:cxnLst/>
                <a:rect l="0" t="0" r="0" b="0"/>
                <a:pathLst>
                  <a:path w="720" h="403">
                    <a:moveTo>
                      <a:pt x="0" y="100"/>
                    </a:moveTo>
                    <a:lnTo>
                      <a:pt x="518" y="100"/>
                    </a:lnTo>
                    <a:lnTo>
                      <a:pt x="518" y="0"/>
                    </a:lnTo>
                    <a:lnTo>
                      <a:pt x="720" y="201"/>
                    </a:lnTo>
                    <a:lnTo>
                      <a:pt x="518" y="403"/>
                    </a:lnTo>
                    <a:lnTo>
                      <a:pt x="518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0" name="path 1310"/>
              <p:cNvSpPr/>
              <p:nvPr/>
            </p:nvSpPr>
            <p:spPr>
              <a:xfrm>
                <a:off x="3389629" y="1737360"/>
                <a:ext cx="2743200" cy="1645919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259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219" y="0"/>
                    </a:lnTo>
                    <a:cubicBezTo>
                      <a:pt x="4274" y="0"/>
                      <a:pt x="4320" y="45"/>
                      <a:pt x="4320" y="100"/>
                    </a:cubicBezTo>
                    <a:lnTo>
                      <a:pt x="4320" y="2491"/>
                    </a:lnTo>
                    <a:cubicBezTo>
                      <a:pt x="4320" y="2546"/>
                      <a:pt x="4274" y="2591"/>
                      <a:pt x="4219" y="2591"/>
                    </a:cubicBezTo>
                    <a:lnTo>
                      <a:pt x="100" y="2591"/>
                    </a:lnTo>
                    <a:cubicBezTo>
                      <a:pt x="45" y="2591"/>
                      <a:pt x="0" y="2546"/>
                      <a:pt x="0" y="249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2" name="path 1312"/>
              <p:cNvSpPr/>
              <p:nvPr/>
            </p:nvSpPr>
            <p:spPr>
              <a:xfrm>
                <a:off x="3383279" y="1731010"/>
                <a:ext cx="2755900" cy="1658619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261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229" y="10"/>
                    </a:lnTo>
                    <a:cubicBezTo>
                      <a:pt x="4284" y="10"/>
                      <a:pt x="4330" y="55"/>
                      <a:pt x="4330" y="110"/>
                    </a:cubicBezTo>
                    <a:lnTo>
                      <a:pt x="4330" y="2501"/>
                    </a:lnTo>
                    <a:cubicBezTo>
                      <a:pt x="4330" y="2556"/>
                      <a:pt x="4284" y="2601"/>
                      <a:pt x="4229" y="2601"/>
                    </a:cubicBezTo>
                    <a:lnTo>
                      <a:pt x="110" y="2601"/>
                    </a:lnTo>
                    <a:cubicBezTo>
                      <a:pt x="55" y="2601"/>
                      <a:pt x="10" y="2556"/>
                      <a:pt x="10" y="250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4" name="path 1314"/>
              <p:cNvSpPr/>
              <p:nvPr/>
            </p:nvSpPr>
            <p:spPr>
              <a:xfrm>
                <a:off x="6224269" y="2423160"/>
                <a:ext cx="457200" cy="256032"/>
              </a:xfrm>
              <a:custGeom>
                <a:avLst/>
                <a:gdLst/>
                <a:ahLst/>
                <a:cxnLst/>
                <a:rect l="0" t="0" r="0" b="0"/>
                <a:pathLst>
                  <a:path w="720" h="403">
                    <a:moveTo>
                      <a:pt x="0" y="100"/>
                    </a:moveTo>
                    <a:lnTo>
                      <a:pt x="518" y="100"/>
                    </a:lnTo>
                    <a:lnTo>
                      <a:pt x="518" y="0"/>
                    </a:lnTo>
                    <a:lnTo>
                      <a:pt x="720" y="201"/>
                    </a:lnTo>
                    <a:lnTo>
                      <a:pt x="518" y="403"/>
                    </a:lnTo>
                    <a:lnTo>
                      <a:pt x="518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6" name="path 1316"/>
              <p:cNvSpPr/>
              <p:nvPr/>
            </p:nvSpPr>
            <p:spPr>
              <a:xfrm>
                <a:off x="6772909" y="1737360"/>
                <a:ext cx="2743200" cy="1645919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259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219" y="0"/>
                    </a:lnTo>
                    <a:cubicBezTo>
                      <a:pt x="4274" y="0"/>
                      <a:pt x="4320" y="45"/>
                      <a:pt x="4320" y="100"/>
                    </a:cubicBezTo>
                    <a:lnTo>
                      <a:pt x="4320" y="2491"/>
                    </a:lnTo>
                    <a:cubicBezTo>
                      <a:pt x="4320" y="2546"/>
                      <a:pt x="4274" y="2591"/>
                      <a:pt x="4219" y="2591"/>
                    </a:cubicBezTo>
                    <a:lnTo>
                      <a:pt x="100" y="2591"/>
                    </a:lnTo>
                    <a:cubicBezTo>
                      <a:pt x="45" y="2591"/>
                      <a:pt x="0" y="2546"/>
                      <a:pt x="0" y="249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2E7D5B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8" name="path 1318"/>
              <p:cNvSpPr/>
              <p:nvPr/>
            </p:nvSpPr>
            <p:spPr>
              <a:xfrm>
                <a:off x="6766559" y="1731010"/>
                <a:ext cx="2755900" cy="1658619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261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229" y="10"/>
                    </a:lnTo>
                    <a:cubicBezTo>
                      <a:pt x="4284" y="10"/>
                      <a:pt x="4330" y="55"/>
                      <a:pt x="4330" y="110"/>
                    </a:cubicBezTo>
                    <a:lnTo>
                      <a:pt x="4330" y="2501"/>
                    </a:lnTo>
                    <a:cubicBezTo>
                      <a:pt x="4330" y="2556"/>
                      <a:pt x="4284" y="2601"/>
                      <a:pt x="4229" y="2601"/>
                    </a:cubicBezTo>
                    <a:lnTo>
                      <a:pt x="110" y="2601"/>
                    </a:lnTo>
                    <a:cubicBezTo>
                      <a:pt x="55" y="2601"/>
                      <a:pt x="10" y="2556"/>
                      <a:pt x="10" y="250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2E7D5B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20" name="textbox 1320"/>
            <p:cNvSpPr/>
            <p:nvPr/>
          </p:nvSpPr>
          <p:spPr>
            <a:xfrm>
              <a:off x="5875313" y="120904"/>
              <a:ext cx="2335529" cy="1565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35965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Inference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6000"/>
                </a:lnSpc>
                <a:spcBef>
                  <a:spcPts val="546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Compute</a:t>
              </a:r>
              <a:r>
                <a:rPr sz="1800" kern="0" spc="6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</a:t>
              </a:r>
              <a:r>
                <a:rPr sz="1800" kern="0" spc="13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posterior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363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over</a:t>
              </a:r>
              <a:r>
                <a:rPr sz="1800" kern="0" spc="14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latent fac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tors;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9050" indent="635" algn="l" rtl="0" eaLnBrk="0">
                <a:lnSpc>
                  <a:spcPct val="96000"/>
                </a:lnSpc>
                <a:spcBef>
                  <a:spcPts val="293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predict</a:t>
              </a:r>
              <a:r>
                <a:rPr sz="1800" kern="0" spc="10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</a:t>
              </a:r>
              <a:r>
                <a:rPr sz="1800" kern="0" spc="15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rating WIT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H an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uncertainty</a:t>
              </a:r>
              <a:r>
                <a:rPr sz="1800" kern="0" spc="14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interval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.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322" name="textbox 1322"/>
            <p:cNvSpPr/>
            <p:nvPr/>
          </p:nvSpPr>
          <p:spPr>
            <a:xfrm>
              <a:off x="199042" y="120904"/>
              <a:ext cx="2324100" cy="1565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91209" algn="l" rtl="0" eaLnBrk="0">
                <a:lnSpc>
                  <a:spcPct val="8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Problem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7940" algn="l" rtl="0" eaLnBrk="0">
                <a:lnSpc>
                  <a:spcPct val="86000"/>
                </a:lnSpc>
                <a:spcBef>
                  <a:spcPts val="546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Predict a</a:t>
              </a:r>
              <a:r>
                <a:rPr sz="1800" kern="0" spc="12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user'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</a:t>
              </a:r>
              <a:r>
                <a:rPr sz="1800" kern="0" spc="17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rating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310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1800" kern="0" spc="2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an</a:t>
              </a:r>
              <a:r>
                <a:rPr sz="1800" kern="0" spc="14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item</a:t>
              </a:r>
              <a:r>
                <a:rPr sz="1800" kern="0" spc="2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they</a:t>
              </a:r>
              <a:r>
                <a:rPr sz="1800" kern="0" spc="15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haven</a:t>
              </a:r>
              <a:r>
                <a:rPr sz="1800" kern="0" spc="2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't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rated</a:t>
              </a:r>
              <a:r>
                <a:rPr sz="1800" kern="0" spc="4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--</a:t>
              </a:r>
              <a:r>
                <a:rPr sz="1800" kern="0" spc="8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especially</a:t>
              </a:r>
              <a:r>
                <a:rPr sz="1800" kern="0" spc="17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hard 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1800" kern="0" spc="15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new</a:t>
              </a:r>
              <a:r>
                <a:rPr sz="1800" kern="0" spc="13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users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/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items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.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324" name="textbox 1324"/>
            <p:cNvSpPr/>
            <p:nvPr/>
          </p:nvSpPr>
          <p:spPr>
            <a:xfrm>
              <a:off x="8667667" y="120904"/>
              <a:ext cx="2259964" cy="1565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27405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Decision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55244" indent="5080" algn="l" rtl="0" eaLnBrk="0">
                <a:lnSpc>
                  <a:spcPct val="96000"/>
                </a:lnSpc>
                <a:spcBef>
                  <a:spcPts val="1736"/>
                </a:spcBef>
                <a:tabLst/>
              </a:pP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“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Predicted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4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stars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,</a:t>
              </a:r>
              <a:r>
                <a:rPr sz="1800" kern="0" spc="10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80%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confidence.”</a:t>
              </a:r>
              <a:r>
                <a:rPr sz="1800" kern="0" spc="2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High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55244" indent="6350" algn="l" rtl="0" eaLnBrk="0">
                <a:lnSpc>
                  <a:spcPct val="96000"/>
                </a:lnSpc>
                <a:spcBef>
                  <a:spcPts val="293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uncertainty</a:t>
              </a:r>
              <a:r>
                <a:rPr sz="1800" kern="0" spc="9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can</a:t>
              </a:r>
              <a:r>
                <a:rPr sz="1800" kern="0" spc="9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drive  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cautious</a:t>
              </a:r>
              <a:r>
                <a:rPr sz="1800" kern="0" spc="10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exploration</a:t>
              </a:r>
              <a:r>
                <a:rPr sz="1800" kern="0" spc="10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.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326" name="textbox 1326"/>
            <p:cNvSpPr/>
            <p:nvPr/>
          </p:nvSpPr>
          <p:spPr>
            <a:xfrm>
              <a:off x="3033936" y="120904"/>
              <a:ext cx="2111375" cy="1565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Probabilistic Model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7940" algn="l" rtl="0" eaLnBrk="0">
                <a:lnSpc>
                  <a:spcPct val="86000"/>
                </a:lnSpc>
                <a:spcBef>
                  <a:spcPts val="546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Bayesian</a:t>
              </a:r>
              <a:r>
                <a:rPr sz="1800" kern="0" spc="16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matr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ix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24765" indent="-12064" algn="l" rtl="0" eaLnBrk="0">
                <a:lnSpc>
                  <a:spcPct val="98000"/>
                </a:lnSpc>
                <a:spcBef>
                  <a:spcPts val="310"/>
                </a:spcBef>
                <a:tabLst/>
              </a:pP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factorization:</a:t>
              </a:r>
              <a:r>
                <a:rPr sz="1800" kern="0" spc="16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atent 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user</a:t>
              </a:r>
              <a:r>
                <a:rPr sz="1800" kern="0" spc="7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/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item</a:t>
              </a:r>
              <a:r>
                <a:rPr sz="1800" kern="0" spc="7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factors</a:t>
              </a:r>
              <a:r>
                <a:rPr sz="1800" kern="0" spc="7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get 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priors.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328" name="textbox 1328"/>
            <p:cNvSpPr/>
            <p:nvPr/>
          </p:nvSpPr>
          <p:spPr>
            <a:xfrm>
              <a:off x="655065" y="2178939"/>
              <a:ext cx="1458594" cy="803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5382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178435" algn="l" rtl="0" eaLnBrk="0">
                <a:lnSpc>
                  <a:spcPct val="95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User ×</a:t>
              </a:r>
              <a:r>
                <a:rPr sz="1800" b="1" kern="0" spc="1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Item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</a:t>
              </a:r>
              <a:r>
                <a:rPr sz="1800" b="1" kern="0" spc="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Rating Matrix</a:t>
              </a:r>
              <a:r>
                <a:rPr sz="1800" b="1" kern="0" spc="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(mostly empt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y)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330" name="textbox 1330"/>
            <p:cNvSpPr/>
            <p:nvPr/>
          </p:nvSpPr>
          <p:spPr>
            <a:xfrm>
              <a:off x="7393177" y="2319147"/>
              <a:ext cx="1510664" cy="5257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516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59055" algn="l" rtl="0" eaLnBrk="0">
                <a:lnSpc>
                  <a:spcPct val="92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Predictio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n: 4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Segoe UI Symbol"/>
                  <a:ea typeface="Segoe UI Symbol"/>
                  <a:cs typeface="Segoe UI Symbol"/>
                </a:rPr>
                <a:t>★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Segoe UI Symbol"/>
                  <a:ea typeface="Segoe UI Symbol"/>
                  <a:cs typeface="Segoe UI Symbol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80% confidence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332" name="textbox 1332"/>
            <p:cNvSpPr/>
            <p:nvPr/>
          </p:nvSpPr>
          <p:spPr>
            <a:xfrm>
              <a:off x="4091330" y="2316098"/>
              <a:ext cx="1357630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60984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Bayesian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Latent</a:t>
              </a:r>
              <a:r>
                <a:rPr sz="1800" b="1" kern="0" spc="1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Factors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334" name="textbox 1334"/>
          <p:cNvSpPr/>
          <p:nvPr/>
        </p:nvSpPr>
        <p:spPr>
          <a:xfrm>
            <a:off x="556285" y="393355"/>
            <a:ext cx="7092315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Case Study: Recom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mendation Systems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336" name="textbox 1336"/>
          <p:cNvSpPr/>
          <p:nvPr/>
        </p:nvSpPr>
        <p:spPr>
          <a:xfrm>
            <a:off x="551713" y="97104"/>
            <a:ext cx="270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CASE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STUDIES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textbox 1338"/>
          <p:cNvSpPr/>
          <p:nvPr/>
        </p:nvSpPr>
        <p:spPr>
          <a:xfrm>
            <a:off x="3837558" y="2987700"/>
            <a:ext cx="7189469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800" kern="0" spc="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thresholding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alone.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49"/>
              </a:spcBef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Pixel-color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evidence + neighbor consistency</a:t>
            </a:r>
            <a:r>
              <a:rPr sz="1800" i="1" kern="0" spc="1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 segmentation.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5875" algn="l" rtl="0" eaLnBrk="0">
              <a:lnSpc>
                <a:spcPct val="83000"/>
              </a:lnSpc>
              <a:spcBef>
                <a:spcPts val="367"/>
              </a:spcBef>
              <a:tabLst/>
            </a:pP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CRF post-processing</a:t>
            </a:r>
            <a:r>
              <a:rPr sz="1800" i="1" kern="0" spc="10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applies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same idea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 smooth</a:t>
            </a:r>
            <a:r>
              <a:rPr sz="1800" i="1" kern="0" spc="1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CNN ou</a:t>
            </a:r>
            <a:r>
              <a:rPr sz="1800" i="1" kern="0" spc="-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tputs.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40" name="rect 1340"/>
          <p:cNvSpPr/>
          <p:nvPr/>
        </p:nvSpPr>
        <p:spPr>
          <a:xfrm>
            <a:off x="1280160" y="3108959"/>
            <a:ext cx="512063" cy="512064"/>
          </a:xfrm>
          <a:prstGeom prst="rect">
            <a:avLst/>
          </a:prstGeom>
          <a:solidFill>
            <a:srgbClr val="D6E4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342" name="table 1342"/>
          <p:cNvGraphicFramePr>
            <a:graphicFrameLocks noGrp="1"/>
          </p:cNvGraphicFramePr>
          <p:nvPr/>
        </p:nvGraphicFramePr>
        <p:xfrm>
          <a:off x="668708" y="3000400"/>
          <a:ext cx="2775585" cy="2272665"/>
        </p:xfrm>
        <a:graphic>
          <a:graphicData uri="http://schemas.openxmlformats.org/drawingml/2006/table">
            <a:tbl>
              <a:tblPr/>
              <a:tblGrid>
                <a:gridCol w="628015"/>
                <a:gridCol w="525780"/>
                <a:gridCol w="525780"/>
                <a:gridCol w="563244"/>
                <a:gridCol w="532765"/>
              </a:tblGrid>
              <a:tr h="641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5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contex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70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</a:tr>
              <a:tr h="5289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E"/>
                    </a:solidFill>
                  </a:tcPr>
                </a:tc>
              </a:tr>
            </a:tbl>
          </a:graphicData>
        </a:graphic>
      </p:graphicFrame>
      <p:sp>
        <p:nvSpPr>
          <p:cNvPr id="1344" name="textbox 1344"/>
          <p:cNvSpPr/>
          <p:nvPr/>
        </p:nvSpPr>
        <p:spPr>
          <a:xfrm>
            <a:off x="6126479" y="1280159"/>
            <a:ext cx="2743835" cy="457200"/>
          </a:xfrm>
          <a:prstGeom prst="rect">
            <a:avLst/>
          </a:prstGeom>
          <a:solidFill>
            <a:srgbClr val="2E7D5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935989" algn="l" rtl="0" eaLnBrk="0">
              <a:lnSpc>
                <a:spcPct val="83000"/>
              </a:lnSpc>
              <a:spcBef>
                <a:spcPts val="3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Inference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46" name="textbox 1346"/>
          <p:cNvSpPr/>
          <p:nvPr/>
        </p:nvSpPr>
        <p:spPr>
          <a:xfrm>
            <a:off x="3291840" y="1280159"/>
            <a:ext cx="2743200" cy="457200"/>
          </a:xfrm>
          <a:prstGeom prst="rect">
            <a:avLst/>
          </a:prstGeom>
          <a:solidFill>
            <a:srgbClr val="C97F1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69265" algn="l" rtl="0" eaLnBrk="0">
              <a:lnSpc>
                <a:spcPct val="69000"/>
              </a:lnSpc>
              <a:spcBef>
                <a:spcPts val="6"/>
              </a:spcBef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Probabilistic</a:t>
            </a:r>
            <a:r>
              <a:rPr sz="1800" b="1" kern="0" spc="16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48" name="textbox 1348"/>
          <p:cNvSpPr/>
          <p:nvPr/>
        </p:nvSpPr>
        <p:spPr>
          <a:xfrm>
            <a:off x="457200" y="1280159"/>
            <a:ext cx="2743200" cy="457200"/>
          </a:xfrm>
          <a:prstGeom prst="rect">
            <a:avLst/>
          </a:prstGeom>
          <a:solidFill>
            <a:srgbClr val="1E2A5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984250" algn="l" rtl="0" eaLnBrk="0">
              <a:lnSpc>
                <a:spcPct val="69000"/>
              </a:lnSpc>
              <a:spcBef>
                <a:spcPts val="6"/>
              </a:spcBef>
              <a:tabLst/>
            </a:pP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Problem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350" name="table 1350"/>
          <p:cNvGraphicFramePr>
            <a:graphicFrameLocks noGrp="1"/>
          </p:cNvGraphicFramePr>
          <p:nvPr/>
        </p:nvGraphicFramePr>
        <p:xfrm>
          <a:off x="450850" y="1731009"/>
          <a:ext cx="2755900" cy="972820"/>
        </p:xfrm>
        <a:graphic>
          <a:graphicData uri="http://schemas.openxmlformats.org/drawingml/2006/table">
            <a:tbl>
              <a:tblPr/>
              <a:tblGrid>
                <a:gridCol w="2755900"/>
              </a:tblGrid>
              <a:tr h="960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669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Label each</a:t>
                      </a:r>
                      <a:r>
                        <a:rPr sz="1800" kern="0" spc="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ixel</a:t>
                      </a:r>
                      <a:r>
                        <a:rPr sz="1800" kern="0" spc="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11454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foreground</a:t>
                      </a:r>
                      <a:r>
                        <a:rPr sz="1800" kern="0" spc="1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or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24790" algn="l" rtl="0" eaLnBrk="0">
                        <a:lnSpc>
                          <a:spcPct val="86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background from color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52" name="path 1352"/>
          <p:cNvSpPr/>
          <p:nvPr/>
        </p:nvSpPr>
        <p:spPr>
          <a:xfrm>
            <a:off x="3204972" y="1897379"/>
            <a:ext cx="82295" cy="182879"/>
          </a:xfrm>
          <a:custGeom>
            <a:avLst/>
            <a:gdLst/>
            <a:ahLst/>
            <a:cxnLst/>
            <a:rect l="0" t="0" r="0" b="0"/>
            <a:pathLst>
              <a:path w="129" h="287">
                <a:moveTo>
                  <a:pt x="0" y="72"/>
                </a:moveTo>
                <a:lnTo>
                  <a:pt x="64" y="72"/>
                </a:lnTo>
                <a:lnTo>
                  <a:pt x="64" y="0"/>
                </a:lnTo>
                <a:lnTo>
                  <a:pt x="129" y="144"/>
                </a:lnTo>
                <a:lnTo>
                  <a:pt x="64" y="287"/>
                </a:lnTo>
                <a:lnTo>
                  <a:pt x="64" y="216"/>
                </a:lnTo>
                <a:lnTo>
                  <a:pt x="0" y="216"/>
                </a:lnTo>
                <a:lnTo>
                  <a:pt x="0" y="72"/>
                </a:lnTo>
                <a:close/>
              </a:path>
            </a:pathLst>
          </a:custGeom>
          <a:solidFill>
            <a:srgbClr val="5B627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354" name="table 1354"/>
          <p:cNvGraphicFramePr>
            <a:graphicFrameLocks noGrp="1"/>
          </p:cNvGraphicFramePr>
          <p:nvPr/>
        </p:nvGraphicFramePr>
        <p:xfrm>
          <a:off x="3285490" y="1731009"/>
          <a:ext cx="2755900" cy="972820"/>
        </p:xfrm>
        <a:graphic>
          <a:graphicData uri="http://schemas.openxmlformats.org/drawingml/2006/table">
            <a:tbl>
              <a:tblPr/>
              <a:tblGrid>
                <a:gridCol w="2755900"/>
              </a:tblGrid>
              <a:tr h="960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329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P(Y|X)</a:t>
                      </a:r>
                      <a:r>
                        <a:rPr sz="1800" kern="0" spc="-18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 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exp(Σᵢ</a:t>
                      </a:r>
                      <a:r>
                        <a:rPr sz="1800" kern="0" spc="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log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17804" indent="8889" algn="l" rtl="0" eaLnBrk="0">
                        <a:lnSpc>
                          <a:spcPct val="96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P(Xᵢ|Yᵢ) +</a:t>
                      </a:r>
                      <a:r>
                        <a:rPr sz="1800" kern="0" spc="15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β Σ</a:t>
                      </a:r>
                      <a:r>
                        <a:rPr sz="1800" kern="0" spc="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eighbor-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agreement</a:t>
                      </a:r>
                      <a:r>
                        <a:rPr sz="1800" kern="0" spc="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  (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MRF</a:t>
                      </a:r>
                      <a:r>
                        <a:rPr sz="1800" kern="0" spc="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/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CRF</a:t>
                      </a:r>
                      <a:r>
                        <a:rPr sz="1800" kern="0" spc="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56" name="path 1356"/>
          <p:cNvSpPr/>
          <p:nvPr/>
        </p:nvSpPr>
        <p:spPr>
          <a:xfrm>
            <a:off x="6039611" y="1897379"/>
            <a:ext cx="82296" cy="182879"/>
          </a:xfrm>
          <a:custGeom>
            <a:avLst/>
            <a:gdLst/>
            <a:ahLst/>
            <a:cxnLst/>
            <a:rect l="0" t="0" r="0" b="0"/>
            <a:pathLst>
              <a:path w="129" h="287">
                <a:moveTo>
                  <a:pt x="0" y="72"/>
                </a:moveTo>
                <a:lnTo>
                  <a:pt x="64" y="72"/>
                </a:lnTo>
                <a:lnTo>
                  <a:pt x="64" y="0"/>
                </a:lnTo>
                <a:lnTo>
                  <a:pt x="129" y="144"/>
                </a:lnTo>
                <a:lnTo>
                  <a:pt x="64" y="287"/>
                </a:lnTo>
                <a:lnTo>
                  <a:pt x="64" y="216"/>
                </a:lnTo>
                <a:lnTo>
                  <a:pt x="0" y="216"/>
                </a:lnTo>
                <a:lnTo>
                  <a:pt x="0" y="72"/>
                </a:lnTo>
                <a:close/>
              </a:path>
            </a:pathLst>
          </a:custGeom>
          <a:solidFill>
            <a:srgbClr val="5B627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358" name="table 1358"/>
          <p:cNvGraphicFramePr>
            <a:graphicFrameLocks noGrp="1"/>
          </p:cNvGraphicFramePr>
          <p:nvPr/>
        </p:nvGraphicFramePr>
        <p:xfrm>
          <a:off x="6120129" y="1731009"/>
          <a:ext cx="2755900" cy="972820"/>
        </p:xfrm>
        <a:graphic>
          <a:graphicData uri="http://schemas.openxmlformats.org/drawingml/2006/table">
            <a:tbl>
              <a:tblPr/>
              <a:tblGrid>
                <a:gridCol w="2755900"/>
              </a:tblGrid>
              <a:tr h="960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96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MAP solution</a:t>
                      </a:r>
                      <a:r>
                        <a:rPr sz="1800" kern="0" spc="1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≈</a:t>
                      </a:r>
                      <a:r>
                        <a:rPr sz="18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13995" indent="4444" algn="l" rtl="0" eaLnBrk="0">
                        <a:lnSpc>
                          <a:spcPct val="96000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energy</a:t>
                      </a:r>
                      <a:r>
                        <a:rPr sz="18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minimization</a:t>
                      </a:r>
                      <a:r>
                        <a:rPr sz="18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/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graph</a:t>
                      </a:r>
                      <a:r>
                        <a:rPr sz="1800" kern="0" spc="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cut</a:t>
                      </a:r>
                      <a:r>
                        <a:rPr sz="18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problem</a:t>
                      </a:r>
                      <a:r>
                        <a:rPr sz="1800" kern="0" spc="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60" name="textbox 1360"/>
          <p:cNvSpPr/>
          <p:nvPr/>
        </p:nvSpPr>
        <p:spPr>
          <a:xfrm>
            <a:off x="8961119" y="1280159"/>
            <a:ext cx="2743200" cy="457200"/>
          </a:xfrm>
          <a:prstGeom prst="rect">
            <a:avLst/>
          </a:prstGeom>
          <a:solidFill>
            <a:srgbClr val="9DBBE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984885" algn="l" rtl="0" eaLnBrk="0">
              <a:lnSpc>
                <a:spcPct val="68000"/>
              </a:lnSpc>
              <a:spcBef>
                <a:spcPts val="5"/>
              </a:spcBef>
              <a:tabLst/>
            </a:pPr>
            <a:r>
              <a:rPr sz="1800" b="1" kern="0" spc="-20" dirty="0">
                <a:solidFill>
                  <a:srgbClr val="1E2A5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Decision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62" name="path 1362"/>
          <p:cNvSpPr/>
          <p:nvPr/>
        </p:nvSpPr>
        <p:spPr>
          <a:xfrm>
            <a:off x="8874252" y="1897379"/>
            <a:ext cx="82295" cy="182879"/>
          </a:xfrm>
          <a:custGeom>
            <a:avLst/>
            <a:gdLst/>
            <a:ahLst/>
            <a:cxnLst/>
            <a:rect l="0" t="0" r="0" b="0"/>
            <a:pathLst>
              <a:path w="129" h="287">
                <a:moveTo>
                  <a:pt x="0" y="72"/>
                </a:moveTo>
                <a:lnTo>
                  <a:pt x="64" y="72"/>
                </a:lnTo>
                <a:lnTo>
                  <a:pt x="64" y="0"/>
                </a:lnTo>
                <a:lnTo>
                  <a:pt x="129" y="144"/>
                </a:lnTo>
                <a:lnTo>
                  <a:pt x="64" y="287"/>
                </a:lnTo>
                <a:lnTo>
                  <a:pt x="64" y="216"/>
                </a:lnTo>
                <a:lnTo>
                  <a:pt x="0" y="216"/>
                </a:lnTo>
                <a:lnTo>
                  <a:pt x="0" y="72"/>
                </a:lnTo>
                <a:close/>
              </a:path>
            </a:pathLst>
          </a:custGeom>
          <a:solidFill>
            <a:srgbClr val="5B627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364" name="table 1364"/>
          <p:cNvGraphicFramePr>
            <a:graphicFrameLocks noGrp="1"/>
          </p:cNvGraphicFramePr>
          <p:nvPr/>
        </p:nvGraphicFramePr>
        <p:xfrm>
          <a:off x="8954769" y="1731009"/>
          <a:ext cx="2755900" cy="972820"/>
        </p:xfrm>
        <a:graphic>
          <a:graphicData uri="http://schemas.openxmlformats.org/drawingml/2006/table">
            <a:tbl>
              <a:tblPr/>
              <a:tblGrid>
                <a:gridCol w="2755900"/>
              </a:tblGrid>
              <a:tr h="960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4" indent="127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Combines</a:t>
                      </a:r>
                      <a:r>
                        <a:rPr sz="1800" kern="0" spc="15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per</a:t>
                      </a:r>
                      <a:r>
                        <a:rPr sz="1800" kern="0" spc="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pixel            </a:t>
                      </a:r>
                      <a:r>
                        <a:rPr sz="18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color evidenc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r>
                        <a:rPr sz="1800" kern="0" spc="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with</a:t>
                      </a:r>
                      <a:r>
                        <a:rPr sz="1800" kern="0" spc="1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        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smoothness</a:t>
                      </a:r>
                      <a:r>
                        <a:rPr sz="18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prior</a:t>
                      </a:r>
                      <a:r>
                        <a:rPr sz="1800" kern="0" spc="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--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66" name="textbox 1366"/>
          <p:cNvSpPr/>
          <p:nvPr/>
        </p:nvSpPr>
        <p:spPr>
          <a:xfrm>
            <a:off x="556285" y="393355"/>
            <a:ext cx="6029959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Case Study: Image</a:t>
            </a:r>
            <a:r>
              <a:rPr sz="3200" b="1" kern="0" spc="1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Segmentati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on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368" name="textbox 1368"/>
          <p:cNvSpPr/>
          <p:nvPr/>
        </p:nvSpPr>
        <p:spPr>
          <a:xfrm>
            <a:off x="656229" y="2705989"/>
            <a:ext cx="1967229" cy="260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evidence and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spatial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70" name="textbox 1370"/>
          <p:cNvSpPr/>
          <p:nvPr/>
        </p:nvSpPr>
        <p:spPr>
          <a:xfrm>
            <a:off x="551713" y="97104"/>
            <a:ext cx="270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CASE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STUDIES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72" name="path 1372"/>
          <p:cNvSpPr/>
          <p:nvPr/>
        </p:nvSpPr>
        <p:spPr>
          <a:xfrm>
            <a:off x="731519" y="3657600"/>
            <a:ext cx="518413" cy="518413"/>
          </a:xfrm>
          <a:custGeom>
            <a:avLst/>
            <a:gdLst/>
            <a:ahLst/>
            <a:cxnLst/>
            <a:rect l="0" t="0" r="0" b="0"/>
            <a:pathLst>
              <a:path w="816" h="816">
                <a:moveTo>
                  <a:pt x="0" y="806"/>
                </a:moveTo>
                <a:lnTo>
                  <a:pt x="806" y="806"/>
                </a:lnTo>
                <a:lnTo>
                  <a:pt x="806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2" name="group 102"/>
          <p:cNvGrpSpPr/>
          <p:nvPr/>
        </p:nvGrpSpPr>
        <p:grpSpPr>
          <a:xfrm rot="21600000">
            <a:off x="731519" y="3108959"/>
            <a:ext cx="518413" cy="512064"/>
            <a:chOff x="0" y="0"/>
            <a:chExt cx="518413" cy="512064"/>
          </a:xfrm>
        </p:grpSpPr>
        <p:sp>
          <p:nvSpPr>
            <p:cNvPr id="1374" name="path 1374"/>
            <p:cNvSpPr/>
            <p:nvPr/>
          </p:nvSpPr>
          <p:spPr>
            <a:xfrm>
              <a:off x="0" y="0"/>
              <a:ext cx="512063" cy="512064"/>
            </a:xfrm>
            <a:custGeom>
              <a:avLst/>
              <a:gdLst/>
              <a:ahLst/>
              <a:cxnLst/>
              <a:rect l="0" t="0" r="0" b="0"/>
              <a:pathLst>
                <a:path w="806" h="806">
                  <a:moveTo>
                    <a:pt x="0" y="806"/>
                  </a:moveTo>
                  <a:lnTo>
                    <a:pt x="806" y="806"/>
                  </a:lnTo>
                  <a:lnTo>
                    <a:pt x="806" y="0"/>
                  </a:lnTo>
                  <a:lnTo>
                    <a:pt x="0" y="0"/>
                  </a:lnTo>
                  <a:lnTo>
                    <a:pt x="0" y="806"/>
                  </a:lnTo>
                  <a:close/>
                </a:path>
              </a:pathLst>
            </a:custGeom>
            <a:solidFill>
              <a:srgbClr val="D6E4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76" name="path 1376"/>
            <p:cNvSpPr/>
            <p:nvPr/>
          </p:nvSpPr>
          <p:spPr>
            <a:xfrm>
              <a:off x="505713" y="0"/>
              <a:ext cx="12700" cy="512064"/>
            </a:xfrm>
            <a:custGeom>
              <a:avLst/>
              <a:gdLst/>
              <a:ahLst/>
              <a:cxnLst/>
              <a:rect l="0" t="0" r="0" b="0"/>
              <a:pathLst>
                <a:path w="20" h="806">
                  <a:moveTo>
                    <a:pt x="10" y="806"/>
                  </a:moveTo>
                  <a:lnTo>
                    <a:pt x="10" y="0"/>
                  </a:ln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378" name="rect 1378"/>
          <p:cNvSpPr/>
          <p:nvPr/>
        </p:nvSpPr>
        <p:spPr>
          <a:xfrm>
            <a:off x="1828800" y="3108959"/>
            <a:ext cx="512064" cy="512064"/>
          </a:xfrm>
          <a:prstGeom prst="rect">
            <a:avLst/>
          </a:prstGeom>
          <a:solidFill>
            <a:srgbClr val="C97F1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0" name="rect 1380"/>
          <p:cNvSpPr/>
          <p:nvPr/>
        </p:nvSpPr>
        <p:spPr>
          <a:xfrm>
            <a:off x="2926079" y="3108959"/>
            <a:ext cx="512064" cy="512064"/>
          </a:xfrm>
          <a:prstGeom prst="rect">
            <a:avLst/>
          </a:prstGeom>
          <a:solidFill>
            <a:srgbClr val="C97F1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2" name="rect 1382"/>
          <p:cNvSpPr/>
          <p:nvPr/>
        </p:nvSpPr>
        <p:spPr>
          <a:xfrm>
            <a:off x="2377439" y="3108959"/>
            <a:ext cx="512063" cy="512064"/>
          </a:xfrm>
          <a:prstGeom prst="rect">
            <a:avLst/>
          </a:prstGeom>
          <a:solidFill>
            <a:srgbClr val="C97F1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4" name="textbox 1384"/>
          <p:cNvSpPr/>
          <p:nvPr/>
        </p:nvSpPr>
        <p:spPr>
          <a:xfrm>
            <a:off x="9168459" y="2705989"/>
            <a:ext cx="1097914" cy="260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better</a:t>
            </a:r>
            <a:r>
              <a:rPr sz="18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than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86" name="textbox 1386"/>
          <p:cNvSpPr/>
          <p:nvPr/>
        </p:nvSpPr>
        <p:spPr>
          <a:xfrm>
            <a:off x="3489949" y="2705989"/>
            <a:ext cx="532130" cy="260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style)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88" name="path 1388"/>
          <p:cNvSpPr/>
          <p:nvPr/>
        </p:nvSpPr>
        <p:spPr>
          <a:xfrm>
            <a:off x="2883153" y="3108959"/>
            <a:ext cx="12700" cy="512064"/>
          </a:xfrm>
          <a:custGeom>
            <a:avLst/>
            <a:gdLst/>
            <a:ahLst/>
            <a:cxnLst/>
            <a:rect l="0" t="0" r="0" b="0"/>
            <a:pathLst>
              <a:path w="20" h="806">
                <a:moveTo>
                  <a:pt x="10" y="806"/>
                </a:moveTo>
                <a:lnTo>
                  <a:pt x="1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90" name="path 1390"/>
          <p:cNvSpPr/>
          <p:nvPr/>
        </p:nvSpPr>
        <p:spPr>
          <a:xfrm>
            <a:off x="1237233" y="4754879"/>
            <a:ext cx="12700" cy="512064"/>
          </a:xfrm>
          <a:custGeom>
            <a:avLst/>
            <a:gdLst/>
            <a:ahLst/>
            <a:cxnLst/>
            <a:rect l="0" t="0" r="0" b="0"/>
            <a:pathLst>
              <a:path w="20" h="806">
                <a:moveTo>
                  <a:pt x="10" y="806"/>
                </a:moveTo>
                <a:lnTo>
                  <a:pt x="1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92" name="path 1392"/>
          <p:cNvSpPr/>
          <p:nvPr/>
        </p:nvSpPr>
        <p:spPr>
          <a:xfrm>
            <a:off x="1237233" y="4206240"/>
            <a:ext cx="12700" cy="512063"/>
          </a:xfrm>
          <a:custGeom>
            <a:avLst/>
            <a:gdLst/>
            <a:ahLst/>
            <a:cxnLst/>
            <a:rect l="0" t="0" r="0" b="0"/>
            <a:pathLst>
              <a:path w="20" h="806">
                <a:moveTo>
                  <a:pt x="10" y="806"/>
                </a:moveTo>
                <a:lnTo>
                  <a:pt x="10" y="0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picture 13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5722" y="3071695"/>
            <a:ext cx="10874023" cy="1177729"/>
          </a:xfrm>
          <a:prstGeom prst="rect">
            <a:avLst/>
          </a:prstGeom>
        </p:spPr>
      </p:pic>
      <p:grpSp>
        <p:nvGrpSpPr>
          <p:cNvPr id="104" name="group 104"/>
          <p:cNvGrpSpPr/>
          <p:nvPr/>
        </p:nvGrpSpPr>
        <p:grpSpPr>
          <a:xfrm rot="21600000">
            <a:off x="450850" y="1280159"/>
            <a:ext cx="11253469" cy="2932430"/>
            <a:chOff x="0" y="0"/>
            <a:chExt cx="11253469" cy="2932430"/>
          </a:xfrm>
        </p:grpSpPr>
        <p:grpSp>
          <p:nvGrpSpPr>
            <p:cNvPr id="106" name="group 106"/>
            <p:cNvGrpSpPr/>
            <p:nvPr/>
          </p:nvGrpSpPr>
          <p:grpSpPr>
            <a:xfrm rot="21600000">
              <a:off x="0" y="0"/>
              <a:ext cx="11253469" cy="2932430"/>
              <a:chOff x="0" y="0"/>
              <a:chExt cx="11253469" cy="2932430"/>
            </a:xfrm>
          </p:grpSpPr>
          <p:sp>
            <p:nvSpPr>
              <p:cNvPr id="1396" name="path 1396"/>
              <p:cNvSpPr/>
              <p:nvPr/>
            </p:nvSpPr>
            <p:spPr>
              <a:xfrm>
                <a:off x="6350" y="0"/>
                <a:ext cx="2743200" cy="457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720">
                    <a:moveTo>
                      <a:pt x="0" y="86"/>
                    </a:moveTo>
                    <a:moveTo>
                      <a:pt x="0" y="86"/>
                    </a:moveTo>
                    <a:cubicBezTo>
                      <a:pt x="0" y="38"/>
                      <a:pt x="38" y="0"/>
                      <a:pt x="86" y="0"/>
                    </a:cubicBezTo>
                    <a:lnTo>
                      <a:pt x="4233" y="0"/>
                    </a:lnTo>
                    <a:cubicBezTo>
                      <a:pt x="4281" y="0"/>
                      <a:pt x="4320" y="38"/>
                      <a:pt x="4320" y="86"/>
                    </a:cubicBezTo>
                    <a:lnTo>
                      <a:pt x="4320" y="633"/>
                    </a:lnTo>
                    <a:cubicBezTo>
                      <a:pt x="4320" y="681"/>
                      <a:pt x="4281" y="720"/>
                      <a:pt x="4233" y="720"/>
                    </a:cubicBezTo>
                    <a:lnTo>
                      <a:pt x="86" y="720"/>
                    </a:lnTo>
                    <a:cubicBezTo>
                      <a:pt x="38" y="720"/>
                      <a:pt x="0" y="681"/>
                      <a:pt x="0" y="633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8" name="path 1398"/>
              <p:cNvSpPr/>
              <p:nvPr/>
            </p:nvSpPr>
            <p:spPr>
              <a:xfrm>
                <a:off x="0" y="450850"/>
                <a:ext cx="2755900" cy="972820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1532">
                    <a:moveTo>
                      <a:pt x="10" y="1522"/>
                    </a:moveTo>
                    <a:lnTo>
                      <a:pt x="4330" y="1522"/>
                    </a:lnTo>
                    <a:lnTo>
                      <a:pt x="4330" y="10"/>
                    </a:lnTo>
                    <a:lnTo>
                      <a:pt x="10" y="10"/>
                    </a:lnTo>
                    <a:lnTo>
                      <a:pt x="10" y="1522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D8DEEA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0" name="path 1400"/>
              <p:cNvSpPr/>
              <p:nvPr/>
            </p:nvSpPr>
            <p:spPr>
              <a:xfrm>
                <a:off x="2754122" y="617220"/>
                <a:ext cx="82295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129" h="287">
                    <a:moveTo>
                      <a:pt x="0" y="72"/>
                    </a:moveTo>
                    <a:lnTo>
                      <a:pt x="64" y="72"/>
                    </a:lnTo>
                    <a:lnTo>
                      <a:pt x="64" y="0"/>
                    </a:lnTo>
                    <a:lnTo>
                      <a:pt x="129" y="144"/>
                    </a:lnTo>
                    <a:lnTo>
                      <a:pt x="64" y="287"/>
                    </a:lnTo>
                    <a:lnTo>
                      <a:pt x="64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2" name="path 1402"/>
              <p:cNvSpPr/>
              <p:nvPr/>
            </p:nvSpPr>
            <p:spPr>
              <a:xfrm>
                <a:off x="2840990" y="0"/>
                <a:ext cx="2743200" cy="457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720">
                    <a:moveTo>
                      <a:pt x="0" y="86"/>
                    </a:moveTo>
                    <a:moveTo>
                      <a:pt x="0" y="86"/>
                    </a:moveTo>
                    <a:cubicBezTo>
                      <a:pt x="0" y="38"/>
                      <a:pt x="38" y="0"/>
                      <a:pt x="86" y="0"/>
                    </a:cubicBezTo>
                    <a:lnTo>
                      <a:pt x="4233" y="0"/>
                    </a:lnTo>
                    <a:cubicBezTo>
                      <a:pt x="4281" y="0"/>
                      <a:pt x="4320" y="38"/>
                      <a:pt x="4320" y="86"/>
                    </a:cubicBezTo>
                    <a:lnTo>
                      <a:pt x="4320" y="633"/>
                    </a:lnTo>
                    <a:cubicBezTo>
                      <a:pt x="4320" y="681"/>
                      <a:pt x="4281" y="720"/>
                      <a:pt x="4233" y="720"/>
                    </a:cubicBezTo>
                    <a:lnTo>
                      <a:pt x="86" y="720"/>
                    </a:lnTo>
                    <a:cubicBezTo>
                      <a:pt x="38" y="720"/>
                      <a:pt x="0" y="681"/>
                      <a:pt x="0" y="633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4" name="path 1404"/>
              <p:cNvSpPr/>
              <p:nvPr/>
            </p:nvSpPr>
            <p:spPr>
              <a:xfrm>
                <a:off x="2834640" y="450850"/>
                <a:ext cx="2755900" cy="972820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1532">
                    <a:moveTo>
                      <a:pt x="10" y="1522"/>
                    </a:moveTo>
                    <a:lnTo>
                      <a:pt x="4330" y="1522"/>
                    </a:lnTo>
                    <a:lnTo>
                      <a:pt x="4330" y="10"/>
                    </a:lnTo>
                    <a:lnTo>
                      <a:pt x="10" y="10"/>
                    </a:lnTo>
                    <a:lnTo>
                      <a:pt x="10" y="1522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D8DEEA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6" name="path 1406"/>
              <p:cNvSpPr/>
              <p:nvPr/>
            </p:nvSpPr>
            <p:spPr>
              <a:xfrm>
                <a:off x="5588761" y="617220"/>
                <a:ext cx="82296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129" h="287">
                    <a:moveTo>
                      <a:pt x="0" y="72"/>
                    </a:moveTo>
                    <a:lnTo>
                      <a:pt x="64" y="72"/>
                    </a:lnTo>
                    <a:lnTo>
                      <a:pt x="64" y="0"/>
                    </a:lnTo>
                    <a:lnTo>
                      <a:pt x="129" y="144"/>
                    </a:lnTo>
                    <a:lnTo>
                      <a:pt x="64" y="287"/>
                    </a:lnTo>
                    <a:lnTo>
                      <a:pt x="64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8" name="path 1408"/>
              <p:cNvSpPr/>
              <p:nvPr/>
            </p:nvSpPr>
            <p:spPr>
              <a:xfrm>
                <a:off x="5675629" y="0"/>
                <a:ext cx="2743200" cy="457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720">
                    <a:moveTo>
                      <a:pt x="0" y="86"/>
                    </a:moveTo>
                    <a:moveTo>
                      <a:pt x="0" y="86"/>
                    </a:moveTo>
                    <a:cubicBezTo>
                      <a:pt x="0" y="38"/>
                      <a:pt x="38" y="0"/>
                      <a:pt x="86" y="0"/>
                    </a:cubicBezTo>
                    <a:lnTo>
                      <a:pt x="4233" y="0"/>
                    </a:lnTo>
                    <a:cubicBezTo>
                      <a:pt x="4281" y="0"/>
                      <a:pt x="4320" y="38"/>
                      <a:pt x="4320" y="86"/>
                    </a:cubicBezTo>
                    <a:lnTo>
                      <a:pt x="4320" y="633"/>
                    </a:lnTo>
                    <a:cubicBezTo>
                      <a:pt x="4320" y="681"/>
                      <a:pt x="4281" y="720"/>
                      <a:pt x="4233" y="720"/>
                    </a:cubicBezTo>
                    <a:lnTo>
                      <a:pt x="86" y="720"/>
                    </a:lnTo>
                    <a:cubicBezTo>
                      <a:pt x="38" y="720"/>
                      <a:pt x="0" y="681"/>
                      <a:pt x="0" y="633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2E7D5B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0" name="path 1410"/>
              <p:cNvSpPr/>
              <p:nvPr/>
            </p:nvSpPr>
            <p:spPr>
              <a:xfrm>
                <a:off x="5669279" y="450850"/>
                <a:ext cx="2755900" cy="972820"/>
              </a:xfrm>
              <a:custGeom>
                <a:avLst/>
                <a:gdLst/>
                <a:ahLst/>
                <a:cxnLst/>
                <a:rect l="0" t="0" r="0" b="0"/>
                <a:pathLst>
                  <a:path w="4340" h="1532">
                    <a:moveTo>
                      <a:pt x="10" y="1522"/>
                    </a:moveTo>
                    <a:lnTo>
                      <a:pt x="4330" y="1522"/>
                    </a:lnTo>
                    <a:lnTo>
                      <a:pt x="4330" y="10"/>
                    </a:lnTo>
                    <a:lnTo>
                      <a:pt x="10" y="10"/>
                    </a:lnTo>
                    <a:lnTo>
                      <a:pt x="10" y="1522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D8DEEA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2" name="path 1412"/>
              <p:cNvSpPr/>
              <p:nvPr/>
            </p:nvSpPr>
            <p:spPr>
              <a:xfrm>
                <a:off x="8423402" y="617220"/>
                <a:ext cx="82295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129" h="287">
                    <a:moveTo>
                      <a:pt x="0" y="72"/>
                    </a:moveTo>
                    <a:lnTo>
                      <a:pt x="64" y="72"/>
                    </a:lnTo>
                    <a:lnTo>
                      <a:pt x="64" y="0"/>
                    </a:lnTo>
                    <a:lnTo>
                      <a:pt x="129" y="144"/>
                    </a:lnTo>
                    <a:lnTo>
                      <a:pt x="64" y="287"/>
                    </a:lnTo>
                    <a:lnTo>
                      <a:pt x="64" y="216"/>
                    </a:lnTo>
                    <a:lnTo>
                      <a:pt x="0" y="21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4" name="path 1414"/>
              <p:cNvSpPr/>
              <p:nvPr/>
            </p:nvSpPr>
            <p:spPr>
              <a:xfrm>
                <a:off x="8510269" y="0"/>
                <a:ext cx="2743200" cy="457200"/>
              </a:xfrm>
              <a:custGeom>
                <a:avLst/>
                <a:gdLst/>
                <a:ahLst/>
                <a:cxnLst/>
                <a:rect l="0" t="0" r="0" b="0"/>
                <a:pathLst>
                  <a:path w="4320" h="720">
                    <a:moveTo>
                      <a:pt x="0" y="86"/>
                    </a:moveTo>
                    <a:moveTo>
                      <a:pt x="0" y="86"/>
                    </a:moveTo>
                    <a:cubicBezTo>
                      <a:pt x="0" y="38"/>
                      <a:pt x="38" y="0"/>
                      <a:pt x="86" y="0"/>
                    </a:cubicBezTo>
                    <a:lnTo>
                      <a:pt x="4233" y="0"/>
                    </a:lnTo>
                    <a:cubicBezTo>
                      <a:pt x="4281" y="0"/>
                      <a:pt x="4320" y="38"/>
                      <a:pt x="4320" y="86"/>
                    </a:cubicBezTo>
                    <a:lnTo>
                      <a:pt x="4320" y="633"/>
                    </a:lnTo>
                    <a:cubicBezTo>
                      <a:pt x="4320" y="681"/>
                      <a:pt x="4281" y="720"/>
                      <a:pt x="4233" y="720"/>
                    </a:cubicBezTo>
                    <a:lnTo>
                      <a:pt x="86" y="720"/>
                    </a:lnTo>
                    <a:cubicBezTo>
                      <a:pt x="38" y="720"/>
                      <a:pt x="0" y="681"/>
                      <a:pt x="0" y="633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6" name="path 1416"/>
              <p:cNvSpPr/>
              <p:nvPr/>
            </p:nvSpPr>
            <p:spPr>
              <a:xfrm>
                <a:off x="8503919" y="450850"/>
                <a:ext cx="2749550" cy="972820"/>
              </a:xfrm>
              <a:custGeom>
                <a:avLst/>
                <a:gdLst/>
                <a:ahLst/>
                <a:cxnLst/>
                <a:rect l="0" t="0" r="0" b="0"/>
                <a:pathLst>
                  <a:path w="4330" h="1532">
                    <a:moveTo>
                      <a:pt x="10" y="1522"/>
                    </a:moveTo>
                    <a:lnTo>
                      <a:pt x="4330" y="1522"/>
                    </a:lnTo>
                    <a:moveTo>
                      <a:pt x="4330" y="10"/>
                    </a:moveTo>
                    <a:lnTo>
                      <a:pt x="10" y="10"/>
                    </a:lnTo>
                    <a:lnTo>
                      <a:pt x="10" y="1522"/>
                    </a:lnTo>
                  </a:path>
                </a:pathLst>
              </a:custGeom>
              <a:noFill/>
              <a:ln w="12700" cap="flat">
                <a:solidFill>
                  <a:srgbClr val="D8DEEA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8" name="path 1418"/>
              <p:cNvSpPr/>
              <p:nvPr/>
            </p:nvSpPr>
            <p:spPr>
              <a:xfrm>
                <a:off x="6350" y="1737360"/>
                <a:ext cx="2606039" cy="1188719"/>
              </a:xfrm>
              <a:custGeom>
                <a:avLst/>
                <a:gdLst/>
                <a:ahLst/>
                <a:cxnLst/>
                <a:rect l="0" t="0" r="0" b="0"/>
                <a:pathLst>
                  <a:path w="4103" h="187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03" y="0"/>
                    </a:lnTo>
                    <a:cubicBezTo>
                      <a:pt x="4058" y="0"/>
                      <a:pt x="4103" y="45"/>
                      <a:pt x="4103" y="100"/>
                    </a:cubicBezTo>
                    <a:lnTo>
                      <a:pt x="4103" y="1771"/>
                    </a:lnTo>
                    <a:cubicBezTo>
                      <a:pt x="4103" y="1826"/>
                      <a:pt x="4058" y="1871"/>
                      <a:pt x="4003" y="1871"/>
                    </a:cubicBezTo>
                    <a:lnTo>
                      <a:pt x="100" y="1871"/>
                    </a:lnTo>
                    <a:cubicBezTo>
                      <a:pt x="45" y="1871"/>
                      <a:pt x="0" y="1826"/>
                      <a:pt x="0" y="177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0" name="path 1420"/>
              <p:cNvSpPr/>
              <p:nvPr/>
            </p:nvSpPr>
            <p:spPr>
              <a:xfrm>
                <a:off x="0" y="1731010"/>
                <a:ext cx="2618739" cy="1201419"/>
              </a:xfrm>
              <a:custGeom>
                <a:avLst/>
                <a:gdLst/>
                <a:ahLst/>
                <a:cxnLst/>
                <a:rect l="0" t="0" r="0" b="0"/>
                <a:pathLst>
                  <a:path w="4123" h="189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13" y="10"/>
                    </a:lnTo>
                    <a:cubicBezTo>
                      <a:pt x="4068" y="10"/>
                      <a:pt x="4113" y="55"/>
                      <a:pt x="4113" y="110"/>
                    </a:cubicBezTo>
                    <a:lnTo>
                      <a:pt x="4113" y="1781"/>
                    </a:lnTo>
                    <a:cubicBezTo>
                      <a:pt x="4113" y="1836"/>
                      <a:pt x="4068" y="1881"/>
                      <a:pt x="4013" y="1881"/>
                    </a:cubicBezTo>
                    <a:lnTo>
                      <a:pt x="110" y="1881"/>
                    </a:lnTo>
                    <a:cubicBezTo>
                      <a:pt x="55" y="1881"/>
                      <a:pt x="10" y="1836"/>
                      <a:pt x="10" y="178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2" name="path 1422"/>
              <p:cNvSpPr/>
              <p:nvPr/>
            </p:nvSpPr>
            <p:spPr>
              <a:xfrm>
                <a:off x="2621533" y="2240280"/>
                <a:ext cx="118872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187" h="287">
                    <a:moveTo>
                      <a:pt x="0" y="71"/>
                    </a:moveTo>
                    <a:lnTo>
                      <a:pt x="93" y="71"/>
                    </a:lnTo>
                    <a:lnTo>
                      <a:pt x="93" y="0"/>
                    </a:lnTo>
                    <a:lnTo>
                      <a:pt x="187" y="143"/>
                    </a:lnTo>
                    <a:lnTo>
                      <a:pt x="93" y="287"/>
                    </a:lnTo>
                    <a:lnTo>
                      <a:pt x="93" y="215"/>
                    </a:lnTo>
                    <a:lnTo>
                      <a:pt x="0" y="215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4" name="path 1424"/>
              <p:cNvSpPr/>
              <p:nvPr/>
            </p:nvSpPr>
            <p:spPr>
              <a:xfrm>
                <a:off x="2749550" y="1737360"/>
                <a:ext cx="2606040" cy="1188719"/>
              </a:xfrm>
              <a:custGeom>
                <a:avLst/>
                <a:gdLst/>
                <a:ahLst/>
                <a:cxnLst/>
                <a:rect l="0" t="0" r="0" b="0"/>
                <a:pathLst>
                  <a:path w="4104" h="187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03" y="0"/>
                    </a:lnTo>
                    <a:cubicBezTo>
                      <a:pt x="4058" y="0"/>
                      <a:pt x="4104" y="45"/>
                      <a:pt x="4104" y="100"/>
                    </a:cubicBezTo>
                    <a:lnTo>
                      <a:pt x="4104" y="1771"/>
                    </a:lnTo>
                    <a:cubicBezTo>
                      <a:pt x="4104" y="1826"/>
                      <a:pt x="4058" y="1871"/>
                      <a:pt x="4003" y="1871"/>
                    </a:cubicBezTo>
                    <a:lnTo>
                      <a:pt x="100" y="1871"/>
                    </a:lnTo>
                    <a:cubicBezTo>
                      <a:pt x="45" y="1871"/>
                      <a:pt x="0" y="1826"/>
                      <a:pt x="0" y="177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6" name="path 1426"/>
              <p:cNvSpPr/>
              <p:nvPr/>
            </p:nvSpPr>
            <p:spPr>
              <a:xfrm>
                <a:off x="2743200" y="1731010"/>
                <a:ext cx="2618740" cy="1201419"/>
              </a:xfrm>
              <a:custGeom>
                <a:avLst/>
                <a:gdLst/>
                <a:ahLst/>
                <a:cxnLst/>
                <a:rect l="0" t="0" r="0" b="0"/>
                <a:pathLst>
                  <a:path w="4124" h="189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13" y="10"/>
                    </a:lnTo>
                    <a:cubicBezTo>
                      <a:pt x="4068" y="10"/>
                      <a:pt x="4114" y="55"/>
                      <a:pt x="4114" y="110"/>
                    </a:cubicBezTo>
                    <a:lnTo>
                      <a:pt x="4114" y="1781"/>
                    </a:lnTo>
                    <a:cubicBezTo>
                      <a:pt x="4114" y="1836"/>
                      <a:pt x="4068" y="1881"/>
                      <a:pt x="4013" y="1881"/>
                    </a:cubicBezTo>
                    <a:lnTo>
                      <a:pt x="110" y="1881"/>
                    </a:lnTo>
                    <a:cubicBezTo>
                      <a:pt x="55" y="1881"/>
                      <a:pt x="10" y="1836"/>
                      <a:pt x="10" y="178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8" name="path 1428"/>
              <p:cNvSpPr/>
              <p:nvPr/>
            </p:nvSpPr>
            <p:spPr>
              <a:xfrm>
                <a:off x="5364733" y="2240280"/>
                <a:ext cx="118872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187" h="287">
                    <a:moveTo>
                      <a:pt x="0" y="71"/>
                    </a:moveTo>
                    <a:lnTo>
                      <a:pt x="93" y="71"/>
                    </a:lnTo>
                    <a:lnTo>
                      <a:pt x="93" y="0"/>
                    </a:lnTo>
                    <a:lnTo>
                      <a:pt x="187" y="143"/>
                    </a:lnTo>
                    <a:lnTo>
                      <a:pt x="93" y="287"/>
                    </a:lnTo>
                    <a:lnTo>
                      <a:pt x="93" y="215"/>
                    </a:lnTo>
                    <a:lnTo>
                      <a:pt x="0" y="215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0" name="path 1430"/>
              <p:cNvSpPr/>
              <p:nvPr/>
            </p:nvSpPr>
            <p:spPr>
              <a:xfrm>
                <a:off x="5492750" y="1737360"/>
                <a:ext cx="2606040" cy="1188719"/>
              </a:xfrm>
              <a:custGeom>
                <a:avLst/>
                <a:gdLst/>
                <a:ahLst/>
                <a:cxnLst/>
                <a:rect l="0" t="0" r="0" b="0"/>
                <a:pathLst>
                  <a:path w="4104" h="187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03" y="0"/>
                    </a:lnTo>
                    <a:cubicBezTo>
                      <a:pt x="4058" y="0"/>
                      <a:pt x="4104" y="45"/>
                      <a:pt x="4104" y="100"/>
                    </a:cubicBezTo>
                    <a:lnTo>
                      <a:pt x="4104" y="1771"/>
                    </a:lnTo>
                    <a:cubicBezTo>
                      <a:pt x="4104" y="1826"/>
                      <a:pt x="4058" y="1871"/>
                      <a:pt x="4003" y="1871"/>
                    </a:cubicBezTo>
                    <a:lnTo>
                      <a:pt x="100" y="1871"/>
                    </a:lnTo>
                    <a:cubicBezTo>
                      <a:pt x="45" y="1871"/>
                      <a:pt x="0" y="1826"/>
                      <a:pt x="0" y="177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2" name="path 1432"/>
              <p:cNvSpPr/>
              <p:nvPr/>
            </p:nvSpPr>
            <p:spPr>
              <a:xfrm>
                <a:off x="5486400" y="1731010"/>
                <a:ext cx="2618740" cy="1201419"/>
              </a:xfrm>
              <a:custGeom>
                <a:avLst/>
                <a:gdLst/>
                <a:ahLst/>
                <a:cxnLst/>
                <a:rect l="0" t="0" r="0" b="0"/>
                <a:pathLst>
                  <a:path w="4124" h="189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13" y="10"/>
                    </a:lnTo>
                    <a:cubicBezTo>
                      <a:pt x="4068" y="10"/>
                      <a:pt x="4114" y="55"/>
                      <a:pt x="4114" y="110"/>
                    </a:cubicBezTo>
                    <a:lnTo>
                      <a:pt x="4114" y="1781"/>
                    </a:lnTo>
                    <a:cubicBezTo>
                      <a:pt x="4114" y="1836"/>
                      <a:pt x="4068" y="1881"/>
                      <a:pt x="4013" y="1881"/>
                    </a:cubicBezTo>
                    <a:lnTo>
                      <a:pt x="110" y="1881"/>
                    </a:lnTo>
                    <a:cubicBezTo>
                      <a:pt x="55" y="1881"/>
                      <a:pt x="10" y="1836"/>
                      <a:pt x="10" y="178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4" name="path 1434"/>
              <p:cNvSpPr/>
              <p:nvPr/>
            </p:nvSpPr>
            <p:spPr>
              <a:xfrm>
                <a:off x="8107934" y="2240280"/>
                <a:ext cx="118871" cy="182879"/>
              </a:xfrm>
              <a:custGeom>
                <a:avLst/>
                <a:gdLst/>
                <a:ahLst/>
                <a:cxnLst/>
                <a:rect l="0" t="0" r="0" b="0"/>
                <a:pathLst>
                  <a:path w="187" h="287">
                    <a:moveTo>
                      <a:pt x="0" y="71"/>
                    </a:moveTo>
                    <a:lnTo>
                      <a:pt x="93" y="71"/>
                    </a:lnTo>
                    <a:lnTo>
                      <a:pt x="93" y="0"/>
                    </a:lnTo>
                    <a:lnTo>
                      <a:pt x="187" y="143"/>
                    </a:lnTo>
                    <a:lnTo>
                      <a:pt x="93" y="287"/>
                    </a:lnTo>
                    <a:lnTo>
                      <a:pt x="93" y="215"/>
                    </a:lnTo>
                    <a:lnTo>
                      <a:pt x="0" y="215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6" name="path 1436"/>
              <p:cNvSpPr/>
              <p:nvPr/>
            </p:nvSpPr>
            <p:spPr>
              <a:xfrm>
                <a:off x="8235950" y="1737360"/>
                <a:ext cx="2606040" cy="1188719"/>
              </a:xfrm>
              <a:custGeom>
                <a:avLst/>
                <a:gdLst/>
                <a:ahLst/>
                <a:cxnLst/>
                <a:rect l="0" t="0" r="0" b="0"/>
                <a:pathLst>
                  <a:path w="4104" h="1871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4003" y="0"/>
                    </a:lnTo>
                    <a:cubicBezTo>
                      <a:pt x="4058" y="0"/>
                      <a:pt x="4104" y="45"/>
                      <a:pt x="4104" y="100"/>
                    </a:cubicBezTo>
                    <a:lnTo>
                      <a:pt x="4104" y="1771"/>
                    </a:lnTo>
                    <a:cubicBezTo>
                      <a:pt x="4104" y="1826"/>
                      <a:pt x="4058" y="1871"/>
                      <a:pt x="4003" y="1871"/>
                    </a:cubicBezTo>
                    <a:lnTo>
                      <a:pt x="100" y="1871"/>
                    </a:lnTo>
                    <a:cubicBezTo>
                      <a:pt x="45" y="1871"/>
                      <a:pt x="0" y="1826"/>
                      <a:pt x="0" y="1771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2E7D5B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8" name="path 1438"/>
              <p:cNvSpPr/>
              <p:nvPr/>
            </p:nvSpPr>
            <p:spPr>
              <a:xfrm>
                <a:off x="8229600" y="1731010"/>
                <a:ext cx="2618740" cy="1201419"/>
              </a:xfrm>
              <a:custGeom>
                <a:avLst/>
                <a:gdLst/>
                <a:ahLst/>
                <a:cxnLst/>
                <a:rect l="0" t="0" r="0" b="0"/>
                <a:pathLst>
                  <a:path w="4124" h="1891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4013" y="10"/>
                    </a:lnTo>
                    <a:cubicBezTo>
                      <a:pt x="4068" y="10"/>
                      <a:pt x="4114" y="55"/>
                      <a:pt x="4114" y="110"/>
                    </a:cubicBezTo>
                    <a:lnTo>
                      <a:pt x="4114" y="1781"/>
                    </a:lnTo>
                    <a:cubicBezTo>
                      <a:pt x="4114" y="1836"/>
                      <a:pt x="4068" y="1881"/>
                      <a:pt x="4013" y="1881"/>
                    </a:cubicBezTo>
                    <a:lnTo>
                      <a:pt x="110" y="1881"/>
                    </a:lnTo>
                    <a:cubicBezTo>
                      <a:pt x="55" y="1881"/>
                      <a:pt x="10" y="1836"/>
                      <a:pt x="10" y="1781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2E7D5B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40" name="textbox 1440"/>
            <p:cNvSpPr/>
            <p:nvPr/>
          </p:nvSpPr>
          <p:spPr>
            <a:xfrm>
              <a:off x="8703997" y="120904"/>
              <a:ext cx="2330450" cy="1565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91209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Decision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546"/>
                </a:spcBef>
                <a:tabLst/>
              </a:pP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Action selection</a:t>
              </a:r>
              <a:r>
                <a:rPr sz="1800" kern="0" spc="13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can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9050" algn="l" rtl="0" eaLnBrk="0">
                <a:lnSpc>
                  <a:spcPct val="96000"/>
                </a:lnSpc>
                <a:spcBef>
                  <a:spcPts val="293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account for</a:t>
              </a:r>
              <a:r>
                <a:rPr sz="1800" kern="0" spc="13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risk,</a:t>
              </a:r>
              <a:r>
                <a:rPr sz="1800" kern="0" spc="15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not 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just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expected</a:t>
              </a:r>
              <a:r>
                <a:rPr sz="1800" kern="0" spc="15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retur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</a:t>
              </a:r>
              <a:r>
                <a:rPr sz="1800" kern="0" spc="14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(e.g.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26034" algn="l" rtl="0" eaLnBrk="0">
                <a:lnSpc>
                  <a:spcPct val="86000"/>
                </a:lnSpc>
                <a:spcBef>
                  <a:spcPts val="363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penalize</a:t>
              </a:r>
              <a:r>
                <a:rPr sz="1800" kern="0" spc="5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variance</a:t>
              </a:r>
              <a:r>
                <a:rPr sz="1800" kern="0" spc="5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,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42" name="textbox 1442"/>
            <p:cNvSpPr/>
            <p:nvPr/>
          </p:nvSpPr>
          <p:spPr>
            <a:xfrm>
              <a:off x="5868742" y="120904"/>
              <a:ext cx="2235835" cy="1565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4295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Inference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9050" indent="8889" algn="l" rtl="0" eaLnBrk="0">
                <a:lnSpc>
                  <a:spcPct val="96000"/>
                </a:lnSpc>
                <a:spcBef>
                  <a:spcPts val="1736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Bayesian</a:t>
              </a:r>
              <a:r>
                <a:rPr sz="1800" kern="0" spc="14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update af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ter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each</a:t>
              </a:r>
              <a:r>
                <a:rPr sz="1800" kern="0" spc="9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observation</a:t>
              </a:r>
              <a:r>
                <a:rPr sz="1800" kern="0" spc="9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;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indent="13334" algn="l" rtl="0" eaLnBrk="0">
                <a:lnSpc>
                  <a:spcPct val="96000"/>
                </a:lnSpc>
                <a:spcBef>
                  <a:spcPts val="293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predict</a:t>
              </a:r>
              <a:r>
                <a:rPr sz="1800" kern="0" spc="16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next</a:t>
              </a:r>
              <a:r>
                <a:rPr sz="1800" kern="0" spc="15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-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belief with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2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the action-c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onditioned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44" name="textbox 1444"/>
            <p:cNvSpPr/>
            <p:nvPr/>
          </p:nvSpPr>
          <p:spPr>
            <a:xfrm>
              <a:off x="196460" y="120904"/>
              <a:ext cx="1795145" cy="1565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93750" algn="l" rtl="0" eaLnBrk="0">
                <a:lnSpc>
                  <a:spcPct val="8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Problem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0320" indent="-8254" algn="l" rtl="0" eaLnBrk="0">
                <a:lnSpc>
                  <a:spcPct val="99000"/>
                </a:lnSpc>
                <a:spcBef>
                  <a:spcPts val="4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The</a:t>
              </a:r>
              <a:r>
                <a:rPr sz="1800" kern="0" spc="6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agent</a:t>
              </a:r>
              <a:r>
                <a:rPr sz="1800" kern="0" spc="10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doesn</a:t>
              </a:r>
              <a:r>
                <a:rPr sz="1800" kern="0" spc="6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't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observe</a:t>
              </a:r>
              <a:r>
                <a:rPr sz="1800" kern="0" spc="10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the</a:t>
              </a:r>
              <a:r>
                <a:rPr sz="1800" kern="0" spc="10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true  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environment state</a:t>
              </a:r>
              <a:r>
                <a:rPr sz="1800" kern="0" spc="8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perfectly</a:t>
              </a:r>
              <a:r>
                <a:rPr sz="1800" kern="0" spc="13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1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partially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46" name="textbox 1446"/>
            <p:cNvSpPr/>
            <p:nvPr/>
          </p:nvSpPr>
          <p:spPr>
            <a:xfrm>
              <a:off x="3040742" y="120904"/>
              <a:ext cx="2104389" cy="12833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Probabilistic Model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0954" algn="l" rtl="0" eaLnBrk="0">
                <a:lnSpc>
                  <a:spcPct val="86000"/>
                </a:lnSpc>
                <a:spcBef>
                  <a:spcPts val="546"/>
                </a:spcBef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Maintain</a:t>
              </a: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</a:t>
              </a:r>
              <a:r>
                <a:rPr sz="1800" kern="0" spc="13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belief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ts val="2220"/>
                </a:lnSpc>
                <a:tabLst/>
              </a:pPr>
              <a:r>
                <a:rPr sz="1800" kern="0" spc="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distributi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on</a:t>
              </a:r>
              <a:r>
                <a:rPr sz="1800" kern="0" spc="11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over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9050" algn="l" rtl="0" eaLnBrk="0">
                <a:lnSpc>
                  <a:spcPts val="2219"/>
                </a:lnSpc>
                <a:tabLst/>
              </a:pP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possible</a:t>
              </a:r>
              <a:r>
                <a:rPr sz="1800" kern="0" spc="10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kern="0" spc="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states</a:t>
              </a:r>
              <a:r>
                <a:rPr sz="1800" kern="0" spc="30" dirty="0">
                  <a:solidFill>
                    <a:srgbClr val="33394A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.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48" name="textbox 1448"/>
            <p:cNvSpPr/>
            <p:nvPr/>
          </p:nvSpPr>
          <p:spPr>
            <a:xfrm>
              <a:off x="372211" y="2087499"/>
              <a:ext cx="1885950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75920" algn="l" rtl="0" eaLnBrk="0">
                <a:lnSpc>
                  <a:spcPct val="8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Broad</a:t>
              </a:r>
              <a:r>
                <a:rPr sz="1800" b="1" kern="0" spc="15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belief</a:t>
              </a:r>
              <a:endParaRPr sz="1800" dirty="0">
                <a:latin typeface="Calibri"/>
                <a:ea typeface="Calibri"/>
                <a:cs typeface="Calibri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367"/>
                </a:spcBef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(uncertain</a:t>
              </a:r>
              <a:r>
                <a:rPr sz="1800" b="1" kern="0" spc="1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sition)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50" name="textbox 1450"/>
            <p:cNvSpPr/>
            <p:nvPr/>
          </p:nvSpPr>
          <p:spPr>
            <a:xfrm>
              <a:off x="8813825" y="2087499"/>
              <a:ext cx="1470025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7475" indent="-104775" algn="l" rtl="0" eaLnBrk="0">
                <a:lnSpc>
                  <a:spcPct val="93000"/>
                </a:lnSpc>
                <a:tabLst/>
              </a:pP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Posterior belief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concentrates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52" name="textbox 1452"/>
            <p:cNvSpPr/>
            <p:nvPr/>
          </p:nvSpPr>
          <p:spPr>
            <a:xfrm>
              <a:off x="6102375" y="2087499"/>
              <a:ext cx="1402714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985" indent="-121285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New</a:t>
              </a:r>
              <a:r>
                <a:rPr sz="1800" b="1" kern="0" spc="10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landma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rk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observation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54" name="textbox 1454"/>
            <p:cNvSpPr/>
            <p:nvPr/>
          </p:nvSpPr>
          <p:spPr>
            <a:xfrm>
              <a:off x="3430549" y="2224659"/>
              <a:ext cx="1260475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4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Robot</a:t>
              </a:r>
              <a:r>
                <a:rPr sz="1800" b="1" kern="0" spc="1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moves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456" name="textbox 1456"/>
          <p:cNvSpPr/>
          <p:nvPr/>
        </p:nvSpPr>
        <p:spPr>
          <a:xfrm>
            <a:off x="556285" y="393355"/>
            <a:ext cx="10301605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Case Study: Reinforcement Learning Under Uncertainty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458" name="textbox 1458"/>
          <p:cNvSpPr/>
          <p:nvPr/>
        </p:nvSpPr>
        <p:spPr>
          <a:xfrm>
            <a:off x="1250545" y="4723750"/>
            <a:ext cx="9660890" cy="282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000" b="1" i="1" kern="0" spc="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RL is not only about maximizing expected reward --</a:t>
            </a:r>
            <a:r>
              <a:rPr sz="2000" b="1" i="1" kern="0" spc="1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000" b="1" i="1" kern="0" spc="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uncertainty</a:t>
            </a:r>
            <a:r>
              <a:rPr sz="2000" b="1" i="1" kern="0" spc="-10" dirty="0">
                <a:solidFill>
                  <a:srgbClr val="C97F1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and risk also matter.</a:t>
            </a:r>
            <a:endParaRPr sz="2000" dirty="0">
              <a:latin typeface="Cambria"/>
              <a:ea typeface="Cambria"/>
              <a:cs typeface="Cambria"/>
            </a:endParaRPr>
          </a:p>
        </p:txBody>
      </p:sp>
      <p:sp>
        <p:nvSpPr>
          <p:cNvPr id="1460" name="textbox 1460"/>
          <p:cNvSpPr/>
          <p:nvPr/>
        </p:nvSpPr>
        <p:spPr>
          <a:xfrm>
            <a:off x="551713" y="97104"/>
            <a:ext cx="270827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800" b="1" kern="0" spc="4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</a:t>
            </a:r>
            <a:r>
              <a:rPr sz="1800" b="1" kern="0" spc="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b="1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CASE</a:t>
            </a:r>
            <a:r>
              <a:rPr sz="1800" b="1" kern="0" spc="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STUDIES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462" name="path 1462"/>
          <p:cNvSpPr/>
          <p:nvPr/>
        </p:nvSpPr>
        <p:spPr>
          <a:xfrm>
            <a:off x="11697969" y="1737359"/>
            <a:ext cx="12700" cy="960120"/>
          </a:xfrm>
          <a:custGeom>
            <a:avLst/>
            <a:gdLst/>
            <a:ahLst/>
            <a:cxnLst/>
            <a:rect l="0" t="0" r="0" b="0"/>
            <a:pathLst>
              <a:path w="20" h="1512">
                <a:moveTo>
                  <a:pt x="10" y="1512"/>
                </a:moveTo>
                <a:lnTo>
                  <a:pt x="10" y="0"/>
                </a:lnTo>
              </a:path>
            </a:pathLst>
          </a:custGeom>
          <a:noFill/>
          <a:ln w="12700" cap="flat">
            <a:solidFill>
              <a:srgbClr val="D8DEEA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" name="picture 14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5776" y="2132553"/>
            <a:ext cx="10919849" cy="1385161"/>
          </a:xfrm>
          <a:prstGeom prst="rect">
            <a:avLst/>
          </a:prstGeom>
        </p:spPr>
      </p:pic>
      <p:grpSp>
        <p:nvGrpSpPr>
          <p:cNvPr id="108" name="group 108"/>
          <p:cNvGrpSpPr/>
          <p:nvPr/>
        </p:nvGrpSpPr>
        <p:grpSpPr>
          <a:xfrm rot="21600000">
            <a:off x="457200" y="2096770"/>
            <a:ext cx="10887709" cy="1384300"/>
            <a:chOff x="0" y="0"/>
            <a:chExt cx="10887709" cy="1384300"/>
          </a:xfrm>
        </p:grpSpPr>
        <p:grpSp>
          <p:nvGrpSpPr>
            <p:cNvPr id="110" name="group 110"/>
            <p:cNvGrpSpPr/>
            <p:nvPr/>
          </p:nvGrpSpPr>
          <p:grpSpPr>
            <a:xfrm rot="21600000">
              <a:off x="0" y="0"/>
              <a:ext cx="10887709" cy="1384300"/>
              <a:chOff x="0" y="0"/>
              <a:chExt cx="10887709" cy="1384300"/>
            </a:xfrm>
          </p:grpSpPr>
          <p:sp>
            <p:nvSpPr>
              <p:cNvPr id="1466" name="path 1466"/>
              <p:cNvSpPr/>
              <p:nvPr/>
            </p:nvSpPr>
            <p:spPr>
              <a:xfrm>
                <a:off x="0" y="6350"/>
                <a:ext cx="210312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3312" h="216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3211" y="0"/>
                    </a:lnTo>
                    <a:cubicBezTo>
                      <a:pt x="3266" y="0"/>
                      <a:pt x="3312" y="45"/>
                      <a:pt x="3312" y="100"/>
                    </a:cubicBezTo>
                    <a:lnTo>
                      <a:pt x="3312" y="2059"/>
                    </a:lnTo>
                    <a:cubicBezTo>
                      <a:pt x="3312" y="2114"/>
                      <a:pt x="3266" y="2160"/>
                      <a:pt x="3211" y="2160"/>
                    </a:cubicBezTo>
                    <a:lnTo>
                      <a:pt x="100" y="2160"/>
                    </a:lnTo>
                    <a:cubicBezTo>
                      <a:pt x="45" y="2160"/>
                      <a:pt x="0" y="2114"/>
                      <a:pt x="0" y="205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8" name="path 1468"/>
              <p:cNvSpPr/>
              <p:nvPr/>
            </p:nvSpPr>
            <p:spPr>
              <a:xfrm>
                <a:off x="64008" y="0"/>
                <a:ext cx="2045461" cy="1384300"/>
              </a:xfrm>
              <a:custGeom>
                <a:avLst/>
                <a:gdLst/>
                <a:ahLst/>
                <a:cxnLst/>
                <a:rect l="0" t="0" r="0" b="0"/>
                <a:pathLst>
                  <a:path w="3221" h="2180">
                    <a:moveTo>
                      <a:pt x="0" y="10"/>
                    </a:moveTo>
                    <a:lnTo>
                      <a:pt x="3110" y="10"/>
                    </a:lnTo>
                    <a:cubicBezTo>
                      <a:pt x="3165" y="10"/>
                      <a:pt x="3211" y="55"/>
                      <a:pt x="3211" y="110"/>
                    </a:cubicBezTo>
                    <a:lnTo>
                      <a:pt x="3211" y="2069"/>
                    </a:lnTo>
                    <a:cubicBezTo>
                      <a:pt x="3211" y="2124"/>
                      <a:pt x="3165" y="2170"/>
                      <a:pt x="3110" y="2170"/>
                    </a:cubicBezTo>
                    <a:lnTo>
                      <a:pt x="0" y="2170"/>
                    </a:lnTo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0" name="path 1470"/>
              <p:cNvSpPr/>
              <p:nvPr/>
            </p:nvSpPr>
            <p:spPr>
              <a:xfrm>
                <a:off x="2112264" y="564134"/>
                <a:ext cx="73151" cy="256032"/>
              </a:xfrm>
              <a:custGeom>
                <a:avLst/>
                <a:gdLst/>
                <a:ahLst/>
                <a:cxnLst/>
                <a:rect l="0" t="0" r="0" b="0"/>
                <a:pathLst>
                  <a:path w="115" h="403">
                    <a:moveTo>
                      <a:pt x="0" y="100"/>
                    </a:moveTo>
                    <a:lnTo>
                      <a:pt x="57" y="100"/>
                    </a:lnTo>
                    <a:lnTo>
                      <a:pt x="57" y="0"/>
                    </a:lnTo>
                    <a:lnTo>
                      <a:pt x="115" y="201"/>
                    </a:lnTo>
                    <a:lnTo>
                      <a:pt x="57" y="403"/>
                    </a:lnTo>
                    <a:lnTo>
                      <a:pt x="57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2" name="path 1472"/>
              <p:cNvSpPr/>
              <p:nvPr/>
            </p:nvSpPr>
            <p:spPr>
              <a:xfrm>
                <a:off x="2194560" y="6350"/>
                <a:ext cx="2103119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3311" h="216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3211" y="0"/>
                    </a:lnTo>
                    <a:cubicBezTo>
                      <a:pt x="3266" y="0"/>
                      <a:pt x="3311" y="45"/>
                      <a:pt x="3311" y="100"/>
                    </a:cubicBezTo>
                    <a:lnTo>
                      <a:pt x="3311" y="2059"/>
                    </a:lnTo>
                    <a:cubicBezTo>
                      <a:pt x="3311" y="2114"/>
                      <a:pt x="3266" y="2160"/>
                      <a:pt x="3211" y="2160"/>
                    </a:cubicBezTo>
                    <a:lnTo>
                      <a:pt x="100" y="2160"/>
                    </a:lnTo>
                    <a:cubicBezTo>
                      <a:pt x="45" y="2160"/>
                      <a:pt x="0" y="2114"/>
                      <a:pt x="0" y="205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C97F1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4" name="path 1474"/>
              <p:cNvSpPr/>
              <p:nvPr/>
            </p:nvSpPr>
            <p:spPr>
              <a:xfrm>
                <a:off x="2188210" y="0"/>
                <a:ext cx="2115819" cy="1384300"/>
              </a:xfrm>
              <a:custGeom>
                <a:avLst/>
                <a:gdLst/>
                <a:ahLst/>
                <a:cxnLst/>
                <a:rect l="0" t="0" r="0" b="0"/>
                <a:pathLst>
                  <a:path w="3331" h="218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3221" y="10"/>
                    </a:lnTo>
                    <a:cubicBezTo>
                      <a:pt x="3276" y="10"/>
                      <a:pt x="3321" y="55"/>
                      <a:pt x="3321" y="110"/>
                    </a:cubicBezTo>
                    <a:lnTo>
                      <a:pt x="3321" y="2069"/>
                    </a:lnTo>
                    <a:cubicBezTo>
                      <a:pt x="3321" y="2124"/>
                      <a:pt x="3276" y="2170"/>
                      <a:pt x="3221" y="2170"/>
                    </a:cubicBezTo>
                    <a:lnTo>
                      <a:pt x="110" y="2170"/>
                    </a:lnTo>
                    <a:cubicBezTo>
                      <a:pt x="55" y="2170"/>
                      <a:pt x="10" y="2124"/>
                      <a:pt x="10" y="206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C97F1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6" name="path 1476"/>
              <p:cNvSpPr/>
              <p:nvPr/>
            </p:nvSpPr>
            <p:spPr>
              <a:xfrm>
                <a:off x="4306823" y="564134"/>
                <a:ext cx="73151" cy="256032"/>
              </a:xfrm>
              <a:custGeom>
                <a:avLst/>
                <a:gdLst/>
                <a:ahLst/>
                <a:cxnLst/>
                <a:rect l="0" t="0" r="0" b="0"/>
                <a:pathLst>
                  <a:path w="115" h="403">
                    <a:moveTo>
                      <a:pt x="0" y="100"/>
                    </a:moveTo>
                    <a:lnTo>
                      <a:pt x="57" y="100"/>
                    </a:lnTo>
                    <a:lnTo>
                      <a:pt x="57" y="0"/>
                    </a:lnTo>
                    <a:lnTo>
                      <a:pt x="115" y="201"/>
                    </a:lnTo>
                    <a:lnTo>
                      <a:pt x="57" y="403"/>
                    </a:lnTo>
                    <a:lnTo>
                      <a:pt x="57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8" name="path 1478"/>
              <p:cNvSpPr/>
              <p:nvPr/>
            </p:nvSpPr>
            <p:spPr>
              <a:xfrm>
                <a:off x="4389120" y="6350"/>
                <a:ext cx="210312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3312" h="216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3211" y="0"/>
                    </a:lnTo>
                    <a:cubicBezTo>
                      <a:pt x="3266" y="0"/>
                      <a:pt x="3312" y="45"/>
                      <a:pt x="3312" y="100"/>
                    </a:cubicBezTo>
                    <a:lnTo>
                      <a:pt x="3312" y="2059"/>
                    </a:lnTo>
                    <a:cubicBezTo>
                      <a:pt x="3312" y="2114"/>
                      <a:pt x="3266" y="2160"/>
                      <a:pt x="3211" y="2160"/>
                    </a:cubicBezTo>
                    <a:lnTo>
                      <a:pt x="100" y="2160"/>
                    </a:lnTo>
                    <a:cubicBezTo>
                      <a:pt x="45" y="2160"/>
                      <a:pt x="0" y="2114"/>
                      <a:pt x="0" y="205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2E7D5B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0" name="path 1480"/>
              <p:cNvSpPr/>
              <p:nvPr/>
            </p:nvSpPr>
            <p:spPr>
              <a:xfrm>
                <a:off x="4382770" y="0"/>
                <a:ext cx="2115820" cy="1384300"/>
              </a:xfrm>
              <a:custGeom>
                <a:avLst/>
                <a:gdLst/>
                <a:ahLst/>
                <a:cxnLst/>
                <a:rect l="0" t="0" r="0" b="0"/>
                <a:pathLst>
                  <a:path w="3332" h="218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3221" y="10"/>
                    </a:lnTo>
                    <a:cubicBezTo>
                      <a:pt x="3276" y="10"/>
                      <a:pt x="3322" y="55"/>
                      <a:pt x="3322" y="110"/>
                    </a:cubicBezTo>
                    <a:lnTo>
                      <a:pt x="3322" y="2069"/>
                    </a:lnTo>
                    <a:cubicBezTo>
                      <a:pt x="3322" y="2124"/>
                      <a:pt x="3276" y="2170"/>
                      <a:pt x="3221" y="2170"/>
                    </a:cubicBezTo>
                    <a:lnTo>
                      <a:pt x="110" y="2170"/>
                    </a:lnTo>
                    <a:cubicBezTo>
                      <a:pt x="55" y="2170"/>
                      <a:pt x="10" y="2124"/>
                      <a:pt x="10" y="206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2E7D5B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2" name="path 1482"/>
              <p:cNvSpPr/>
              <p:nvPr/>
            </p:nvSpPr>
            <p:spPr>
              <a:xfrm>
                <a:off x="6501384" y="564134"/>
                <a:ext cx="73151" cy="256032"/>
              </a:xfrm>
              <a:custGeom>
                <a:avLst/>
                <a:gdLst/>
                <a:ahLst/>
                <a:cxnLst/>
                <a:rect l="0" t="0" r="0" b="0"/>
                <a:pathLst>
                  <a:path w="115" h="403">
                    <a:moveTo>
                      <a:pt x="0" y="100"/>
                    </a:moveTo>
                    <a:lnTo>
                      <a:pt x="57" y="100"/>
                    </a:lnTo>
                    <a:lnTo>
                      <a:pt x="57" y="0"/>
                    </a:lnTo>
                    <a:lnTo>
                      <a:pt x="115" y="201"/>
                    </a:lnTo>
                    <a:lnTo>
                      <a:pt x="57" y="403"/>
                    </a:lnTo>
                    <a:lnTo>
                      <a:pt x="57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4" name="path 1484"/>
              <p:cNvSpPr/>
              <p:nvPr/>
            </p:nvSpPr>
            <p:spPr>
              <a:xfrm>
                <a:off x="6583680" y="6350"/>
                <a:ext cx="2103119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3311" h="216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3211" y="0"/>
                    </a:lnTo>
                    <a:cubicBezTo>
                      <a:pt x="3266" y="0"/>
                      <a:pt x="3311" y="45"/>
                      <a:pt x="3311" y="100"/>
                    </a:cubicBezTo>
                    <a:lnTo>
                      <a:pt x="3311" y="2059"/>
                    </a:lnTo>
                    <a:cubicBezTo>
                      <a:pt x="3311" y="2114"/>
                      <a:pt x="3266" y="2160"/>
                      <a:pt x="3211" y="2160"/>
                    </a:cubicBezTo>
                    <a:lnTo>
                      <a:pt x="100" y="2160"/>
                    </a:lnTo>
                    <a:cubicBezTo>
                      <a:pt x="45" y="2160"/>
                      <a:pt x="0" y="2114"/>
                      <a:pt x="0" y="205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9DBBE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6" name="path 1486"/>
              <p:cNvSpPr/>
              <p:nvPr/>
            </p:nvSpPr>
            <p:spPr>
              <a:xfrm>
                <a:off x="6577330" y="0"/>
                <a:ext cx="2115819" cy="1384300"/>
              </a:xfrm>
              <a:custGeom>
                <a:avLst/>
                <a:gdLst/>
                <a:ahLst/>
                <a:cxnLst/>
                <a:rect l="0" t="0" r="0" b="0"/>
                <a:pathLst>
                  <a:path w="3331" h="218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3221" y="10"/>
                    </a:lnTo>
                    <a:cubicBezTo>
                      <a:pt x="3276" y="10"/>
                      <a:pt x="3321" y="55"/>
                      <a:pt x="3321" y="110"/>
                    </a:cubicBezTo>
                    <a:lnTo>
                      <a:pt x="3321" y="2069"/>
                    </a:lnTo>
                    <a:cubicBezTo>
                      <a:pt x="3321" y="2124"/>
                      <a:pt x="3276" y="2170"/>
                      <a:pt x="3221" y="2170"/>
                    </a:cubicBezTo>
                    <a:lnTo>
                      <a:pt x="110" y="2170"/>
                    </a:lnTo>
                    <a:cubicBezTo>
                      <a:pt x="55" y="2170"/>
                      <a:pt x="10" y="2124"/>
                      <a:pt x="10" y="206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9DBBE0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8" name="path 1488"/>
              <p:cNvSpPr/>
              <p:nvPr/>
            </p:nvSpPr>
            <p:spPr>
              <a:xfrm>
                <a:off x="8695944" y="564134"/>
                <a:ext cx="73152" cy="256032"/>
              </a:xfrm>
              <a:custGeom>
                <a:avLst/>
                <a:gdLst/>
                <a:ahLst/>
                <a:cxnLst/>
                <a:rect l="0" t="0" r="0" b="0"/>
                <a:pathLst>
                  <a:path w="115" h="403">
                    <a:moveTo>
                      <a:pt x="0" y="100"/>
                    </a:moveTo>
                    <a:lnTo>
                      <a:pt x="57" y="100"/>
                    </a:lnTo>
                    <a:lnTo>
                      <a:pt x="57" y="0"/>
                    </a:lnTo>
                    <a:lnTo>
                      <a:pt x="115" y="201"/>
                    </a:lnTo>
                    <a:lnTo>
                      <a:pt x="57" y="403"/>
                    </a:lnTo>
                    <a:lnTo>
                      <a:pt x="57" y="302"/>
                    </a:lnTo>
                    <a:lnTo>
                      <a:pt x="0" y="302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5B6270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0" name="path 1490"/>
              <p:cNvSpPr/>
              <p:nvPr/>
            </p:nvSpPr>
            <p:spPr>
              <a:xfrm>
                <a:off x="8778240" y="6350"/>
                <a:ext cx="2103119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3311" h="2160">
                    <a:moveTo>
                      <a:pt x="0" y="100"/>
                    </a:moveTo>
                    <a:moveTo>
                      <a:pt x="0" y="100"/>
                    </a:moveTo>
                    <a:cubicBezTo>
                      <a:pt x="0" y="45"/>
                      <a:pt x="45" y="0"/>
                      <a:pt x="100" y="0"/>
                    </a:cubicBezTo>
                    <a:lnTo>
                      <a:pt x="3211" y="0"/>
                    </a:lnTo>
                    <a:cubicBezTo>
                      <a:pt x="3266" y="0"/>
                      <a:pt x="3311" y="45"/>
                      <a:pt x="3311" y="100"/>
                    </a:cubicBezTo>
                    <a:lnTo>
                      <a:pt x="3311" y="2059"/>
                    </a:lnTo>
                    <a:cubicBezTo>
                      <a:pt x="3311" y="2114"/>
                      <a:pt x="3266" y="2160"/>
                      <a:pt x="3211" y="2160"/>
                    </a:cubicBezTo>
                    <a:lnTo>
                      <a:pt x="100" y="2160"/>
                    </a:lnTo>
                    <a:cubicBezTo>
                      <a:pt x="45" y="2160"/>
                      <a:pt x="0" y="2114"/>
                      <a:pt x="0" y="2059"/>
                    </a:cubicBez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1E2A5E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2" name="path 1492"/>
              <p:cNvSpPr/>
              <p:nvPr/>
            </p:nvSpPr>
            <p:spPr>
              <a:xfrm>
                <a:off x="8771890" y="0"/>
                <a:ext cx="2115819" cy="1384300"/>
              </a:xfrm>
              <a:custGeom>
                <a:avLst/>
                <a:gdLst/>
                <a:ahLst/>
                <a:cxnLst/>
                <a:rect l="0" t="0" r="0" b="0"/>
                <a:pathLst>
                  <a:path w="3331" h="2180">
                    <a:moveTo>
                      <a:pt x="10" y="110"/>
                    </a:moveTo>
                    <a:cubicBezTo>
                      <a:pt x="10" y="55"/>
                      <a:pt x="55" y="10"/>
                      <a:pt x="110" y="10"/>
                    </a:cubicBezTo>
                    <a:lnTo>
                      <a:pt x="3221" y="10"/>
                    </a:lnTo>
                    <a:cubicBezTo>
                      <a:pt x="3276" y="10"/>
                      <a:pt x="3321" y="55"/>
                      <a:pt x="3321" y="110"/>
                    </a:cubicBezTo>
                    <a:lnTo>
                      <a:pt x="3321" y="2069"/>
                    </a:lnTo>
                    <a:cubicBezTo>
                      <a:pt x="3321" y="2124"/>
                      <a:pt x="3276" y="2170"/>
                      <a:pt x="3221" y="2170"/>
                    </a:cubicBezTo>
                    <a:lnTo>
                      <a:pt x="110" y="2170"/>
                    </a:lnTo>
                    <a:cubicBezTo>
                      <a:pt x="55" y="2170"/>
                      <a:pt x="10" y="2124"/>
                      <a:pt x="10" y="2069"/>
                    </a:cubicBezTo>
                    <a:lnTo>
                      <a:pt x="10" y="11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1E2A5E"/>
                </a:solidFill>
                <a:prstDash val="solid"/>
                <a:round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94" name="textbox 1494"/>
            <p:cNvSpPr/>
            <p:nvPr/>
          </p:nvSpPr>
          <p:spPr>
            <a:xfrm>
              <a:off x="9066047" y="447675"/>
              <a:ext cx="1545589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7170" indent="-205104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Decisions</a:t>
              </a:r>
              <a:r>
                <a:rPr sz="1800" b="1" kern="0" spc="1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Under</a:t>
              </a:r>
              <a:r>
                <a:rPr sz="1800" b="1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Uncertainty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96" name="textbox 1496"/>
            <p:cNvSpPr/>
            <p:nvPr/>
          </p:nvSpPr>
          <p:spPr>
            <a:xfrm>
              <a:off x="2638323" y="447675"/>
              <a:ext cx="1233169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90805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Probability</a:t>
              </a:r>
              <a:r>
                <a:rPr sz="1800" b="1" kern="0" spc="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Distributi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ons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98" name="textbox 1498"/>
            <p:cNvSpPr/>
            <p:nvPr/>
          </p:nvSpPr>
          <p:spPr>
            <a:xfrm>
              <a:off x="7050938" y="447675"/>
              <a:ext cx="1184275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6679" indent="-94614" algn="l" rtl="0" eaLnBrk="0">
                <a:lnSpc>
                  <a:spcPct val="93000"/>
                </a:lnSpc>
                <a:tabLst/>
              </a:pPr>
              <a:r>
                <a:rPr sz="1800" b="1" kern="0" spc="-1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Probabilist</a:t>
              </a: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ic</a:t>
              </a:r>
              <a:r>
                <a:rPr sz="1800" b="1" kern="0" spc="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AI</a:t>
              </a:r>
              <a:r>
                <a:rPr sz="1800" b="1" kern="0" spc="13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1E2A5E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Models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500" name="textbox 1500"/>
            <p:cNvSpPr/>
            <p:nvPr/>
          </p:nvSpPr>
          <p:spPr>
            <a:xfrm>
              <a:off x="4941468" y="447675"/>
              <a:ext cx="1016000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6045" indent="-93980" algn="l" rtl="0" eaLnBrk="0">
                <a:lnSpc>
                  <a:spcPct val="9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Parameter</a:t>
              </a:r>
              <a:r>
                <a:rPr sz="1800" b="1" kern="0" spc="4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Learning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502" name="textbox 1502"/>
            <p:cNvSpPr/>
            <p:nvPr/>
          </p:nvSpPr>
          <p:spPr>
            <a:xfrm>
              <a:off x="605815" y="447675"/>
              <a:ext cx="895350" cy="528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56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34290" algn="l" rtl="0" eaLnBrk="0">
                <a:lnSpc>
                  <a:spcPct val="93000"/>
                </a:lnSpc>
                <a:tabLst/>
              </a:pP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Events &amp;</a:t>
              </a:r>
              <a:r>
                <a:rPr sz="1800" b="1" kern="0" spc="-1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Variables</a:t>
              </a:r>
              <a:endParaRPr sz="18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504" name="textbox 1504"/>
          <p:cNvSpPr/>
          <p:nvPr/>
        </p:nvSpPr>
        <p:spPr>
          <a:xfrm>
            <a:off x="678980" y="3687698"/>
            <a:ext cx="10808334" cy="1260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Foundations                    Distributions                       Inference               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AI</a:t>
            </a:r>
            <a:r>
              <a:rPr sz="1800" i="1" kern="0" spc="6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Models                       Applications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548"/>
              </a:spcBef>
              <a:tabLst/>
            </a:pP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Every arrow above is a chapter of this deck:</a:t>
            </a:r>
            <a:r>
              <a:rPr sz="1800" i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what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observe,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how</a:t>
            </a:r>
            <a:r>
              <a:rPr sz="1800" i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</a:t>
            </a:r>
            <a:r>
              <a:rPr sz="1800" i="1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it,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how</a:t>
            </a:r>
            <a:r>
              <a:rPr sz="1800" i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its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parameters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how AI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3059429" algn="l" rtl="0" eaLnBrk="0">
              <a:lnSpc>
                <a:spcPct val="83000"/>
              </a:lnSpc>
              <a:spcBef>
                <a:spcPts val="370"/>
              </a:spcBef>
              <a:tabLst/>
            </a:pP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systems encode it, and h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ow it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drives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decisions.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506" name="textbox 1506"/>
          <p:cNvSpPr/>
          <p:nvPr/>
        </p:nvSpPr>
        <p:spPr>
          <a:xfrm>
            <a:off x="544855" y="99390"/>
            <a:ext cx="3718559" cy="731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CLOSING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4129" algn="l" rtl="0" eaLnBrk="0">
              <a:lnSpc>
                <a:spcPct val="84000"/>
              </a:lnSpc>
              <a:spcBef>
                <a:spcPts val="898"/>
              </a:spcBef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Chapter Integratio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508" name="path 1508"/>
          <p:cNvSpPr/>
          <p:nvPr/>
        </p:nvSpPr>
        <p:spPr>
          <a:xfrm>
            <a:off x="450850" y="2096770"/>
            <a:ext cx="76708" cy="1384300"/>
          </a:xfrm>
          <a:custGeom>
            <a:avLst/>
            <a:gdLst/>
            <a:ahLst/>
            <a:cxnLst/>
            <a:rect l="0" t="0" r="0" b="0"/>
            <a:pathLst>
              <a:path w="120" h="2180">
                <a:moveTo>
                  <a:pt x="10" y="110"/>
                </a:moveTo>
                <a:cubicBezTo>
                  <a:pt x="10" y="55"/>
                  <a:pt x="55" y="10"/>
                  <a:pt x="110" y="10"/>
                </a:cubicBezTo>
                <a:moveTo>
                  <a:pt x="110" y="2170"/>
                </a:moveTo>
                <a:cubicBezTo>
                  <a:pt x="55" y="2170"/>
                  <a:pt x="10" y="2124"/>
                  <a:pt x="10" y="2069"/>
                </a:cubicBezTo>
                <a:lnTo>
                  <a:pt x="10" y="110"/>
                </a:lnTo>
              </a:path>
            </a:pathLst>
          </a:custGeom>
          <a:noFill/>
          <a:ln w="12700" cap="flat">
            <a:solidFill>
              <a:srgbClr val="1E2A5E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textbox 1510"/>
          <p:cNvSpPr/>
          <p:nvPr/>
        </p:nvSpPr>
        <p:spPr>
          <a:xfrm>
            <a:off x="556285" y="393355"/>
            <a:ext cx="9178290" cy="414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Common Misconceptions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3000"/>
              </a:lnSpc>
              <a:spcBef>
                <a:spcPts val="551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1.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density ≠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bility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(a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point always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has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 for continuous X).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3000"/>
              </a:lnSpc>
              <a:spcBef>
                <a:spcPts val="1544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2.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P(A|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B) ≠</a:t>
            </a:r>
            <a:r>
              <a:rPr sz="18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P(B|A)</a:t>
            </a:r>
            <a:r>
              <a:rPr sz="1800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conditioning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direction</a:t>
            </a:r>
            <a:r>
              <a:rPr sz="18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matters.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3000"/>
              </a:lnSpc>
              <a:spcBef>
                <a:spcPts val="1534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3. A</a:t>
            </a:r>
            <a:r>
              <a:rPr sz="1800" kern="0" spc="2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positive test does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imply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disease.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3000"/>
              </a:lnSpc>
              <a:spcBef>
                <a:spcPts val="1543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4. CLT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does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 the original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Gaussian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it's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about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standardized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averages.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3000"/>
              </a:lnSpc>
              <a:spcBef>
                <a:spcPts val="1544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5. Softmax confidence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automatical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ly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calibrated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probability.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3000"/>
              </a:lnSpc>
              <a:spcBef>
                <a:spcPts val="1545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6.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Independence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a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modeling assumption,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universal</a:t>
            </a:r>
            <a:r>
              <a:rPr sz="1800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fact.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3334" algn="l" rtl="0" eaLnBrk="0">
              <a:lnSpc>
                <a:spcPct val="83000"/>
              </a:lnSpc>
              <a:spcBef>
                <a:spcPts val="1531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7.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 gives a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point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estimate,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the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complete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picture.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3000"/>
              </a:lnSpc>
              <a:spcBef>
                <a:spcPts val="3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8. A familiar distribution</a:t>
            </a:r>
            <a:r>
              <a:rPr sz="18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(e.g.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Gaussian)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isn't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necessaril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 the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correct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512" name="textbox 1512"/>
          <p:cNvSpPr/>
          <p:nvPr/>
        </p:nvSpPr>
        <p:spPr>
          <a:xfrm>
            <a:off x="544855" y="97104"/>
            <a:ext cx="100711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800" b="1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CLOSING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rect 1514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16" name="picture 15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114800"/>
            <a:ext cx="3657600" cy="2743196"/>
          </a:xfrm>
          <a:prstGeom prst="rect">
            <a:avLst/>
          </a:prstGeom>
        </p:spPr>
      </p:pic>
      <p:sp>
        <p:nvSpPr>
          <p:cNvPr id="1518" name="textbox 1518"/>
          <p:cNvSpPr/>
          <p:nvPr/>
        </p:nvSpPr>
        <p:spPr>
          <a:xfrm>
            <a:off x="870469" y="694004"/>
            <a:ext cx="8249284" cy="5345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689" algn="l" rtl="0" eaLnBrk="0">
              <a:lnSpc>
                <a:spcPct val="66000"/>
              </a:lnSpc>
              <a:tabLst/>
            </a:pPr>
            <a:r>
              <a:rPr sz="1800" b="1" kern="0" spc="15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FINAL</a:t>
            </a:r>
            <a:r>
              <a:rPr sz="1800" b="1" kern="0" spc="1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150" dirty="0">
                <a:solidFill>
                  <a:srgbClr val="E8A33D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SUMMARY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135" algn="l" rtl="0" eaLnBrk="0">
              <a:lnSpc>
                <a:spcPct val="84000"/>
              </a:lnSpc>
              <a:spcBef>
                <a:spcPts val="630"/>
              </a:spcBef>
              <a:tabLst/>
            </a:pPr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1.  Probability is the la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nguage for</a:t>
            </a:r>
            <a:r>
              <a:rPr sz="2100" b="1" kern="0" spc="7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uncertainty.</a:t>
            </a:r>
            <a:endParaRPr sz="21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785" algn="l" rtl="0" eaLnBrk="0">
              <a:lnSpc>
                <a:spcPct val="84000"/>
              </a:lnSpc>
              <a:spcBef>
                <a:spcPts val="635"/>
              </a:spcBef>
              <a:tabLst/>
            </a:pPr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2.  A distribution is a mo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deling assumption, not</a:t>
            </a:r>
            <a:r>
              <a:rPr sz="2100" b="1" kern="0" spc="3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</a:t>
            </a:r>
            <a:r>
              <a:rPr sz="2100" b="1" kern="0" spc="7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fact.</a:t>
            </a:r>
            <a:endParaRPr sz="21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325" algn="l" rtl="0" eaLnBrk="0">
              <a:lnSpc>
                <a:spcPct val="84000"/>
              </a:lnSpc>
              <a:spcBef>
                <a:spcPts val="637"/>
              </a:spcBef>
              <a:tabLst/>
            </a:pP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3.  Data let us estimate unknown</a:t>
            </a:r>
            <a:r>
              <a:rPr sz="2100" b="1" kern="0" spc="10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parameters.</a:t>
            </a:r>
            <a:endParaRPr sz="21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165" algn="l" rtl="0" eaLnBrk="0">
              <a:lnSpc>
                <a:spcPct val="84000"/>
              </a:lnSpc>
              <a:spcBef>
                <a:spcPts val="640"/>
              </a:spcBef>
              <a:tabLst/>
            </a:pPr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4.  Bayesian methods combine prior knowled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ge with</a:t>
            </a:r>
            <a:r>
              <a:rPr sz="2100" b="1" kern="0" spc="8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evidence.</a:t>
            </a:r>
            <a:endParaRPr sz="21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135" algn="l" rtl="0" eaLnBrk="0">
              <a:lnSpc>
                <a:spcPct val="84000"/>
              </a:lnSpc>
              <a:spcBef>
                <a:spcPts val="639"/>
              </a:spcBef>
              <a:tabLst/>
            </a:pPr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5.  AI systems should quantify uncertainty, </a:t>
            </a:r>
            <a:r>
              <a:rPr sz="2100" b="1" kern="0" spc="-1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not just predict.</a:t>
            </a:r>
            <a:endParaRPr sz="21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1435" indent="21590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2400" b="1" i="1" kern="0" spc="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“The key question </a:t>
            </a:r>
            <a:r>
              <a:rPr sz="2400" b="1" i="1" kern="0" spc="-1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is not only</a:t>
            </a:r>
            <a:r>
              <a:rPr sz="2400" b="1" i="1" kern="0" spc="15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400" b="1" i="1" kern="0" spc="-1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‘What does the model predict?’</a:t>
            </a:r>
            <a:r>
              <a:rPr sz="2400" b="1" i="1" kern="0" spc="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400" b="1" i="1" kern="0" spc="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but also:</a:t>
            </a:r>
            <a:r>
              <a:rPr sz="2400" b="1" i="1" kern="0" spc="23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400" b="1" i="1" kern="0" spc="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‘How certain should we be about that</a:t>
            </a:r>
            <a:r>
              <a:rPr sz="2400" b="1" i="1" kern="0" spc="-14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2400" b="1" i="1" kern="0" spc="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pre</a:t>
            </a:r>
            <a:r>
              <a:rPr sz="2400" b="1" i="1" kern="0" spc="-1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diction?’”</a:t>
            </a:r>
            <a:endParaRPr sz="2400" dirty="0">
              <a:latin typeface="Cambria"/>
              <a:ea typeface="Cambria"/>
              <a:cs typeface="Cambr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rect 1520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121B3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22" name="picture 15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743200"/>
            <a:ext cx="3657600" cy="4114797"/>
          </a:xfrm>
          <a:prstGeom prst="rect">
            <a:avLst/>
          </a:prstGeom>
        </p:spPr>
      </p:pic>
      <p:sp>
        <p:nvSpPr>
          <p:cNvPr id="1524" name="textbox 1524"/>
          <p:cNvSpPr/>
          <p:nvPr/>
        </p:nvSpPr>
        <p:spPr>
          <a:xfrm>
            <a:off x="945970" y="4442267"/>
            <a:ext cx="7978775" cy="161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9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800" b="1" kern="0" spc="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Appendix: Deeper Math</a:t>
            </a:r>
            <a:endParaRPr sz="3800" dirty="0">
              <a:latin typeface="Cambria"/>
              <a:ea typeface="Cambria"/>
              <a:cs typeface="Cambria"/>
            </a:endParaRPr>
          </a:p>
          <a:p>
            <a:pPr marL="21590" indent="1270" algn="l" rtl="0" eaLnBrk="0">
              <a:lnSpc>
                <a:spcPct val="213000"/>
              </a:lnSpc>
              <a:spcBef>
                <a:spcPts val="272"/>
              </a:spcBef>
              <a:tabLst/>
            </a:pP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 derivations, Fisher information, asymptotic normality, extra</a:t>
            </a:r>
            <a:r>
              <a:rPr sz="1800" i="1" kern="0" spc="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distribu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tion</a:t>
            </a:r>
            <a:r>
              <a:rPr sz="1800" i="1" kern="0" spc="-15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formulas</a:t>
            </a:r>
            <a:r>
              <a:rPr sz="18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required in-class content -- instructor</a:t>
            </a:r>
            <a:r>
              <a:rPr sz="1500" i="1" kern="0" spc="-14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1500" i="1" kern="0" spc="-8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i="1" kern="0" spc="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 re</a:t>
            </a:r>
            <a:r>
              <a:rPr sz="1500" i="1" kern="0" spc="-10" dirty="0">
                <a:solidFill>
                  <a:srgbClr val="D6E4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ference only.</a:t>
            </a:r>
            <a:endParaRPr sz="1500" dirty="0">
              <a:latin typeface="Calibri"/>
              <a:ea typeface="Calibri"/>
              <a:cs typeface="Calibri"/>
            </a:endParaRPr>
          </a:p>
        </p:txBody>
      </p:sp>
      <p:pic>
        <p:nvPicPr>
          <p:cNvPr id="1526" name="picture 15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75519" y="0"/>
            <a:ext cx="2316480" cy="2560320"/>
          </a:xfrm>
          <a:prstGeom prst="rect">
            <a:avLst/>
          </a:prstGeom>
        </p:spPr>
      </p:pic>
      <p:sp>
        <p:nvSpPr>
          <p:cNvPr id="1528" name="textbox 1528"/>
          <p:cNvSpPr/>
          <p:nvPr/>
        </p:nvSpPr>
        <p:spPr>
          <a:xfrm>
            <a:off x="896747" y="2450129"/>
            <a:ext cx="1106805" cy="1379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7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12900" b="1" kern="0" spc="90" dirty="0">
                <a:solidFill>
                  <a:srgbClr val="E8A33D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</a:t>
            </a:r>
            <a:endParaRPr sz="12900" dirty="0">
              <a:latin typeface="Cambria"/>
              <a:ea typeface="Cambria"/>
              <a:cs typeface="Cambri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textbox 1530"/>
          <p:cNvSpPr/>
          <p:nvPr/>
        </p:nvSpPr>
        <p:spPr>
          <a:xfrm>
            <a:off x="538454" y="101219"/>
            <a:ext cx="9847580" cy="3267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09"/>
              </a:lnSpc>
              <a:tabLst/>
            </a:pPr>
            <a:r>
              <a:rPr sz="1800" b="1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APPENDIX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30480" algn="l" rtl="0" eaLnBrk="0">
              <a:lnSpc>
                <a:spcPct val="71000"/>
              </a:lnSpc>
              <a:spcBef>
                <a:spcPts val="1129"/>
              </a:spcBef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Gaussian MLE: Full</a:t>
            </a:r>
            <a:r>
              <a:rPr sz="3200" b="1" kern="0" spc="14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De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rivation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3000"/>
              </a:lnSpc>
              <a:spcBef>
                <a:spcPts val="550"/>
              </a:spcBef>
              <a:tabLst/>
            </a:pP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L(μ,σ)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〓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Πᵢ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(1/(σ√</a:t>
            </a:r>
            <a:r>
              <a:rPr sz="1800" kern="0" spc="-2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(2π)))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exp(-(xᵢ-μ)2/(2σ2))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31115" algn="l" rtl="0" eaLnBrk="0">
              <a:lnSpc>
                <a:spcPct val="83000"/>
              </a:lnSpc>
              <a:spcBef>
                <a:spcPts val="1736"/>
              </a:spcBef>
              <a:tabLst/>
            </a:pP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ℓ(μ,σ)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〓</a:t>
            </a:r>
            <a:r>
              <a:rPr sz="1800" kern="0" spc="-150" dirty="0">
                <a:solidFill>
                  <a:srgbClr val="C97F1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-(n/2)log(2π)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 -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(1/(2σ2))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Σᵢ(xᵢ-μ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)2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ts val="1893"/>
              </a:lnSpc>
              <a:spcBef>
                <a:spcPts val="459"/>
              </a:spcBef>
              <a:tabLst/>
            </a:pP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 ∂ℓ/∂μ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〓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r>
              <a:rPr sz="15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5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μ^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〓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-x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〓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(1/n)</a:t>
            </a:r>
            <a:r>
              <a:rPr sz="15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Σᵢ</a:t>
            </a:r>
            <a:r>
              <a:rPr sz="15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r>
              <a:rPr sz="1500" kern="0" spc="-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ᵢ</a:t>
            </a:r>
            <a:endParaRPr sz="1500" dirty="0">
              <a:latin typeface="Calibri"/>
              <a:ea typeface="Calibri"/>
              <a:cs typeface="Calibri"/>
            </a:endParaRPr>
          </a:p>
          <a:p>
            <a:pPr marL="31115" algn="l" rtl="0" eaLnBrk="0">
              <a:lnSpc>
                <a:spcPct val="94000"/>
              </a:lnSpc>
              <a:spcBef>
                <a:spcPts val="1630"/>
              </a:spcBef>
              <a:tabLst/>
            </a:pPr>
            <a:r>
              <a:rPr sz="16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6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6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∂ℓ/∂σ2 </a:t>
            </a:r>
            <a:r>
              <a:rPr sz="1600" kern="0" spc="-50" dirty="0">
                <a:solidFill>
                  <a:srgbClr val="33394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〓 </a:t>
            </a:r>
            <a:r>
              <a:rPr sz="1600" kern="0" spc="-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r>
              <a:rPr sz="16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6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6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6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σ^2 </a:t>
            </a:r>
            <a:r>
              <a:rPr sz="1600" kern="0" spc="-60" dirty="0">
                <a:solidFill>
                  <a:srgbClr val="33394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〓 </a:t>
            </a:r>
            <a:r>
              <a:rPr sz="16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(1/n)</a:t>
            </a:r>
            <a:r>
              <a:rPr sz="16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Σᵢ</a:t>
            </a:r>
            <a:r>
              <a:rPr sz="16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(xᵢ</a:t>
            </a:r>
            <a:r>
              <a:rPr sz="1600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16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kern="0" spc="-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-x)2</a:t>
            </a:r>
            <a:endParaRPr sz="16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Note: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this MLE variance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divides by</a:t>
            </a:r>
            <a:r>
              <a:rPr sz="1800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n,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i="1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biased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downward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relative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i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unbiased</a:t>
            </a:r>
            <a:r>
              <a:rPr sz="1800" i="1" kern="0" spc="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n-1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deno</a:t>
            </a:r>
            <a:r>
              <a:rPr sz="1800" i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minator.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textbox 1532"/>
          <p:cNvSpPr/>
          <p:nvPr/>
        </p:nvSpPr>
        <p:spPr>
          <a:xfrm>
            <a:off x="555064" y="393355"/>
            <a:ext cx="9028430" cy="3877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Bernoulli, Exponential, P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oisson MLE Derivations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164" algn="l" rtl="0" eaLnBrk="0">
              <a:lnSpc>
                <a:spcPct val="83000"/>
              </a:lnSpc>
              <a:spcBef>
                <a:spcPts val="551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Bernoulli:</a:t>
            </a:r>
            <a:r>
              <a:rPr sz="1800" kern="0" spc="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L(p)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1800" kern="0" spc="-20" baseline="28937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800" kern="0" spc="-30" baseline="28937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r>
              <a:rPr sz="11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(1-p)</a:t>
            </a:r>
            <a:r>
              <a:rPr sz="1800" kern="0" spc="-30" baseline="28937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N0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 ℓ(p)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N1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 +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N0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log(1-p)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7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spcBef>
                <a:spcPts val="551"/>
              </a:spcBef>
              <a:tabLst/>
            </a:pP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Score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equation: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N1/p -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N0/(1-p)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</a:t>
            </a:r>
            <a:r>
              <a:rPr sz="1800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p̂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800" kern="0" spc="-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1/n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3000"/>
              </a:lnSpc>
              <a:spcBef>
                <a:spcPts val="1735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Exponential: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L(λ)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λ</a:t>
            </a:r>
            <a:r>
              <a:rPr sz="1800" kern="0" spc="-3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ⁿ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exp(-λΣᵢxᵢ)  →  λ̂</a:t>
            </a:r>
            <a:r>
              <a:rPr sz="1800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1/x̄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164" algn="l" rtl="0" eaLnBrk="0">
              <a:lnSpc>
                <a:spcPct val="88000"/>
              </a:lnSpc>
              <a:spcBef>
                <a:spcPts val="550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Poisson: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L(λ)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∏ᵢ λ</a:t>
            </a:r>
            <a:r>
              <a:rPr sz="1800" kern="0" spc="-20" baseline="28937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xᵢ</a:t>
            </a:r>
            <a:r>
              <a:rPr sz="11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1800" kern="0" spc="-20" baseline="28937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−λ</a:t>
            </a:r>
            <a:r>
              <a:rPr sz="11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 xᵢ!  →</a:t>
            </a:r>
            <a:r>
              <a:rPr sz="1800" kern="0" spc="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λ̂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(1/n)Σᵢ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xᵢ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x̄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 three MLEs reduce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 a simple,</a:t>
            </a:r>
            <a:r>
              <a:rPr sz="1800" i="1" kern="0" spc="-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familiar d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escriptive</a:t>
            </a:r>
            <a:r>
              <a:rPr sz="1800" i="1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statistic</a:t>
            </a:r>
            <a:r>
              <a:rPr sz="1800" i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(a</a:t>
            </a:r>
            <a:r>
              <a:rPr sz="1800" i="1" kern="0" spc="-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fraction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 a</a:t>
            </a:r>
            <a:r>
              <a:rPr sz="1800" i="1" kern="0" spc="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mean).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534" name="textbox 1534"/>
          <p:cNvSpPr/>
          <p:nvPr/>
        </p:nvSpPr>
        <p:spPr>
          <a:xfrm>
            <a:off x="538454" y="99162"/>
            <a:ext cx="1179194" cy="204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07"/>
              </a:lnSpc>
              <a:tabLst/>
            </a:pPr>
            <a:r>
              <a:rPr sz="1800" b="1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APPENDIX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textbox 1536"/>
          <p:cNvSpPr/>
          <p:nvPr/>
        </p:nvSpPr>
        <p:spPr>
          <a:xfrm>
            <a:off x="541229" y="404023"/>
            <a:ext cx="9758044" cy="3286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8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indent="-7620" algn="l" rtl="0" eaLnBrk="0">
              <a:lnSpc>
                <a:spcPct val="91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Worked Exam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ple: Exponential MLE</a:t>
            </a:r>
            <a:r>
              <a:rPr sz="3200" b="1" kern="0" spc="26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(Service Waiting</a:t>
            </a: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 </a:t>
            </a:r>
            <a:r>
              <a:rPr sz="3200" b="1" kern="0" spc="-3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Times)</a:t>
            </a:r>
            <a:endParaRPr sz="3200" dirty="0">
              <a:latin typeface="Cambria"/>
              <a:ea typeface="Cambria"/>
              <a:cs typeface="Cambria"/>
            </a:endParaRPr>
          </a:p>
          <a:p>
            <a:pPr marL="28575" algn="l" rtl="0" eaLnBrk="0">
              <a:lnSpc>
                <a:spcPct val="83000"/>
              </a:lnSpc>
              <a:spcBef>
                <a:spcPts val="250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Problem: 30 service waiting times, sample mean x̄ =</a:t>
            </a:r>
            <a:r>
              <a:rPr sz="1800" b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1.283</a:t>
            </a:r>
            <a:r>
              <a:rPr sz="1800" b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hours.</a:t>
            </a:r>
            <a:r>
              <a:rPr sz="1800" b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800" b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</a:t>
            </a:r>
            <a:r>
              <a:rPr sz="1800" b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exponential</a:t>
            </a:r>
            <a:r>
              <a:rPr sz="1800" b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model.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544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1: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exponential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data, λ̂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1/x̄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534"/>
              </a:spcBef>
              <a:tabLst/>
            </a:pP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Step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2: λ̂</a:t>
            </a:r>
            <a:r>
              <a:rPr sz="18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b="1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1/1.283</a:t>
            </a: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≈</a:t>
            </a:r>
            <a:r>
              <a:rPr sz="1800" b="1" kern="0" spc="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0.7</a:t>
            </a:r>
            <a:r>
              <a:rPr sz="18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79</a:t>
            </a:r>
            <a:r>
              <a:rPr sz="1800" b="1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per</a:t>
            </a:r>
            <a:r>
              <a:rPr sz="1800" b="1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hour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543"/>
              </a:spcBef>
              <a:tabLst/>
            </a:pP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3:</a:t>
            </a:r>
            <a:r>
              <a:rPr sz="1800" kern="0" spc="1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Fisher</a:t>
            </a:r>
            <a:r>
              <a:rPr sz="1800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information</a:t>
            </a:r>
            <a:r>
              <a:rPr sz="1800" kern="0" spc="1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I(λ)</a:t>
            </a:r>
            <a:r>
              <a:rPr sz="1800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14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n/λ²  →</a:t>
            </a:r>
            <a:r>
              <a:rPr sz="1800" kern="0" spc="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SE(λ̂)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≈ λ̂/√</a:t>
            </a:r>
            <a:r>
              <a:rPr sz="1800" kern="0" spc="-2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800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1800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0.779/√30</a:t>
            </a:r>
            <a:r>
              <a:rPr sz="1800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≈</a:t>
            </a:r>
            <a:r>
              <a:rPr sz="1800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0.142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28575" algn="l" rtl="0" eaLnBrk="0">
              <a:lnSpc>
                <a:spcPct val="83000"/>
              </a:lnSpc>
              <a:spcBef>
                <a:spcPts val="1544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Step 4: Approximate</a:t>
            </a:r>
            <a:r>
              <a:rPr sz="1800" kern="0" spc="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95%</a:t>
            </a:r>
            <a:r>
              <a:rPr sz="1800" kern="0" spc="1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erval:</a:t>
            </a:r>
            <a:r>
              <a:rPr sz="1800" kern="0" spc="1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[0.500,</a:t>
            </a:r>
            <a:r>
              <a:rPr sz="1800" kern="0" spc="1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1.058]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3000"/>
              </a:lnSpc>
              <a:spcBef>
                <a:spcPts val="4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Interpretation: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estimate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carries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quantified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uncertainty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band,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1800" i="1" kern="0" spc="-1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just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point</a:t>
            </a:r>
            <a:r>
              <a:rPr sz="1800" i="1" kern="0" spc="9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value.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538" name="textbox 1538"/>
          <p:cNvSpPr/>
          <p:nvPr/>
        </p:nvSpPr>
        <p:spPr>
          <a:xfrm>
            <a:off x="538454" y="99162"/>
            <a:ext cx="1179194" cy="204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07"/>
              </a:lnSpc>
              <a:tabLst/>
            </a:pPr>
            <a:r>
              <a:rPr sz="1800" b="1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APPENDIX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textbox 1540"/>
          <p:cNvSpPr/>
          <p:nvPr/>
        </p:nvSpPr>
        <p:spPr>
          <a:xfrm>
            <a:off x="555064" y="393355"/>
            <a:ext cx="10537190" cy="3606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Fisher Informati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on &amp; Asymptotic Normality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800"/>
              </a:lnSpc>
              <a:spcBef>
                <a:spcPts val="425"/>
              </a:spcBef>
              <a:tabLst/>
            </a:pPr>
            <a:r>
              <a:rPr sz="1400" kern="0" spc="8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•</a:t>
            </a:r>
            <a:r>
              <a:rPr sz="1400" kern="0" spc="31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8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Observed</a:t>
            </a:r>
            <a:r>
              <a:rPr sz="1400" kern="0" spc="-14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8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Fisher</a:t>
            </a:r>
            <a:r>
              <a:rPr sz="1400" kern="0" spc="-17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8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in</a:t>
            </a:r>
            <a:r>
              <a:rPr sz="1400" kern="0" spc="7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formation:</a:t>
            </a:r>
            <a:r>
              <a:rPr sz="1400" kern="0" spc="-12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44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|(θ̂)</a:t>
            </a:r>
            <a:r>
              <a:rPr sz="1400" kern="0" spc="-44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44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=</a:t>
            </a:r>
            <a:r>
              <a:rPr sz="1400" kern="0" spc="-44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400" kern="0" spc="-44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-ℓ丨丨(θ̂)</a:t>
            </a:r>
            <a:endParaRPr sz="1400" dirty="0">
              <a:latin typeface="MS Gothic"/>
              <a:ea typeface="MS Gothic"/>
              <a:cs typeface="MS Gothic"/>
            </a:endParaRPr>
          </a:p>
          <a:p>
            <a:pPr marL="14604" algn="l" rtl="0" eaLnBrk="0">
              <a:lnSpc>
                <a:spcPts val="1957"/>
              </a:lnSpc>
              <a:spcBef>
                <a:spcPts val="1534"/>
              </a:spcBef>
              <a:tabLst/>
            </a:pPr>
            <a:r>
              <a:rPr sz="1500" kern="0" spc="-8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•</a:t>
            </a:r>
            <a:r>
              <a:rPr sz="1500" kern="0" spc="21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8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Approximate</a:t>
            </a:r>
            <a:r>
              <a:rPr sz="1500" kern="0" spc="-32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8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variance:</a:t>
            </a:r>
            <a:r>
              <a:rPr sz="1500" kern="0" spc="-29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8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Var(θ̂)</a:t>
            </a:r>
            <a:r>
              <a:rPr sz="1500" kern="0" spc="-25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8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≈</a:t>
            </a:r>
            <a:r>
              <a:rPr sz="1500" kern="0" spc="-8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500" kern="0" spc="-8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|(θ̂)_1</a:t>
            </a:r>
            <a:endParaRPr sz="1500" dirty="0">
              <a:latin typeface="MS Gothic"/>
              <a:ea typeface="MS Gothic"/>
              <a:cs typeface="MS Gothic"/>
            </a:endParaRPr>
          </a:p>
          <a:p>
            <a:pPr marL="14604" algn="l" rtl="0" eaLnBrk="0">
              <a:lnSpc>
                <a:spcPct val="94000"/>
              </a:lnSpc>
              <a:spcBef>
                <a:spcPts val="1367"/>
              </a:spcBef>
              <a:tabLst/>
            </a:pPr>
            <a:r>
              <a:rPr sz="1600" kern="0" spc="-3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•</a:t>
            </a:r>
            <a:r>
              <a:rPr sz="1600" kern="0" spc="24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3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Under</a:t>
            </a:r>
            <a:r>
              <a:rPr sz="1600" kern="0" spc="-25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3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regularity</a:t>
            </a:r>
            <a:r>
              <a:rPr sz="1600" kern="0" spc="-30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3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cond</a:t>
            </a:r>
            <a:r>
              <a:rPr sz="1600" kern="0" spc="-4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itions,</a:t>
            </a:r>
            <a:r>
              <a:rPr sz="1600" kern="0" spc="-23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4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MLE</a:t>
            </a:r>
            <a:r>
              <a:rPr sz="1600" kern="0" spc="-27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4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is</a:t>
            </a:r>
            <a:r>
              <a:rPr sz="1600" kern="0" spc="-31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4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consistent</a:t>
            </a:r>
            <a:r>
              <a:rPr sz="1600" kern="0" spc="-31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4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and</a:t>
            </a:r>
            <a:r>
              <a:rPr sz="1600" kern="0" spc="-30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4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asymptotically</a:t>
            </a:r>
            <a:r>
              <a:rPr sz="1600" kern="0" spc="-24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600" kern="0" spc="-4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normal:</a:t>
            </a:r>
            <a:endParaRPr sz="1600" dirty="0">
              <a:latin typeface="MS Gothic"/>
              <a:ea typeface="MS Gothic"/>
              <a:cs typeface="MS Gothic"/>
            </a:endParaRPr>
          </a:p>
          <a:p>
            <a:pPr marL="14604" algn="l" rtl="0" eaLnBrk="0">
              <a:lnSpc>
                <a:spcPct val="86000"/>
              </a:lnSpc>
              <a:spcBef>
                <a:spcPts val="1479"/>
              </a:spcBef>
              <a:tabLst/>
            </a:pP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•</a:t>
            </a:r>
            <a:r>
              <a:rPr sz="1800" kern="0" spc="-50" dirty="0">
                <a:solidFill>
                  <a:srgbClr val="C97F1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√</a:t>
            </a:r>
            <a:r>
              <a:rPr sz="1800" b="1" kern="0" spc="-2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1800" b="1" kern="0" spc="9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(θ̂ -</a:t>
            </a:r>
            <a:r>
              <a:rPr sz="1800" b="1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θ*) </a:t>
            </a:r>
            <a:r>
              <a:rPr sz="1800" b="1" kern="0" spc="-50" dirty="0">
                <a:solidFill>
                  <a:srgbClr val="C97F1E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⇒</a:t>
            </a:r>
            <a:r>
              <a:rPr sz="1800" kern="0" spc="100" dirty="0">
                <a:solidFill>
                  <a:srgbClr val="C97F1E">
                    <a:alpha val="100000"/>
                  </a:srgbClr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18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Normal(0,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-5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l(θ*)_1)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3000"/>
              </a:lnSpc>
              <a:spcBef>
                <a:spcPts val="1544"/>
              </a:spcBef>
              <a:tabLst/>
            </a:pP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•</a:t>
            </a:r>
            <a:r>
              <a:rPr sz="1800" kern="0" spc="-10" dirty="0">
                <a:solidFill>
                  <a:srgbClr val="33394A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MLE can attain</a:t>
            </a:r>
            <a:r>
              <a:rPr sz="1800" i="1" kern="0" spc="12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1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Cramér-Rao lower bound.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0504" indent="-215900" algn="l" rtl="0" eaLnBrk="0">
              <a:lnSpc>
                <a:spcPct val="103000"/>
              </a:lnSpc>
              <a:tabLst/>
            </a:pPr>
            <a:r>
              <a:rPr sz="1800" kern="0" spc="0" dirty="0">
                <a:solidFill>
                  <a:srgbClr val="B0413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•</a:t>
            </a:r>
            <a:r>
              <a:rPr sz="1800" kern="0" spc="0" dirty="0">
                <a:solidFill>
                  <a:srgbClr val="B0413E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Small sam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ples: bias and large</a:t>
            </a:r>
            <a:r>
              <a:rPr sz="1800" i="1" kern="0" spc="1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variance are possible; boundary</a:t>
            </a:r>
            <a:r>
              <a:rPr sz="1800" i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cases</a:t>
            </a:r>
            <a:r>
              <a:rPr sz="1800" i="1" kern="0" spc="10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(e.g.</a:t>
            </a:r>
            <a:r>
              <a:rPr sz="1800" i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all-success</a:t>
            </a:r>
            <a:r>
              <a:rPr sz="1800" i="1" kern="0" spc="10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Bernoulli)</a:t>
            </a:r>
            <a:r>
              <a:rPr sz="1800" i="1" kern="0" spc="7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give p̂=1</a:t>
            </a:r>
            <a:r>
              <a:rPr sz="1800" i="1" kern="0" spc="12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</a:t>
            </a:r>
            <a:r>
              <a:rPr sz="1800" i="1" kern="0" spc="6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automatic uncerta</a:t>
            </a:r>
            <a:r>
              <a:rPr sz="1800" i="1" kern="0" spc="-10" dirty="0">
                <a:solidFill>
                  <a:srgbClr val="B0413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inty measure.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542" name="textbox 1542"/>
          <p:cNvSpPr/>
          <p:nvPr/>
        </p:nvSpPr>
        <p:spPr>
          <a:xfrm>
            <a:off x="538454" y="99162"/>
            <a:ext cx="1179194" cy="214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APPEND</a:t>
            </a:r>
            <a:r>
              <a:rPr sz="1800" b="1" kern="0" spc="-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</a:t>
            </a:r>
            <a:r>
              <a:rPr sz="1800" b="1" kern="0" spc="-1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X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4" name="table 1544"/>
          <p:cNvGraphicFramePr>
            <a:graphicFrameLocks noGrp="1"/>
          </p:cNvGraphicFramePr>
          <p:nvPr/>
        </p:nvGraphicFramePr>
        <p:xfrm>
          <a:off x="452437" y="1366837"/>
          <a:ext cx="11256009" cy="3300730"/>
        </p:xfrm>
        <a:graphic>
          <a:graphicData uri="http://schemas.openxmlformats.org/drawingml/2006/table">
            <a:tbl>
              <a:tblPr/>
              <a:tblGrid>
                <a:gridCol w="3753484"/>
                <a:gridCol w="3749040"/>
                <a:gridCol w="3753484"/>
              </a:tblGrid>
              <a:tr h="662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7150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8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Distributio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31619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Density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5369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Moments /</a:t>
                      </a:r>
                      <a:r>
                        <a:rPr sz="18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sz="1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otes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E"/>
                    </a:solidFill>
                  </a:tcPr>
                </a:tc>
              </a:tr>
              <a:tr h="6584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00" algn="l" rtl="0" eaLnBrk="0">
                        <a:lnSpc>
                          <a:spcPct val="6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Gamma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8809" algn="l" rtl="0" eaLnBrk="0">
                        <a:lnSpc>
                          <a:spcPct val="9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f(x) = x</a:t>
                      </a:r>
                      <a:r>
                        <a:rPr sz="1600" kern="0" spc="20" baseline="26044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α_1</a:t>
                      </a:r>
                      <a:r>
                        <a:rPr sz="10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</a:t>
                      </a: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r>
                        <a:rPr sz="1600" kern="0" spc="20" baseline="26044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_x/β</a:t>
                      </a:r>
                      <a:r>
                        <a:rPr sz="10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⁄ [Γ(α)β</a:t>
                      </a:r>
                      <a:r>
                        <a:rPr sz="1600" kern="0" spc="20" baseline="26044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α</a:t>
                      </a:r>
                      <a:r>
                        <a:rPr sz="1000" kern="0" spc="-1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],  x</a:t>
                      </a:r>
                      <a:r>
                        <a:rPr sz="15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&gt;</a:t>
                      </a:r>
                      <a:r>
                        <a:rPr sz="1500" kern="0" spc="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5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0280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E[X]=αβ, Var(X)=αβ²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4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88464" algn="l" rtl="0" eaLnBrk="0">
                        <a:lnSpc>
                          <a:spcPts val="141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-5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Beta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870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f(y) =</a:t>
                      </a:r>
                      <a:r>
                        <a:rPr sz="1500" kern="0" spc="18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Γ(α+β)</a:t>
                      </a:r>
                      <a:r>
                        <a:rPr sz="1500" kern="0" spc="-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⁄ [Γ(α)Γ(β)]</a:t>
                      </a:r>
                      <a:r>
                        <a:rPr sz="15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· y</a:t>
                      </a:r>
                      <a:r>
                        <a:rPr sz="1600" kern="0" spc="20" baseline="26044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α_1</a:t>
                      </a:r>
                      <a:r>
                        <a:rPr sz="10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</a:t>
                      </a:r>
                      <a:r>
                        <a:rPr sz="1500" kern="0" spc="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(1_y)</a:t>
                      </a:r>
                      <a:r>
                        <a:rPr sz="1500" kern="0" spc="-2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600" kern="0" spc="20" baseline="26044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β_1</a:t>
                      </a:r>
                      <a:endParaRPr sz="1600" baseline="26044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7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603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E[Y]=α/(α+β)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8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8760" algn="l" rtl="0" eaLnBrk="0">
                        <a:lnSpc>
                          <a:spcPct val="7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Dirichlet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0250" algn="l" rtl="0" eaLnBrk="0">
                        <a:lnSpc>
                          <a:spcPct val="9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f(z)</a:t>
                      </a:r>
                      <a:r>
                        <a:rPr sz="1500" kern="0" spc="10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1500" kern="0" spc="16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Γ(Σαi)</a:t>
                      </a:r>
                      <a:r>
                        <a:rPr sz="1500" kern="0" spc="-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⁄ ∏Γ(αi)</a:t>
                      </a:r>
                      <a:r>
                        <a:rPr sz="1500" kern="0" spc="17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·</a:t>
                      </a:r>
                      <a:r>
                        <a:rPr sz="1500" kern="0" spc="1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∏ </a:t>
                      </a:r>
                      <a:r>
                        <a:rPr sz="15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zi</a:t>
                      </a:r>
                      <a:r>
                        <a:rPr sz="1600" kern="0" spc="10" baseline="26044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α</a:t>
                      </a:r>
                      <a:r>
                        <a:rPr sz="1600" kern="0" spc="0" baseline="26044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i_1</a:t>
                      </a:r>
                      <a:endParaRPr sz="1600" baseline="26044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985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-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E[zi]=αi/</a:t>
                      </a:r>
                      <a:r>
                        <a:rPr sz="1800" kern="0" spc="-4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Σαj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203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Exponential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family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8019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f(x;η)=h(x)ex</a:t>
                      </a:r>
                      <a:r>
                        <a:rPr sz="1800" kern="0" spc="-1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p(η·T(x)-A(η))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η</a:t>
                      </a:r>
                      <a:r>
                        <a:rPr sz="1800" kern="0" spc="19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natural</a:t>
                      </a:r>
                      <a:r>
                        <a:rPr sz="1800" kern="0" spc="13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33394A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param, T(x) sufficient stat</a:t>
                      </a:r>
                      <a:endParaRPr sz="18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46" name="textbox 1546"/>
          <p:cNvSpPr/>
          <p:nvPr/>
        </p:nvSpPr>
        <p:spPr>
          <a:xfrm>
            <a:off x="2655189" y="4922520"/>
            <a:ext cx="685736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Reference</a:t>
            </a:r>
            <a:r>
              <a:rPr sz="1800" i="1" kern="0" spc="13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table</a:t>
            </a:r>
            <a:r>
              <a:rPr sz="1800" i="1" kern="0" spc="-17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denser</a:t>
            </a:r>
            <a:r>
              <a:rPr sz="1800" i="1" kern="0" spc="-22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formulas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mentioned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briefly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main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lecture</a:t>
            </a:r>
            <a:r>
              <a:rPr sz="1800" i="1" kern="0" spc="10" dirty="0">
                <a:solidFill>
                  <a:srgbClr val="5B627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548" name="textbox 1548"/>
          <p:cNvSpPr/>
          <p:nvPr/>
        </p:nvSpPr>
        <p:spPr>
          <a:xfrm>
            <a:off x="555064" y="425501"/>
            <a:ext cx="5243195" cy="374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3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Extra Distribut</a:t>
            </a:r>
            <a:r>
              <a:rPr sz="3200" b="1" kern="0" spc="-2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ion Formulas</a:t>
            </a:r>
            <a:endParaRPr sz="3200" dirty="0">
              <a:latin typeface="Cambria"/>
              <a:ea typeface="Cambria"/>
              <a:cs typeface="Cambria"/>
            </a:endParaRPr>
          </a:p>
        </p:txBody>
      </p:sp>
      <p:sp>
        <p:nvSpPr>
          <p:cNvPr id="1550" name="textbox 1550"/>
          <p:cNvSpPr/>
          <p:nvPr/>
        </p:nvSpPr>
        <p:spPr>
          <a:xfrm>
            <a:off x="538454" y="101219"/>
            <a:ext cx="1179194" cy="204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09"/>
              </a:lnSpc>
              <a:tabLst/>
            </a:pPr>
            <a:r>
              <a:rPr sz="1800" b="1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APPENDIX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textbox 1552"/>
          <p:cNvSpPr/>
          <p:nvPr/>
        </p:nvSpPr>
        <p:spPr>
          <a:xfrm>
            <a:off x="555064" y="393355"/>
            <a:ext cx="10722609" cy="2975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200" b="1" kern="0" spc="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Extra Bayesian Formul</a:t>
            </a:r>
            <a:r>
              <a:rPr sz="3200" b="1" kern="0" spc="-10" dirty="0">
                <a:solidFill>
                  <a:srgbClr val="1E2A5E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as: Conjugate Updates</a:t>
            </a:r>
            <a:endParaRPr sz="3200" dirty="0">
              <a:latin typeface="Cambria"/>
              <a:ea typeface="Cambria"/>
              <a:cs typeface="Cambria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spcBef>
                <a:spcPts val="547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Beta-Bernoulli: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Beta(α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,β) +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N1 successes,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N0 failures  →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Beta(α+N1,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β+N0)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3000"/>
              </a:lnSpc>
              <a:spcBef>
                <a:spcPts val="1736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Dirichlet-Multin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omial:</a:t>
            </a:r>
            <a:r>
              <a:rPr sz="1800" kern="0" spc="2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Dirichlet(α)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 category counts</a:t>
            </a:r>
            <a:r>
              <a:rPr sz="1800" kern="0" spc="14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  →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Dirichlet(α</a:t>
            </a:r>
            <a:r>
              <a:rPr sz="1800" kern="0" spc="1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spcBef>
                <a:spcPts val="550"/>
              </a:spcBef>
              <a:tabLst/>
            </a:pP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Gamma-Poisson: Gamma(a,b) +</a:t>
            </a:r>
            <a:r>
              <a:rPr sz="1800" kern="0" spc="16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Poisson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counts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→</a:t>
            </a:r>
            <a:r>
              <a:rPr sz="1800" kern="0" spc="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updated</a:t>
            </a:r>
            <a:r>
              <a:rPr sz="1800" kern="0" spc="8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Gamma</a:t>
            </a:r>
            <a:r>
              <a:rPr sz="1800" kern="0" spc="13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posterior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4604" algn="l" rtl="0" eaLnBrk="0">
              <a:lnSpc>
                <a:spcPct val="83000"/>
              </a:lnSpc>
              <a:spcBef>
                <a:spcPts val="1735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Conjugacy makes Bayesian updating</a:t>
            </a:r>
            <a:r>
              <a:rPr sz="1800" i="1" kern="0" spc="7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analyt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ic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i="1" kern="0" spc="-20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fast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numerical</a:t>
            </a:r>
            <a:r>
              <a:rPr sz="1800" i="1" kern="0" spc="5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integration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needed.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spcBef>
                <a:spcPts val="1"/>
              </a:spcBef>
              <a:tabLst/>
            </a:pPr>
            <a:r>
              <a:rPr sz="1800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•</a:t>
            </a:r>
            <a:r>
              <a:rPr sz="1800" kern="0" spc="13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When no conjugate</a:t>
            </a:r>
            <a:r>
              <a:rPr sz="1800" i="1" kern="0" spc="-1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form exists: MCMC, import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ance sampling,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</a:t>
            </a:r>
            <a:r>
              <a:rPr sz="1800" i="1" kern="0" spc="6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variational inference</a:t>
            </a:r>
            <a:r>
              <a:rPr sz="1800" i="1" kern="0" spc="8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approximate</a:t>
            </a:r>
            <a:r>
              <a:rPr sz="1800" i="1" kern="0" spc="1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-10" dirty="0">
                <a:solidFill>
                  <a:srgbClr val="33394A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posterior.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554" name="textbox 1554"/>
          <p:cNvSpPr/>
          <p:nvPr/>
        </p:nvSpPr>
        <p:spPr>
          <a:xfrm>
            <a:off x="538454" y="101219"/>
            <a:ext cx="1179194" cy="204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09"/>
              </a:lnSpc>
              <a:tabLst/>
            </a:pPr>
            <a:r>
              <a:rPr sz="1800" b="1" kern="0" spc="170" dirty="0">
                <a:solidFill>
                  <a:srgbClr val="C97F1E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APPENDIX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Microsoft® PowerPoint® LTSC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terms:created xsi:type="dcterms:W3CDTF">2026-09-17T13:00:56Z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2026-09-26T17:19:24</vt:filetime>
  </property>
</Properties>
</file>