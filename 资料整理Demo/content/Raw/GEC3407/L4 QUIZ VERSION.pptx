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0692385" cy="756056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9" Type="http://schemas.openxmlformats.org/officeDocument/2006/relationships/viewProps" Target="viewProps.xml"/><Relationship Id="rId18" Type="http://schemas.openxmlformats.org/officeDocument/2006/relationships/tableStyles" Target="tableStyles.xml"/><Relationship Id="rId17" Type="http://schemas.openxmlformats.org/officeDocument/2006/relationships/presProps" Target="presProps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1537199" y="4031127"/>
            <a:ext cx="8058784" cy="3013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6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75" algn="l" rtl="0" eaLnBrk="0">
              <a:lnSpc>
                <a:spcPct val="75000"/>
              </a:lnSpc>
              <a:tabLst/>
            </a:pPr>
            <a:r>
              <a:rPr sz="48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CLASS, DIS</a:t>
            </a:r>
            <a:r>
              <a:rPr sz="48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TINCTION,</a:t>
            </a:r>
            <a:endParaRPr sz="4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42"/>
              </a:spcBef>
              <a:tabLst/>
            </a:pPr>
            <a:r>
              <a:rPr sz="4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“GOOD”</a:t>
            </a:r>
            <a:r>
              <a:rPr sz="4800" b="1" kern="0" spc="1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TASTE</a:t>
            </a:r>
            <a:endParaRPr sz="4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spcBef>
                <a:spcPts val="3"/>
              </a:spcBef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1561136" y="2193596"/>
            <a:ext cx="2931795" cy="13709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9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 4:</a:t>
            </a:r>
            <a:endParaRPr sz="39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74000"/>
              </a:lnSpc>
              <a:spcBef>
                <a:spcPts val="1339"/>
              </a:spcBef>
              <a:tabLst/>
            </a:pPr>
            <a:r>
              <a:rPr sz="5400" b="1" kern="0" spc="-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COFFEE</a:t>
            </a:r>
            <a:endParaRPr sz="5400" dirty="0">
              <a:latin typeface="Arial"/>
              <a:ea typeface="Arial"/>
              <a:cs typeface="Arial"/>
            </a:endParaRPr>
          </a:p>
        </p:txBody>
      </p:sp>
      <p:sp>
        <p:nvSpPr>
          <p:cNvPr id="6" name="rect 6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/>
          <p:cNvSpPr/>
          <p:nvPr/>
        </p:nvSpPr>
        <p:spPr>
          <a:xfrm>
            <a:off x="1458464" y="3739896"/>
            <a:ext cx="7848606" cy="21335"/>
          </a:xfrm>
          <a:custGeom>
            <a:avLst/>
            <a:gdLst/>
            <a:ahLst/>
            <a:cxnLst/>
            <a:rect l="0" t="0" r="0" b="0"/>
            <a:pathLst>
              <a:path w="12360" h="33">
                <a:moveTo>
                  <a:pt x="0" y="14"/>
                </a:moveTo>
                <a:lnTo>
                  <a:pt x="12360" y="19"/>
                </a:lnTo>
              </a:path>
            </a:pathLst>
          </a:custGeom>
          <a:noFill/>
          <a:ln w="18287" cap="flat">
            <a:solidFill>
              <a:srgbClr val="D2533C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1317829" y="1096340"/>
            <a:ext cx="7899400" cy="5475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ts val="4568"/>
              </a:lnSpc>
              <a:tabLst/>
            </a:pPr>
            <a:r>
              <a:rPr sz="3700" b="1" kern="0" spc="-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 and social m</a:t>
            </a:r>
            <a:r>
              <a:rPr sz="3700" b="1" kern="0" spc="-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obility</a:t>
            </a:r>
            <a:endParaRPr sz="3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97000"/>
              </a:lnSpc>
              <a:spcBef>
                <a:spcPts val="630"/>
              </a:spcBef>
              <a:tabLst/>
            </a:pP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People with similar</a:t>
            </a:r>
            <a:r>
              <a:rPr sz="21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levels</a:t>
            </a:r>
            <a:r>
              <a:rPr sz="21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income,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wealth,</a:t>
            </a:r>
            <a:r>
              <a:rPr sz="21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education,</a:t>
            </a:r>
            <a:endParaRPr sz="2100" dirty="0">
              <a:latin typeface="Arial"/>
              <a:ea typeface="Arial"/>
              <a:cs typeface="Arial"/>
            </a:endParaRPr>
          </a:p>
          <a:p>
            <a:pPr marL="21590" indent="-8889" algn="l" rtl="0" eaLnBrk="0">
              <a:lnSpc>
                <a:spcPct val="102000"/>
              </a:lnSpc>
              <a:spcBef>
                <a:spcPts val="202"/>
              </a:spcBef>
              <a:tabLst/>
            </a:pP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occupational</a:t>
            </a:r>
            <a:r>
              <a:rPr sz="21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tige,</a:t>
            </a:r>
            <a:r>
              <a:rPr sz="21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lifestyle, social status and/or access</a:t>
            </a:r>
            <a:r>
              <a:rPr sz="2100" b="1" kern="0" spc="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2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material</a:t>
            </a:r>
            <a:r>
              <a:rPr sz="21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goods and</a:t>
            </a:r>
            <a:r>
              <a:rPr sz="21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services.</a:t>
            </a:r>
            <a:endParaRPr sz="2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954" indent="-3810" algn="l" rtl="0" eaLnBrk="0">
              <a:lnSpc>
                <a:spcPct val="102000"/>
              </a:lnSpc>
              <a:spcBef>
                <a:spcPts val="632"/>
              </a:spcBef>
              <a:tabLst/>
            </a:pPr>
            <a:r>
              <a:rPr sz="21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Classes are distinguished</a:t>
            </a:r>
            <a:r>
              <a:rPr sz="21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ot only</a:t>
            </a:r>
            <a:r>
              <a:rPr sz="21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by the</a:t>
            </a:r>
            <a:r>
              <a:rPr sz="21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kind</a:t>
            </a:r>
            <a:r>
              <a:rPr sz="21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work</a:t>
            </a:r>
            <a:r>
              <a:rPr sz="2100" b="1" kern="0" spc="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they</a:t>
            </a:r>
            <a:r>
              <a:rPr sz="2100" b="1" kern="0" spc="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do,</a:t>
            </a:r>
            <a:r>
              <a:rPr sz="2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but also</a:t>
            </a:r>
            <a:r>
              <a:rPr sz="21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by consumption</a:t>
            </a:r>
            <a:r>
              <a:rPr sz="2100" b="1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different goods</a:t>
            </a:r>
            <a:r>
              <a:rPr sz="21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21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different wa</a:t>
            </a:r>
            <a:r>
              <a:rPr sz="21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ys.</a:t>
            </a:r>
            <a:endParaRPr sz="2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102000"/>
              </a:lnSpc>
              <a:spcBef>
                <a:spcPts val="632"/>
              </a:spcBef>
              <a:tabLst/>
            </a:pPr>
            <a:r>
              <a:rPr sz="21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</a:t>
            </a:r>
            <a:r>
              <a:rPr sz="21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mobility:</a:t>
            </a:r>
            <a:r>
              <a:rPr sz="2100" b="1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change</a:t>
            </a:r>
            <a:r>
              <a:rPr sz="21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clas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21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position from one’s family of</a:t>
            </a:r>
            <a:r>
              <a:rPr sz="2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origin.</a:t>
            </a:r>
            <a:endParaRPr sz="2100" dirty="0">
              <a:latin typeface="Arial"/>
              <a:ea typeface="Arial"/>
              <a:cs typeface="Arial"/>
            </a:endParaRPr>
          </a:p>
          <a:p>
            <a:pPr marL="475615" indent="-187325" algn="l" rtl="0" eaLnBrk="0">
              <a:lnSpc>
                <a:spcPct val="103000"/>
              </a:lnSpc>
              <a:spcBef>
                <a:spcPts val="567"/>
              </a:spcBef>
              <a:tabLst/>
            </a:pPr>
            <a:r>
              <a:rPr sz="1600" b="1" kern="0" spc="-3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Has there</a:t>
            </a:r>
            <a:r>
              <a:rPr sz="18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been</a:t>
            </a:r>
            <a:r>
              <a:rPr sz="18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</a:t>
            </a:r>
            <a:r>
              <a:rPr sz="1800" b="1" kern="0" spc="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mobility</a:t>
            </a:r>
            <a:r>
              <a:rPr sz="1800" b="1" kern="0" spc="1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between</a:t>
            </a:r>
            <a:r>
              <a:rPr sz="1800" b="1" kern="0" spc="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 gr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andparents’ and</a:t>
            </a:r>
            <a:r>
              <a:rPr sz="18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18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parents’ generat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ions?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67994" indent="-179704" algn="l" rtl="0" eaLnBrk="0">
              <a:lnSpc>
                <a:spcPct val="103000"/>
              </a:lnSpc>
              <a:tabLst/>
            </a:pPr>
            <a:r>
              <a:rPr sz="1600" b="1" kern="0" spc="-3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Do you</a:t>
            </a:r>
            <a:r>
              <a:rPr sz="18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anticipate that there</a:t>
            </a:r>
            <a:r>
              <a:rPr sz="1800" b="1" kern="0" spc="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will</a:t>
            </a:r>
            <a:r>
              <a:rPr sz="1800" b="1" kern="0" spc="1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18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some</a:t>
            </a:r>
            <a:r>
              <a:rPr sz="18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between</a:t>
            </a:r>
            <a:r>
              <a:rPr sz="18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18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arents’</a:t>
            </a:r>
            <a:r>
              <a:rPr sz="18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generation</a:t>
            </a:r>
            <a:r>
              <a:rPr sz="1800" b="1" kern="0" spc="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your own?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2" name="rect 12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" name="textbox 14"/>
          <p:cNvSpPr/>
          <p:nvPr/>
        </p:nvSpPr>
        <p:spPr>
          <a:xfrm>
            <a:off x="7285994" y="6839526"/>
            <a:ext cx="246252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/>
          <p:nvPr/>
        </p:nvSpPr>
        <p:spPr>
          <a:xfrm>
            <a:off x="1319565" y="3299242"/>
            <a:ext cx="7742555" cy="2760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Status</a:t>
            </a:r>
            <a:r>
              <a:rPr sz="2300" b="1" kern="0" spc="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300" b="1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endParaRPr sz="2300" dirty="0">
              <a:latin typeface="Arial"/>
              <a:ea typeface="Arial"/>
              <a:cs typeface="Arial"/>
            </a:endParaRPr>
          </a:p>
          <a:p>
            <a:pPr marL="287020" algn="l" rtl="0" eaLnBrk="0">
              <a:lnSpc>
                <a:spcPct val="82000"/>
              </a:lnSpc>
              <a:spcBef>
                <a:spcPts val="1125"/>
              </a:spcBef>
              <a:tabLst/>
            </a:pPr>
            <a:r>
              <a:rPr sz="1700" b="1" kern="0" spc="-11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700" b="1" kern="0" spc="3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b="1" kern="0" spc="-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2000" b="1" kern="0" spc="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endParaRPr sz="2000" dirty="0">
              <a:latin typeface="Arial"/>
              <a:ea typeface="Arial"/>
              <a:cs typeface="Arial"/>
            </a:endParaRPr>
          </a:p>
          <a:p>
            <a:pPr marL="287020" algn="l" rtl="0" eaLnBrk="0">
              <a:lnSpc>
                <a:spcPct val="98000"/>
              </a:lnSpc>
              <a:spcBef>
                <a:spcPts val="638"/>
              </a:spcBef>
              <a:tabLst/>
            </a:pPr>
            <a:r>
              <a:rPr sz="1600" b="1" kern="0" spc="-5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b="1" kern="0" spc="9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If yes,</a:t>
            </a:r>
            <a:endParaRPr sz="1900" dirty="0">
              <a:latin typeface="Arial"/>
              <a:ea typeface="Arial"/>
              <a:cs typeface="Arial"/>
            </a:endParaRPr>
          </a:p>
          <a:p>
            <a:pPr marL="287020" algn="l" rtl="0" eaLnBrk="0">
              <a:lnSpc>
                <a:spcPct val="79000"/>
              </a:lnSpc>
              <a:spcBef>
                <a:spcPts val="921"/>
              </a:spcBef>
              <a:tabLst/>
            </a:pPr>
            <a:r>
              <a:rPr sz="1700" b="1" kern="0" spc="-10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700" b="1" kern="0" spc="3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b="1" kern="0" spc="-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20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2000" dirty="0">
              <a:latin typeface="Arial"/>
              <a:ea typeface="Arial"/>
              <a:cs typeface="Arial"/>
            </a:endParaRPr>
          </a:p>
          <a:p>
            <a:pPr marL="459105" indent="-172085" algn="l" rtl="0" eaLnBrk="0">
              <a:lnSpc>
                <a:spcPct val="93000"/>
              </a:lnSpc>
              <a:spcBef>
                <a:spcPts val="991"/>
              </a:spcBef>
              <a:tabLst/>
            </a:pPr>
            <a:r>
              <a:rPr sz="1600" b="1" kern="0" spc="-7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1" kern="0" spc="-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Ask</a:t>
            </a:r>
            <a:r>
              <a:rPr sz="19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yo</a:t>
            </a:r>
            <a:r>
              <a:rPr sz="1900" b="1" kern="0" spc="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</a:t>
            </a:r>
            <a:r>
              <a:rPr sz="19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</a:t>
            </a:r>
            <a:r>
              <a:rPr sz="1900" b="1" kern="0" spc="-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9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2000" b="1" kern="0" spc="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endParaRPr sz="2000" dirty="0">
              <a:latin typeface="Arial"/>
              <a:ea typeface="Arial"/>
              <a:cs typeface="Arial"/>
            </a:endParaRPr>
          </a:p>
          <a:p>
            <a:pPr marL="287020" algn="l" rtl="0" eaLnBrk="0">
              <a:lnSpc>
                <a:spcPct val="98000"/>
              </a:lnSpc>
              <a:spcBef>
                <a:spcPts val="646"/>
              </a:spcBef>
              <a:tabLst/>
            </a:pPr>
            <a:r>
              <a:rPr sz="1600" b="1" kern="0" spc="-6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b="1" kern="0" spc="8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If your</a:t>
            </a:r>
            <a:endParaRPr sz="1900" dirty="0">
              <a:latin typeface="Arial"/>
              <a:ea typeface="Arial"/>
              <a:cs typeface="Arial"/>
            </a:endParaRPr>
          </a:p>
          <a:p>
            <a:pPr marL="462915" algn="l" rtl="0" eaLnBrk="0">
              <a:lnSpc>
                <a:spcPts val="2459"/>
              </a:lnSpc>
              <a:tabLst/>
            </a:pP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they</a:t>
            </a:r>
            <a:r>
              <a:rPr sz="20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2527747" y="3248645"/>
            <a:ext cx="6497320" cy="2811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person’s of group’s</a:t>
            </a:r>
            <a:r>
              <a:rPr sz="2300" b="1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prestige o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2300" b="1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rank</a:t>
            </a:r>
            <a:r>
              <a:rPr sz="23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2300" b="1" kern="0" spc="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society.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33985" algn="l" rtl="0" eaLnBrk="0">
              <a:lnSpc>
                <a:spcPct val="93000"/>
              </a:lnSpc>
              <a:spcBef>
                <a:spcPts val="649"/>
              </a:spcBef>
              <a:tabLst/>
            </a:pP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own any designer clothing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or</a:t>
            </a:r>
            <a:r>
              <a:rPr sz="2000" b="1" kern="0" spc="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accessories?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646"/>
              </a:spcBef>
              <a:tabLst/>
            </a:pP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 do you decide which</a:t>
            </a:r>
            <a:r>
              <a:rPr sz="1900" b="1" kern="0" spc="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designer’s wares</a:t>
            </a:r>
            <a:r>
              <a:rPr sz="1900" b="1" kern="0" spc="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900" b="1" kern="0" spc="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buy?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58419" algn="l" rtl="0" eaLnBrk="0">
              <a:lnSpc>
                <a:spcPct val="98000"/>
              </a:lnSpc>
              <a:spcBef>
                <a:spcPts val="646"/>
              </a:spcBef>
              <a:tabLst/>
            </a:pP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uch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900" b="1" kern="0" spc="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1900" b="1" kern="0" spc="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reasonable to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pay for a cup</a:t>
            </a:r>
            <a:r>
              <a:rPr sz="1900" b="1" kern="0" spc="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900" b="1" kern="0" spc="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coffee?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30175" indent="-102235" algn="l" rtl="0" eaLnBrk="0">
              <a:lnSpc>
                <a:spcPct val="103000"/>
              </a:lnSpc>
              <a:spcBef>
                <a:spcPts val="640"/>
              </a:spcBef>
              <a:tabLst/>
            </a:pP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ur</a:t>
            </a:r>
            <a:r>
              <a:rPr sz="19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parents and friends this question.</a:t>
            </a:r>
            <a:r>
              <a:rPr sz="19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 their answers</a:t>
            </a:r>
            <a:r>
              <a:rPr sz="1900" b="1" kern="0" spc="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differ</a:t>
            </a:r>
            <a:r>
              <a:rPr sz="19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 think</a:t>
            </a:r>
            <a:r>
              <a:rPr sz="19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19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is?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indent="13970" algn="l" rtl="0" eaLnBrk="0">
              <a:lnSpc>
                <a:spcPct val="103000"/>
              </a:lnSpc>
              <a:spcBef>
                <a:spcPts val="3"/>
              </a:spcBef>
              <a:tabLst/>
            </a:pP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friends give</a:t>
            </a:r>
            <a:r>
              <a:rPr sz="1900" b="1" kern="0" spc="2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roughly the same answer, does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</a:t>
            </a:r>
            <a:r>
              <a:rPr sz="1900" b="1" kern="0" spc="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19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1900" b="1" kern="0" spc="1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</a:t>
            </a:r>
            <a:r>
              <a:rPr sz="19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roughly the sa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me</a:t>
            </a:r>
            <a:r>
              <a:rPr sz="19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income</a:t>
            </a:r>
            <a:r>
              <a:rPr sz="19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levels?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1309811" y="1096340"/>
            <a:ext cx="8053069" cy="1706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617"/>
              </a:lnSpc>
              <a:tabLst/>
            </a:pPr>
            <a:r>
              <a:rPr sz="3700" b="1" kern="0" spc="-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Conspicuo</a:t>
            </a:r>
            <a:r>
              <a:rPr sz="3700" b="1" kern="0" spc="-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us consumption and status</a:t>
            </a:r>
            <a:endParaRPr sz="3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0320" indent="-8254" algn="l" rtl="0" eaLnBrk="0">
              <a:lnSpc>
                <a:spcPct val="110000"/>
              </a:lnSpc>
              <a:tabLst/>
            </a:pP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Veblen:</a:t>
            </a:r>
            <a:r>
              <a:rPr sz="23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consumption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highly visible</a:t>
            </a:r>
            <a:r>
              <a:rPr sz="2300" b="1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uxury</a:t>
            </a:r>
            <a:r>
              <a:rPr sz="23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goods to signal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elite status.</a:t>
            </a:r>
            <a:endParaRPr sz="2300" dirty="0">
              <a:latin typeface="Arial"/>
              <a:ea typeface="Arial"/>
              <a:cs typeface="Arial"/>
            </a:endParaRPr>
          </a:p>
        </p:txBody>
      </p:sp>
      <p:sp>
        <p:nvSpPr>
          <p:cNvPr id="22" name="rect 22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" name="textbox 24"/>
          <p:cNvSpPr/>
          <p:nvPr/>
        </p:nvSpPr>
        <p:spPr>
          <a:xfrm>
            <a:off x="7285994" y="6839526"/>
            <a:ext cx="246252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77667" y="1950720"/>
            <a:ext cx="5333999" cy="3387851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1331527" y="849137"/>
            <a:ext cx="7180580" cy="1097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indent="-4444" algn="l" rtl="0" eaLnBrk="0">
              <a:lnSpc>
                <a:spcPct val="103000"/>
              </a:lnSpc>
              <a:tabLst/>
            </a:pPr>
            <a:r>
              <a:rPr sz="3400" b="1" kern="0" spc="-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Conspicuous consumption and statu</a:t>
            </a:r>
            <a:r>
              <a:rPr sz="3400" b="1" kern="0" spc="-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34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400" b="1" kern="0" spc="-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(continued)</a:t>
            </a:r>
            <a:endParaRPr sz="3400" dirty="0">
              <a:latin typeface="Arial"/>
              <a:ea typeface="Arial"/>
              <a:cs typeface="Arial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320043" y="5804147"/>
            <a:ext cx="7929244" cy="971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0660" indent="-187960" algn="l" rtl="0" eaLnBrk="0">
              <a:lnSpc>
                <a:spcPct val="111000"/>
              </a:lnSpc>
              <a:tabLst/>
            </a:pPr>
            <a:r>
              <a:rPr sz="16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Martin Shkreli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bought the sole</a:t>
            </a:r>
            <a:r>
              <a:rPr sz="19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copy</a:t>
            </a:r>
            <a:r>
              <a:rPr sz="19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a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recording</a:t>
            </a:r>
            <a:r>
              <a:rPr sz="1900" b="1" kern="0" spc="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1900" b="1" kern="0" spc="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Wu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-Tang</a:t>
            </a:r>
            <a:r>
              <a:rPr sz="19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Clan,</a:t>
            </a:r>
            <a:r>
              <a:rPr sz="19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but was</a:t>
            </a:r>
            <a:r>
              <a:rPr sz="1900" b="1" kern="0" spc="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9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planning to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listen to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immediately. Why, then, did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he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buy</a:t>
            </a:r>
            <a:r>
              <a:rPr sz="19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it?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32" name="rect 32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" name="textbox 34"/>
          <p:cNvSpPr/>
          <p:nvPr/>
        </p:nvSpPr>
        <p:spPr>
          <a:xfrm>
            <a:off x="7285994" y="6839526"/>
            <a:ext cx="246252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/>
          <p:cNvSpPr/>
          <p:nvPr/>
        </p:nvSpPr>
        <p:spPr>
          <a:xfrm>
            <a:off x="1308592" y="849137"/>
            <a:ext cx="8005444" cy="58743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6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259" algn="l" rtl="0" eaLnBrk="0">
              <a:lnSpc>
                <a:spcPct val="98000"/>
              </a:lnSpc>
              <a:tabLst/>
            </a:pPr>
            <a:r>
              <a:rPr sz="3400" b="1" kern="0" spc="-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Expenditure </a:t>
            </a:r>
            <a:r>
              <a:rPr sz="3400" b="1" kern="0" spc="-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cascade and</a:t>
            </a:r>
            <a:endParaRPr sz="3400" dirty="0">
              <a:latin typeface="Arial"/>
              <a:ea typeface="Arial"/>
              <a:cs typeface="Arial"/>
            </a:endParaRPr>
          </a:p>
          <a:p>
            <a:pPr marL="41909" algn="l" rtl="0" eaLnBrk="0">
              <a:lnSpc>
                <a:spcPts val="4320"/>
              </a:lnSpc>
              <a:tabLst/>
            </a:pPr>
            <a:r>
              <a:rPr sz="3400" b="1" kern="0" spc="-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upscale emulat</a:t>
            </a:r>
            <a:r>
              <a:rPr sz="3400" b="1" kern="0" spc="-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</a:t>
            </a:r>
            <a:endParaRPr sz="3400" dirty="0">
              <a:latin typeface="Arial"/>
              <a:ea typeface="Arial"/>
              <a:cs typeface="Arial"/>
            </a:endParaRPr>
          </a:p>
          <a:p>
            <a:pPr marL="36830" algn="l" rtl="0" eaLnBrk="0">
              <a:lnSpc>
                <a:spcPct val="95000"/>
              </a:lnSpc>
              <a:spcBef>
                <a:spcPts val="489"/>
              </a:spcBef>
              <a:tabLst/>
            </a:pP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High-status</a:t>
            </a:r>
            <a:r>
              <a:rPr sz="2300" b="1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consumption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items “trickle down” to</a:t>
            </a:r>
            <a:r>
              <a:rPr sz="23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lower</a:t>
            </a:r>
            <a:endParaRPr sz="23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94000"/>
              </a:lnSpc>
              <a:spcBef>
                <a:spcPts val="39"/>
              </a:spcBef>
              <a:tabLst/>
            </a:pP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classes</a:t>
            </a:r>
            <a:r>
              <a:rPr sz="2300" b="1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an “expen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diture cascade”: expectations</a:t>
            </a:r>
            <a:r>
              <a:rPr sz="2300" b="1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expenditures</a:t>
            </a:r>
            <a:r>
              <a:rPr sz="2300" b="1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2300" b="1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lowe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 classes expand.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225" indent="3175" algn="l" rtl="0" eaLnBrk="0">
              <a:lnSpc>
                <a:spcPct val="95000"/>
              </a:lnSpc>
              <a:spcBef>
                <a:spcPts val="697"/>
              </a:spcBef>
              <a:tabLst/>
            </a:pP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Schorr: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upscale e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mulation</a:t>
            </a:r>
            <a:r>
              <a:rPr sz="23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an attempt to</a:t>
            </a:r>
            <a:r>
              <a:rPr sz="2300" b="1" kern="0" spc="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emulate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lives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elites,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primar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ily</a:t>
            </a:r>
            <a:r>
              <a:rPr sz="23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celebrities.</a:t>
            </a:r>
            <a:endParaRPr sz="2300" dirty="0">
              <a:latin typeface="Arial"/>
              <a:ea typeface="Arial"/>
              <a:cs typeface="Arial"/>
            </a:endParaRPr>
          </a:p>
          <a:p>
            <a:pPr marL="214629" indent="-188595" algn="l" rtl="0" eaLnBrk="0">
              <a:lnSpc>
                <a:spcPct val="95000"/>
              </a:lnSpc>
              <a:spcBef>
                <a:spcPts val="516"/>
              </a:spcBef>
              <a:tabLst/>
            </a:pPr>
            <a:r>
              <a:rPr sz="20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000" b="1" kern="0" spc="12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“New</a:t>
            </a:r>
            <a:r>
              <a:rPr sz="2300" b="1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consumerism”: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keeping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up with the Joneses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but with</a:t>
            </a:r>
            <a:r>
              <a:rPr sz="2300" b="1" kern="0" spc="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Jolie-Pit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ts.</a:t>
            </a:r>
            <a:endParaRPr sz="2300" dirty="0">
              <a:latin typeface="Arial"/>
              <a:ea typeface="Arial"/>
              <a:cs typeface="Arial"/>
            </a:endParaRPr>
          </a:p>
          <a:p>
            <a:pPr marL="31750" indent="-19684" algn="l" rtl="0" eaLnBrk="0">
              <a:lnSpc>
                <a:spcPct val="95000"/>
              </a:lnSpc>
              <a:spcBef>
                <a:spcPts val="516"/>
              </a:spcBef>
              <a:tabLst/>
            </a:pP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Aspirational gap: consumption desir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es consistently</a:t>
            </a:r>
            <a:r>
              <a:rPr sz="23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outrun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incomes.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4129" indent="254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Once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item</a:t>
            </a:r>
            <a:r>
              <a:rPr sz="2300" b="1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widely</a:t>
            </a:r>
            <a:r>
              <a:rPr sz="2300" b="1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popular,</a:t>
            </a:r>
            <a:r>
              <a:rPr sz="2300" b="1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its value for co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nspicuous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300" b="1" kern="0" spc="-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consumption</a:t>
            </a:r>
            <a:r>
              <a:rPr sz="2300" b="1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2300" b="1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lo</a:t>
            </a:r>
            <a:r>
              <a:rPr sz="2300" b="1" kern="0" spc="-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st.</a:t>
            </a:r>
            <a:endParaRPr sz="2300" dirty="0">
              <a:latin typeface="Arial"/>
              <a:ea typeface="Arial"/>
              <a:cs typeface="Arial"/>
            </a:endParaRPr>
          </a:p>
        </p:txBody>
      </p:sp>
      <p:sp>
        <p:nvSpPr>
          <p:cNvPr id="38" name="rect 38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" name="textbox 40"/>
          <p:cNvSpPr/>
          <p:nvPr/>
        </p:nvSpPr>
        <p:spPr>
          <a:xfrm>
            <a:off x="7285994" y="6839526"/>
            <a:ext cx="246252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2"/>
          <p:cNvSpPr/>
          <p:nvPr/>
        </p:nvSpPr>
        <p:spPr>
          <a:xfrm>
            <a:off x="1322308" y="1096340"/>
            <a:ext cx="7974965" cy="5480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01344" algn="l" rtl="0" eaLnBrk="0">
              <a:lnSpc>
                <a:spcPct val="98000"/>
              </a:lnSpc>
              <a:tabLst/>
            </a:pPr>
            <a:r>
              <a:rPr sz="3800" b="1" kern="0" spc="-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Bourdieu: class and “good</a:t>
            </a:r>
            <a:r>
              <a:rPr sz="3800" b="1" kern="0" spc="-1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taste”</a:t>
            </a:r>
            <a:endParaRPr sz="3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indent="4444" algn="l" rtl="0" eaLnBrk="0">
              <a:lnSpc>
                <a:spcPct val="95000"/>
              </a:lnSpc>
              <a:spcBef>
                <a:spcPts val="695"/>
              </a:spcBef>
              <a:tabLst/>
            </a:pP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High-status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consumption</a:t>
            </a:r>
            <a:r>
              <a:rPr sz="23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wealth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related,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but the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ir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relationship</a:t>
            </a:r>
            <a:r>
              <a:rPr sz="2300" b="1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23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cultura</a:t>
            </a:r>
            <a:r>
              <a:rPr sz="2300" b="1" kern="0" spc="-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lly</a:t>
            </a:r>
            <a:r>
              <a:rPr sz="23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complex.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8415" indent="-4444" algn="l" rtl="0" eaLnBrk="0">
              <a:lnSpc>
                <a:spcPct val="95000"/>
              </a:lnSpc>
              <a:spcBef>
                <a:spcPts val="516"/>
              </a:spcBef>
              <a:tabLst/>
            </a:pP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Consumption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habits</a:t>
            </a:r>
            <a:r>
              <a:rPr sz="2300" b="1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(t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astes)</a:t>
            </a:r>
            <a:r>
              <a:rPr sz="23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both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reflect and</a:t>
            </a:r>
            <a:r>
              <a:rPr sz="23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reinforce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inequalities.</a:t>
            </a:r>
            <a:endParaRPr sz="2300" dirty="0">
              <a:latin typeface="Arial"/>
              <a:ea typeface="Arial"/>
              <a:cs typeface="Arial"/>
            </a:endParaRPr>
          </a:p>
          <a:p>
            <a:pPr marL="560069" indent="-276225" algn="l" rtl="0" eaLnBrk="0">
              <a:lnSpc>
                <a:spcPct val="97000"/>
              </a:lnSpc>
              <a:spcBef>
                <a:spcPts val="369"/>
              </a:spcBef>
              <a:tabLst/>
            </a:pPr>
            <a:r>
              <a:rPr sz="1600" b="1" kern="0" spc="-3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17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7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700" b="1" kern="0" spc="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enough to</a:t>
            </a:r>
            <a:r>
              <a:rPr sz="1700" b="1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1700" b="1" kern="0" spc="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able to afford</a:t>
            </a:r>
            <a:r>
              <a:rPr sz="1700" b="1" kern="0" spc="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700" b="1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consumption</a:t>
            </a:r>
            <a:r>
              <a:rPr sz="17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item.</a:t>
            </a:r>
            <a:r>
              <a:rPr sz="1700" b="1" kern="0" spc="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</a:t>
            </a:r>
            <a:r>
              <a:rPr sz="17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must</a:t>
            </a:r>
            <a:r>
              <a:rPr sz="17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know</a:t>
            </a:r>
            <a:r>
              <a:rPr sz="17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</a:t>
            </a:r>
            <a:r>
              <a:rPr sz="17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item to choose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7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 </a:t>
            </a:r>
            <a:r>
              <a:rPr sz="17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700" b="1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consume</a:t>
            </a:r>
            <a:r>
              <a:rPr sz="17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it.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690"/>
              </a:spcBef>
              <a:tabLst/>
            </a:pP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</a:t>
            </a:r>
            <a:r>
              <a:rPr sz="23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inequal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ity</a:t>
            </a:r>
            <a:r>
              <a:rPr sz="2300" b="1" kern="0" spc="2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2300" b="1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naturalized as</a:t>
            </a:r>
            <a:r>
              <a:rPr sz="23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individual</a:t>
            </a:r>
            <a:r>
              <a:rPr sz="23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good taste.</a:t>
            </a:r>
            <a:endParaRPr sz="2300" dirty="0">
              <a:latin typeface="Arial"/>
              <a:ea typeface="Arial"/>
              <a:cs typeface="Arial"/>
            </a:endParaRPr>
          </a:p>
          <a:p>
            <a:pPr marL="284479" algn="l" rtl="0" eaLnBrk="0">
              <a:lnSpc>
                <a:spcPct val="93000"/>
              </a:lnSpc>
              <a:spcBef>
                <a:spcPts val="408"/>
              </a:spcBef>
              <a:tabLst/>
            </a:pPr>
            <a:r>
              <a:rPr sz="1700" b="1" kern="0" spc="-8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there a</a:t>
            </a:r>
            <a:r>
              <a:rPr sz="2000" b="1" kern="0" spc="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brand</a:t>
            </a:r>
            <a:r>
              <a:rPr sz="2000" b="1" kern="0" spc="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20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coff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ee</a:t>
            </a:r>
            <a:r>
              <a:rPr sz="2000" b="1" kern="0" spc="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2000" b="1" kern="0" spc="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avoid?</a:t>
            </a:r>
            <a:r>
              <a:rPr sz="2000" b="1" kern="0" spc="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Why?</a:t>
            </a:r>
            <a:endParaRPr sz="2000" dirty="0">
              <a:latin typeface="Arial"/>
              <a:ea typeface="Arial"/>
              <a:cs typeface="Arial"/>
            </a:endParaRPr>
          </a:p>
          <a:p>
            <a:pPr marL="464819" indent="-180339" algn="l" rtl="0" eaLnBrk="0">
              <a:lnSpc>
                <a:spcPct val="94000"/>
              </a:lnSpc>
              <a:spcBef>
                <a:spcPts val="402"/>
              </a:spcBef>
              <a:tabLst/>
            </a:pPr>
            <a:r>
              <a:rPr sz="16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Do all your friends</a:t>
            </a:r>
            <a:r>
              <a:rPr sz="19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agree</a:t>
            </a:r>
            <a:r>
              <a:rPr sz="1900" b="1" kern="0" spc="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on whi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ch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brands</a:t>
            </a:r>
            <a:r>
              <a:rPr sz="1900" b="1" kern="0" spc="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900" b="1" kern="0" spc="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drink</a:t>
            </a:r>
            <a:r>
              <a:rPr sz="1900" b="1" kern="0" spc="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9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</a:t>
            </a:r>
            <a:r>
              <a:rPr sz="1900" b="1" kern="0" spc="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9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avoid?</a:t>
            </a:r>
            <a:endParaRPr sz="2000" dirty="0">
              <a:latin typeface="Arial"/>
              <a:ea typeface="Arial"/>
              <a:cs typeface="Arial"/>
            </a:endParaRPr>
          </a:p>
          <a:p>
            <a:pPr marL="458469" indent="-173989" algn="l" rtl="0" eaLnBrk="0">
              <a:lnSpc>
                <a:spcPct val="94000"/>
              </a:lnSpc>
              <a:spcBef>
                <a:spcPts val="418"/>
              </a:spcBef>
              <a:tabLst/>
            </a:pPr>
            <a:r>
              <a:rPr sz="1700" b="1" kern="0" spc="-8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 you ever told someo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ne</a:t>
            </a:r>
            <a:r>
              <a:rPr sz="20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(or</a:t>
            </a:r>
            <a:r>
              <a:rPr sz="20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been</a:t>
            </a:r>
            <a:r>
              <a:rPr sz="2000" b="1" kern="0" spc="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told</a:t>
            </a:r>
            <a:r>
              <a:rPr sz="20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2000" b="1" kern="0" spc="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someone) “I</a:t>
            </a:r>
            <a:r>
              <a:rPr sz="2000" b="1" kern="0" spc="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don’t</a:t>
            </a:r>
            <a:r>
              <a:rPr sz="20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know</a:t>
            </a:r>
            <a:r>
              <a:rPr sz="19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 you</a:t>
            </a:r>
            <a:r>
              <a:rPr sz="1900" b="1" kern="0" spc="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 drink that stuff”? What “st</a:t>
            </a:r>
            <a:r>
              <a:rPr sz="19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uff”</a:t>
            </a:r>
            <a:r>
              <a:rPr sz="1900" b="1" kern="0" spc="-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was</a:t>
            </a:r>
            <a:r>
              <a:rPr sz="1900" b="1" kern="0" spc="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referred to?</a:t>
            </a:r>
            <a:r>
              <a:rPr sz="19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Was</a:t>
            </a:r>
            <a:r>
              <a:rPr sz="1900" b="1" kern="0" spc="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its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poor taste the only</a:t>
            </a:r>
            <a:r>
              <a:rPr sz="19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reason for the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remark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44" name="rect 44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textbox 46"/>
          <p:cNvSpPr/>
          <p:nvPr/>
        </p:nvSpPr>
        <p:spPr>
          <a:xfrm>
            <a:off x="7285994" y="6839526"/>
            <a:ext cx="246252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8"/>
          <p:cNvSpPr/>
          <p:nvPr/>
        </p:nvSpPr>
        <p:spPr>
          <a:xfrm>
            <a:off x="1313645" y="1096340"/>
            <a:ext cx="8049894" cy="5453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8000"/>
              </a:lnSpc>
              <a:tabLst/>
            </a:pPr>
            <a:r>
              <a:rPr sz="3800" b="1" kern="0" spc="-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Three forms of c</a:t>
            </a:r>
            <a:r>
              <a:rPr sz="3800" b="1" kern="0" spc="-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apital</a:t>
            </a:r>
            <a:endParaRPr sz="3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940" algn="l" rtl="0" eaLnBrk="0">
              <a:lnSpc>
                <a:spcPct val="82000"/>
              </a:lnSpc>
              <a:spcBef>
                <a:spcPts val="633"/>
              </a:spcBef>
              <a:tabLst/>
            </a:pPr>
            <a:r>
              <a:rPr sz="21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Economic:</a:t>
            </a:r>
            <a:r>
              <a:rPr sz="21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money.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2700" indent="4444" algn="l" rtl="0" eaLnBrk="0">
              <a:lnSpc>
                <a:spcPct val="96000"/>
              </a:lnSpc>
              <a:spcBef>
                <a:spcPts val="435"/>
              </a:spcBef>
              <a:tabLst/>
            </a:pP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Social:</a:t>
            </a:r>
            <a:r>
              <a:rPr sz="21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ess to</a:t>
            </a:r>
            <a:r>
              <a:rPr sz="21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resources</a:t>
            </a:r>
            <a:r>
              <a:rPr sz="21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(support,</a:t>
            </a:r>
            <a:r>
              <a:rPr sz="21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information, opportunities)</a:t>
            </a:r>
            <a:r>
              <a:rPr sz="2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through</a:t>
            </a:r>
            <a:r>
              <a:rPr sz="21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21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individual’s social</a:t>
            </a:r>
            <a:r>
              <a:rPr sz="21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network.</a:t>
            </a:r>
            <a:endParaRPr sz="2100" dirty="0">
              <a:latin typeface="Arial"/>
              <a:ea typeface="Arial"/>
              <a:cs typeface="Arial"/>
            </a:endParaRPr>
          </a:p>
          <a:p>
            <a:pPr marL="292734" algn="l" rtl="0" eaLnBrk="0">
              <a:lnSpc>
                <a:spcPct val="98000"/>
              </a:lnSpc>
              <a:spcBef>
                <a:spcPts val="399"/>
              </a:spcBef>
              <a:tabLst/>
            </a:pPr>
            <a:r>
              <a:rPr sz="1600" b="1" kern="0" spc="-6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600" b="1" kern="0" spc="38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“It’s</a:t>
            </a:r>
            <a:r>
              <a:rPr sz="18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 what</a:t>
            </a:r>
            <a:r>
              <a:rPr sz="1800" b="1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8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know,</a:t>
            </a:r>
            <a:r>
              <a:rPr sz="18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but whom</a:t>
            </a:r>
            <a:r>
              <a:rPr sz="1800" b="1" kern="0" spc="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8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know.”</a:t>
            </a:r>
            <a:endParaRPr sz="1800" dirty="0">
              <a:latin typeface="Arial"/>
              <a:ea typeface="Arial"/>
              <a:cs typeface="Arial"/>
            </a:endParaRPr>
          </a:p>
          <a:p>
            <a:pPr marL="25400" indent="-5080" algn="l" rtl="0" eaLnBrk="0">
              <a:lnSpc>
                <a:spcPct val="96000"/>
              </a:lnSpc>
              <a:spcBef>
                <a:spcPts val="434"/>
              </a:spcBef>
              <a:tabLst/>
            </a:pPr>
            <a:r>
              <a:rPr sz="21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Cultural:</a:t>
            </a:r>
            <a:r>
              <a:rPr sz="21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kn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owledge, skills and</a:t>
            </a:r>
            <a:r>
              <a:rPr sz="21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preference</a:t>
            </a:r>
            <a:r>
              <a:rPr sz="21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highly valued within a</a:t>
            </a:r>
            <a:r>
              <a:rPr sz="2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particular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culture.</a:t>
            </a:r>
            <a:endParaRPr sz="2100" dirty="0">
              <a:latin typeface="Arial"/>
              <a:ea typeface="Arial"/>
              <a:cs typeface="Arial"/>
            </a:endParaRPr>
          </a:p>
          <a:p>
            <a:pPr marL="292734" algn="l" rtl="0" eaLnBrk="0">
              <a:lnSpc>
                <a:spcPct val="96000"/>
              </a:lnSpc>
              <a:spcBef>
                <a:spcPts val="411"/>
              </a:spcBef>
              <a:tabLst/>
            </a:pPr>
            <a:r>
              <a:rPr sz="16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18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professor</a:t>
            </a:r>
            <a:r>
              <a:rPr sz="1800" b="1" kern="0" spc="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has</a:t>
            </a:r>
            <a:r>
              <a:rPr sz="1800" b="1" kern="0" spc="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invited you to a</a:t>
            </a:r>
            <a:r>
              <a:rPr sz="1800" b="1" kern="0" spc="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party</a:t>
            </a:r>
            <a:r>
              <a:rPr sz="1800" b="1" kern="0" spc="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at the</a:t>
            </a:r>
            <a:r>
              <a:rPr sz="1800" b="1" kern="0" spc="1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Department</a:t>
            </a:r>
            <a:r>
              <a:rPr sz="18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endParaRPr sz="1800" dirty="0">
              <a:latin typeface="Arial"/>
              <a:ea typeface="Arial"/>
              <a:cs typeface="Arial"/>
            </a:endParaRPr>
          </a:p>
          <a:p>
            <a:pPr marL="475615" algn="l" rtl="0" eaLnBrk="0">
              <a:lnSpc>
                <a:spcPct val="96000"/>
              </a:lnSpc>
              <a:spcBef>
                <a:spcPts val="10"/>
              </a:spcBef>
              <a:tabLst/>
            </a:pP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Sociology.</a:t>
            </a:r>
            <a:r>
              <a:rPr sz="1800" b="1" kern="0" spc="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 will you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talk</a:t>
            </a:r>
            <a:r>
              <a:rPr sz="18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about with</a:t>
            </a:r>
            <a:r>
              <a:rPr sz="1800" b="1" kern="0" spc="1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people</a:t>
            </a:r>
            <a:r>
              <a:rPr sz="1800" b="1" kern="0" spc="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8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meet</a:t>
            </a:r>
            <a:r>
              <a:rPr sz="1800" b="1" kern="0" spc="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there?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9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7000"/>
              </a:lnSpc>
              <a:spcBef>
                <a:spcPts val="632"/>
              </a:spcBef>
              <a:tabLst/>
            </a:pPr>
            <a:r>
              <a:rPr sz="21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These forms</a:t>
            </a:r>
            <a:r>
              <a:rPr sz="21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21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be ex</a:t>
            </a:r>
            <a:r>
              <a:rPr sz="21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changed for one</a:t>
            </a:r>
            <a:r>
              <a:rPr sz="2100" b="1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another.</a:t>
            </a:r>
            <a:endParaRPr sz="2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97000"/>
              </a:lnSpc>
              <a:spcBef>
                <a:spcPts val="639"/>
              </a:spcBef>
              <a:tabLst/>
            </a:pP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</a:t>
            </a:r>
            <a:r>
              <a:rPr sz="21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may</a:t>
            </a:r>
            <a:r>
              <a:rPr sz="21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21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21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on one form</a:t>
            </a:r>
            <a:r>
              <a:rPr sz="21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capital,</a:t>
            </a:r>
            <a:r>
              <a:rPr sz="21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but</a:t>
            </a:r>
            <a:r>
              <a:rPr sz="21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lack</a:t>
            </a:r>
            <a:r>
              <a:rPr sz="21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</a:t>
            </a:r>
            <a:r>
              <a:rPr sz="21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21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another.</a:t>
            </a:r>
            <a:endParaRPr sz="2100" dirty="0">
              <a:latin typeface="Arial"/>
              <a:ea typeface="Arial"/>
              <a:cs typeface="Arial"/>
            </a:endParaRPr>
          </a:p>
          <a:p>
            <a:pPr marL="483869" indent="-191135" algn="l" rtl="0" eaLnBrk="0">
              <a:lnSpc>
                <a:spcPct val="96000"/>
              </a:lnSpc>
              <a:spcBef>
                <a:spcPts val="422"/>
              </a:spcBef>
              <a:tabLst/>
            </a:pPr>
            <a:r>
              <a:rPr sz="16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Name</a:t>
            </a:r>
            <a:r>
              <a:rPr sz="18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8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</a:t>
            </a:r>
            <a:r>
              <a:rPr sz="18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</a:t>
            </a:r>
            <a:r>
              <a:rPr sz="1800" b="1" kern="0" spc="1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1800" b="1" kern="0" spc="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8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nomic</a:t>
            </a:r>
            <a:r>
              <a:rPr sz="18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capital,</a:t>
            </a:r>
            <a:r>
              <a:rPr sz="1800" b="1" kern="0" spc="1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but</a:t>
            </a:r>
            <a:r>
              <a:rPr sz="18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low on</a:t>
            </a:r>
            <a:r>
              <a:rPr sz="18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cultural</a:t>
            </a:r>
            <a:r>
              <a:rPr sz="1800" b="1" kern="0" spc="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one.</a:t>
            </a:r>
            <a:r>
              <a:rPr sz="18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1800" b="1" kern="0" spc="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about</a:t>
            </a:r>
            <a:r>
              <a:rPr sz="18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8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</a:t>
            </a:r>
            <a:r>
              <a:rPr sz="1800" b="1" kern="0" spc="1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18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800" b="1" kern="0" spc="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cultur</a:t>
            </a:r>
            <a:r>
              <a:rPr sz="18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8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capital,</a:t>
            </a:r>
            <a:r>
              <a:rPr sz="1800" b="1" kern="0" spc="1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but</a:t>
            </a:r>
            <a:r>
              <a:rPr sz="18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low</a:t>
            </a:r>
            <a:r>
              <a:rPr sz="18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8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economic</a:t>
            </a:r>
            <a:r>
              <a:rPr sz="18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one?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50" name="rect 50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textbox 52"/>
          <p:cNvSpPr/>
          <p:nvPr/>
        </p:nvSpPr>
        <p:spPr>
          <a:xfrm>
            <a:off x="7285994" y="6839526"/>
            <a:ext cx="246252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4"/>
          <p:cNvSpPr/>
          <p:nvPr/>
        </p:nvSpPr>
        <p:spPr>
          <a:xfrm>
            <a:off x="1315113" y="1096340"/>
            <a:ext cx="7943215" cy="4712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ts val="4568"/>
              </a:lnSpc>
              <a:tabLst/>
            </a:pPr>
            <a:r>
              <a:rPr sz="3700" b="1" kern="0" spc="-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Types of cultura</a:t>
            </a:r>
            <a:r>
              <a:rPr sz="3700" b="1" kern="0" spc="-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l capital</a:t>
            </a:r>
            <a:endParaRPr sz="3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ct val="97000"/>
              </a:lnSpc>
              <a:spcBef>
                <a:spcPts val="692"/>
              </a:spcBef>
              <a:tabLst/>
            </a:pPr>
            <a:r>
              <a:rPr sz="2000" b="1" kern="0" spc="-5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1.</a:t>
            </a:r>
            <a:r>
              <a:rPr sz="2000" b="1" kern="0" spc="13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Embodied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individual</a:t>
            </a:r>
            <a:r>
              <a:rPr sz="2300" b="1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behavior;</a:t>
            </a:r>
            <a:endParaRPr sz="23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ct val="98000"/>
              </a:lnSpc>
              <a:spcBef>
                <a:spcPts val="647"/>
              </a:spcBef>
              <a:tabLst/>
            </a:pPr>
            <a:r>
              <a:rPr sz="1600" b="1" kern="0" spc="-5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9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</a:t>
            </a:r>
            <a:r>
              <a:rPr sz="1900" b="1" kern="0" spc="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</a:t>
            </a:r>
            <a:r>
              <a:rPr sz="19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ractions</a:t>
            </a:r>
            <a:r>
              <a:rPr sz="19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your</a:t>
            </a:r>
            <a:r>
              <a:rPr sz="19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university</a:t>
            </a:r>
            <a:r>
              <a:rPr sz="1900" b="1" kern="0" spc="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papers!</a:t>
            </a:r>
            <a:endParaRPr sz="19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ct val="98000"/>
              </a:lnSpc>
              <a:spcBef>
                <a:spcPts val="646"/>
              </a:spcBef>
              <a:tabLst/>
            </a:pPr>
            <a:r>
              <a:rPr sz="16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Don’t fidge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19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during</a:t>
            </a:r>
            <a:r>
              <a:rPr sz="1900" b="1" kern="0" spc="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 job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interview!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694"/>
              </a:spcBef>
              <a:tabLst/>
            </a:pPr>
            <a:r>
              <a:rPr sz="2000" b="1" kern="0" spc="-3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2.</a:t>
            </a:r>
            <a:r>
              <a:rPr sz="2000" b="1" kern="0" spc="10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Objectified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posses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sions;</a:t>
            </a:r>
            <a:endParaRPr sz="23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ct val="98000"/>
              </a:lnSpc>
              <a:spcBef>
                <a:spcPts val="646"/>
              </a:spcBef>
              <a:tabLst/>
            </a:pPr>
            <a:r>
              <a:rPr sz="16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Do you</a:t>
            </a:r>
            <a:r>
              <a:rPr sz="1900" b="1" kern="0" spc="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</a:t>
            </a:r>
            <a:r>
              <a:rPr sz="19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posters</a:t>
            </a:r>
            <a:r>
              <a:rPr sz="19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y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our</a:t>
            </a:r>
            <a:r>
              <a:rPr sz="19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room? Which</a:t>
            </a:r>
            <a:r>
              <a:rPr sz="1900" b="1" kern="0" spc="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ones?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7000"/>
              </a:lnSpc>
              <a:spcBef>
                <a:spcPts val="694"/>
              </a:spcBef>
              <a:tabLst/>
            </a:pPr>
            <a:r>
              <a:rPr sz="2000" b="1" kern="0" spc="-3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</a:t>
            </a:r>
            <a:r>
              <a:rPr sz="2000" b="1" kern="0" spc="13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Institutionalized: conferred and verifi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ed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institutions.</a:t>
            </a:r>
            <a:endParaRPr sz="23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ct val="93000"/>
              </a:lnSpc>
              <a:spcBef>
                <a:spcPts val="650"/>
              </a:spcBef>
              <a:tabLst/>
            </a:pPr>
            <a:r>
              <a:rPr sz="1700" b="1" kern="0" spc="-7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700" b="1" kern="0" spc="41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 you certified as anything, from</a:t>
            </a:r>
            <a:r>
              <a:rPr sz="2000" b="1" kern="0" spc="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life-guard</a:t>
            </a:r>
            <a:r>
              <a:rPr sz="2000" b="1" kern="0" spc="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2000" b="1" kern="0" spc="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MBA?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ct val="93000"/>
              </a:lnSpc>
              <a:tabLst/>
            </a:pPr>
            <a:r>
              <a:rPr sz="1700" b="1" kern="0" spc="-8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 certifications do you wish to</a:t>
            </a:r>
            <a:r>
              <a:rPr sz="2000" b="1" kern="0" spc="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acquire? Why?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56" name="rect 56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7285994" y="6839526"/>
            <a:ext cx="246252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60"/>
          <p:cNvSpPr/>
          <p:nvPr/>
        </p:nvSpPr>
        <p:spPr>
          <a:xfrm>
            <a:off x="1308592" y="1186674"/>
            <a:ext cx="8004175" cy="41344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1435" algn="l" rtl="0" eaLnBrk="0">
              <a:lnSpc>
                <a:spcPct val="81000"/>
              </a:lnSpc>
              <a:tabLst/>
            </a:pPr>
            <a:r>
              <a:rPr sz="3800" b="1" kern="0" spc="-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Public sp</a:t>
            </a:r>
            <a:r>
              <a:rPr sz="3800" b="1" kern="0" spc="-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ace</a:t>
            </a:r>
            <a:endParaRPr sz="3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495" indent="-10795" algn="l" rtl="0" eaLnBrk="0">
              <a:lnSpc>
                <a:spcPct val="102000"/>
              </a:lnSpc>
              <a:spcBef>
                <a:spcPts val="693"/>
              </a:spcBef>
              <a:tabLst/>
            </a:pPr>
            <a:r>
              <a:rPr sz="23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 area that all</a:t>
            </a:r>
            <a:r>
              <a:rPr sz="23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persons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 the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legal</a:t>
            </a:r>
            <a:r>
              <a:rPr sz="23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right to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access</a:t>
            </a: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from whic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 they cannot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barred</a:t>
            </a:r>
            <a:r>
              <a:rPr sz="2300" b="1" kern="0" spc="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without</a:t>
            </a:r>
            <a:r>
              <a:rPr sz="23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cause.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305" algn="l" rtl="0" eaLnBrk="0">
              <a:lnSpc>
                <a:spcPct val="97000"/>
              </a:lnSpc>
              <a:spcBef>
                <a:spcPts val="699"/>
              </a:spcBef>
              <a:tabLst/>
            </a:pPr>
            <a:r>
              <a:rPr sz="23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Coffee chains off</a:t>
            </a: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er a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(quasi-public’</a:t>
            </a:r>
            <a:r>
              <a:rPr sz="2300" b="1" kern="0" spc="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space.</a:t>
            </a:r>
            <a:endParaRPr sz="2300" dirty="0">
              <a:latin typeface="Arial"/>
              <a:ea typeface="Arial"/>
              <a:cs typeface="Arial"/>
            </a:endParaRPr>
          </a:p>
          <a:p>
            <a:pPr marL="298450" algn="l" rtl="0" eaLnBrk="0">
              <a:lnSpc>
                <a:spcPct val="93000"/>
              </a:lnSpc>
              <a:spcBef>
                <a:spcPts val="649"/>
              </a:spcBef>
              <a:tabLst/>
            </a:pPr>
            <a:r>
              <a:rPr sz="1700" b="1" kern="0" spc="-8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</a:t>
            </a:r>
            <a:r>
              <a:rPr sz="20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the difference</a:t>
            </a:r>
            <a:r>
              <a:rPr sz="2000" b="1" kern="0" spc="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between</a:t>
            </a:r>
            <a:r>
              <a:rPr sz="20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public and ‘quasi-public’</a:t>
            </a:r>
            <a:r>
              <a:rPr sz="2000" b="1" kern="0" spc="-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space?</a:t>
            </a:r>
            <a:endParaRPr sz="2000" dirty="0">
              <a:latin typeface="Arial"/>
              <a:ea typeface="Arial"/>
              <a:cs typeface="Arial"/>
            </a:endParaRPr>
          </a:p>
          <a:p>
            <a:pPr marL="474344" indent="-175895" algn="l" rtl="0" eaLnBrk="0">
              <a:lnSpc>
                <a:spcPct val="103000"/>
              </a:lnSpc>
              <a:spcBef>
                <a:spcPts val="640"/>
              </a:spcBef>
              <a:tabLst/>
            </a:pPr>
            <a:r>
              <a:rPr sz="1600" b="1" kern="0" spc="-3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 you ever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seen</a:t>
            </a:r>
            <a:r>
              <a:rPr sz="19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mall</a:t>
            </a:r>
            <a:r>
              <a:rPr sz="1900" b="1" kern="0" spc="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or shop</a:t>
            </a:r>
            <a:r>
              <a:rPr sz="1900" b="1" kern="0" spc="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security</a:t>
            </a:r>
            <a:r>
              <a:rPr sz="1900" b="1" kern="0" spc="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guards</a:t>
            </a:r>
            <a:r>
              <a:rPr sz="1900" b="1" kern="0" spc="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escort</a:t>
            </a:r>
            <a:r>
              <a:rPr sz="1900" b="1" kern="0" spc="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anyone</a:t>
            </a:r>
            <a:r>
              <a:rPr sz="1900" b="1" kern="0" spc="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off</a:t>
            </a:r>
            <a:r>
              <a:rPr sz="19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900" b="1" kern="0" spc="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premises?</a:t>
            </a:r>
            <a:r>
              <a:rPr sz="19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Do you</a:t>
            </a:r>
            <a:r>
              <a:rPr sz="1900" b="1" kern="0" spc="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know why t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hey did</a:t>
            </a:r>
            <a:r>
              <a:rPr sz="1900" b="1" kern="0" spc="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that?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77519" indent="-179070" algn="l" rtl="0" eaLnBrk="0">
              <a:lnSpc>
                <a:spcPct val="99000"/>
              </a:lnSpc>
              <a:spcBef>
                <a:spcPts val="5"/>
              </a:spcBef>
              <a:tabLst/>
            </a:pPr>
            <a:r>
              <a:rPr sz="16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Would the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police escort anyone off a</a:t>
            </a:r>
            <a:r>
              <a:rPr sz="19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square or</a:t>
            </a:r>
            <a:r>
              <a:rPr sz="1900" b="1" kern="0" spc="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</a:t>
            </a:r>
            <a:r>
              <a:rPr sz="19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9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park</a:t>
            </a:r>
            <a:r>
              <a:rPr sz="1900" b="1" kern="0" spc="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900" b="1" kern="0" spc="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th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9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same</a:t>
            </a:r>
            <a:r>
              <a:rPr sz="20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reason?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62" name="rect 62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textbox 64"/>
          <p:cNvSpPr/>
          <p:nvPr/>
        </p:nvSpPr>
        <p:spPr>
          <a:xfrm>
            <a:off x="7285994" y="6839526"/>
            <a:ext cx="246252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6"/>
          <p:cNvSpPr/>
          <p:nvPr/>
        </p:nvSpPr>
        <p:spPr>
          <a:xfrm>
            <a:off x="1317271" y="1096340"/>
            <a:ext cx="7894319" cy="5133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8000"/>
              </a:lnSpc>
              <a:tabLst/>
            </a:pPr>
            <a:r>
              <a:rPr sz="3800" b="1" kern="0" spc="-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Third</a:t>
            </a:r>
            <a:r>
              <a:rPr sz="3800" b="1" kern="0" spc="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800" b="1" kern="0" spc="-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plac</a:t>
            </a:r>
            <a:r>
              <a:rPr sz="3800" b="1" kern="0" spc="-1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3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ct val="97000"/>
              </a:lnSpc>
              <a:spcBef>
                <a:spcPts val="631"/>
              </a:spcBef>
              <a:tabLst/>
            </a:pPr>
            <a:r>
              <a:rPr sz="21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First</a:t>
            </a:r>
            <a:r>
              <a:rPr sz="2100" b="1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place:</a:t>
            </a:r>
            <a:r>
              <a:rPr sz="21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home.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7000"/>
              </a:lnSpc>
              <a:spcBef>
                <a:spcPts val="461"/>
              </a:spcBef>
              <a:tabLst/>
            </a:pP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Second</a:t>
            </a:r>
            <a:r>
              <a:rPr sz="21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place: workpla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ce.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3970" indent="3175" algn="l" rtl="0" eaLnBrk="0">
              <a:lnSpc>
                <a:spcPct val="95000"/>
              </a:lnSpc>
              <a:spcBef>
                <a:spcPts val="455"/>
              </a:spcBef>
              <a:tabLst/>
            </a:pP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Oldenburg: third</a:t>
            </a:r>
            <a:r>
              <a:rPr sz="21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place</a:t>
            </a:r>
            <a:r>
              <a:rPr sz="21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a space where</a:t>
            </a:r>
            <a:r>
              <a:rPr sz="21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individ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uals</a:t>
            </a:r>
            <a:r>
              <a:rPr sz="21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21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gather</a:t>
            </a:r>
            <a:r>
              <a:rPr sz="2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1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interact with</a:t>
            </a:r>
            <a:r>
              <a:rPr sz="21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people they</a:t>
            </a:r>
            <a:r>
              <a:rPr sz="21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might</a:t>
            </a:r>
            <a:r>
              <a:rPr sz="21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2100" b="1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meet ot</a:t>
            </a:r>
            <a:r>
              <a:rPr sz="21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herwise</a:t>
            </a:r>
            <a:endParaRPr sz="21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95000"/>
              </a:lnSpc>
              <a:spcBef>
                <a:spcPts val="20"/>
              </a:spcBef>
              <a:tabLst/>
            </a:pPr>
            <a:r>
              <a:rPr sz="21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(including</a:t>
            </a:r>
            <a:r>
              <a:rPr sz="21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people from different classes).</a:t>
            </a:r>
            <a:endParaRPr sz="21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98000"/>
              </a:lnSpc>
              <a:spcBef>
                <a:spcPts val="400"/>
              </a:spcBef>
              <a:tabLst/>
            </a:pPr>
            <a:r>
              <a:rPr sz="16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</a:t>
            </a:r>
            <a:r>
              <a:rPr sz="18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you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favorite “third</a:t>
            </a:r>
            <a:r>
              <a:rPr sz="18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place”?</a:t>
            </a:r>
            <a:endParaRPr sz="1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spcBef>
                <a:spcPts val="391"/>
              </a:spcBef>
              <a:tabLst/>
            </a:pPr>
            <a:r>
              <a:rPr sz="1600" b="1" kern="0" spc="-5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Do you</a:t>
            </a:r>
            <a:r>
              <a:rPr sz="18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 your “third</a:t>
            </a:r>
            <a:r>
              <a:rPr sz="18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place” as</a:t>
            </a:r>
            <a:r>
              <a:rPr sz="18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8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8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ubstitute</a:t>
            </a:r>
            <a:r>
              <a:rPr sz="1800" b="1" kern="0" spc="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“first” or “second</a:t>
            </a:r>
            <a:r>
              <a:rPr sz="1800" b="1" kern="0" spc="1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place”?</a:t>
            </a:r>
            <a:endParaRPr sz="18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98000"/>
              </a:lnSpc>
              <a:spcBef>
                <a:spcPts val="391"/>
              </a:spcBef>
              <a:tabLst/>
            </a:pPr>
            <a:r>
              <a:rPr sz="1600" b="1" kern="0" spc="-2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8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Do you</a:t>
            </a:r>
            <a:r>
              <a:rPr sz="18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ever</a:t>
            </a:r>
            <a:r>
              <a:rPr sz="18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speak</a:t>
            </a:r>
            <a:r>
              <a:rPr sz="18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8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strangers</a:t>
            </a:r>
            <a:r>
              <a:rPr sz="18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there?</a:t>
            </a:r>
            <a:endParaRPr sz="18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98000"/>
              </a:lnSpc>
              <a:spcBef>
                <a:spcPts val="391"/>
              </a:spcBef>
              <a:tabLst/>
            </a:pPr>
            <a:r>
              <a:rPr sz="1600" b="1" kern="0" spc="-3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Where</a:t>
            </a:r>
            <a:r>
              <a:rPr sz="18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 you</a:t>
            </a:r>
            <a:r>
              <a:rPr sz="1800" b="1" kern="0" spc="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most</a:t>
            </a:r>
            <a:r>
              <a:rPr sz="18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likely</a:t>
            </a:r>
            <a:r>
              <a:rPr sz="18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speak to</a:t>
            </a:r>
            <a:r>
              <a:rPr sz="18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st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rangers?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9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12700" algn="l" rtl="0" eaLnBrk="0">
              <a:lnSpc>
                <a:spcPct val="96000"/>
              </a:lnSpc>
              <a:spcBef>
                <a:spcPts val="638"/>
              </a:spcBef>
              <a:tabLst/>
            </a:pP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Provides founda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tion for</a:t>
            </a:r>
            <a:r>
              <a:rPr sz="2100" b="1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local democracy</a:t>
            </a:r>
            <a:r>
              <a:rPr sz="21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1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community</a:t>
            </a:r>
            <a:r>
              <a:rPr sz="2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21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solidarity.</a:t>
            </a:r>
            <a:endParaRPr sz="21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98000"/>
              </a:lnSpc>
              <a:spcBef>
                <a:spcPts val="399"/>
              </a:spcBef>
              <a:tabLst/>
            </a:pPr>
            <a:r>
              <a:rPr sz="1600" b="1" kern="0" spc="-5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your favorite</a:t>
            </a:r>
            <a:r>
              <a:rPr sz="1800" b="1" kern="0" spc="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coffee</a:t>
            </a:r>
            <a:r>
              <a:rPr sz="18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shop</a:t>
            </a:r>
            <a:r>
              <a:rPr sz="1800" b="1" kern="0" spc="1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18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a</a:t>
            </a:r>
            <a:r>
              <a:rPr sz="18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“third” or</a:t>
            </a:r>
            <a:r>
              <a:rPr sz="1800" b="1" kern="0" spc="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8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“second</a:t>
            </a:r>
            <a:r>
              <a:rPr sz="18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place”?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68" name="rect 68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0" name="textbox 70"/>
          <p:cNvSpPr/>
          <p:nvPr/>
        </p:nvSpPr>
        <p:spPr>
          <a:xfrm>
            <a:off x="7285994" y="6839526"/>
            <a:ext cx="246252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2"/>
          <p:cNvSpPr/>
          <p:nvPr/>
        </p:nvSpPr>
        <p:spPr>
          <a:xfrm>
            <a:off x="1315603" y="1096340"/>
            <a:ext cx="8036559" cy="522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98000"/>
              </a:lnSpc>
              <a:tabLst/>
            </a:pPr>
            <a:r>
              <a:rPr sz="3800" b="1" kern="0" spc="-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Coffee in a global </a:t>
            </a:r>
            <a:r>
              <a:rPr sz="3800" b="1" kern="0" spc="-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commodity</a:t>
            </a:r>
            <a:r>
              <a:rPr sz="3800" b="1" kern="0" spc="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800" b="1" kern="0" spc="-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chain</a:t>
            </a:r>
            <a:endParaRPr sz="3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indent="3810" algn="l" rtl="0" eaLnBrk="0">
              <a:lnSpc>
                <a:spcPct val="95000"/>
              </a:lnSpc>
              <a:spcBef>
                <a:spcPts val="701"/>
              </a:spcBef>
              <a:tabLst/>
            </a:pP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Commodity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chain: the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path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23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commodity takes from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its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conception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design, through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manufacturing,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retailing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3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consumpt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ion, to</a:t>
            </a:r>
            <a:r>
              <a:rPr sz="23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its end</a:t>
            </a:r>
            <a:r>
              <a:rPr sz="23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as waste.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696"/>
              </a:spcBef>
              <a:tabLst/>
            </a:pPr>
            <a:r>
              <a:rPr sz="23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“coffee</a:t>
            </a:r>
            <a:r>
              <a:rPr sz="23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paradox”:</a:t>
            </a:r>
            <a:endParaRPr sz="2300" dirty="0">
              <a:latin typeface="Arial"/>
              <a:ea typeface="Arial"/>
              <a:cs typeface="Arial"/>
            </a:endParaRPr>
          </a:p>
          <a:p>
            <a:pPr marL="482600" indent="-448944" algn="l" rtl="0" eaLnBrk="0">
              <a:lnSpc>
                <a:spcPct val="95000"/>
              </a:lnSpc>
              <a:spcBef>
                <a:spcPts val="473"/>
              </a:spcBef>
              <a:tabLst/>
            </a:pPr>
            <a:r>
              <a:rPr sz="20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1.  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“Coffee crisis” in</a:t>
            </a:r>
            <a:r>
              <a:rPr sz="2300" b="1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23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</a:t>
            </a:r>
            <a:r>
              <a:rPr sz="23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South:</a:t>
            </a:r>
            <a:r>
              <a:rPr sz="2300" b="1" kern="0" spc="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coffee</a:t>
            </a:r>
            <a:r>
              <a:rPr sz="2300" b="1" kern="0" spc="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growers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poorly</a:t>
            </a:r>
            <a:r>
              <a:rPr sz="2300" b="1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paid</a:t>
            </a:r>
            <a:r>
              <a:rPr sz="23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</a:t>
            </a:r>
            <a:r>
              <a:rPr sz="2300" b="1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no</a:t>
            </a:r>
            <a:r>
              <a:rPr sz="23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control over the coffee</a:t>
            </a:r>
            <a:endParaRPr sz="2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14"/>
              </a:spcBef>
              <a:tabLst/>
            </a:pP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commodity</a:t>
            </a:r>
            <a:r>
              <a:rPr sz="2300" b="1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chain;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over-supply</a:t>
            </a:r>
            <a:r>
              <a:rPr sz="2300" b="1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on the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</a:t>
            </a:r>
            <a:r>
              <a:rPr sz="23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market;</a:t>
            </a:r>
            <a:r>
              <a:rPr sz="23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695"/>
              </a:spcBef>
              <a:tabLst/>
            </a:pPr>
            <a:r>
              <a:rPr sz="2000" b="1" kern="0" spc="-5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2.  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“Coffee</a:t>
            </a:r>
            <a:r>
              <a:rPr sz="2300" b="1" kern="0" spc="2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boom” in the</a:t>
            </a:r>
            <a:r>
              <a:rPr sz="2300" b="1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</a:t>
            </a:r>
            <a:r>
              <a:rPr sz="2300" b="1" kern="0" spc="2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North: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distributors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</a:t>
            </a:r>
            <a:endParaRPr sz="2300" dirty="0">
              <a:latin typeface="Arial"/>
              <a:ea typeface="Arial"/>
              <a:cs typeface="Arial"/>
            </a:endParaRPr>
          </a:p>
          <a:p>
            <a:pPr marL="473709" indent="-6985" algn="l" rtl="0" eaLnBrk="0">
              <a:lnSpc>
                <a:spcPct val="94000"/>
              </a:lnSpc>
              <a:spcBef>
                <a:spcPts val="39"/>
              </a:spcBef>
              <a:tabLst/>
            </a:pP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value to t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he</a:t>
            </a:r>
            <a:r>
              <a:rPr sz="23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23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emphasizing</a:t>
            </a:r>
            <a:r>
              <a:rPr sz="2300" b="1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its</a:t>
            </a:r>
            <a:r>
              <a:rPr sz="23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symbolic value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retain</a:t>
            </a:r>
            <a:r>
              <a:rPr sz="23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most of the</a:t>
            </a:r>
            <a:r>
              <a:rPr sz="23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profit</a:t>
            </a:r>
            <a:r>
              <a:rPr sz="23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the</a:t>
            </a:r>
            <a:r>
              <a:rPr sz="23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commodity</a:t>
            </a:r>
            <a:r>
              <a:rPr sz="23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chain.</a:t>
            </a:r>
            <a:endParaRPr sz="2300" dirty="0">
              <a:latin typeface="Arial"/>
              <a:ea typeface="Arial"/>
              <a:cs typeface="Arial"/>
            </a:endParaRPr>
          </a:p>
        </p:txBody>
      </p:sp>
      <p:sp>
        <p:nvSpPr>
          <p:cNvPr id="74" name="rect 74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textbox 76"/>
          <p:cNvSpPr/>
          <p:nvPr/>
        </p:nvSpPr>
        <p:spPr>
          <a:xfrm>
            <a:off x="7285994" y="6839526"/>
            <a:ext cx="246252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1318041" y="1096340"/>
            <a:ext cx="7870825" cy="2884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180" algn="l" rtl="0" eaLnBrk="0">
              <a:lnSpc>
                <a:spcPts val="4617"/>
              </a:lnSpc>
              <a:tabLst/>
            </a:pPr>
            <a:r>
              <a:rPr sz="3700" b="1" kern="0" spc="-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Ethical consum</a:t>
            </a:r>
            <a:r>
              <a:rPr sz="3700" b="1" kern="0" spc="-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ption</a:t>
            </a:r>
            <a:endParaRPr sz="3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13970" algn="l" rtl="0" eaLnBrk="0">
              <a:lnSpc>
                <a:spcPct val="102000"/>
              </a:lnSpc>
              <a:spcBef>
                <a:spcPts val="693"/>
              </a:spcBef>
              <a:tabLst/>
            </a:pP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</a:t>
            </a:r>
            <a:r>
              <a:rPr sz="23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adjusting</a:t>
            </a:r>
            <a:r>
              <a:rPr sz="2300" b="1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purchases to</a:t>
            </a:r>
            <a:r>
              <a:rPr sz="23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moral,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politi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cal,</a:t>
            </a:r>
            <a:r>
              <a:rPr sz="23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spiritual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beliefs.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97000"/>
              </a:lnSpc>
              <a:spcBef>
                <a:spcPts val="693"/>
              </a:spcBef>
              <a:tabLst/>
            </a:pP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Boycott</a:t>
            </a:r>
            <a:r>
              <a:rPr sz="2300" b="1" kern="0" spc="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buycott</a:t>
            </a:r>
            <a:r>
              <a:rPr sz="2300" b="1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(e.g.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Fair</a:t>
            </a:r>
            <a:r>
              <a:rPr sz="2300" b="1" kern="0" spc="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Trade</a:t>
            </a:r>
            <a:r>
              <a:rPr sz="2300" b="1" kern="0" spc="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).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spcBef>
                <a:spcPts val="5"/>
              </a:spcBef>
              <a:tabLst/>
            </a:pPr>
            <a:r>
              <a:rPr sz="16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900" b="1" kern="0" spc="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boycott and</a:t>
            </a:r>
            <a:r>
              <a:rPr sz="19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uycott</a:t>
            </a:r>
            <a:r>
              <a:rPr sz="19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produce desired effects? Why</a:t>
            </a:r>
            <a:r>
              <a:rPr sz="19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or why</a:t>
            </a:r>
            <a:r>
              <a:rPr sz="1900" b="1" kern="0" spc="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80" name="rect 80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textbox 82"/>
          <p:cNvSpPr/>
          <p:nvPr/>
        </p:nvSpPr>
        <p:spPr>
          <a:xfrm>
            <a:off x="7285994" y="6839526"/>
            <a:ext cx="246252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87751" y="2324100"/>
            <a:ext cx="5513830" cy="4128516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1351667" y="1096340"/>
            <a:ext cx="7231380" cy="591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3800" b="1" kern="0" spc="-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Fair trad</a:t>
            </a:r>
            <a:r>
              <a:rPr sz="3800" b="1" kern="0" spc="-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 and global commodities</a:t>
            </a:r>
            <a:endParaRPr sz="3800" dirty="0">
              <a:latin typeface="Arial"/>
              <a:ea typeface="Arial"/>
              <a:cs typeface="Arial"/>
            </a:endParaRPr>
          </a:p>
        </p:txBody>
      </p:sp>
      <p:sp>
        <p:nvSpPr>
          <p:cNvPr id="88" name="rect 88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" name="textbox 90"/>
          <p:cNvSpPr/>
          <p:nvPr/>
        </p:nvSpPr>
        <p:spPr>
          <a:xfrm>
            <a:off x="7287390" y="6839526"/>
            <a:ext cx="246252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2"/>
          <p:cNvSpPr/>
          <p:nvPr/>
        </p:nvSpPr>
        <p:spPr>
          <a:xfrm>
            <a:off x="1315486" y="1096340"/>
            <a:ext cx="7939405" cy="5075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ts val="4617"/>
              </a:lnSpc>
              <a:tabLst/>
            </a:pPr>
            <a:r>
              <a:rPr sz="3700" b="1" kern="0" spc="-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Critiques of fair trade</a:t>
            </a:r>
            <a:endParaRPr sz="3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spcBef>
                <a:spcPts val="725"/>
              </a:spcBef>
              <a:tabLst/>
            </a:pPr>
            <a:r>
              <a:rPr sz="18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1.   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Aligning with</a:t>
            </a:r>
            <a:r>
              <a:rPr sz="21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ma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jor corporations, who gain</a:t>
            </a:r>
            <a:r>
              <a:rPr sz="21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consumer</a:t>
            </a:r>
            <a:r>
              <a:rPr sz="2100" b="1" kern="0" spc="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appeal</a:t>
            </a:r>
            <a:endParaRPr sz="2100" dirty="0">
              <a:latin typeface="Arial"/>
              <a:ea typeface="Arial"/>
              <a:cs typeface="Arial"/>
            </a:endParaRPr>
          </a:p>
          <a:p>
            <a:pPr marL="480694" algn="l" rtl="0" eaLnBrk="0">
              <a:lnSpc>
                <a:spcPct val="97000"/>
              </a:lnSpc>
              <a:spcBef>
                <a:spcPts val="196"/>
              </a:spcBef>
              <a:tabLst/>
            </a:pP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by selling only a</a:t>
            </a:r>
            <a:r>
              <a:rPr sz="2100" b="1" kern="0" spc="1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small</a:t>
            </a:r>
            <a:r>
              <a:rPr sz="21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proportion</a:t>
            </a:r>
            <a:r>
              <a:rPr sz="21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fair-trade</a:t>
            </a:r>
            <a:r>
              <a:rPr sz="21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coffee;</a:t>
            </a:r>
            <a:endParaRPr sz="2100" dirty="0">
              <a:latin typeface="Arial"/>
              <a:ea typeface="Arial"/>
              <a:cs typeface="Arial"/>
            </a:endParaRPr>
          </a:p>
          <a:p>
            <a:pPr marL="290829" algn="l" rtl="0" eaLnBrk="0">
              <a:lnSpc>
                <a:spcPct val="98000"/>
              </a:lnSpc>
              <a:spcBef>
                <a:spcPts val="628"/>
              </a:spcBef>
              <a:tabLst/>
            </a:pPr>
            <a:r>
              <a:rPr sz="1600" b="1" kern="0" spc="-3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8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Only</a:t>
            </a:r>
            <a:r>
              <a:rPr sz="18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8% of Starbucks</a:t>
            </a:r>
            <a:r>
              <a:rPr sz="18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coffee</a:t>
            </a:r>
            <a:r>
              <a:rPr sz="18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800" b="1" kern="0" spc="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fair-trade.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632"/>
              </a:spcBef>
              <a:tabLst/>
            </a:pPr>
            <a:r>
              <a:rPr sz="1800" b="1" kern="0" spc="-3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2.    </a:t>
            </a:r>
            <a:r>
              <a:rPr sz="21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 market-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based</a:t>
            </a:r>
            <a:r>
              <a:rPr sz="21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strategy cannot change</a:t>
            </a:r>
            <a:r>
              <a:rPr sz="21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</a:t>
            </a:r>
            <a:r>
              <a:rPr sz="21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inequalities;</a:t>
            </a:r>
            <a:endParaRPr sz="2100" dirty="0">
              <a:latin typeface="Arial"/>
              <a:ea typeface="Arial"/>
              <a:cs typeface="Arial"/>
            </a:endParaRPr>
          </a:p>
          <a:p>
            <a:pPr marL="472440" algn="l" rtl="0" eaLnBrk="0">
              <a:lnSpc>
                <a:spcPct val="97000"/>
              </a:lnSpc>
              <a:spcBef>
                <a:spcPts val="196"/>
              </a:spcBef>
              <a:tabLst/>
            </a:pP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sz="2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7000"/>
              </a:lnSpc>
              <a:spcBef>
                <a:spcPts val="640"/>
              </a:spcBef>
              <a:tabLst/>
            </a:pPr>
            <a:r>
              <a:rPr sz="18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   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Fair Trade</a:t>
            </a:r>
            <a:r>
              <a:rPr sz="2100" b="1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USA has</a:t>
            </a:r>
            <a:r>
              <a:rPr sz="21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certified</a:t>
            </a:r>
            <a:r>
              <a:rPr sz="21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large,</a:t>
            </a:r>
            <a:r>
              <a:rPr sz="21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corporate</a:t>
            </a:r>
            <a:r>
              <a:rPr sz="21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planta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tions.</a:t>
            </a:r>
            <a:endParaRPr sz="2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495" indent="3175" algn="l" rtl="0" eaLnBrk="0">
              <a:lnSpc>
                <a:spcPct val="111000"/>
              </a:lnSpc>
              <a:spcBef>
                <a:spcPts val="634"/>
              </a:spcBef>
              <a:tabLst/>
            </a:pP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Potential effect: decreased</a:t>
            </a:r>
            <a:r>
              <a:rPr sz="2100" b="1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consumer confidence</a:t>
            </a:r>
            <a:r>
              <a:rPr sz="2100" b="1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 fair-trade</a:t>
            </a:r>
            <a:r>
              <a:rPr sz="21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1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label.</a:t>
            </a:r>
            <a:endParaRPr sz="2100" dirty="0">
              <a:latin typeface="Arial"/>
              <a:ea typeface="Arial"/>
              <a:cs typeface="Arial"/>
            </a:endParaRPr>
          </a:p>
          <a:p>
            <a:pPr marL="290829" algn="l" rtl="0" eaLnBrk="0">
              <a:lnSpc>
                <a:spcPct val="98000"/>
              </a:lnSpc>
              <a:spcBef>
                <a:spcPts val="149"/>
              </a:spcBef>
              <a:tabLst/>
            </a:pPr>
            <a:r>
              <a:rPr sz="1600" b="1" kern="0" spc="-3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Do you</a:t>
            </a:r>
            <a:r>
              <a:rPr sz="18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drink fa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ir-trade</a:t>
            </a:r>
            <a:r>
              <a:rPr sz="18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coffee?</a:t>
            </a:r>
            <a:r>
              <a:rPr sz="1800" b="1" kern="0" spc="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800" b="1" kern="0" spc="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1800" b="1" kern="0" spc="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800" b="1" kern="0" spc="1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not?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94" name="rect 94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textbox 96"/>
          <p:cNvSpPr/>
          <p:nvPr/>
        </p:nvSpPr>
        <p:spPr>
          <a:xfrm>
            <a:off x="7285994" y="6839526"/>
            <a:ext cx="246252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98"/>
          <p:cNvSpPr/>
          <p:nvPr/>
        </p:nvSpPr>
        <p:spPr>
          <a:xfrm>
            <a:off x="1308592" y="1096340"/>
            <a:ext cx="8068944" cy="5694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9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705" algn="l" rtl="0" eaLnBrk="0">
              <a:lnSpc>
                <a:spcPct val="95000"/>
              </a:lnSpc>
              <a:tabLst/>
            </a:pPr>
            <a:r>
              <a:rPr sz="3900" b="1" kern="0" spc="-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Research </a:t>
            </a:r>
            <a:r>
              <a:rPr sz="3900" b="1" kern="0" spc="-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tool: survey research</a:t>
            </a:r>
            <a:endParaRPr sz="3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225" indent="-9525" algn="l" rtl="0" eaLnBrk="0">
              <a:lnSpc>
                <a:spcPct val="102000"/>
              </a:lnSpc>
              <a:spcBef>
                <a:spcPts val="701"/>
              </a:spcBef>
              <a:tabLst/>
            </a:pPr>
            <a:r>
              <a:rPr sz="23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Administering</a:t>
            </a:r>
            <a:r>
              <a:rPr sz="23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 standardized</a:t>
            </a:r>
            <a:r>
              <a:rPr sz="23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questionnaire </a:t>
            </a: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a sample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respondents,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300" b="1" kern="0" spc="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analyzing the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ir</a:t>
            </a:r>
            <a:r>
              <a:rPr sz="23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responses.</a:t>
            </a:r>
            <a:endParaRPr sz="2300" dirty="0">
              <a:latin typeface="Arial"/>
              <a:ea typeface="Arial"/>
              <a:cs typeface="Arial"/>
            </a:endParaRPr>
          </a:p>
          <a:p>
            <a:pPr marL="23495" indent="2540" algn="l" rtl="0" eaLnBrk="0">
              <a:lnSpc>
                <a:spcPct val="102000"/>
              </a:lnSpc>
              <a:spcBef>
                <a:spcPts val="706"/>
              </a:spcBef>
              <a:tabLst/>
            </a:pP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Sample: a small subset of</a:t>
            </a:r>
            <a:r>
              <a:rPr sz="23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responden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ts,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representative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2300" b="1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larger</a:t>
            </a:r>
            <a:r>
              <a:rPr sz="23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populati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2300" b="1" kern="0" spc="2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research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2300" b="1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interested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in.</a:t>
            </a:r>
            <a:endParaRPr sz="2300" dirty="0">
              <a:latin typeface="Arial"/>
              <a:ea typeface="Arial"/>
              <a:cs typeface="Arial"/>
            </a:endParaRPr>
          </a:p>
          <a:p>
            <a:pPr marL="298450" algn="l" rtl="0" eaLnBrk="0">
              <a:lnSpc>
                <a:spcPct val="98000"/>
              </a:lnSpc>
              <a:spcBef>
                <a:spcPts val="578"/>
              </a:spcBef>
              <a:tabLst/>
            </a:pPr>
            <a:r>
              <a:rPr sz="16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 are</a:t>
            </a:r>
            <a:r>
              <a:rPr sz="1900" b="1" kern="0" spc="1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interested</a:t>
            </a:r>
            <a:r>
              <a:rPr sz="1900" b="1" kern="0" spc="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coffee-drinking</a:t>
            </a:r>
            <a:r>
              <a:rPr sz="19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habits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students at</a:t>
            </a:r>
            <a:r>
              <a:rPr sz="1900" b="1" kern="0" spc="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endParaRPr sz="1900" dirty="0">
              <a:latin typeface="Arial"/>
              <a:ea typeface="Arial"/>
              <a:cs typeface="Arial"/>
            </a:endParaRPr>
          </a:p>
          <a:p>
            <a:pPr marL="474344" indent="11429" algn="l" rtl="0" eaLnBrk="0">
              <a:lnSpc>
                <a:spcPct val="99000"/>
              </a:lnSpc>
              <a:spcBef>
                <a:spcPts val="167"/>
              </a:spcBef>
              <a:tabLst/>
            </a:pP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university/college.</a:t>
            </a:r>
            <a:r>
              <a:rPr sz="20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Do you</a:t>
            </a:r>
            <a:r>
              <a:rPr sz="2000" b="1" kern="0" spc="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need to get each and</a:t>
            </a:r>
            <a:r>
              <a:rPr sz="2000" b="1" kern="0" spc="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every</a:t>
            </a:r>
            <a:r>
              <a:rPr sz="2000" b="1" kern="0" spc="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</a:t>
            </a:r>
            <a:r>
              <a:rPr sz="2000" b="1" kern="0" spc="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 them</a:t>
            </a:r>
            <a:r>
              <a:rPr sz="20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fill</a:t>
            </a:r>
            <a:r>
              <a:rPr sz="1900" b="1" kern="0" spc="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 a survey?</a:t>
            </a:r>
            <a:r>
              <a:rPr sz="1900" b="1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 will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you</a:t>
            </a:r>
            <a:r>
              <a:rPr sz="1900" b="1" kern="0" spc="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choose your</a:t>
            </a:r>
            <a:r>
              <a:rPr sz="1900" b="1" kern="0" spc="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respondents?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779"/>
              </a:spcBef>
              <a:tabLst/>
            </a:pP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 quantitative</a:t>
            </a:r>
            <a:r>
              <a:rPr sz="2300" b="1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method: data are</a:t>
            </a:r>
            <a:r>
              <a:rPr sz="2300" b="1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numerical.</a:t>
            </a:r>
            <a:endParaRPr sz="2300" dirty="0">
              <a:latin typeface="Arial"/>
              <a:ea typeface="Arial"/>
              <a:cs typeface="Arial"/>
            </a:endParaRPr>
          </a:p>
          <a:p>
            <a:pPr marL="23495" indent="5080" algn="l" rtl="0" eaLnBrk="0">
              <a:lnSpc>
                <a:spcPct val="102000"/>
              </a:lnSpc>
              <a:spcBef>
                <a:spcPts val="774"/>
              </a:spcBef>
              <a:tabLst/>
            </a:pP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Goal: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compare</a:t>
            </a:r>
            <a:r>
              <a:rPr sz="2300" b="1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charact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eristics, opinions</a:t>
            </a:r>
            <a:r>
              <a:rPr sz="2300" b="1" kern="0" spc="14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actions</a:t>
            </a:r>
            <a:r>
              <a:rPr sz="2300" b="1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across</a:t>
            </a:r>
            <a:r>
              <a:rPr sz="2300" b="1" kern="0" spc="2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individuals</a:t>
            </a:r>
            <a:r>
              <a:rPr sz="23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300" b="1" kern="0" spc="1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groups</a:t>
            </a:r>
            <a:r>
              <a:rPr sz="23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the</a:t>
            </a:r>
            <a:r>
              <a:rPr sz="2300" b="1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population</a:t>
            </a:r>
            <a:r>
              <a:rPr sz="2300" b="1" kern="0" spc="-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71805" indent="-173354" algn="l" rtl="0" eaLnBrk="0">
              <a:lnSpc>
                <a:spcPct val="107000"/>
              </a:lnSpc>
              <a:spcBef>
                <a:spcPts val="5"/>
              </a:spcBef>
              <a:tabLst/>
            </a:pPr>
            <a:r>
              <a:rPr sz="1600" b="1" kern="0" spc="-40" dirty="0">
                <a:solidFill>
                  <a:srgbClr val="93A29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 want to find out</a:t>
            </a:r>
            <a:r>
              <a:rPr sz="1900" b="1" kern="0" spc="1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if t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here are</a:t>
            </a:r>
            <a:r>
              <a:rPr sz="1900" b="1" kern="0" spc="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differences</a:t>
            </a:r>
            <a:r>
              <a:rPr sz="19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900" b="1" kern="0" spc="1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coffee-drinking</a:t>
            </a:r>
            <a:r>
              <a:rPr sz="1900" b="1" kern="0" spc="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habits</a:t>
            </a:r>
            <a:r>
              <a:rPr sz="19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men and women. Which questions do</a:t>
            </a:r>
            <a:r>
              <a:rPr sz="2000" b="1" kern="0" spc="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2000" b="1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need</a:t>
            </a:r>
            <a:r>
              <a:rPr sz="2000" b="1" kern="0" spc="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2000" b="1" kern="0" spc="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ask</a:t>
            </a:r>
            <a:r>
              <a:rPr sz="2000" b="1" kern="0" spc="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2000" b="1" kern="0" spc="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order</a:t>
            </a:r>
            <a:r>
              <a:rPr sz="20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9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20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find</a:t>
            </a:r>
            <a:r>
              <a:rPr sz="1900" b="1" kern="0" spc="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</a:t>
            </a:r>
            <a:r>
              <a:rPr sz="19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out?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100" name="rect 100"/>
          <p:cNvSpPr/>
          <p:nvPr/>
        </p:nvSpPr>
        <p:spPr>
          <a:xfrm>
            <a:off x="772667" y="350519"/>
            <a:ext cx="9144000" cy="365760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" name="textbox 102"/>
          <p:cNvSpPr/>
          <p:nvPr/>
        </p:nvSpPr>
        <p:spPr>
          <a:xfrm>
            <a:off x="7285994" y="6839526"/>
            <a:ext cx="246252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</a:t>
            </a:r>
            <a:r>
              <a:rPr sz="1700" b="1" kern="0" spc="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700" b="1" kern="0" spc="19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</a:t>
            </a:r>
            <a:r>
              <a:rPr sz="1700" b="1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cis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Ch_4_final</dc:title>
  <dc:creator>lixue</dc:creator>
  <dcterms:created xsi:type="dcterms:W3CDTF">2020-09-28T01:23:05Z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2026-09-26T16:18:39</vt:filetime>
  </property>
</Properties>
</file>