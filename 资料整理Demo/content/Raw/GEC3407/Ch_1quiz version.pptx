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9" Type="http://schemas.openxmlformats.org/officeDocument/2006/relationships/viewProps" Target="viewProps.xml"/><Relationship Id="rId18" Type="http://schemas.openxmlformats.org/officeDocument/2006/relationships/tableStyles" Target="tableStyles.xml"/><Relationship Id="rId17" Type="http://schemas.openxmlformats.org/officeDocument/2006/relationships/presProps" Target="presProps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1.one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64540" y="1151610"/>
            <a:ext cx="6940550" cy="1969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74000"/>
              </a:lnSpc>
              <a:tabLst/>
            </a:pPr>
            <a:r>
              <a:rPr sz="3900" b="1" kern="0" spc="-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 1:</a:t>
            </a:r>
            <a:endParaRPr sz="3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915"/>
              </a:lnSpc>
              <a:spcBef>
                <a:spcPts val="1561"/>
              </a:spcBef>
              <a:tabLst/>
            </a:pPr>
            <a:r>
              <a:rPr sz="5200" b="1" kern="0" spc="-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DAY IN THE</a:t>
            </a:r>
            <a:r>
              <a:rPr sz="5200" b="1" kern="0" spc="2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200" b="1" kern="0" spc="-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 OF</a:t>
            </a:r>
            <a:endParaRPr sz="5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362"/>
              </a:lnSpc>
              <a:tabLst/>
            </a:pPr>
            <a:r>
              <a:rPr sz="52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 JEANS</a:t>
            </a:r>
            <a:endParaRPr sz="5200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808431" y="3687267"/>
            <a:ext cx="7024369" cy="1299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4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 OUR STUFF</a:t>
            </a:r>
            <a:r>
              <a:rPr sz="4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endParaRPr sz="4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48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DISCOVER SOCI</a:t>
            </a:r>
            <a:r>
              <a:rPr sz="4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OLOGY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6" name="rect 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0" name="path 10"/>
          <p:cNvSpPr/>
          <p:nvPr/>
        </p:nvSpPr>
        <p:spPr>
          <a:xfrm>
            <a:off x="686179" y="3392423"/>
            <a:ext cx="7848603" cy="14541"/>
          </a:xfrm>
          <a:custGeom>
            <a:avLst/>
            <a:gdLst/>
            <a:ahLst/>
            <a:cxnLst/>
            <a:rect l="0" t="0" r="0" b="0"/>
            <a:pathLst>
              <a:path w="12360" h="22">
                <a:moveTo>
                  <a:pt x="0" y="10"/>
                </a:moveTo>
                <a:lnTo>
                  <a:pt x="12360" y="12"/>
                </a:lnTo>
              </a:path>
            </a:pathLst>
          </a:custGeom>
          <a:noFill/>
          <a:ln w="12953" cap="flat">
            <a:solidFill>
              <a:srgbClr val="D253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02158" y="1314450"/>
          <a:ext cx="8140065" cy="45847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4584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indent="-4444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Connects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personal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issues to larger social structures an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historical context.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4" algn="l" rtl="0" eaLnBrk="0">
                        <a:lnSpc>
                          <a:spcPct val="71000"/>
                        </a:lnSpc>
                        <a:spcBef>
                          <a:spcPts val="67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shop</a:t>
                      </a:r>
                      <a:r>
                        <a:rPr sz="2200" kern="0" spc="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too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much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becau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marketing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makes</a:t>
                      </a:r>
                      <a:r>
                        <a:rPr sz="22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clear that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984" algn="l" rtl="0" eaLnBrk="0">
                        <a:lnSpc>
                          <a:spcPts val="2846"/>
                        </a:lnSpc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wearing fashionable clothes is a norm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200" kern="0" spc="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  <a:r>
                        <a:rPr sz="22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culture.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4509" indent="-338454" algn="l" rtl="0" eaLnBrk="0">
                        <a:lnSpc>
                          <a:spcPct val="99000"/>
                        </a:lnSpc>
                        <a:spcBef>
                          <a:spcPts val="578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 immigrant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may wear</a:t>
                      </a:r>
                      <a:r>
                        <a:rPr sz="2200" kern="0" spc="-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order to fit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into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her</a:t>
                      </a:r>
                      <a:r>
                        <a:rPr sz="22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country.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3875" indent="-337820" algn="l" rtl="0" eaLnBrk="0">
                        <a:lnSpc>
                          <a:spcPct val="105000"/>
                        </a:lnSpc>
                        <a:tabLst/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Many cot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ton farmers</a:t>
                      </a:r>
                      <a:r>
                        <a:rPr sz="22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cannot survive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their</a:t>
                      </a:r>
                      <a:r>
                        <a:rPr sz="22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 expos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 to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harmful chemicals.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4" name="rect 1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460959" y="664108"/>
            <a:ext cx="5398134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Sociological 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imagination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02158" y="2709677"/>
          <a:ext cx="8140065" cy="198945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indent="1270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Sociological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imagination does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deny that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choice exists,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but asks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larger socia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forces shape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lives.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Idea conceived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 C. Wright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Mills.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502158" y="1314451"/>
          <a:ext cx="8140065" cy="121157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211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indent="-1587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Without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it, we tend to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reduce ou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private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issues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personal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failings and foibles.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ts val="2710"/>
                        </a:lnSpc>
                        <a:tabLst/>
                      </a:pPr>
                      <a:r>
                        <a:rPr sz="2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shop too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much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because</a:t>
                      </a:r>
                      <a:r>
                        <a:rPr sz="22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love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new stuff.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4"/>
          <p:cNvSpPr/>
          <p:nvPr/>
        </p:nvSpPr>
        <p:spPr>
          <a:xfrm>
            <a:off x="460959" y="664108"/>
            <a:ext cx="8015605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Sociological imagination (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6" name="rect 2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502158" y="1314451"/>
          <a:ext cx="8140065" cy="312038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31203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890" algn="l" rtl="0" eaLnBrk="0">
                        <a:lnSpc>
                          <a:spcPts val="3275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Enduring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patterns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organization of social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life.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6415" algn="l" rtl="0" eaLnBrk="0">
                        <a:lnSpc>
                          <a:spcPct val="83000"/>
                        </a:lnSpc>
                        <a:spcBef>
                          <a:spcPts val="487"/>
                        </a:spcBef>
                        <a:tabLst/>
                      </a:pP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9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Capitalism, global co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mmodity chains, gender</a:t>
                      </a:r>
                      <a:r>
                        <a:rPr sz="1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inequality.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indent="2540" algn="l" rtl="0" eaLnBrk="0">
                        <a:lnSpc>
                          <a:spcPct val="80000"/>
                        </a:lnSpc>
                        <a:spcBef>
                          <a:spcPts val="720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 structure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includes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institutions: states, markets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bureaucracies.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890" algn="l" rtl="0" eaLnBrk="0">
                        <a:lnSpc>
                          <a:spcPts val="3276"/>
                        </a:lnSpc>
                        <a:spcBef>
                          <a:spcPts val="730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Relatively fixed (stabl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e).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5484" indent="-179070" algn="l" rtl="0" eaLnBrk="0">
                        <a:lnSpc>
                          <a:spcPct val="98000"/>
                        </a:lnSpc>
                        <a:spcBef>
                          <a:spcPts val="517"/>
                        </a:spcBef>
                        <a:tabLst/>
                      </a:pP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900" kern="0" spc="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Inequality</a:t>
                      </a:r>
                      <a:r>
                        <a:rPr sz="1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between cotton and jeans</a:t>
                      </a:r>
                      <a:r>
                        <a:rPr sz="1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producers,</a:t>
                      </a:r>
                      <a:r>
                        <a:rPr sz="1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and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corporations that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distribute them.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502158" y="4549140"/>
          <a:ext cx="8140065" cy="168084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680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079" indent="381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However, construct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human actions, therefore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may</a:t>
                      </a:r>
                      <a:r>
                        <a:rPr sz="2400" kern="0" spc="2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 changed.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834" indent="-185420" algn="l" rtl="0" eaLnBrk="0">
                        <a:lnSpc>
                          <a:spcPct val="11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9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Anti-sweatshop activism and public</a:t>
                      </a:r>
                      <a:r>
                        <a:rPr sz="1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press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ure on</a:t>
                      </a:r>
                      <a:r>
                        <a:rPr sz="1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major</a:t>
                      </a:r>
                      <a:r>
                        <a:rPr sz="1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brands to ensure acceptable working 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conditions.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34" name="rect 3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textbox 36"/>
          <p:cNvSpPr/>
          <p:nvPr/>
        </p:nvSpPr>
        <p:spPr>
          <a:xfrm>
            <a:off x="460959" y="664108"/>
            <a:ext cx="3465829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structure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02158" y="1320546"/>
          <a:ext cx="8140065" cy="228028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2280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indent="-19684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historic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 type of society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which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necessities are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procured as commodities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the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marketplace.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ct val="78000"/>
                        </a:lnSpc>
                        <a:spcBef>
                          <a:spcPts val="72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Connected with capitalism.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ts val="3005"/>
                        </a:lnSpc>
                        <a:spcBef>
                          <a:spcPts val="30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Fashion cycles</a:t>
                      </a:r>
                      <a:r>
                        <a:rPr sz="22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ens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ure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profitability</a:t>
                      </a:r>
                      <a:r>
                        <a:rPr sz="22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200" kern="0" spc="-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making.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26514" y="3899154"/>
            <a:ext cx="4064506" cy="2666999"/>
          </a:xfrm>
          <a:prstGeom prst="rect">
            <a:avLst/>
          </a:prstGeom>
        </p:spPr>
      </p:pic>
      <p:sp>
        <p:nvSpPr>
          <p:cNvPr id="44" name="rect 4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465988" y="664108"/>
            <a:ext cx="391795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 culture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502158" y="4794498"/>
          <a:ext cx="8140065" cy="15367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536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22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</a:t>
                      </a:r>
                      <a:r>
                        <a:rPr sz="1800" kern="0" spc="-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</a:t>
                      </a:r>
                      <a:r>
                        <a:rPr sz="1800" kern="0" spc="-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just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right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"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"?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91000"/>
                        </a:lnSpc>
                        <a:spcBef>
                          <a:spcPts val="21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Shopping with friends?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91000"/>
                        </a:lnSpc>
                        <a:spcBef>
                          <a:spcPts val="2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Who has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your</a:t>
                      </a:r>
                      <a:r>
                        <a:rPr sz="1800" kern="0" spc="-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they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 a com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fortable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living at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2224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environmental damage and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risks were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incurred to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 your</a:t>
                      </a:r>
                      <a:r>
                        <a:rPr sz="1800" kern="0" spc="-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58745" y="2463546"/>
            <a:ext cx="4826495" cy="2207907"/>
          </a:xfrm>
          <a:prstGeom prst="rect">
            <a:avLst/>
          </a:prstGeom>
        </p:spPr>
      </p:pic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502158" y="1314455"/>
          <a:ext cx="8140065" cy="102933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40065"/>
              </a:tblGrid>
              <a:tr h="1016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075" indent="11429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Relatively "fun," expressive dimension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of consumer culture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 enmeshed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serious social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problems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6" name="rect 5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465988" y="664108"/>
            <a:ext cx="6536690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 cult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 (continued)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62"/>
          <p:cNvSpPr/>
          <p:nvPr/>
        </p:nvSpPr>
        <p:spPr>
          <a:xfrm>
            <a:off x="502158" y="1521720"/>
            <a:ext cx="8140446" cy="2881121"/>
          </a:xfrm>
          <a:prstGeom prst="rect">
            <a:avLst/>
          </a:prstGeom>
          <a:solidFill>
            <a:srgbClr val="EEF3F0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rect 64"/>
          <p:cNvSpPr/>
          <p:nvPr/>
        </p:nvSpPr>
        <p:spPr>
          <a:xfrm>
            <a:off x="502158" y="4518659"/>
            <a:ext cx="8140446" cy="1572767"/>
          </a:xfrm>
          <a:prstGeom prst="rect">
            <a:avLst/>
          </a:prstGeom>
          <a:solidFill>
            <a:srgbClr val="FAF5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6" name="table 66"/>
          <p:cNvGraphicFramePr>
            <a:graphicFrameLocks noGrp="1"/>
          </p:cNvGraphicFramePr>
          <p:nvPr/>
        </p:nvGraphicFramePr>
        <p:xfrm>
          <a:off x="502158" y="1521720"/>
          <a:ext cx="8140065" cy="4569459"/>
        </p:xfrm>
        <a:graphic>
          <a:graphicData uri="http://schemas.openxmlformats.org/drawingml/2006/table">
            <a:tbl>
              <a:tblPr/>
              <a:tblGrid>
                <a:gridCol w="8140065"/>
              </a:tblGrid>
              <a:tr h="4556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indent="-888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Veblen: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conspicuous consumption of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luxury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goods to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signal elite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status.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520" algn="l" rtl="0" eaLnBrk="0">
                        <a:lnSpc>
                          <a:spcPts val="3005"/>
                        </a:lnSpc>
                        <a:spcBef>
                          <a:spcPts val="288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Top speed of a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Porsche</a:t>
                      </a:r>
                      <a:r>
                        <a:rPr sz="22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GT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2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mph</a:t>
                      </a:r>
                      <a:r>
                        <a:rPr sz="22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=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kph.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9594" indent="-346075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highest speed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limit in</a:t>
                      </a:r>
                      <a:r>
                        <a:rPr sz="22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rth America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mph</a:t>
                      </a:r>
                      <a:r>
                        <a:rPr sz="22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=</a:t>
                      </a:r>
                      <a:r>
                        <a:rPr sz="2200" kern="0" spc="2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2200" kern="0" spc="-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kph.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709" algn="l" rtl="0" eaLnBrk="0">
                        <a:lnSpc>
                          <a:spcPct val="78000"/>
                        </a:lnSpc>
                        <a:spcBef>
                          <a:spcPts val="1622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Subsistence economy:</a:t>
                      </a:r>
                      <a:r>
                        <a:rPr sz="2400" b="1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people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ake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necessities they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75000"/>
                        </a:lnSpc>
                        <a:spcBef>
                          <a:spcPts val="17"/>
                        </a:spcBef>
                        <a:tabLst/>
                      </a:pPr>
                      <a:r>
                        <a:rPr sz="2400" kern="0" spc="-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74000"/>
                        </a:lnSpc>
                        <a:spcBef>
                          <a:spcPts val="54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Would like to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8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Porsche?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79000"/>
                        </a:lnSpc>
                        <a:spcBef>
                          <a:spcPts val="393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ts val="2221"/>
                        </a:lnSpc>
                        <a:spcBef>
                          <a:spcPts val="31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make or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buy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clothes?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2119" indent="-231140" algn="l" rtl="0" eaLnBrk="0">
                        <a:lnSpc>
                          <a:spcPct val="97000"/>
                        </a:lnSpc>
                        <a:spcBef>
                          <a:spcPts val="2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there any items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your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esidence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made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yourself or your family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members, neighbors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friends?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textbox 68"/>
          <p:cNvSpPr/>
          <p:nvPr/>
        </p:nvSpPr>
        <p:spPr>
          <a:xfrm>
            <a:off x="455015" y="443473"/>
            <a:ext cx="685101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7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Conspicuous con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sumption and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045"/>
              </a:spcBef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subsistence 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70" name="rect 7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502158" y="4258316"/>
            <a:ext cx="8024126" cy="383139"/>
            <a:chOff x="0" y="0"/>
            <a:chExt cx="8024126" cy="383139"/>
          </a:xfrm>
        </p:grpSpPr>
        <p:sp>
          <p:nvSpPr>
            <p:cNvPr id="72" name="path 72"/>
            <p:cNvSpPr/>
            <p:nvPr/>
          </p:nvSpPr>
          <p:spPr>
            <a:xfrm>
              <a:off x="0" y="0"/>
              <a:ext cx="8002409" cy="144525"/>
            </a:xfrm>
            <a:custGeom>
              <a:avLst/>
              <a:gdLst/>
              <a:ahLst/>
              <a:cxnLst/>
              <a:rect l="0" t="0" r="0" b="0"/>
              <a:pathLst>
                <a:path w="12602" h="227">
                  <a:moveTo>
                    <a:pt x="12602" y="217"/>
                  </a:moveTo>
                  <a:lnTo>
                    <a:pt x="217" y="217"/>
                  </a:lnTo>
                  <a:cubicBezTo>
                    <a:pt x="102" y="217"/>
                    <a:pt x="10" y="124"/>
                    <a:pt x="10" y="10"/>
                  </a:cubicBezTo>
                </a:path>
              </a:pathLst>
            </a:custGeom>
            <a:noFill/>
            <a:ln w="12953" cap="flat">
              <a:solidFill>
                <a:srgbClr val="C8D6C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path 74"/>
            <p:cNvSpPr/>
            <p:nvPr/>
          </p:nvSpPr>
          <p:spPr>
            <a:xfrm>
              <a:off x="0" y="260343"/>
              <a:ext cx="8024126" cy="122796"/>
            </a:xfrm>
            <a:custGeom>
              <a:avLst/>
              <a:gdLst/>
              <a:ahLst/>
              <a:cxnLst/>
              <a:rect l="0" t="0" r="0" b="0"/>
              <a:pathLst>
                <a:path w="12636" h="193">
                  <a:moveTo>
                    <a:pt x="10" y="183"/>
                  </a:moveTo>
                  <a:cubicBezTo>
                    <a:pt x="10" y="87"/>
                    <a:pt x="87" y="10"/>
                    <a:pt x="183" y="10"/>
                  </a:cubicBezTo>
                  <a:lnTo>
                    <a:pt x="12636" y="10"/>
                  </a:lnTo>
                </a:path>
              </a:pathLst>
            </a:custGeom>
            <a:noFill/>
            <a:ln w="12953" cap="flat">
              <a:solidFill>
                <a:srgbClr val="EEE3D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textbox 76"/>
          <p:cNvSpPr/>
          <p:nvPr/>
        </p:nvSpPr>
        <p:spPr>
          <a:xfrm>
            <a:off x="6537173" y="6401720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78" name="path 78"/>
          <p:cNvSpPr/>
          <p:nvPr/>
        </p:nvSpPr>
        <p:spPr>
          <a:xfrm>
            <a:off x="508254" y="1527809"/>
            <a:ext cx="63245" cy="2868167"/>
          </a:xfrm>
          <a:custGeom>
            <a:avLst/>
            <a:gdLst/>
            <a:ahLst/>
            <a:cxnLst/>
            <a:rect l="0" t="0" r="0" b="0"/>
            <a:pathLst>
              <a:path w="99" h="4516">
                <a:moveTo>
                  <a:pt x="0" y="0"/>
                </a:moveTo>
                <a:lnTo>
                  <a:pt x="99" y="0"/>
                </a:lnTo>
                <a:lnTo>
                  <a:pt x="99" y="4516"/>
                </a:lnTo>
                <a:lnTo>
                  <a:pt x="0" y="4516"/>
                </a:lnTo>
                <a:lnTo>
                  <a:pt x="0" y="0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path 80"/>
          <p:cNvSpPr/>
          <p:nvPr/>
        </p:nvSpPr>
        <p:spPr>
          <a:xfrm>
            <a:off x="508254" y="4523232"/>
            <a:ext cx="63245" cy="1559051"/>
          </a:xfrm>
          <a:custGeom>
            <a:avLst/>
            <a:gdLst/>
            <a:ahLst/>
            <a:cxnLst/>
            <a:rect l="0" t="0" r="0" b="0"/>
            <a:pathLst>
              <a:path w="99" h="2455">
                <a:moveTo>
                  <a:pt x="0" y="0"/>
                </a:moveTo>
                <a:lnTo>
                  <a:pt x="99" y="0"/>
                </a:lnTo>
                <a:lnTo>
                  <a:pt x="99" y="2455"/>
                </a:lnTo>
                <a:lnTo>
                  <a:pt x="0" y="2455"/>
                </a:lnTo>
                <a:lnTo>
                  <a:pt x="0" y="0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table 82"/>
          <p:cNvGraphicFramePr>
            <a:graphicFrameLocks noGrp="1"/>
          </p:cNvGraphicFramePr>
          <p:nvPr/>
        </p:nvGraphicFramePr>
        <p:xfrm>
          <a:off x="502158" y="2339337"/>
          <a:ext cx="8140065" cy="326834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3268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Characteristics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4205" indent="-434975" algn="l" rtl="0" eaLnBrk="0">
                        <a:lnSpc>
                          <a:spcPct val="107000"/>
                        </a:lnSpc>
                        <a:spcBef>
                          <a:spcPts val="422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 private ownership over means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ction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subsistence;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6370" algn="l" rtl="0" eaLnBrk="0">
                        <a:lnSpc>
                          <a:spcPts val="3005"/>
                        </a:lnSpc>
                        <a:spcBef>
                          <a:spcPts val="42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200" kern="0" spc="2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wage labor a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a means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providing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necessities for</a:t>
                      </a:r>
                      <a:r>
                        <a:rPr sz="22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oneself;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4205" indent="-454025" algn="l" rtl="0" eaLnBrk="0">
                        <a:lnSpc>
                          <a:spcPct val="106000"/>
                        </a:lnSpc>
                        <a:spcBef>
                          <a:spcPts val="9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   dominance of mark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 as a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mechanism of distributing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goods</a:t>
                      </a:r>
                      <a:r>
                        <a:rPr sz="22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i.e. mass consumption;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ts val="3005"/>
                        </a:lnSpc>
                        <a:spcBef>
                          <a:spcPts val="425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   orientation on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profit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;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79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   orientation on growth. Without growth, cris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502158" y="1314452"/>
          <a:ext cx="8140065" cy="84327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843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79" indent="-11429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 economic syst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 that originated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sixteenth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century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Britai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86" name="rect 8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465988" y="664108"/>
            <a:ext cx="2318385" cy="449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Capitalism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table 92"/>
          <p:cNvGraphicFramePr>
            <a:graphicFrameLocks noGrp="1"/>
          </p:cNvGraphicFramePr>
          <p:nvPr/>
        </p:nvGraphicFramePr>
        <p:xfrm>
          <a:off x="502158" y="1314444"/>
          <a:ext cx="8140065" cy="238696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23869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Social, political, economic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and cultural</a:t>
                      </a:r>
                      <a:r>
                        <a:rPr sz="22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processes that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6529" indent="13334" algn="l" rtl="0" eaLnBrk="0">
                        <a:lnSpc>
                          <a:spcPct val="86000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increasingly intercon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nect people, places,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economies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throughout the w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orld.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ts val="3005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Period since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kern="0" spc="2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1970s.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indent="13334" algn="l" rtl="0" eaLnBrk="0">
                        <a:lnSpc>
                          <a:spcPct val="93000"/>
                        </a:lnSpc>
                        <a:spcBef>
                          <a:spcPts val="461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Unequal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benefits and disadvantages within and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between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societies.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502158" y="3942590"/>
          <a:ext cx="8140065" cy="86613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8661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b="1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middle cla</a:t>
                      </a: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ss and the global</a:t>
                      </a:r>
                      <a:r>
                        <a:rPr sz="2200" b="1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consumer culture: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algn="l" rtl="0" eaLnBrk="0">
                        <a:lnSpc>
                          <a:spcPct val="78000"/>
                        </a:lnSpc>
                        <a:spcBef>
                          <a:spcPts val="372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apparently simil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ar, but unequal</a:t>
                      </a:r>
                      <a:r>
                        <a:rPr sz="22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consumption</a:t>
                      </a:r>
                      <a:r>
                        <a:rPr sz="22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habits.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502158" y="4915660"/>
          <a:ext cx="8140065" cy="8121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812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indent="-23114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does a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meal at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McDon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ald’s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mean to Americans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Asians,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respectively?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98" name="rect 9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textbox 100"/>
          <p:cNvSpPr/>
          <p:nvPr/>
        </p:nvSpPr>
        <p:spPr>
          <a:xfrm>
            <a:off x="466445" y="664108"/>
            <a:ext cx="2877185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Globalizat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6537173" y="6401512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65404" y="1485138"/>
          <a:ext cx="8140700" cy="118999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3234"/>
              </a:tblGrid>
              <a:tr h="1189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9525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Marx: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critic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 of inequalities between workers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(the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proletariat)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owners (the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bourgeoisie),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and of the</a:t>
                      </a:r>
                      <a:r>
                        <a:rPr sz="22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exploitation of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73000"/>
                        </a:lnSpc>
                        <a:spcBef>
                          <a:spcPts val="71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workers.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67000" y="2743200"/>
            <a:ext cx="3809999" cy="2247900"/>
          </a:xfrm>
          <a:prstGeom prst="rect">
            <a:avLst/>
          </a:prstGeom>
        </p:spPr>
      </p:pic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2158" y="5124453"/>
          <a:ext cx="8140065" cy="102933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40065"/>
              </a:tblGrid>
              <a:tr h="10166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325" indent="-22034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b="1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Durkheim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how 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large-scale, industrialized,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urban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societies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together without the bonds of traditi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10"/>
          <p:cNvSpPr/>
          <p:nvPr/>
        </p:nvSpPr>
        <p:spPr>
          <a:xfrm>
            <a:off x="455015" y="388264"/>
            <a:ext cx="678751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7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</a:t>
            </a: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pitalism and developme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nt o</a:t>
            </a:r>
            <a:r>
              <a:rPr sz="36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045"/>
              </a:spcBef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textbox 114"/>
          <p:cNvSpPr/>
          <p:nvPr/>
        </p:nvSpPr>
        <p:spPr>
          <a:xfrm>
            <a:off x="6537173" y="640151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02158" y="1615440"/>
          <a:ext cx="8140065" cy="428370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42837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Weber:</a:t>
                      </a:r>
                      <a:r>
                        <a:rPr sz="2400" b="1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bureaucracy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industrializ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 societies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indent="-8254" algn="l" rtl="0" eaLnBrk="0">
                        <a:lnSpc>
                          <a:spcPct val="86000"/>
                        </a:lnSpc>
                        <a:spcBef>
                          <a:spcPts val="4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efficient,</a:t>
                      </a:r>
                      <a:r>
                        <a:rPr sz="2400" kern="0" spc="2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but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 also dehumanizes experiences of their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members.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ts val="2963"/>
                        </a:lnSpc>
                        <a:spcBef>
                          <a:spcPts val="725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Martineau: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campaigned for women’s</a:t>
                      </a:r>
                      <a:r>
                        <a:rPr sz="2400" kern="0" spc="2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rights and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635" algn="l" rtl="0" eaLnBrk="0">
                        <a:lnSpc>
                          <a:spcPct val="92000"/>
                        </a:lnSpc>
                        <a:spcBef>
                          <a:spcPts val="32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advocated</a:t>
                      </a:r>
                      <a:r>
                        <a:rPr sz="24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inclusion of the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perspectives of marginalized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groups</a:t>
                      </a:r>
                      <a:r>
                        <a:rPr sz="2400" kern="0" spc="2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18" name="textbox 118"/>
          <p:cNvSpPr/>
          <p:nvPr/>
        </p:nvSpPr>
        <p:spPr>
          <a:xfrm>
            <a:off x="468274" y="388264"/>
            <a:ext cx="5695950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Development of sociology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908"/>
              </a:spcBef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(continued)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20" name="rect 12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textbox 122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table 124"/>
          <p:cNvGraphicFramePr>
            <a:graphicFrameLocks noGrp="1"/>
          </p:cNvGraphicFramePr>
          <p:nvPr/>
        </p:nvGraphicFramePr>
        <p:xfrm>
          <a:off x="502158" y="1521719"/>
          <a:ext cx="8140065" cy="191388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913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327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life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both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material and c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ultural.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ts val="3275"/>
                        </a:lnSpc>
                        <a:spcBef>
                          <a:spcPts val="727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 cannot fully unders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tand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society without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indent="8254" algn="l" rtl="0" eaLnBrk="0">
                        <a:lnSpc>
                          <a:spcPct val="86000"/>
                        </a:lnSpc>
                        <a:spcBef>
                          <a:spcPts val="6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understanding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both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material and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cultural dimensions,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the way they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inters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ect.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table 126"/>
          <p:cNvGraphicFramePr>
            <a:graphicFrameLocks noGrp="1"/>
          </p:cNvGraphicFramePr>
          <p:nvPr/>
        </p:nvGraphicFramePr>
        <p:xfrm>
          <a:off x="502158" y="4574287"/>
          <a:ext cx="8140065" cy="116014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160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684" indent="-21717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When and how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jeans changed from w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orking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men’s wear to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leisure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wear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2457"/>
                        </a:lnSpc>
                        <a:spcBef>
                          <a:spcPts val="9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When and why have</a:t>
                      </a:r>
                      <a:r>
                        <a:rPr sz="1800" kern="0" spc="-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jeans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become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respe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ctable,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even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luxurious?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502158" y="3684266"/>
          <a:ext cx="8140065" cy="7969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796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marL="182879" indent="3175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Culture</a:t>
                      </a:r>
                      <a:r>
                        <a:rPr sz="2400" kern="0" spc="2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rooted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specific social,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historical and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material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contexts.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142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460959" y="388264"/>
            <a:ext cx="6387465" cy="979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Sociological thin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 frames:</a:t>
            </a:r>
            <a:endParaRPr sz="36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73000"/>
              </a:lnSpc>
              <a:spcBef>
                <a:spcPts val="932"/>
              </a:spcBef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 and cultural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rect 13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6537173" y="6401479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table 136"/>
          <p:cNvGraphicFramePr>
            <a:graphicFrameLocks noGrp="1"/>
          </p:cNvGraphicFramePr>
          <p:nvPr/>
        </p:nvGraphicFramePr>
        <p:xfrm>
          <a:off x="552450" y="1591050"/>
          <a:ext cx="8140700" cy="292417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2924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indent="-10795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Agency: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ability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of individuals to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 decisions</a:t>
                      </a:r>
                      <a:r>
                        <a:rPr sz="24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take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2963"/>
                        </a:lnSpc>
                        <a:spcBef>
                          <a:spcPts val="72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All actors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some agency,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but one’s</a:t>
                      </a:r>
                      <a:r>
                        <a:rPr sz="24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egree</a:t>
                      </a:r>
                      <a:r>
                        <a:rPr sz="24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indent="-8254" algn="l" rtl="0" eaLnBrk="0">
                        <a:lnSpc>
                          <a:spcPct val="97000"/>
                        </a:lnSpc>
                        <a:spcBef>
                          <a:spcPts val="29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autonomy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 face of structural constraints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shaped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 one’s s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ocial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location.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8"/>
          <p:cNvSpPr/>
          <p:nvPr/>
        </p:nvSpPr>
        <p:spPr>
          <a:xfrm>
            <a:off x="455015" y="388264"/>
            <a:ext cx="6393179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Sociological thin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 frames: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958"/>
              </a:spcBef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 and a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gency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40" name="rect 14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textbox 142"/>
          <p:cNvSpPr/>
          <p:nvPr/>
        </p:nvSpPr>
        <p:spPr>
          <a:xfrm>
            <a:off x="6537173" y="6401561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able 144"/>
          <p:cNvGraphicFramePr>
            <a:graphicFrameLocks noGrp="1"/>
          </p:cNvGraphicFramePr>
          <p:nvPr/>
        </p:nvGraphicFramePr>
        <p:xfrm>
          <a:off x="502158" y="1314449"/>
          <a:ext cx="8140065" cy="278193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27819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ts val="3275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 or group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position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a va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riety of social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relations.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ts val="5299"/>
                        </a:lnSpc>
                        <a:tabLst/>
                      </a:pP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influen</a:t>
                      </a:r>
                      <a:r>
                        <a:rPr sz="2400" kern="0" spc="-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ces: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130" algn="l" rtl="0" eaLnBrk="0">
                        <a:lnSpc>
                          <a:spcPct val="76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2" tooltip="">
                            <a:extLst>
                              <a:ext uri="{DAF060AB-1E55-43B9-8AAB-6FB025537F2F}">
                                <wpsdc:hlinkClr xmlns:wpsdc="http://www.wps.cn/officeDocument/2017/drawingmlCustomData" val="292934"/>
                                <wpsdc:folHlinkClr xmlns:wpsdc="http://www.wps.cn/officeDocument/2017/drawingmlCustomData" val="292934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1.   one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’s</a:t>
                      </a:r>
                      <a:r>
                        <a:rPr sz="22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identity;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269" algn="l" rtl="0" eaLnBrk="0">
                        <a:lnSpc>
                          <a:spcPts val="2767"/>
                        </a:lnSpc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  others’ view of one; and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ts val="2822"/>
                        </a:lnSpc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   opportunitie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available to one.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table 146"/>
          <p:cNvGraphicFramePr>
            <a:graphicFrameLocks noGrp="1"/>
          </p:cNvGraphicFramePr>
          <p:nvPr/>
        </p:nvGraphicFramePr>
        <p:xfrm>
          <a:off x="502158" y="4184905"/>
          <a:ext cx="8140065" cy="14605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46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22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much 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gency do you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within your family?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91000"/>
                        </a:lnSpc>
                        <a:spcBef>
                          <a:spcPts val="21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 a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ts val="2221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 work?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48" name="rect 14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460959" y="664108"/>
            <a:ext cx="3237864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3600" b="1" kern="0" spc="2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6537173" y="6401637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/>
          <p:cNvGraphicFramePr>
            <a:graphicFrameLocks noGrp="1"/>
          </p:cNvGraphicFramePr>
          <p:nvPr/>
        </p:nvGraphicFramePr>
        <p:xfrm>
          <a:off x="502158" y="2434588"/>
          <a:ext cx="8140065" cy="2861945"/>
        </p:xfrm>
        <a:graphic>
          <a:graphicData uri="http://schemas.openxmlformats.org/drawingml/2006/table">
            <a:tbl>
              <a:tblPr/>
              <a:tblGrid>
                <a:gridCol w="28575"/>
                <a:gridCol w="3851275"/>
                <a:gridCol w="379729"/>
                <a:gridCol w="3880484"/>
              </a:tblGrid>
              <a:tr h="15005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ts val="1717"/>
                        </a:lnSpc>
                        <a:tabLst/>
                      </a:pP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Micro: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2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eraction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indent="-1905" algn="l" rtl="0" eaLnBrk="0">
                        <a:lnSpc>
                          <a:spcPct val="90000"/>
                        </a:lnSpc>
                        <a:spcBef>
                          <a:spcPts val="49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face-to-face and</a:t>
                      </a:r>
                      <a:r>
                        <a:rPr sz="22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small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groups;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ning-making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these interact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ions.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indent="190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2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Macro: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processes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large collectivities, at</a:t>
                      </a:r>
                      <a:r>
                        <a:rPr sz="22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284" indent="8889" algn="l" rtl="0" eaLnBrk="0">
                        <a:lnSpc>
                          <a:spcPct val="88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institutional, national,</a:t>
                      </a:r>
                      <a:r>
                        <a:rPr sz="22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</a:t>
                      </a:r>
                      <a:r>
                        <a:rPr sz="22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levels.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9969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735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35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1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ts val="2457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and your friends wear the same brand of</a:t>
                      </a:r>
                      <a:r>
                        <a:rPr sz="1800" kern="0" spc="-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jea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ns?Why?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3544" indent="-231140" algn="l" rtl="0" eaLnBrk="0">
                        <a:lnSpc>
                          <a:spcPct val="9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are so few jeans—originally an American clot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hing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item—now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made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1800" kern="0" spc="2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U.S.?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56" name="rect 156"/>
          <p:cNvSpPr/>
          <p:nvPr/>
        </p:nvSpPr>
        <p:spPr>
          <a:xfrm>
            <a:off x="502158" y="5486400"/>
            <a:ext cx="8140446" cy="896112"/>
          </a:xfrm>
          <a:prstGeom prst="rect">
            <a:avLst/>
          </a:prstGeom>
          <a:solidFill>
            <a:srgbClr val="EEF3F0">
              <a:alpha val="9882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8" name="table 158"/>
          <p:cNvGraphicFramePr>
            <a:graphicFrameLocks noGrp="1"/>
          </p:cNvGraphicFramePr>
          <p:nvPr/>
        </p:nvGraphicFramePr>
        <p:xfrm>
          <a:off x="502158" y="5486400"/>
          <a:ext cx="8140065" cy="895985"/>
        </p:xfrm>
        <a:graphic>
          <a:graphicData uri="http://schemas.openxmlformats.org/drawingml/2006/table">
            <a:tbl>
              <a:tblPr/>
              <a:tblGrid>
                <a:gridCol w="37465"/>
                <a:gridCol w="8102600"/>
              </a:tblGrid>
              <a:tr h="8959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814" indent="127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Deeply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intertwined,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both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 examined to understand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society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0" name="textbox 160"/>
          <p:cNvSpPr/>
          <p:nvPr/>
        </p:nvSpPr>
        <p:spPr>
          <a:xfrm>
            <a:off x="460959" y="486000"/>
            <a:ext cx="7758430" cy="979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Sociological thinking frame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s: micro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932"/>
              </a:spcBef>
              <a:tabLst/>
            </a:pPr>
            <a:r>
              <a:rPr sz="36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3600" b="1" kern="0" spc="2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macro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8508" y="1625603"/>
            <a:ext cx="8128000" cy="604519"/>
          </a:xfrm>
          <a:prstGeom prst="roundRect">
            <a:avLst>
              <a:gd name="adj" fmla="val 6588"/>
            </a:avLst>
          </a:prstGeom>
          <a:solidFill>
            <a:srgbClr val="EEF3F0">
              <a:alpha val="100000"/>
            </a:srgbClr>
          </a:solidFill>
          <a:ln w="12700" cap="flat">
            <a:solidFill>
              <a:srgbClr val="C8D6C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7000"/>
              </a:lnSpc>
              <a:spcBef>
                <a:spcPts val="6"/>
              </a:spcBef>
              <a:tabLst>
                <a:tab pos="213359" algn="l"/>
              </a:tabLst>
            </a:pPr>
            <a:r>
              <a:rPr sz="24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Scopes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levels of anal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ysis</a:t>
            </a:r>
            <a:r>
              <a:rPr sz="24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sociological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research.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4" name="path 164"/>
          <p:cNvSpPr/>
          <p:nvPr/>
        </p:nvSpPr>
        <p:spPr>
          <a:xfrm>
            <a:off x="520173" y="1637268"/>
            <a:ext cx="63149" cy="581188"/>
          </a:xfrm>
          <a:custGeom>
            <a:avLst/>
            <a:gdLst/>
            <a:ahLst/>
            <a:cxnLst/>
            <a:rect l="0" t="0" r="0" b="0"/>
            <a:pathLst>
              <a:path w="99" h="915">
                <a:moveTo>
                  <a:pt x="0" y="0"/>
                </a:moveTo>
                <a:lnTo>
                  <a:pt x="99" y="0"/>
                </a:lnTo>
                <a:lnTo>
                  <a:pt x="99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rect 16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6537173" y="6401548"/>
            <a:ext cx="249364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7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70" name="path 170"/>
          <p:cNvSpPr/>
          <p:nvPr/>
        </p:nvSpPr>
        <p:spPr>
          <a:xfrm>
            <a:off x="4761738" y="2440686"/>
            <a:ext cx="45720" cy="1494282"/>
          </a:xfrm>
          <a:custGeom>
            <a:avLst/>
            <a:gdLst/>
            <a:ahLst/>
            <a:cxnLst/>
            <a:rect l="0" t="0" r="0" b="0"/>
            <a:pathLst>
              <a:path w="72" h="2353">
                <a:moveTo>
                  <a:pt x="0" y="0"/>
                </a:moveTo>
                <a:lnTo>
                  <a:pt x="72" y="0"/>
                </a:lnTo>
                <a:lnTo>
                  <a:pt x="72" y="2353"/>
                </a:lnTo>
                <a:lnTo>
                  <a:pt x="0" y="2353"/>
                </a:lnTo>
                <a:lnTo>
                  <a:pt x="0" y="0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Acrobat PDFMaker 26 for PowerPoint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Li Xueshi (HSS)</dc:creator>
  <dcterms:created xsi:type="dcterms:W3CDTF">2026-09-07T10:15:00Z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2026-09-26T16:18:35</vt:filetime>
  </property>
</Properties>
</file>