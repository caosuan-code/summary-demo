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6" Type="http://schemas.openxmlformats.org/officeDocument/2006/relationships/viewProps" Target="viewProps.xml"/><Relationship Id="rId25" Type="http://schemas.openxmlformats.org/officeDocument/2006/relationships/tableStyles" Target="tableStyles.xml"/><Relationship Id="rId24" Type="http://schemas.openxmlformats.org/officeDocument/2006/relationships/presProps" Target="presProps.xml"/><Relationship Id="rId23" Type="http://schemas.openxmlformats.org/officeDocument/2006/relationships/slide" Target="slides/slide22.xml"/><Relationship Id="rId22" Type="http://schemas.openxmlformats.org/officeDocument/2006/relationships/slide" Target="slides/slide21.xml"/><Relationship Id="rId21" Type="http://schemas.openxmlformats.org/officeDocument/2006/relationships/slide" Target="slides/slide20.xml"/><Relationship Id="rId20" Type="http://schemas.openxmlformats.org/officeDocument/2006/relationships/slide" Target="slides/slide19.xml"/><Relationship Id="rId2" Type="http://schemas.openxmlformats.org/officeDocument/2006/relationships/slide" Target="slides/slide1.xml"/><Relationship Id="rId19" Type="http://schemas.openxmlformats.org/officeDocument/2006/relationships/slide" Target="slides/slide18.xml"/><Relationship Id="rId18" Type="http://schemas.openxmlformats.org/officeDocument/2006/relationships/slide" Target="slides/slide17.xml"/><Relationship Id="rId17" Type="http://schemas.openxmlformats.org/officeDocument/2006/relationships/slide" Target="slides/slide16.xml"/><Relationship Id="rId16" Type="http://schemas.openxmlformats.org/officeDocument/2006/relationships/slide" Target="slides/slide15.xml"/><Relationship Id="rId15" Type="http://schemas.openxmlformats.org/officeDocument/2006/relationships/slide" Target="slides/slide14.xml"/><Relationship Id="rId14" Type="http://schemas.openxmlformats.org/officeDocument/2006/relationships/slide" Target="slides/slide13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788782" y="1931724"/>
            <a:ext cx="6264275" cy="12909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43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4000" b="1" kern="0" spc="-1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CHAPTER 3:</a:t>
            </a:r>
            <a:endParaRPr sz="4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spcBef>
                <a:spcPts val="1404"/>
              </a:spcBef>
              <a:tabLst/>
            </a:pPr>
            <a:r>
              <a:rPr sz="5400" b="1" kern="0" spc="-15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FAST-FOOD</a:t>
            </a:r>
            <a:r>
              <a:rPr sz="5400" b="1" kern="0" spc="-16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BLUES</a:t>
            </a:r>
            <a:endParaRPr sz="5400" dirty="0">
              <a:latin typeface="Arial"/>
              <a:ea typeface="Arial"/>
              <a:cs typeface="Arial"/>
            </a:endParaRPr>
          </a:p>
        </p:txBody>
      </p:sp>
      <p:sp>
        <p:nvSpPr>
          <p:cNvPr id="4" name="textbox 4"/>
          <p:cNvSpPr/>
          <p:nvPr/>
        </p:nvSpPr>
        <p:spPr>
          <a:xfrm>
            <a:off x="766674" y="3687299"/>
            <a:ext cx="6040754" cy="13474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3548"/>
              </a:lnSpc>
              <a:tabLst/>
            </a:pPr>
            <a:r>
              <a:rPr sz="48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WORK IN A </a:t>
            </a:r>
            <a:r>
              <a:rPr sz="48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endParaRPr sz="4800" dirty="0">
              <a:latin typeface="Arial"/>
              <a:ea typeface="Arial"/>
              <a:cs typeface="Arial"/>
            </a:endParaRPr>
          </a:p>
          <a:p>
            <a:pPr marL="55244" algn="l" rtl="0" eaLnBrk="0">
              <a:lnSpc>
                <a:spcPts val="6856"/>
              </a:lnSpc>
              <a:tabLst/>
            </a:pPr>
            <a:r>
              <a:rPr sz="48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ECONOMY</a:t>
            </a:r>
            <a:endParaRPr sz="4800" dirty="0">
              <a:latin typeface="Arial"/>
              <a:ea typeface="Arial"/>
              <a:cs typeface="Arial"/>
            </a:endParaRPr>
          </a:p>
        </p:txBody>
      </p:sp>
      <p:sp>
        <p:nvSpPr>
          <p:cNvPr id="6" name="rect 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6481927" y="6416224"/>
            <a:ext cx="249555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24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2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10" name="path 10"/>
          <p:cNvSpPr/>
          <p:nvPr/>
        </p:nvSpPr>
        <p:spPr>
          <a:xfrm>
            <a:off x="685798" y="3392423"/>
            <a:ext cx="7848603" cy="13842"/>
          </a:xfrm>
          <a:custGeom>
            <a:avLst/>
            <a:gdLst/>
            <a:ahLst/>
            <a:cxnLst/>
            <a:rect l="0" t="0" r="0" b="0"/>
            <a:pathLst>
              <a:path w="12360" h="21">
                <a:moveTo>
                  <a:pt x="0" y="9"/>
                </a:moveTo>
                <a:lnTo>
                  <a:pt x="12360" y="12"/>
                </a:lnTo>
              </a:path>
            </a:pathLst>
          </a:custGeom>
          <a:noFill/>
          <a:ln w="12192" cap="flat">
            <a:solidFill>
              <a:srgbClr val="D2533C"/>
            </a:solidFill>
            <a:prstDash val="solid"/>
            <a:round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502920" y="2785871"/>
          <a:ext cx="8138159" cy="141986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4198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7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Marx: classes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capi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talism: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61034" algn="l" rtl="0" eaLnBrk="0">
                        <a:lnSpc>
                          <a:spcPct val="78000"/>
                        </a:lnSpc>
                        <a:spcBef>
                          <a:spcPts val="101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Workers (the </a:t>
                      </a: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proletariat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 and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5634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Owners of the means of production</a:t>
                      </a:r>
                      <a:r>
                        <a:rPr sz="22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(the</a:t>
                      </a:r>
                      <a:r>
                        <a:rPr sz="22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bourgeoisie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4"/>
          <p:cNvGraphicFramePr>
            <a:graphicFrameLocks noGrp="1"/>
          </p:cNvGraphicFramePr>
          <p:nvPr/>
        </p:nvGraphicFramePr>
        <p:xfrm>
          <a:off x="502920" y="1313688"/>
          <a:ext cx="8138159" cy="123126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2312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indent="1333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People with similar levels of i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ncome, wealth, education,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occupational prestige,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life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style, social status and/or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algn="l" rtl="0" eaLnBrk="0">
                        <a:lnSpc>
                          <a:spcPct val="79000"/>
                        </a:lnSpc>
                        <a:spcBef>
                          <a:spcPts val="399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access to ma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terial goods and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services.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6"/>
          <p:cNvGraphicFramePr>
            <a:graphicFrameLocks noGrp="1"/>
          </p:cNvGraphicFramePr>
          <p:nvPr/>
        </p:nvGraphicFramePr>
        <p:xfrm>
          <a:off x="502920" y="4312920"/>
          <a:ext cx="8138160" cy="12312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1221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944" algn="l" rtl="0" eaLnBrk="0">
                        <a:lnSpc>
                          <a:spcPct val="7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Which of these two classes 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belon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 to?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can you tell?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1484" indent="-2540" algn="l" rtl="0" eaLnBrk="0">
                        <a:lnSpc>
                          <a:spcPct val="85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there any other classes in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capitalism?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there are, what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their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relationship to these 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 classes?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8" name="rect 1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466307" y="680142"/>
            <a:ext cx="1221739" cy="431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11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4000"/>
              </a:lnSpc>
              <a:tabLst/>
            </a:pPr>
            <a:r>
              <a:rPr sz="36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Class</a:t>
            </a:r>
            <a:endParaRPr sz="36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able 24"/>
          <p:cNvGraphicFramePr>
            <a:graphicFrameLocks noGrp="1"/>
          </p:cNvGraphicFramePr>
          <p:nvPr/>
        </p:nvGraphicFramePr>
        <p:xfrm>
          <a:off x="502920" y="1313688"/>
          <a:ext cx="8138159" cy="22701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2701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-1079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relationship in which a worker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sells</a:t>
                      </a:r>
                      <a:r>
                        <a:rPr sz="2400" b="1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his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24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her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to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 employer.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0179" algn="l" rtl="0" eaLnBrk="0">
                        <a:lnSpc>
                          <a:spcPct val="78000"/>
                        </a:lnSpc>
                        <a:spcBef>
                          <a:spcPts val="72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norm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4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cap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italism.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Labor is also a source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personal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meaning.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502920" y="3749040"/>
          <a:ext cx="8138160" cy="12312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1221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94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dream</a:t>
                      </a:r>
                      <a:r>
                        <a:rPr sz="1800" kern="0" spc="-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job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3865" indent="444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you had to choose, would you choose a wel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l-paid</a:t>
                      </a:r>
                      <a:r>
                        <a:rPr sz="1800" kern="0" spc="-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job or a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personally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satisfying one?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28" name="rect 2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0" name="textbox 30"/>
          <p:cNvSpPr/>
          <p:nvPr/>
        </p:nvSpPr>
        <p:spPr>
          <a:xfrm>
            <a:off x="446177" y="680142"/>
            <a:ext cx="249618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Wage</a:t>
            </a:r>
            <a:r>
              <a:rPr sz="3600" b="1" kern="0" spc="3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labor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able 34"/>
          <p:cNvGraphicFramePr>
            <a:graphicFrameLocks noGrp="1"/>
          </p:cNvGraphicFramePr>
          <p:nvPr/>
        </p:nvGraphicFramePr>
        <p:xfrm>
          <a:off x="502920" y="2648711"/>
          <a:ext cx="8138159" cy="19050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905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you ever been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employed?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2540" algn="l" rtl="0" eaLnBrk="0">
                        <a:lnSpc>
                          <a:spcPct val="85000"/>
                        </a:lnSpc>
                        <a:spcBef>
                          <a:spcPts val="86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you</a:t>
                      </a:r>
                      <a:r>
                        <a:rPr sz="18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been empl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oyed because you wanted to work or because you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had to?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99415" indent="11429" algn="l" rtl="0" eaLnBrk="0">
                        <a:lnSpc>
                          <a:spcPct val="86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has been satisfying and what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has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been dis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satisfying about your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6" name="table 36"/>
          <p:cNvGraphicFramePr>
            <a:graphicFrameLocks noGrp="1"/>
          </p:cNvGraphicFramePr>
          <p:nvPr/>
        </p:nvGraphicFramePr>
        <p:xfrm>
          <a:off x="502920" y="1313688"/>
          <a:ext cx="8138160" cy="114871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38160"/>
              </a:tblGrid>
              <a:tr h="1139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2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19709" indent="-11429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feeling of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estrangement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ften associated with work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capitalism.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38" name="rect 38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0" name="textbox 40"/>
          <p:cNvSpPr/>
          <p:nvPr/>
        </p:nvSpPr>
        <p:spPr>
          <a:xfrm>
            <a:off x="444804" y="680142"/>
            <a:ext cx="474599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Alienation—defin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" name="table 44"/>
          <p:cNvGraphicFramePr>
            <a:graphicFrameLocks noGrp="1"/>
          </p:cNvGraphicFramePr>
          <p:nvPr/>
        </p:nvGraphicFramePr>
        <p:xfrm>
          <a:off x="469392" y="2660903"/>
          <a:ext cx="8140700" cy="12192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1219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0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2714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 Alienation from the</a:t>
                      </a:r>
                      <a:r>
                        <a:rPr sz="24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product of work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lack of contr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ol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1184" algn="l" rtl="0" eaLnBrk="0">
                        <a:lnSpc>
                          <a:spcPct val="78000"/>
                        </a:lnSpc>
                        <a:spcBef>
                          <a:spcPts val="640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 them and the profit deriv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ed from them;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ct val="79000"/>
                        </a:lnSpc>
                        <a:spcBef>
                          <a:spcPts val="557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Can</a:t>
                      </a:r>
                      <a:r>
                        <a:rPr sz="22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BMW workers</a:t>
                      </a:r>
                      <a:r>
                        <a:rPr sz="22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afford</a:t>
                      </a:r>
                      <a:r>
                        <a:rPr sz="22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BMWs?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469392" y="4983479"/>
          <a:ext cx="8140700" cy="12192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1219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00075" indent="-472440" algn="l" rtl="0" eaLnBrk="0">
                        <a:lnSpc>
                          <a:spcPct val="93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  Alienation from workers’ own</a:t>
                      </a:r>
                      <a:r>
                        <a:rPr sz="24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natu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 as</a:t>
                      </a:r>
                      <a:r>
                        <a:rPr sz="2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creative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4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beings.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ct val="80000"/>
                        </a:lnSpc>
                        <a:spcBef>
                          <a:spcPts val="568"/>
                        </a:spcBef>
                        <a:tabLst/>
                      </a:pP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2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you ever</a:t>
                      </a:r>
                      <a:r>
                        <a:rPr sz="22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been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bored at work?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" name="table 48"/>
          <p:cNvGraphicFramePr>
            <a:graphicFrameLocks noGrp="1"/>
          </p:cNvGraphicFramePr>
          <p:nvPr/>
        </p:nvGraphicFramePr>
        <p:xfrm>
          <a:off x="469392" y="1322832"/>
          <a:ext cx="8140700" cy="12160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1216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5684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Alienation from the work</a:t>
                      </a:r>
                      <a:r>
                        <a:rPr sz="24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process:</a:t>
                      </a:r>
                      <a:r>
                        <a:rPr sz="24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lack of control</a:t>
                      </a:r>
                      <a:r>
                        <a:rPr sz="2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</a:t>
                      </a:r>
                      <a:r>
                        <a:rPr sz="24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it;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43610" indent="-347979" algn="l" rtl="0" eaLnBrk="0">
                        <a:lnSpc>
                          <a:spcPct val="94000"/>
                        </a:lnSpc>
                        <a:spcBef>
                          <a:spcPts val="32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Have you ever</a:t>
                      </a:r>
                      <a:r>
                        <a:rPr sz="22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thought</a:t>
                      </a:r>
                      <a:r>
                        <a:rPr sz="22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that</a:t>
                      </a:r>
                      <a:r>
                        <a:rPr sz="22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22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could</a:t>
                      </a:r>
                      <a:r>
                        <a:rPr sz="22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organize</a:t>
                      </a:r>
                      <a:r>
                        <a:rPr sz="22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 better than your</a:t>
                      </a:r>
                      <a:r>
                        <a:rPr sz="2200" kern="0" spc="2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boss had?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" name="table 50"/>
          <p:cNvGraphicFramePr>
            <a:graphicFrameLocks noGrp="1"/>
          </p:cNvGraphicFramePr>
          <p:nvPr/>
        </p:nvGraphicFramePr>
        <p:xfrm>
          <a:off x="469392" y="4047744"/>
          <a:ext cx="8140700" cy="81343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2600"/>
              </a:tblGrid>
              <a:tr h="813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36525" algn="l" rtl="0" eaLnBrk="0">
                        <a:lnSpc>
                          <a:spcPct val="7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 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Alienation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from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</a:t>
                      </a:r>
                      <a:r>
                        <a:rPr sz="2400" b="1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workers</a:t>
                      </a:r>
                      <a:r>
                        <a:rPr sz="24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;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95630" algn="l" rtl="0" eaLnBrk="0">
                        <a:lnSpc>
                          <a:spcPct val="80000"/>
                        </a:lnSpc>
                        <a:spcBef>
                          <a:spcPts val="563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Why is there</a:t>
                      </a:r>
                      <a:r>
                        <a:rPr sz="22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bac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k-stabbing</a:t>
                      </a:r>
                      <a:r>
                        <a:rPr sz="22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 work?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52" name="rect 5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" name="textbox 54"/>
          <p:cNvSpPr/>
          <p:nvPr/>
        </p:nvSpPr>
        <p:spPr>
          <a:xfrm>
            <a:off x="437794" y="706907"/>
            <a:ext cx="4628515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8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Aspects</a:t>
            </a:r>
            <a:r>
              <a:rPr sz="3600" b="1" kern="0" spc="2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of aliena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" name="table 58"/>
          <p:cNvGraphicFramePr>
            <a:graphicFrameLocks noGrp="1"/>
          </p:cNvGraphicFramePr>
          <p:nvPr/>
        </p:nvGraphicFramePr>
        <p:xfrm>
          <a:off x="502920" y="2682240"/>
          <a:ext cx="8138160" cy="12312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1221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54025" indent="-508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Three companies control most of the frozen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French f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ries in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world.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know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any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them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176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94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know what a “banana republic”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is? Why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called that?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502920" y="1313688"/>
          <a:ext cx="8138159" cy="118872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1887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78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Business enterprises that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span national boundaries.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754" algn="l" rtl="0" eaLnBrk="0">
                        <a:lnSpc>
                          <a:spcPct val="7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Influential actors in the global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economy.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62" name="rect 6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64" name="textbox 64"/>
          <p:cNvSpPr/>
          <p:nvPr/>
        </p:nvSpPr>
        <p:spPr>
          <a:xfrm>
            <a:off x="454412" y="680142"/>
            <a:ext cx="7555230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Transnational corporat</a:t>
            </a: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ions (TNCs)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8" name="table 68"/>
          <p:cNvGraphicFramePr>
            <a:graphicFrameLocks noGrp="1"/>
          </p:cNvGraphicFramePr>
          <p:nvPr/>
        </p:nvGraphicFramePr>
        <p:xfrm>
          <a:off x="502920" y="2694432"/>
          <a:ext cx="8138159" cy="191388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9138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indent="-13334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Transnational capitalists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 easily across</a:t>
                      </a:r>
                      <a:r>
                        <a:rPr sz="24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national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borders and have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many simila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rities.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8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9525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International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workers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are less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mobile, more divided,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more vulnerable th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 capitalists.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502920" y="4800600"/>
          <a:ext cx="8138160" cy="12312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12217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0690" indent="8254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know about work 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nd life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undocumented workers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your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country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0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8944" algn="l" rtl="0" eaLnBrk="0">
                        <a:lnSpc>
                          <a:spcPct val="80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there such people as “undocumented capitalists”? 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2" name="table 72"/>
          <p:cNvGraphicFramePr>
            <a:graphicFrameLocks noGrp="1"/>
          </p:cNvGraphicFramePr>
          <p:nvPr/>
        </p:nvGraphicFramePr>
        <p:xfrm>
          <a:off x="502920" y="1313688"/>
          <a:ext cx="8138159" cy="94742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9474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381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Continued importance of national borders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a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globalized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economy: regulation of mi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gration and</a:t>
                      </a:r>
                      <a:r>
                        <a:rPr sz="24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labor conditions.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74" name="rect 7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76" name="textbox 76"/>
          <p:cNvSpPr/>
          <p:nvPr/>
        </p:nvSpPr>
        <p:spPr>
          <a:xfrm>
            <a:off x="464277" y="702116"/>
            <a:ext cx="6768465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1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3100" b="1" kern="0" spc="2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mobility o</a:t>
            </a:r>
            <a:r>
              <a:rPr sz="31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 capital and</a:t>
            </a:r>
            <a:r>
              <a:rPr sz="3100" b="1" kern="0" spc="2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100" b="1" kern="0" spc="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labor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0" name="table 80"/>
          <p:cNvGraphicFramePr>
            <a:graphicFrameLocks noGrp="1"/>
          </p:cNvGraphicFramePr>
          <p:nvPr/>
        </p:nvGraphicFramePr>
        <p:xfrm>
          <a:off x="502920" y="4392167"/>
          <a:ext cx="8138159" cy="16002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6002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Where – beside “McDonald’s” – do you find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“McJobs”?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86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can you tell which</a:t>
                      </a:r>
                      <a:r>
                        <a:rPr sz="1800" kern="0" spc="-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job advertisement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are for “McJobs”?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indent="3810" algn="l" rtl="0" eaLnBrk="0">
                        <a:lnSpc>
                          <a:spcPct val="86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Look up employment opportunities at yo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ur local “Craig’s List” or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“Kijiji”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calculate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percentage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“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McJobs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.”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2" name="table 82"/>
          <p:cNvGraphicFramePr>
            <a:graphicFrameLocks noGrp="1"/>
          </p:cNvGraphicFramePr>
          <p:nvPr/>
        </p:nvGraphicFramePr>
        <p:xfrm>
          <a:off x="502920" y="2633471"/>
          <a:ext cx="8138159" cy="157543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575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995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2404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Factors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a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structural shift toward services,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increased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algn="l" rtl="0" eaLnBrk="0">
                        <a:lnSpc>
                          <a:spcPct val="85000"/>
                        </a:lnSpc>
                        <a:spcBef>
                          <a:spcPts val="412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international competition, out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sourcing of labor overseas,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part-time and temporary em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ployment, decline in the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0500" algn="l" rtl="0" eaLnBrk="0">
                        <a:lnSpc>
                          <a:spcPct val="78000"/>
                        </a:lnSpc>
                        <a:spcBef>
                          <a:spcPts val="399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 of uni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4" name="table 84"/>
          <p:cNvGraphicFramePr>
            <a:graphicFrameLocks noGrp="1"/>
          </p:cNvGraphicFramePr>
          <p:nvPr/>
        </p:nvGraphicFramePr>
        <p:xfrm>
          <a:off x="502920" y="1313688"/>
          <a:ext cx="8138159" cy="86550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8655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245" indent="952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Most newly generated</a:t>
                      </a:r>
                      <a:r>
                        <a:rPr sz="2400" kern="0" spc="-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jobs are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unskilled and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low-wage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“McJobs,” and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highly-skilled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“knowledge” jobs.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86" name="rect 8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8" name="textbox 88"/>
          <p:cNvSpPr/>
          <p:nvPr/>
        </p:nvSpPr>
        <p:spPr>
          <a:xfrm>
            <a:off x="461274" y="675109"/>
            <a:ext cx="5046979" cy="459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0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Shift toward “McJobs”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table 92"/>
          <p:cNvGraphicFramePr>
            <a:graphicFrameLocks noGrp="1"/>
          </p:cNvGraphicFramePr>
          <p:nvPr/>
        </p:nvGraphicFramePr>
        <p:xfrm>
          <a:off x="502920" y="2767583"/>
          <a:ext cx="8138159" cy="232537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232537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ls it true or not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that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“everythin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made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China”?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89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Where were your clothes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made?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86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Where was fresh produce in your fridge and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antry grown?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888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did they get t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2590" indent="8254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both the ove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rseas and the local produce are available to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you,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 decide which to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buy?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table 94"/>
          <p:cNvGraphicFramePr>
            <a:graphicFrameLocks noGrp="1"/>
          </p:cNvGraphicFramePr>
          <p:nvPr/>
        </p:nvGraphicFramePr>
        <p:xfrm>
          <a:off x="502920" y="1313688"/>
          <a:ext cx="8138159" cy="127698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2769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339" indent="-317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path a commodity 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akes from its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conception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design, through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manufacturing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ret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ailing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algn="l" rtl="0" eaLnBrk="0">
                        <a:lnSpc>
                          <a:spcPct val="78000"/>
                        </a:lnSpc>
                        <a:spcBef>
                          <a:spcPts val="396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consumption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to i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ts end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waste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96" name="rect 96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98" name="textbox 98"/>
          <p:cNvSpPr/>
          <p:nvPr/>
        </p:nvSpPr>
        <p:spPr>
          <a:xfrm>
            <a:off x="466307" y="680142"/>
            <a:ext cx="409447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Commodity chai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ns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" name="table 102"/>
          <p:cNvGraphicFramePr>
            <a:graphicFrameLocks noGrp="1"/>
          </p:cNvGraphicFramePr>
          <p:nvPr/>
        </p:nvGraphicFramePr>
        <p:xfrm>
          <a:off x="4693919" y="2508503"/>
          <a:ext cx="3943984" cy="19780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3905884"/>
              </a:tblGrid>
              <a:tr h="1978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7015" algn="l" rtl="0" eaLnBrk="0">
                        <a:lnSpc>
                          <a:spcPct val="78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 South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large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ct val="91000"/>
                        </a:lnSpc>
                        <a:spcBef>
                          <a:spcPts val="19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poor populations and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1459" algn="l" rtl="0" eaLnBrk="0">
                        <a:lnSpc>
                          <a:spcPct val="91000"/>
                        </a:lnSpc>
                        <a:spcBef>
                          <a:spcPts val="21"/>
                        </a:spcBef>
                        <a:tabLst/>
                      </a:pP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less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influence in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52095" algn="l" rtl="0" eaLnBrk="0">
                        <a:lnSpc>
                          <a:spcPct val="85000"/>
                        </a:lnSpc>
                        <a:spcBef>
                          <a:spcPts val="409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international system;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produce export crops.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496823" y="2502408"/>
          <a:ext cx="3943984" cy="19780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3905884"/>
              </a:tblGrid>
              <a:tr h="1978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6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37490" indent="-5080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 Nort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relatively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rich and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powerful;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9870" indent="7620" algn="l" rtl="0" eaLnBrk="0">
                        <a:lnSpc>
                          <a:spcPct val="86000"/>
                        </a:lnSpc>
                        <a:spcBef>
                          <a:spcPts val="35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manufacture higher-value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commodities.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6" name="table 106"/>
          <p:cNvGraphicFramePr>
            <a:graphicFrameLocks noGrp="1"/>
          </p:cNvGraphicFramePr>
          <p:nvPr/>
        </p:nvGraphicFramePr>
        <p:xfrm>
          <a:off x="502920" y="1313688"/>
          <a:ext cx="8138159" cy="865504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8655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12064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Differ by the degree of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indus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trialization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development,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wealth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8" name="table 108"/>
          <p:cNvGraphicFramePr>
            <a:graphicFrameLocks noGrp="1"/>
          </p:cNvGraphicFramePr>
          <p:nvPr/>
        </p:nvGraphicFramePr>
        <p:xfrm>
          <a:off x="502920" y="4681728"/>
          <a:ext cx="8138160" cy="86233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85280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7040" indent="127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there countries that are</a:t>
                      </a:r>
                      <a:r>
                        <a:rPr sz="18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b="1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between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 Global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North and the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South? Why do yo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 think so?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10" name="rect 110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12" name="textbox 112"/>
          <p:cNvSpPr/>
          <p:nvPr/>
        </p:nvSpPr>
        <p:spPr>
          <a:xfrm>
            <a:off x="466765" y="680142"/>
            <a:ext cx="6684009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 North and</a:t>
            </a:r>
            <a:r>
              <a:rPr sz="3600" b="1" kern="0" spc="2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Global</a:t>
            </a:r>
            <a:r>
              <a:rPr sz="3600" b="1" kern="0" spc="1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South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table 116"/>
          <p:cNvGraphicFramePr>
            <a:graphicFrameLocks noGrp="1"/>
          </p:cNvGraphicFramePr>
          <p:nvPr/>
        </p:nvGraphicFramePr>
        <p:xfrm>
          <a:off x="502920" y="3675888"/>
          <a:ext cx="8138159" cy="149923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4992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indent="-1905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Think of an action film or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a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romantic comedy you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seen.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Using the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latter definition of ideology, do you think that there are an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 elements of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6559" indent="-8889" algn="l" rtl="0" eaLnBrk="0">
                        <a:lnSpc>
                          <a:spcPct val="86000"/>
                        </a:lnSpc>
                        <a:spcBef>
                          <a:spcPts val="24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class ideology in it?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Sexist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ideology? Racist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ideology?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National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ideology?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Religious ideology?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table 118"/>
          <p:cNvGraphicFramePr>
            <a:graphicFrameLocks noGrp="1"/>
          </p:cNvGraphicFramePr>
          <p:nvPr/>
        </p:nvGraphicFramePr>
        <p:xfrm>
          <a:off x="502920" y="2356103"/>
          <a:ext cx="8138159" cy="122808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2280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070" algn="l" rtl="0" eaLnBrk="0">
                        <a:lnSpc>
                          <a:spcPct val="79000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400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Ideas that are to some degree distorted</a:t>
                      </a:r>
                      <a:r>
                        <a:rPr sz="24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order</a:t>
                      </a:r>
                      <a:r>
                        <a:rPr sz="2400" kern="0" spc="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4365" indent="5080" algn="l" rtl="0" eaLnBrk="0">
                        <a:lnSpc>
                          <a:spcPct val="86000"/>
                        </a:lnSpc>
                        <a:spcBef>
                          <a:spcPts val="320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disguise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and/or</a:t>
                      </a:r>
                      <a:r>
                        <a:rPr sz="2400" kern="0" spc="-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justify</a:t>
                      </a:r>
                      <a:r>
                        <a:rPr sz="2400" b="1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inequality or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exploitation, 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sustain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domination. Marxist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tradition.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0" name="table 120"/>
          <p:cNvGraphicFramePr>
            <a:graphicFrameLocks noGrp="1"/>
          </p:cNvGraphicFramePr>
          <p:nvPr/>
        </p:nvGraphicFramePr>
        <p:xfrm>
          <a:off x="502920" y="1313688"/>
          <a:ext cx="8138159" cy="87757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8775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175" indent="-43497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set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related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beliefs, opinion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s,</a:t>
                      </a:r>
                      <a:r>
                        <a:rPr sz="24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images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attitudes; OR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22" name="rect 12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4" name="textbox 124"/>
          <p:cNvSpPr/>
          <p:nvPr/>
        </p:nvSpPr>
        <p:spPr>
          <a:xfrm>
            <a:off x="475915" y="680142"/>
            <a:ext cx="187832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Ideology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" name="table 128"/>
          <p:cNvGraphicFramePr>
            <a:graphicFrameLocks noGrp="1"/>
          </p:cNvGraphicFramePr>
          <p:nvPr/>
        </p:nvGraphicFramePr>
        <p:xfrm>
          <a:off x="502920" y="3639311"/>
          <a:ext cx="8138159" cy="263906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26390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Be a sociologist—make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familiar strange!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86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“Nothing ventured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nothing gained.”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84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“Good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things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come to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those wh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 wait.”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1320" indent="8889" algn="l" rtl="0" eaLnBrk="0">
                        <a:lnSpc>
                          <a:spcPct val="86000"/>
                        </a:lnSpc>
                        <a:spcBef>
                          <a:spcPts val="850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Can both these contradictory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sayings be part of a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hegemonic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ideology?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Why or why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7034" indent="3175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can they be useful in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rei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nforcing relationships of domination and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exploitation?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table 130"/>
          <p:cNvGraphicFramePr>
            <a:graphicFrameLocks noGrp="1"/>
          </p:cNvGraphicFramePr>
          <p:nvPr/>
        </p:nvGraphicFramePr>
        <p:xfrm>
          <a:off x="502920" y="1313688"/>
          <a:ext cx="8138159" cy="202945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029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indent="1016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Gramsci: how does the ruling class</a:t>
                      </a:r>
                      <a:r>
                        <a:rPr sz="2400" kern="0" spc="1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get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working</a:t>
                      </a:r>
                      <a:r>
                        <a:rPr sz="24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 accept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its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dominance?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1610" indent="16509" algn="l" rtl="0" eaLnBrk="0">
                        <a:lnSpc>
                          <a:spcPct val="85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Ideas that</a:t>
                      </a:r>
                      <a:r>
                        <a:rPr sz="2400" kern="0" spc="2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reinforce relationships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domination 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exploitation, embedded in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comm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 sense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32" name="rect 13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34" name="textbox 134"/>
          <p:cNvSpPr/>
          <p:nvPr/>
        </p:nvSpPr>
        <p:spPr>
          <a:xfrm>
            <a:off x="478202" y="680142"/>
            <a:ext cx="2327910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Hegemony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36" name="textbox 136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" name="table 138"/>
          <p:cNvGraphicFramePr>
            <a:graphicFrameLocks noGrp="1"/>
          </p:cNvGraphicFramePr>
          <p:nvPr/>
        </p:nvGraphicFramePr>
        <p:xfrm>
          <a:off x="502920" y="2596895"/>
          <a:ext cx="8138159" cy="1548129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548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2540" algn="l" rtl="0" eaLnBrk="0">
                        <a:lnSpc>
                          <a:spcPct val="86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 you agree or di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sagree with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Kincheloe: does fast food have an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ideological 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imension?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5290" indent="-4444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yes, what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ideological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lessons are spread with the expansion of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McDonalds’s into 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he Global South?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table 140"/>
          <p:cNvGraphicFramePr>
            <a:graphicFrameLocks noGrp="1"/>
          </p:cNvGraphicFramePr>
          <p:nvPr/>
        </p:nvGraphicFramePr>
        <p:xfrm>
          <a:off x="502920" y="1313688"/>
          <a:ext cx="8138160" cy="114871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8138160"/>
              </a:tblGrid>
              <a:tr h="11391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27965" indent="381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Homogenization of culture around the world</a:t>
                      </a:r>
                      <a:r>
                        <a:rPr sz="2400" kern="0" spc="2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 the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influence of the Gl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obal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North.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42" name="rect 142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44" name="textbox 144"/>
          <p:cNvSpPr/>
          <p:nvPr/>
        </p:nvSpPr>
        <p:spPr>
          <a:xfrm>
            <a:off x="466307" y="680142"/>
            <a:ext cx="4397375" cy="455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7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Cultural</a:t>
            </a:r>
            <a:r>
              <a:rPr sz="3600" b="1" kern="0" spc="25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imperi</a:t>
            </a:r>
            <a:r>
              <a:rPr sz="3600" b="1" kern="0" spc="-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alism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8" name="table 148"/>
          <p:cNvGraphicFramePr>
            <a:graphicFrameLocks noGrp="1"/>
          </p:cNvGraphicFramePr>
          <p:nvPr/>
        </p:nvGraphicFramePr>
        <p:xfrm>
          <a:off x="502920" y="1313688"/>
          <a:ext cx="8138159" cy="221234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21233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indent="-1587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Weber: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bureaucracy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a defining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racteristic</a:t>
                      </a:r>
                      <a:r>
                        <a:rPr sz="2400" kern="0" spc="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modernity.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4669" indent="-348615" algn="l" rtl="0" eaLnBrk="0">
                        <a:lnSpc>
                          <a:spcPct val="86000"/>
                        </a:lnSpc>
                        <a:spcBef>
                          <a:spcPts val="353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24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hierarchical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organizational form with set</a:t>
                      </a:r>
                      <a:r>
                        <a:rPr sz="2400" kern="0" spc="2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rules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procedures.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4" algn="l" rtl="0" eaLnBrk="0">
                        <a:lnSpc>
                          <a:spcPct val="78000"/>
                        </a:lnSpc>
                        <a:spcBef>
                          <a:spcPts val="394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Form of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rationalizatio</a:t>
                      </a:r>
                      <a:r>
                        <a:rPr sz="2400" b="1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4" algn="l" rtl="0" eaLnBrk="0">
                        <a:lnSpc>
                          <a:spcPct val="79000"/>
                        </a:lnSpc>
                        <a:spcBef>
                          <a:spcPts val="425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Exists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both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and outside governmental sect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0" name="table 150"/>
          <p:cNvGraphicFramePr>
            <a:graphicFrameLocks noGrp="1"/>
          </p:cNvGraphicFramePr>
          <p:nvPr/>
        </p:nvGraphicFramePr>
        <p:xfrm>
          <a:off x="502920" y="4730496"/>
          <a:ext cx="8138159" cy="154813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54813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765" indent="44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your university or col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lege a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bureaucratic institution? Why do you say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indent="-190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yes, what experie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nces of the “iron cage” have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had in your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university life?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2" name="table 152"/>
          <p:cNvGraphicFramePr>
            <a:graphicFrameLocks noGrp="1"/>
          </p:cNvGraphicFramePr>
          <p:nvPr/>
        </p:nvGraphicFramePr>
        <p:xfrm>
          <a:off x="502920" y="3870959"/>
          <a:ext cx="8138159" cy="75247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7524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indent="63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Iron cage: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bureaucratic restrictions on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individual</a:t>
                      </a:r>
                      <a:r>
                        <a:rPr sz="2400" kern="0" spc="1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agency,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both of employees and clients.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54" name="rect 15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56" name="textbox 156"/>
          <p:cNvSpPr/>
          <p:nvPr/>
        </p:nvSpPr>
        <p:spPr>
          <a:xfrm>
            <a:off x="475915" y="680142"/>
            <a:ext cx="2024379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Iron</a:t>
            </a:r>
            <a:r>
              <a:rPr sz="3600" b="1" kern="0" spc="20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600" b="1" kern="0" spc="-6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cage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0" name="table 160"/>
          <p:cNvGraphicFramePr>
            <a:graphicFrameLocks noGrp="1"/>
          </p:cNvGraphicFramePr>
          <p:nvPr/>
        </p:nvGraphicFramePr>
        <p:xfrm>
          <a:off x="502920" y="1313688"/>
          <a:ext cx="8138159" cy="202945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029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310" algn="l" rtl="0" eaLnBrk="0">
                        <a:lnSpc>
                          <a:spcPct val="73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2400" kern="0" spc="-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Ritzer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indent="-19684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process whereby a wide variety of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social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actors 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institutions adopt organizational p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rinciples of fast food  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restauran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2" name="table 162"/>
          <p:cNvGraphicFramePr>
            <a:graphicFrameLocks noGrp="1"/>
          </p:cNvGraphicFramePr>
          <p:nvPr/>
        </p:nvGraphicFramePr>
        <p:xfrm>
          <a:off x="502920" y="3477767"/>
          <a:ext cx="8138160" cy="862329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8138160"/>
              </a:tblGrid>
              <a:tr h="85280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45769" indent="3175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organizational principles of McDonald’s or any other fast food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chain you are familiar</a:t>
                      </a:r>
                      <a:r>
                        <a:rPr sz="1800" kern="0" spc="-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ith?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64" name="rect 16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66" name="textbox 166"/>
          <p:cNvSpPr/>
          <p:nvPr/>
        </p:nvSpPr>
        <p:spPr>
          <a:xfrm>
            <a:off x="477287" y="685632"/>
            <a:ext cx="3628390" cy="425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5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3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McDonaldization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502920" y="3017520"/>
          <a:ext cx="8138159" cy="326072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3260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2540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long would you wait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line to place an order</a:t>
                      </a:r>
                      <a:r>
                        <a:rPr sz="1800" kern="0" spc="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fast-food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restaurant?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2590" indent="7620" algn="l" rtl="0" eaLnBrk="0">
                        <a:lnSpc>
                          <a:spcPct val="86000"/>
                        </a:lnSpc>
                        <a:spcBef>
                          <a:spcPts val="84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often do you leave a fast-food restau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rant without clearing your own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table?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2750" indent="-1905" algn="l" rtl="0" eaLnBrk="0">
                        <a:lnSpc>
                          <a:spcPct val="85000"/>
                        </a:lnSpc>
                        <a:spcBef>
                          <a:spcPts val="54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are seats at McDonald’s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unco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mfortably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hard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colors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uncomforta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bly bright?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indent="4444" algn="l" rtl="0" eaLnBrk="0">
                        <a:lnSpc>
                          <a:spcPct val="86000"/>
                        </a:lnSpc>
                        <a:spcBef>
                          <a:spcPts val="87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 well-known Canadian pizza delivery chain</a:t>
                      </a:r>
                      <a:r>
                        <a:rPr sz="1800" kern="0" spc="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advertises: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hirty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minutes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’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free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.”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does it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 advertise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“De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licious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it’s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free.”?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172"/>
          <p:cNvGraphicFramePr>
            <a:graphicFrameLocks noGrp="1"/>
          </p:cNvGraphicFramePr>
          <p:nvPr/>
        </p:nvGraphicFramePr>
        <p:xfrm>
          <a:off x="502920" y="1313688"/>
          <a:ext cx="8138159" cy="15875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587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5260" indent="2730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Efficien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cy: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fastest and most cost-effective means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goal.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9864" indent="-10795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Calculability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measuring al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 aspects of the production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process.</a:t>
                      </a:r>
                      <a:r>
                        <a:rPr sz="2400" kern="0" spc="2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Emphasis on speed increases work strain.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174" name="rect 17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6" name="textbox 176"/>
          <p:cNvSpPr/>
          <p:nvPr/>
        </p:nvSpPr>
        <p:spPr>
          <a:xfrm>
            <a:off x="478660" y="680142"/>
            <a:ext cx="621665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McDonaldization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178" name="textbox 17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table 180"/>
          <p:cNvGraphicFramePr>
            <a:graphicFrameLocks noGrp="1"/>
          </p:cNvGraphicFramePr>
          <p:nvPr/>
        </p:nvGraphicFramePr>
        <p:xfrm>
          <a:off x="502920" y="1313688"/>
          <a:ext cx="8138159" cy="227965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279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3.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Predictability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consist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ency across time and place.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3989" algn="l" rtl="0" eaLnBrk="0">
                        <a:lnSpc>
                          <a:spcPct val="79000"/>
                        </a:lnSpc>
                        <a:spcBef>
                          <a:spcPts val="727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4.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Control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over workers through tec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hnology and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algn="l" rtl="0" eaLnBrk="0">
                        <a:lnSpc>
                          <a:spcPct val="78000"/>
                        </a:lnSpc>
                        <a:spcBef>
                          <a:spcPts val="39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supervision.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18794" indent="-334009" algn="l" rtl="0" eaLnBrk="0">
                        <a:lnSpc>
                          <a:spcPct val="85000"/>
                        </a:lnSpc>
                        <a:spcBef>
                          <a:spcPts val="364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Effects: low</a:t>
                      </a:r>
                      <a:r>
                        <a:rPr sz="2200" kern="0" spc="1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labor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costs,</a:t>
                      </a:r>
                      <a:r>
                        <a:rPr sz="22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replacement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workers</a:t>
                      </a:r>
                      <a:r>
                        <a:rPr sz="2200" kern="0" spc="1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by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technology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2" name="table 182"/>
          <p:cNvGraphicFramePr>
            <a:graphicFrameLocks noGrp="1"/>
          </p:cNvGraphicFramePr>
          <p:nvPr/>
        </p:nvGraphicFramePr>
        <p:xfrm>
          <a:off x="502920" y="3828288"/>
          <a:ext cx="8138159" cy="2221864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222186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367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2540" algn="l" rtl="0" eaLnBrk="0">
                        <a:lnSpc>
                          <a:spcPct val="85000"/>
                        </a:lnSpc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You find yourself in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 Chi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Minh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City at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lunchtime. Will you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a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ban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 at a sidewalk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café or a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burger at the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local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McDonald’s? 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54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do all fast-food fryers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have tim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ers?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indent="3810" algn="l" rtl="0" eaLnBrk="0">
                        <a:lnSpc>
                          <a:spcPct val="86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you annoyed if a fast-food worker doe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 not wish</a:t>
                      </a:r>
                      <a:r>
                        <a:rPr sz="1800" kern="0" spc="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“have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nice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day”?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84" name="rect 18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86" name="textbox 186"/>
          <p:cNvSpPr/>
          <p:nvPr/>
        </p:nvSpPr>
        <p:spPr>
          <a:xfrm>
            <a:off x="474825" y="702116"/>
            <a:ext cx="7830184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1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McDonaldizati</a:t>
            </a:r>
            <a:r>
              <a:rPr sz="31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(continued)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502920" y="1313688"/>
          <a:ext cx="8138159" cy="152082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15208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2879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5.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Irrationality of rationality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efficient for whom?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32765" indent="-347979" algn="l" rtl="0" eaLnBrk="0">
                        <a:lnSpc>
                          <a:spcPct val="85000"/>
                        </a:lnSpc>
                        <a:spcBef>
                          <a:spcPts val="336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What is rational from the standpoint</a:t>
                      </a:r>
                      <a:r>
                        <a:rPr sz="22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 fast-foo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 industry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may be</a:t>
                      </a:r>
                      <a:r>
                        <a:rPr sz="22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irrational from the 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standpoint of workers,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25144" algn="l" rtl="0" eaLnBrk="0">
                        <a:lnSpc>
                          <a:spcPct val="80000"/>
                        </a:lnSpc>
                        <a:spcBef>
                          <a:spcPts val="339"/>
                        </a:spcBef>
                        <a:tabLst/>
                      </a:pPr>
                      <a:r>
                        <a:rPr sz="22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customers, larger society, or the environme</a:t>
                      </a:r>
                      <a:r>
                        <a:rPr sz="22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nt.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table 192"/>
          <p:cNvGraphicFramePr>
            <a:graphicFrameLocks noGrp="1"/>
          </p:cNvGraphicFramePr>
          <p:nvPr/>
        </p:nvGraphicFramePr>
        <p:xfrm>
          <a:off x="502920" y="2990088"/>
          <a:ext cx="8138159" cy="109982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09981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fast food good for you? Why or why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not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80000"/>
                        </a:lnSpc>
                        <a:spcBef>
                          <a:spcPts val="861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bus t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ables at</a:t>
                      </a:r>
                      <a:r>
                        <a:rPr sz="18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McDonald’s when you are not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paid to</a:t>
                      </a:r>
                      <a:r>
                        <a:rPr sz="1800" kern="0" spc="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do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Why is staff turnover at fast food restaurants</a:t>
                      </a:r>
                      <a:r>
                        <a:rPr sz="1800" kern="0" spc="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high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194" name="rect 19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6" name="textbox 196"/>
          <p:cNvSpPr/>
          <p:nvPr/>
        </p:nvSpPr>
        <p:spPr>
          <a:xfrm>
            <a:off x="474825" y="702116"/>
            <a:ext cx="7830184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1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Features of McDonaldizati</a:t>
            </a:r>
            <a:r>
              <a:rPr sz="31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on (continued)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198" name="textbox 19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table 200"/>
          <p:cNvGraphicFramePr>
            <a:graphicFrameLocks noGrp="1"/>
          </p:cNvGraphicFramePr>
          <p:nvPr/>
        </p:nvGraphicFramePr>
        <p:xfrm>
          <a:off x="502920" y="1313688"/>
          <a:ext cx="8138159" cy="202945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0294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indent="-9525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 sustained, organized effort to achieve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 ch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ange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outside formal politic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al channels.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indent="-8254" algn="l" rtl="0" eaLnBrk="0">
                        <a:lnSpc>
                          <a:spcPct val="85000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Vary in size</a:t>
                      </a:r>
                      <a:r>
                        <a:rPr sz="2400" kern="0" spc="1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(local to global)</a:t>
                      </a:r>
                      <a:r>
                        <a:rPr sz="24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goals</a:t>
                      </a:r>
                      <a:r>
                        <a:rPr sz="2400" kern="0" spc="1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(spe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cific</a:t>
                      </a:r>
                      <a:r>
                        <a:rPr sz="2400" kern="0" spc="4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general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).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502920" y="3514344"/>
          <a:ext cx="8138159" cy="1905000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9050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21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indent="4444" algn="l" rtl="0" eaLnBrk="0">
                        <a:lnSpc>
                          <a:spcPct val="86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Are you a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member of a social mov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ement?</a:t>
                      </a:r>
                      <a:r>
                        <a:rPr sz="18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If not, would</a:t>
                      </a:r>
                      <a:r>
                        <a:rPr sz="1800" kern="0" spc="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like to join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one? Why or why</a:t>
                      </a:r>
                      <a:r>
                        <a:rPr sz="18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indent="4444" algn="l" rtl="0" eaLnBrk="0">
                        <a:lnSpc>
                          <a:spcPct val="86000"/>
                        </a:lnSpc>
                        <a:spcBef>
                          <a:spcPts val="84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 your favored social move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ment local or global? Are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its goals specific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 general?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kinds of social movements are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most likely to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succ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eed? Why?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204" name="rect 20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6" name="textbox 206"/>
          <p:cNvSpPr/>
          <p:nvPr/>
        </p:nvSpPr>
        <p:spPr>
          <a:xfrm>
            <a:off x="461274" y="680142"/>
            <a:ext cx="3754120" cy="454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8000"/>
              </a:lnSpc>
              <a:tabLst/>
            </a:pP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Social movement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08" name="textbox 20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table 210"/>
          <p:cNvGraphicFramePr>
            <a:graphicFrameLocks noGrp="1"/>
          </p:cNvGraphicFramePr>
          <p:nvPr/>
        </p:nvGraphicFramePr>
        <p:xfrm>
          <a:off x="502920" y="3578351"/>
          <a:ext cx="8138159" cy="280416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8041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8532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7800" algn="l" rtl="0" eaLnBrk="0">
                        <a:lnSpc>
                          <a:spcPct val="78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2.</a:t>
                      </a:r>
                      <a:r>
                        <a:rPr sz="2400" b="1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Political process model: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4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movements need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8175" indent="1270" algn="l" rtl="0" eaLnBrk="0">
                        <a:lnSpc>
                          <a:spcPct val="89000"/>
                        </a:lnSpc>
                        <a:spcBef>
                          <a:spcPts val="334"/>
                        </a:spcBef>
                        <a:tabLst/>
                      </a:pP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opportunities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order to succeed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—</a:t>
                      </a: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openness of the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political system,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 social-economic c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onditions that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make the movement’s goal</a:t>
                      </a:r>
                      <a:r>
                        <a:rPr sz="24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legitimate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2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eyes</a:t>
                      </a:r>
                      <a:r>
                        <a:rPr sz="24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of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decision-makers a</a:t>
                      </a:r>
                      <a:r>
                        <a:rPr sz="24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nd the public.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02994" indent="-460375" algn="l" rtl="0" eaLnBrk="0">
                        <a:lnSpc>
                          <a:spcPct val="88000"/>
                        </a:lnSpc>
                        <a:spcBef>
                          <a:spcPts val="339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 Anarchist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movement was</a:t>
                      </a:r>
                      <a:r>
                        <a:rPr sz="22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much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more</a:t>
                      </a:r>
                      <a:r>
                        <a:rPr sz="22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popular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USA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2200" kern="0" spc="2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1920s than it</a:t>
                      </a:r>
                      <a:r>
                        <a:rPr sz="22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now.</a:t>
                      </a:r>
                      <a:r>
                        <a:rPr sz="2200" kern="0" spc="2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would</a:t>
                      </a:r>
                      <a:r>
                        <a:rPr sz="22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mobilizati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22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perspective explain this change?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2" name="table 212"/>
          <p:cNvGraphicFramePr>
            <a:graphicFrameLocks noGrp="1"/>
          </p:cNvGraphicFramePr>
          <p:nvPr/>
        </p:nvGraphicFramePr>
        <p:xfrm>
          <a:off x="502920" y="1313688"/>
          <a:ext cx="8138159" cy="2120900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120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113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6905" indent="-442594" algn="l" rtl="0" eaLnBrk="0">
                        <a:lnSpc>
                          <a:spcPct val="87000"/>
                        </a:lnSpc>
                        <a:tabLst/>
                      </a:pPr>
                      <a:r>
                        <a:rPr sz="24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1.</a:t>
                      </a:r>
                      <a:r>
                        <a:rPr sz="2400" b="1" kern="0" spc="2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Resource mobilization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: like any other organizations,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movements must mobilize</a:t>
                      </a:r>
                      <a:r>
                        <a:rPr sz="2400" kern="0" spc="2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people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,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money 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organizational capacity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order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 be</a:t>
                      </a:r>
                      <a:r>
                        <a:rPr sz="2400" kern="0" spc="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successful.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990600" indent="-347979" algn="l" rtl="0" eaLnBrk="0">
                        <a:lnSpc>
                          <a:spcPct val="87000"/>
                        </a:lnSpc>
                        <a:spcBef>
                          <a:spcPts val="416"/>
                        </a:spcBef>
                        <a:tabLst/>
                      </a:pP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 Anarchist movement was</a:t>
                      </a:r>
                      <a:r>
                        <a:rPr sz="22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much more</a:t>
                      </a:r>
                      <a:r>
                        <a:rPr sz="2200" kern="0" spc="1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popular</a:t>
                      </a:r>
                      <a:r>
                        <a:rPr sz="2200" kern="0" spc="1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2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USA</a:t>
                      </a:r>
                      <a:r>
                        <a:rPr sz="2200" kern="0" spc="1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 the</a:t>
                      </a:r>
                      <a:r>
                        <a:rPr sz="2200" kern="0" spc="2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1920s than it</a:t>
                      </a:r>
                      <a:r>
                        <a:rPr sz="2200" kern="0" spc="16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is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now.</a:t>
                      </a:r>
                      <a:r>
                        <a:rPr sz="2200" kern="0" spc="2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would</a:t>
                      </a:r>
                      <a:r>
                        <a:rPr sz="2200" kern="0" spc="18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3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resource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</a:t>
                      </a:r>
                      <a:r>
                        <a:rPr sz="22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mobilizati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on</a:t>
                      </a:r>
                      <a:r>
                        <a:rPr sz="2200" kern="0" spc="17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2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perspective explain this change?</a:t>
                      </a:r>
                      <a:endParaRPr sz="22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sp>
        <p:nvSpPr>
          <p:cNvPr id="214" name="rect 21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16" name="textbox 216"/>
          <p:cNvSpPr/>
          <p:nvPr/>
        </p:nvSpPr>
        <p:spPr>
          <a:xfrm>
            <a:off x="474420" y="702116"/>
            <a:ext cx="7871459" cy="409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21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1000"/>
              </a:lnSpc>
              <a:tabLst/>
            </a:pPr>
            <a:r>
              <a:rPr sz="3100" b="1" kern="0" spc="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Explaining success of soci</a:t>
            </a:r>
            <a:r>
              <a:rPr sz="3100" b="1" kern="0" spc="3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al movements</a:t>
            </a:r>
            <a:endParaRPr sz="3100" dirty="0">
              <a:latin typeface="Arial"/>
              <a:ea typeface="Arial"/>
              <a:cs typeface="Arial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table 220"/>
          <p:cNvGraphicFramePr>
            <a:graphicFrameLocks noGrp="1"/>
          </p:cNvGraphicFramePr>
          <p:nvPr/>
        </p:nvGraphicFramePr>
        <p:xfrm>
          <a:off x="502920" y="1313688"/>
          <a:ext cx="8138159" cy="2337435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2337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0975" indent="-381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To present ideas and</a:t>
                      </a:r>
                      <a:r>
                        <a:rPr sz="2400" kern="0" spc="15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inform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ation,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emphasizing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some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aspects and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minimizi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ng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others.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86054" algn="l" rtl="0" eaLnBrk="0">
                        <a:lnSpc>
                          <a:spcPct val="79000"/>
                        </a:lnSpc>
                        <a:spcBef>
                          <a:spcPts val="724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Goal: to promote a</a:t>
                      </a:r>
                      <a:r>
                        <a:rPr sz="2400" kern="0" spc="2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particular understanding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8120" algn="l" rtl="0" eaLnBrk="0">
                        <a:lnSpc>
                          <a:spcPct val="79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 influences legitimacy of a</a:t>
                      </a:r>
                      <a:r>
                        <a:rPr sz="2400" kern="0" spc="8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mov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ement.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table 222"/>
          <p:cNvGraphicFramePr>
            <a:graphicFrameLocks noGrp="1"/>
          </p:cNvGraphicFramePr>
          <p:nvPr/>
        </p:nvGraphicFramePr>
        <p:xfrm>
          <a:off x="502920" y="3816096"/>
          <a:ext cx="8138159" cy="1852929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8529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7889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does environmental movement frame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the issue of “</a:t>
                      </a:r>
                      <a:r>
                        <a:rPr sz="1800" b="1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climate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5080" algn="l" rtl="0" eaLnBrk="0">
                        <a:lnSpc>
                          <a:spcPct val="85000"/>
                        </a:lnSpc>
                        <a:spcBef>
                          <a:spcPts val="291"/>
                        </a:spcBef>
                        <a:tabLst/>
                      </a:pPr>
                      <a:r>
                        <a:rPr sz="1800" b="1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change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”? How serious is the problem? What should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be done to</a:t>
                      </a:r>
                      <a:r>
                        <a:rPr sz="1800" kern="0" spc="4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address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it? Who is responsible for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it?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6400" indent="3810" algn="l" rtl="0" eaLnBrk="0">
                        <a:lnSpc>
                          <a:spcPct val="86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Would calling it “</a:t>
                      </a:r>
                      <a:r>
                        <a:rPr sz="1800" b="1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global warming”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change the answers to these             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questions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224" name="rect 22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6" name="textbox 226"/>
          <p:cNvSpPr/>
          <p:nvPr/>
        </p:nvSpPr>
        <p:spPr>
          <a:xfrm>
            <a:off x="478660" y="680142"/>
            <a:ext cx="179514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4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Framing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table 230"/>
          <p:cNvGraphicFramePr>
            <a:graphicFrameLocks noGrp="1"/>
          </p:cNvGraphicFramePr>
          <p:nvPr/>
        </p:nvGraphicFramePr>
        <p:xfrm>
          <a:off x="502920" y="1313688"/>
          <a:ext cx="8138159" cy="3224529"/>
        </p:xfrm>
        <a:graphic>
          <a:graphicData uri="http://schemas.openxmlformats.org/drawingml/2006/table">
            <a:tbl>
              <a:tblPr>
                <a:solidFill>
                  <a:srgbClr val="EEF3F0"/>
                </a:solidFill>
              </a:tblPr>
              <a:tblGrid>
                <a:gridCol w="38100"/>
                <a:gridCol w="8100059"/>
              </a:tblGrid>
              <a:tr h="32245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9704" indent="-2540" algn="l" rtl="0" eaLnBrk="0">
                        <a:lnSpc>
                          <a:spcPct val="8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The researcher is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immersed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</a:t>
                      </a:r>
                      <a:r>
                        <a:rPr sz="2400" kern="0" spc="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  <a:r>
                        <a:rPr sz="2400" kern="0" spc="7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social</a:t>
                      </a:r>
                      <a:r>
                        <a:rPr sz="2400" kern="0" spc="10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context</a:t>
                      </a:r>
                      <a:r>
                        <a:rPr sz="2400" kern="0" spc="-2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for an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extended period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4310" algn="l" rtl="0" eaLnBrk="0">
                        <a:lnSpc>
                          <a:spcPct val="78000"/>
                        </a:lnSpc>
                        <a:spcBef>
                          <a:spcPts val="725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Researche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observes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and/or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interacts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with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people.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3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72720" indent="13334" algn="l" rtl="0" eaLnBrk="0">
                        <a:lnSpc>
                          <a:spcPct val="85000"/>
                        </a:lnSpc>
                        <a:spcBef>
                          <a:spcPts val="730"/>
                        </a:spcBef>
                        <a:tabLst/>
                      </a:pP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Goal: </a:t>
                      </a:r>
                      <a:r>
                        <a:rPr sz="2400" b="1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describe 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an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d</a:t>
                      </a:r>
                      <a:r>
                        <a:rPr sz="2400" kern="0" spc="16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interpret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actions and experiences</a:t>
                      </a:r>
                      <a:r>
                        <a:rPr sz="2400" kern="0" spc="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from an</a:t>
                      </a:r>
                      <a:r>
                        <a:rPr sz="2400" kern="0" spc="19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insider’s perspective.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95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77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2400" b="1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Micro:</a:t>
                      </a:r>
                      <a:r>
                        <a:rPr sz="2400" b="1" kern="0" spc="23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2400" kern="0" spc="-10" dirty="0">
                          <a:solidFill>
                            <a:srgbClr val="292934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in-depth study of a small number of cases.</a:t>
                      </a:r>
                      <a:endParaRPr sz="24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D6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2" name="table 232"/>
          <p:cNvGraphicFramePr>
            <a:graphicFrameLocks noGrp="1"/>
          </p:cNvGraphicFramePr>
          <p:nvPr/>
        </p:nvGraphicFramePr>
        <p:xfrm>
          <a:off x="502920" y="4681728"/>
          <a:ext cx="8138159" cy="1597025"/>
        </p:xfrm>
        <a:graphic>
          <a:graphicData uri="http://schemas.openxmlformats.org/drawingml/2006/table">
            <a:tbl>
              <a:tblPr>
                <a:solidFill>
                  <a:srgbClr val="FAF5EF"/>
                </a:solidFill>
              </a:tblPr>
              <a:tblGrid>
                <a:gridCol w="38100"/>
                <a:gridCol w="8100059"/>
              </a:tblGrid>
              <a:tr h="1597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9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3384" indent="-2540" algn="l" rtl="0" eaLnBrk="0">
                        <a:lnSpc>
                          <a:spcPct val="86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Which phase in food production could you</a:t>
                      </a:r>
                      <a:r>
                        <a:rPr sz="1800" kern="0" spc="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  <a:r>
                        <a:rPr sz="1800" kern="0" spc="9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using eth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nographic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      </a:t>
                      </a:r>
                      <a:r>
                        <a:rPr sz="1800" kern="0" spc="-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method?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887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</a:t>
                      </a:r>
                      <a:r>
                        <a:rPr sz="1800" kern="0" spc="15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How long wou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ld you stay in your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research setting?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10844" algn="l" rtl="0" eaLnBrk="0">
                        <a:lnSpc>
                          <a:spcPct val="79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•  What do you</a:t>
                      </a:r>
                      <a:r>
                        <a:rPr sz="1800" kern="0" spc="12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hope to describe a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nd</a:t>
                      </a:r>
                      <a:r>
                        <a:rPr sz="1800" kern="0" spc="10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800" kern="0" spc="-10" dirty="0">
                          <a:solidFill>
                            <a:srgbClr val="D2533C">
                              <a:alpha val="100000"/>
                            </a:srgbClr>
                          </a:solidFill>
                          <a:latin typeface="Arial"/>
                          <a:ea typeface="Arial"/>
                          <a:cs typeface="Arial"/>
                        </a:rPr>
                        <a:t>understand?</a:t>
                      </a:r>
                      <a:endParaRPr sz="1800" dirty="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53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3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EF"/>
                    </a:solidFill>
                  </a:tcPr>
                </a:tc>
              </a:tr>
            </a:tbl>
          </a:graphicData>
        </a:graphic>
      </p:graphicFrame>
      <p:sp>
        <p:nvSpPr>
          <p:cNvPr id="234" name="rect 234"/>
          <p:cNvSpPr/>
          <p:nvPr/>
        </p:nvSpPr>
        <p:spPr>
          <a:xfrm>
            <a:off x="0" y="0"/>
            <a:ext cx="9144000" cy="365759"/>
          </a:xfrm>
          <a:prstGeom prst="rect">
            <a:avLst/>
          </a:prstGeom>
          <a:solidFill>
            <a:srgbClr val="93A29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36" name="textbox 236"/>
          <p:cNvSpPr/>
          <p:nvPr/>
        </p:nvSpPr>
        <p:spPr>
          <a:xfrm>
            <a:off x="478202" y="680142"/>
            <a:ext cx="6062345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2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3600" b="1" kern="0" spc="-1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Research tool: ethnograp</a:t>
            </a:r>
            <a:r>
              <a:rPr sz="3600" b="1" kern="0" spc="-20" dirty="0">
                <a:solidFill>
                  <a:srgbClr val="D2533C">
                    <a:alpha val="100000"/>
                  </a:srgbClr>
                </a:solidFill>
                <a:latin typeface="Arial"/>
                <a:ea typeface="Arial"/>
                <a:cs typeface="Arial"/>
              </a:rPr>
              <a:t>hy</a:t>
            </a:r>
            <a:endParaRPr sz="3600" dirty="0">
              <a:latin typeface="Arial"/>
              <a:ea typeface="Arial"/>
              <a:cs typeface="Arial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6531585" y="6474358"/>
            <a:ext cx="2496185" cy="243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37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79000"/>
              </a:lnSpc>
              <a:tabLst/>
            </a:pP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© 2017 Taylor &amp;</a:t>
            </a:r>
            <a:r>
              <a:rPr sz="1800" kern="0" spc="23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800" kern="0" spc="-10" dirty="0">
                <a:solidFill>
                  <a:srgbClr val="292934">
                    <a:alpha val="100000"/>
                  </a:srgbClr>
                </a:solidFill>
                <a:latin typeface="Arial"/>
                <a:ea typeface="Arial"/>
                <a:cs typeface="Arial"/>
              </a:rPr>
              <a:t>Francis</a:t>
            </a:r>
            <a:endParaRPr sz="1800" dirty="0"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Microsoft® PowerPoint® 2016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Prof. Li Xueshi (HSS)</dc:creator>
  <dcterms:created xsi:type="dcterms:W3CDTF">2026-09-15T17:25:20Z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2026-09-26T16:18:39</vt:filetime>
  </property>
</Properties>
</file>