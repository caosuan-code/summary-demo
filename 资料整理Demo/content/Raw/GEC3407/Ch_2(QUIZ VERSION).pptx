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2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8" Type="http://schemas.openxmlformats.org/officeDocument/2006/relationships/slide" Target="slides/slide7.xml"/><Relationship Id="rId7" Type="http://schemas.openxmlformats.org/officeDocument/2006/relationships/slide" Target="slides/slide6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3" Type="http://schemas.openxmlformats.org/officeDocument/2006/relationships/slide" Target="slides/slide2.xml"/><Relationship Id="rId24" Type="http://schemas.openxmlformats.org/officeDocument/2006/relationships/viewProps" Target="viewProps.xml"/><Relationship Id="rId23" Type="http://schemas.openxmlformats.org/officeDocument/2006/relationships/tableStyles" Target="tableStyles.xml"/><Relationship Id="rId22" Type="http://schemas.openxmlformats.org/officeDocument/2006/relationships/presProps" Target="presProps.xml"/><Relationship Id="rId21" Type="http://schemas.openxmlformats.org/officeDocument/2006/relationships/slide" Target="slides/slide20.xml"/><Relationship Id="rId20" Type="http://schemas.openxmlformats.org/officeDocument/2006/relationships/slide" Target="slides/slide19.xml"/><Relationship Id="rId2" Type="http://schemas.openxmlformats.org/officeDocument/2006/relationships/slide" Target="slides/slide1.xml"/><Relationship Id="rId19" Type="http://schemas.openxmlformats.org/officeDocument/2006/relationships/slide" Target="slides/slide18.xml"/><Relationship Id="rId18" Type="http://schemas.openxmlformats.org/officeDocument/2006/relationships/slide" Target="slides/slide17.xml"/><Relationship Id="rId17" Type="http://schemas.openxmlformats.org/officeDocument/2006/relationships/slide" Target="slides/slide16.xml"/><Relationship Id="rId16" Type="http://schemas.openxmlformats.org/officeDocument/2006/relationships/slide" Target="slides/slide15.xml"/><Relationship Id="rId15" Type="http://schemas.openxmlformats.org/officeDocument/2006/relationships/slide" Target="slides/slide14.xml"/><Relationship Id="rId14" Type="http://schemas.openxmlformats.org/officeDocument/2006/relationships/slide" Target="slides/slide13.xml"/><Relationship Id="rId13" Type="http://schemas.openxmlformats.org/officeDocument/2006/relationships/slide" Target="slides/slide12.xml"/><Relationship Id="rId12" Type="http://schemas.openxmlformats.org/officeDocument/2006/relationships/slide" Target="slides/slide11.xml"/><Relationship Id="rId11" Type="http://schemas.openxmlformats.org/officeDocument/2006/relationships/slide" Target="slides/slide10.xml"/><Relationship Id="rId10" Type="http://schemas.openxmlformats.org/officeDocument/2006/relationships/slide" Target="slides/slide9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/>
          <p:nvPr/>
        </p:nvSpPr>
        <p:spPr>
          <a:xfrm>
            <a:off x="764540" y="1151737"/>
            <a:ext cx="6664959" cy="19615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13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5559" algn="l" rtl="0" eaLnBrk="0">
              <a:lnSpc>
                <a:spcPct val="78000"/>
              </a:lnSpc>
              <a:tabLst/>
            </a:pPr>
            <a:r>
              <a:rPr sz="3900" b="1" kern="0" spc="-11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CHAPTER 2:</a:t>
            </a:r>
            <a:endParaRPr sz="39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3916"/>
              </a:lnSpc>
              <a:spcBef>
                <a:spcPts val="1365"/>
              </a:spcBef>
              <a:tabLst/>
            </a:pPr>
            <a:r>
              <a:rPr sz="5300" b="1" kern="0" spc="-1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YOU</a:t>
            </a:r>
            <a:r>
              <a:rPr sz="5300" b="1" kern="0" spc="-38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5300" b="1" kern="0" spc="-1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ARE WHAT</a:t>
            </a:r>
            <a:r>
              <a:rPr sz="5300" b="1" kern="0" spc="-30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5300" b="1" kern="0" spc="-1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YOU</a:t>
            </a:r>
            <a:endParaRPr sz="5300" dirty="0">
              <a:latin typeface="Arial"/>
              <a:ea typeface="Arial"/>
              <a:cs typeface="Arial"/>
            </a:endParaRPr>
          </a:p>
          <a:p>
            <a:pPr marL="61594" algn="l" rtl="0" eaLnBrk="0">
              <a:lnSpc>
                <a:spcPts val="6303"/>
              </a:lnSpc>
              <a:tabLst/>
            </a:pPr>
            <a:r>
              <a:rPr sz="5200" b="1" kern="0" spc="-13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EAT</a:t>
            </a:r>
            <a:endParaRPr sz="5200" dirty="0">
              <a:latin typeface="Arial"/>
              <a:ea typeface="Arial"/>
              <a:cs typeface="Arial"/>
            </a:endParaRPr>
          </a:p>
        </p:txBody>
      </p:sp>
      <p:sp>
        <p:nvSpPr>
          <p:cNvPr id="4" name="textbox 4"/>
          <p:cNvSpPr/>
          <p:nvPr/>
        </p:nvSpPr>
        <p:spPr>
          <a:xfrm>
            <a:off x="764540" y="3687336"/>
            <a:ext cx="7139305" cy="12090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326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1275" algn="l" rtl="0" eaLnBrk="0">
              <a:lnSpc>
                <a:spcPct val="78000"/>
              </a:lnSpc>
              <a:tabLst/>
            </a:pPr>
            <a:r>
              <a:rPr sz="4800" b="1" kern="0" spc="-6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CULTURE,</a:t>
            </a:r>
            <a:r>
              <a:rPr sz="4800" b="1" kern="0" spc="34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4800" b="1" kern="0" spc="-6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NORMS,</a:t>
            </a:r>
            <a:r>
              <a:rPr sz="4800" b="1" kern="0" spc="-7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AND</a:t>
            </a:r>
            <a:endParaRPr sz="48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spcBef>
                <a:spcPts val="31"/>
              </a:spcBef>
              <a:tabLst/>
            </a:pPr>
            <a:r>
              <a:rPr sz="4800" b="1" kern="0" spc="-5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VALUES</a:t>
            </a:r>
            <a:endParaRPr sz="4800" dirty="0">
              <a:latin typeface="Arial"/>
              <a:ea typeface="Arial"/>
              <a:cs typeface="Arial"/>
            </a:endParaRPr>
          </a:p>
        </p:txBody>
      </p:sp>
      <p:sp>
        <p:nvSpPr>
          <p:cNvPr id="6" name="rect 6"/>
          <p:cNvSpPr/>
          <p:nvPr/>
        </p:nvSpPr>
        <p:spPr>
          <a:xfrm>
            <a:off x="0" y="0"/>
            <a:ext cx="9144000" cy="365759"/>
          </a:xfrm>
          <a:prstGeom prst="rect">
            <a:avLst/>
          </a:prstGeom>
          <a:solidFill>
            <a:srgbClr val="93A29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" name="textbox 8"/>
          <p:cNvSpPr/>
          <p:nvPr/>
        </p:nvSpPr>
        <p:spPr>
          <a:xfrm>
            <a:off x="6513296" y="6482098"/>
            <a:ext cx="2493010" cy="2438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93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tabLst/>
            </a:pPr>
            <a:r>
              <a:rPr sz="18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© 2017 Taylor &amp;</a:t>
            </a:r>
            <a:r>
              <a:rPr sz="1800" kern="0" spc="20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Francis</a:t>
            </a:r>
            <a:endParaRPr sz="1800" dirty="0">
              <a:latin typeface="Arial"/>
              <a:ea typeface="Arial"/>
              <a:cs typeface="Arial"/>
            </a:endParaRPr>
          </a:p>
        </p:txBody>
      </p:sp>
      <p:sp>
        <p:nvSpPr>
          <p:cNvPr id="10" name="path 10"/>
          <p:cNvSpPr/>
          <p:nvPr/>
        </p:nvSpPr>
        <p:spPr>
          <a:xfrm>
            <a:off x="686179" y="3392423"/>
            <a:ext cx="7848603" cy="14478"/>
          </a:xfrm>
          <a:custGeom>
            <a:avLst/>
            <a:gdLst/>
            <a:ahLst/>
            <a:cxnLst/>
            <a:rect l="0" t="0" r="0" b="0"/>
            <a:pathLst>
              <a:path w="12360" h="22">
                <a:moveTo>
                  <a:pt x="0" y="10"/>
                </a:moveTo>
                <a:lnTo>
                  <a:pt x="12360" y="12"/>
                </a:lnTo>
              </a:path>
            </a:pathLst>
          </a:custGeom>
          <a:noFill/>
          <a:ln w="12953" cap="flat">
            <a:solidFill>
              <a:srgbClr val="D2533C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le 12"/>
          <p:cNvGraphicFramePr>
            <a:graphicFrameLocks noGrp="1"/>
          </p:cNvGraphicFramePr>
          <p:nvPr/>
        </p:nvGraphicFramePr>
        <p:xfrm>
          <a:off x="502158" y="4111752"/>
          <a:ext cx="8140065" cy="1518919"/>
        </p:xfrm>
        <a:graphic>
          <a:graphicData uri="http://schemas.openxmlformats.org/drawingml/2006/table">
            <a:tbl>
              <a:tblPr>
                <a:solidFill>
                  <a:srgbClr val="EEF3F0"/>
                </a:solidFill>
              </a:tblPr>
              <a:tblGrid>
                <a:gridCol w="8140065"/>
              </a:tblGrid>
              <a:tr h="150621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66065" algn="l" rtl="0" eaLnBrk="0">
                        <a:lnSpc>
                          <a:spcPct val="79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2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3.</a:t>
                      </a:r>
                      <a:r>
                        <a:rPr sz="2400" kern="0" spc="2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24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Food choices as</a:t>
                      </a:r>
                      <a:r>
                        <a:rPr sz="2400" kern="0" spc="16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mark</a:t>
                      </a:r>
                      <a:r>
                        <a:rPr sz="2400" kern="0" spc="8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of</a:t>
                      </a:r>
                      <a:r>
                        <a:rPr sz="2400" kern="0" spc="8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identity.</a:t>
                      </a:r>
                      <a:endParaRPr sz="2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39115" algn="l" rtl="0" eaLnBrk="0">
                        <a:lnSpc>
                          <a:spcPct val="84000"/>
                        </a:lnSpc>
                        <a:spcBef>
                          <a:spcPts val="945"/>
                        </a:spcBef>
                        <a:tabLst/>
                      </a:pPr>
                      <a:r>
                        <a:rPr sz="1600" kern="0" spc="8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  </a:t>
                      </a:r>
                      <a:r>
                        <a:rPr sz="1900" kern="0" spc="8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“</a:t>
                      </a:r>
                      <a:r>
                        <a:rPr sz="19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Tell</a:t>
                      </a:r>
                      <a:r>
                        <a:rPr sz="1900" kern="0" spc="24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9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me</a:t>
                      </a:r>
                      <a:r>
                        <a:rPr sz="1900" kern="0" spc="8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9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what</a:t>
                      </a:r>
                      <a:r>
                        <a:rPr sz="1900" kern="0" spc="8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9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you</a:t>
                      </a:r>
                      <a:r>
                        <a:rPr sz="1900" kern="0" spc="8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9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eat</a:t>
                      </a:r>
                      <a:r>
                        <a:rPr sz="1900" kern="0" spc="8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, </a:t>
                      </a:r>
                      <a:r>
                        <a:rPr sz="19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and</a:t>
                      </a:r>
                      <a:r>
                        <a:rPr sz="1900" kern="0" spc="2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9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  <a:r>
                        <a:rPr sz="1900" kern="0" spc="8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9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will</a:t>
                      </a:r>
                      <a:r>
                        <a:rPr sz="1900" kern="0" spc="8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9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tell</a:t>
                      </a:r>
                      <a:r>
                        <a:rPr sz="1900" kern="0" spc="8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9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you</a:t>
                      </a:r>
                      <a:r>
                        <a:rPr sz="1900" kern="0" spc="8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9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who</a:t>
                      </a:r>
                      <a:r>
                        <a:rPr sz="1900" kern="0" spc="7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9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you</a:t>
                      </a:r>
                      <a:r>
                        <a:rPr sz="1900" kern="0" spc="9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9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are</a:t>
                      </a:r>
                      <a:r>
                        <a:rPr sz="1900" kern="0" spc="8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.”</a:t>
                      </a:r>
                      <a:endParaRPr sz="1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27075" indent="-187960" algn="l" rtl="0" eaLnBrk="0">
                        <a:lnSpc>
                          <a:spcPct val="98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600" kern="0" spc="1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  </a:t>
                      </a:r>
                      <a:r>
                        <a:rPr sz="19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Do</a:t>
                      </a:r>
                      <a:r>
                        <a:rPr sz="1900" kern="0" spc="1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9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you</a:t>
                      </a:r>
                      <a:r>
                        <a:rPr sz="1900" kern="0" spc="1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9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eat</a:t>
                      </a:r>
                      <a:r>
                        <a:rPr sz="1900" kern="0" spc="1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9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fast</a:t>
                      </a:r>
                      <a:r>
                        <a:rPr sz="1900" kern="0" spc="1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9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food</a:t>
                      </a:r>
                      <a:r>
                        <a:rPr sz="1900" kern="0" spc="1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? </a:t>
                      </a:r>
                      <a:r>
                        <a:rPr sz="19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Why</a:t>
                      </a:r>
                      <a:r>
                        <a:rPr sz="1900" kern="0" spc="1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?</a:t>
                      </a:r>
                      <a:r>
                        <a:rPr sz="1900" kern="0" spc="19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9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Do</a:t>
                      </a:r>
                      <a:r>
                        <a:rPr sz="1900" kern="0" spc="1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9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your</a:t>
                      </a:r>
                      <a:r>
                        <a:rPr sz="1900" kern="0" spc="1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9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friends</a:t>
                      </a:r>
                      <a:r>
                        <a:rPr sz="1900" kern="0" spc="1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9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eat</a:t>
                      </a:r>
                      <a:r>
                        <a:rPr sz="1900" kern="0" spc="15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9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it</a:t>
                      </a:r>
                      <a:r>
                        <a:rPr sz="1900" kern="0" spc="1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?</a:t>
                      </a:r>
                      <a:r>
                        <a:rPr sz="1900" kern="0" spc="18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9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Do</a:t>
                      </a:r>
                      <a:r>
                        <a:rPr sz="1900" kern="0" spc="7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9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your          </a:t>
                      </a:r>
                      <a:r>
                        <a:rPr sz="19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parents</a:t>
                      </a:r>
                      <a:r>
                        <a:rPr sz="1900" kern="0" spc="20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?</a:t>
                      </a:r>
                      <a:endParaRPr sz="19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49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le 14"/>
          <p:cNvGraphicFramePr>
            <a:graphicFrameLocks noGrp="1"/>
          </p:cNvGraphicFramePr>
          <p:nvPr/>
        </p:nvGraphicFramePr>
        <p:xfrm>
          <a:off x="502158" y="1433321"/>
          <a:ext cx="8140065" cy="1144904"/>
        </p:xfrm>
        <a:graphic>
          <a:graphicData uri="http://schemas.openxmlformats.org/drawingml/2006/table">
            <a:tbl>
              <a:tblPr>
                <a:solidFill>
                  <a:srgbClr val="EEF3F0"/>
                </a:solidFill>
              </a:tblPr>
              <a:tblGrid>
                <a:gridCol w="8140065"/>
              </a:tblGrid>
              <a:tr h="113220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6384" algn="l" rtl="0" eaLnBrk="0">
                        <a:lnSpc>
                          <a:spcPct val="79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2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1.</a:t>
                      </a:r>
                      <a:r>
                        <a:rPr sz="2400" kern="0" spc="2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24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Eating</a:t>
                      </a:r>
                      <a:r>
                        <a:rPr sz="2400" kern="0" spc="17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practices vary across</a:t>
                      </a:r>
                      <a:r>
                        <a:rPr sz="2400" kern="0" spc="17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place and time.</a:t>
                      </a:r>
                      <a:endParaRPr sz="2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12469" indent="-173354" algn="l" rtl="0" eaLnBrk="0">
                        <a:lnSpc>
                          <a:spcPct val="98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600" kern="0" spc="18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  </a:t>
                      </a:r>
                      <a:r>
                        <a:rPr sz="19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Do</a:t>
                      </a:r>
                      <a:r>
                        <a:rPr sz="1900" kern="0" spc="18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9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you</a:t>
                      </a:r>
                      <a:r>
                        <a:rPr sz="1900" kern="0" spc="18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9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eat</a:t>
                      </a:r>
                      <a:r>
                        <a:rPr sz="1900" kern="0" spc="18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9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chicken</a:t>
                      </a:r>
                      <a:r>
                        <a:rPr sz="1900" kern="0" spc="18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? </a:t>
                      </a:r>
                      <a:r>
                        <a:rPr sz="19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Chicken</a:t>
                      </a:r>
                      <a:r>
                        <a:rPr sz="1900" kern="0" spc="17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9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liver</a:t>
                      </a:r>
                      <a:r>
                        <a:rPr sz="1900" kern="0" spc="18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?</a:t>
                      </a:r>
                      <a:r>
                        <a:rPr sz="1900" kern="0" spc="13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9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Chicken</a:t>
                      </a:r>
                      <a:r>
                        <a:rPr sz="1900" kern="0" spc="17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9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hearts</a:t>
                      </a:r>
                      <a:r>
                        <a:rPr sz="1900" kern="0" spc="18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?</a:t>
                      </a:r>
                      <a:r>
                        <a:rPr sz="1900" kern="0" spc="1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9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Chicken        </a:t>
                      </a:r>
                      <a:r>
                        <a:rPr sz="19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feet</a:t>
                      </a:r>
                      <a:r>
                        <a:rPr sz="1900" kern="0" spc="17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?</a:t>
                      </a:r>
                      <a:endParaRPr sz="19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49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16"/>
          <p:cNvGraphicFramePr>
            <a:graphicFrameLocks noGrp="1"/>
          </p:cNvGraphicFramePr>
          <p:nvPr/>
        </p:nvGraphicFramePr>
        <p:xfrm>
          <a:off x="502158" y="2856738"/>
          <a:ext cx="8140065" cy="1014729"/>
        </p:xfrm>
        <a:graphic>
          <a:graphicData uri="http://schemas.openxmlformats.org/drawingml/2006/table">
            <a:tbl>
              <a:tblPr>
                <a:solidFill>
                  <a:srgbClr val="EEF3F0"/>
                </a:solidFill>
              </a:tblPr>
              <a:tblGrid>
                <a:gridCol w="8140065"/>
              </a:tblGrid>
              <a:tr h="100202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62254" algn="l" rtl="0" eaLnBrk="0">
                        <a:lnSpc>
                          <a:spcPct val="78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2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2.</a:t>
                      </a:r>
                      <a:r>
                        <a:rPr sz="2400" kern="0" spc="2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24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Rituals of food.</a:t>
                      </a:r>
                      <a:endParaRPr sz="2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39115" algn="l" rtl="0" eaLnBrk="0">
                        <a:lnSpc>
                          <a:spcPct val="83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600" kern="0" spc="16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</a:t>
                      </a:r>
                      <a:r>
                        <a:rPr sz="1600" kern="0" spc="44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9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What</a:t>
                      </a:r>
                      <a:r>
                        <a:rPr sz="1900" kern="0" spc="16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9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are</a:t>
                      </a:r>
                      <a:r>
                        <a:rPr sz="1900" kern="0" spc="16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9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the</a:t>
                      </a:r>
                      <a:r>
                        <a:rPr sz="1900" kern="0" spc="16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9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table</a:t>
                      </a:r>
                      <a:r>
                        <a:rPr sz="1900" kern="0" spc="16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9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rules</a:t>
                      </a:r>
                      <a:r>
                        <a:rPr sz="1900" kern="0" spc="16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9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in</a:t>
                      </a:r>
                      <a:r>
                        <a:rPr sz="1900" kern="0" spc="16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9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your</a:t>
                      </a:r>
                      <a:r>
                        <a:rPr sz="1900" kern="0" spc="16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9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family</a:t>
                      </a:r>
                      <a:r>
                        <a:rPr sz="1900" kern="0" spc="16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?</a:t>
                      </a:r>
                      <a:endParaRPr sz="19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49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</a:tr>
            </a:tbl>
          </a:graphicData>
        </a:graphic>
      </p:graphicFrame>
      <p:sp>
        <p:nvSpPr>
          <p:cNvPr id="18" name="rect 18"/>
          <p:cNvSpPr/>
          <p:nvPr/>
        </p:nvSpPr>
        <p:spPr>
          <a:xfrm>
            <a:off x="0" y="0"/>
            <a:ext cx="9144000" cy="365759"/>
          </a:xfrm>
          <a:prstGeom prst="rect">
            <a:avLst/>
          </a:prstGeom>
          <a:solidFill>
            <a:srgbClr val="93A29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0" name="textbox 20"/>
          <p:cNvSpPr/>
          <p:nvPr/>
        </p:nvSpPr>
        <p:spPr>
          <a:xfrm>
            <a:off x="478351" y="663923"/>
            <a:ext cx="6113779" cy="4610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696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tabLst/>
            </a:pPr>
            <a:r>
              <a:rPr sz="3600" b="1" kern="0" spc="-1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Food as a sociological topic</a:t>
            </a:r>
            <a:endParaRPr sz="3600" dirty="0">
              <a:latin typeface="Arial"/>
              <a:ea typeface="Arial"/>
              <a:cs typeface="Arial"/>
            </a:endParaRPr>
          </a:p>
        </p:txBody>
      </p:sp>
      <p:sp>
        <p:nvSpPr>
          <p:cNvPr id="22" name="textbox 22"/>
          <p:cNvSpPr/>
          <p:nvPr/>
        </p:nvSpPr>
        <p:spPr>
          <a:xfrm>
            <a:off x="6537680" y="6473393"/>
            <a:ext cx="2493010" cy="2432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37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tabLst/>
            </a:pPr>
            <a:r>
              <a:rPr sz="18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© 2017 Taylor &amp;</a:t>
            </a:r>
            <a:r>
              <a:rPr sz="1800" kern="0" spc="2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Francis</a:t>
            </a:r>
            <a:endParaRPr sz="18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441447" y="2251709"/>
            <a:ext cx="3962400" cy="2667000"/>
          </a:xfrm>
          <a:prstGeom prst="rect">
            <a:avLst/>
          </a:prstGeom>
        </p:spPr>
      </p:pic>
      <p:graphicFrame>
        <p:nvGraphicFramePr>
          <p:cNvPr id="26" name="table 26"/>
          <p:cNvGraphicFramePr>
            <a:graphicFrameLocks noGrp="1"/>
          </p:cNvGraphicFramePr>
          <p:nvPr/>
        </p:nvGraphicFramePr>
        <p:xfrm>
          <a:off x="502158" y="4995671"/>
          <a:ext cx="8140065" cy="811530"/>
        </p:xfrm>
        <a:graphic>
          <a:graphicData uri="http://schemas.openxmlformats.org/drawingml/2006/table">
            <a:tbl>
              <a:tblPr>
                <a:solidFill>
                  <a:srgbClr val="EEF3F0"/>
                </a:solidFill>
              </a:tblPr>
              <a:tblGrid>
                <a:gridCol w="37465"/>
                <a:gridCol w="8102600"/>
              </a:tblGrid>
              <a:tr h="81153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014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60984" indent="11429" algn="l" rtl="0" eaLnBrk="0">
                        <a:lnSpc>
                          <a:spcPct val="85000"/>
                        </a:lnSpc>
                        <a:tabLst/>
                      </a:pPr>
                      <a:r>
                        <a:rPr sz="2400" b="1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Food insecurity:</a:t>
                      </a:r>
                      <a:r>
                        <a:rPr sz="2400" b="1" kern="0" spc="16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lack of access to affordable,</a:t>
                      </a:r>
                      <a:r>
                        <a:rPr sz="2400" kern="0" spc="18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healthy,</a:t>
                      </a:r>
                      <a:r>
                        <a:rPr sz="24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</a:t>
                      </a:r>
                      <a:r>
                        <a:rPr sz="24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and culturally appr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opriate food.</a:t>
                      </a:r>
                      <a:endParaRPr sz="2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</a:tr>
            </a:tbl>
          </a:graphicData>
        </a:graphic>
      </p:graphicFrame>
      <p:sp>
        <p:nvSpPr>
          <p:cNvPr id="28" name="textbox 28"/>
          <p:cNvSpPr/>
          <p:nvPr/>
        </p:nvSpPr>
        <p:spPr>
          <a:xfrm>
            <a:off x="468287" y="472338"/>
            <a:ext cx="6122670" cy="10166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60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2225" algn="l" rtl="0" eaLnBrk="0">
              <a:lnSpc>
                <a:spcPct val="78000"/>
              </a:lnSpc>
              <a:tabLst/>
            </a:pPr>
            <a:r>
              <a:rPr sz="3600" b="1" kern="0" spc="-1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Food as a sociological topic</a:t>
            </a:r>
            <a:endParaRPr sz="36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4426"/>
              </a:lnSpc>
              <a:tabLst/>
            </a:pPr>
            <a:r>
              <a:rPr sz="3600" b="1" kern="0" spc="-2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(continued)</a:t>
            </a:r>
            <a:endParaRPr sz="3600" dirty="0">
              <a:latin typeface="Arial"/>
              <a:ea typeface="Arial"/>
              <a:cs typeface="Arial"/>
            </a:endParaRPr>
          </a:p>
        </p:txBody>
      </p:sp>
      <p:sp>
        <p:nvSpPr>
          <p:cNvPr id="30" name="textbox 30"/>
          <p:cNvSpPr/>
          <p:nvPr/>
        </p:nvSpPr>
        <p:spPr>
          <a:xfrm>
            <a:off x="508508" y="1621028"/>
            <a:ext cx="8128000" cy="531494"/>
          </a:xfrm>
          <a:prstGeom prst="roundRect">
            <a:avLst>
              <a:gd name="adj" fmla="val 9895"/>
            </a:avLst>
          </a:prstGeom>
          <a:solidFill>
            <a:srgbClr val="EEF3F0">
              <a:alpha val="100000"/>
            </a:srgbClr>
          </a:solidFill>
          <a:ln w="12700" cap="flat">
            <a:solidFill>
              <a:srgbClr val="C8D6CE"/>
            </a:solidFill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62864" algn="l" rtl="0" eaLnBrk="0">
              <a:lnSpc>
                <a:spcPct val="76000"/>
              </a:lnSpc>
              <a:spcBef>
                <a:spcPts val="1"/>
              </a:spcBef>
              <a:tabLst>
                <a:tab pos="206375" algn="l"/>
              </a:tabLst>
            </a:pPr>
            <a:r>
              <a:rPr sz="2400" kern="0" spc="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24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4.</a:t>
            </a:r>
            <a:r>
              <a:rPr sz="2400" kern="0" spc="20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Food and</a:t>
            </a:r>
            <a:r>
              <a:rPr sz="2400" kern="0" spc="16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inequality</a:t>
            </a:r>
            <a:r>
              <a:rPr sz="24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:</a:t>
            </a:r>
            <a:r>
              <a:rPr sz="2400" kern="0" spc="2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Inequality</a:t>
            </a:r>
            <a:r>
              <a:rPr sz="2400" kern="0" spc="17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3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 food</a:t>
            </a:r>
            <a:r>
              <a:rPr sz="2400" kern="0" spc="16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3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production.</a:t>
            </a:r>
            <a:endParaRPr sz="2400" dirty="0">
              <a:latin typeface="Arial"/>
              <a:ea typeface="Arial"/>
              <a:cs typeface="Arial"/>
            </a:endParaRPr>
          </a:p>
        </p:txBody>
      </p:sp>
      <p:sp>
        <p:nvSpPr>
          <p:cNvPr id="32" name="path 32"/>
          <p:cNvSpPr/>
          <p:nvPr/>
        </p:nvSpPr>
        <p:spPr>
          <a:xfrm>
            <a:off x="523908" y="1636429"/>
            <a:ext cx="63109" cy="500565"/>
          </a:xfrm>
          <a:custGeom>
            <a:avLst/>
            <a:gdLst/>
            <a:ahLst/>
            <a:cxnLst/>
            <a:rect l="0" t="0" r="0" b="0"/>
            <a:pathLst>
              <a:path w="99" h="788">
                <a:moveTo>
                  <a:pt x="0" y="788"/>
                </a:moveTo>
                <a:lnTo>
                  <a:pt x="99" y="788"/>
                </a:lnTo>
                <a:lnTo>
                  <a:pt x="99" y="0"/>
                </a:lnTo>
                <a:lnTo>
                  <a:pt x="0" y="0"/>
                </a:lnTo>
                <a:lnTo>
                  <a:pt x="0" y="788"/>
                </a:lnTo>
                <a:close/>
              </a:path>
            </a:pathLst>
          </a:custGeom>
          <a:solidFill>
            <a:srgbClr val="D2533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4" name="rect 34"/>
          <p:cNvSpPr/>
          <p:nvPr/>
        </p:nvSpPr>
        <p:spPr>
          <a:xfrm>
            <a:off x="502158" y="5886450"/>
            <a:ext cx="8140446" cy="420623"/>
          </a:xfrm>
          <a:prstGeom prst="rect">
            <a:avLst/>
          </a:prstGeom>
          <a:solidFill>
            <a:srgbClr val="FAF5E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6" name="rect 36"/>
          <p:cNvSpPr/>
          <p:nvPr/>
        </p:nvSpPr>
        <p:spPr>
          <a:xfrm>
            <a:off x="0" y="0"/>
            <a:ext cx="9144000" cy="365759"/>
          </a:xfrm>
          <a:prstGeom prst="rect">
            <a:avLst/>
          </a:prstGeom>
          <a:solidFill>
            <a:srgbClr val="93A29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8" name="textbox 38"/>
          <p:cNvSpPr/>
          <p:nvPr/>
        </p:nvSpPr>
        <p:spPr>
          <a:xfrm>
            <a:off x="710615" y="5982411"/>
            <a:ext cx="5017134" cy="2432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37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tabLst/>
            </a:pPr>
            <a:r>
              <a:rPr sz="1800" kern="0" spc="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1800" kern="0" spc="16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800" kern="0" spc="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Is there</a:t>
            </a:r>
            <a:r>
              <a:rPr sz="1800" kern="0" spc="-1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food</a:t>
            </a:r>
            <a:r>
              <a:rPr sz="1800" kern="0" spc="13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-1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insecurity in developed countries?</a:t>
            </a:r>
            <a:endParaRPr sz="1800" dirty="0">
              <a:latin typeface="Arial"/>
              <a:ea typeface="Arial"/>
              <a:cs typeface="Arial"/>
            </a:endParaRPr>
          </a:p>
        </p:txBody>
      </p:sp>
      <p:sp>
        <p:nvSpPr>
          <p:cNvPr id="40" name="textbox 40"/>
          <p:cNvSpPr/>
          <p:nvPr/>
        </p:nvSpPr>
        <p:spPr>
          <a:xfrm>
            <a:off x="6537680" y="6473393"/>
            <a:ext cx="2493010" cy="2432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37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tabLst/>
            </a:pPr>
            <a:r>
              <a:rPr sz="18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© 2017 Taylor &amp;</a:t>
            </a:r>
            <a:r>
              <a:rPr sz="1800" kern="0" spc="2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Francis</a:t>
            </a:r>
            <a:endParaRPr sz="1800" dirty="0">
              <a:latin typeface="Arial"/>
              <a:ea typeface="Arial"/>
              <a:cs typeface="Arial"/>
            </a:endParaRPr>
          </a:p>
        </p:txBody>
      </p:sp>
      <p:sp>
        <p:nvSpPr>
          <p:cNvPr id="42" name="path 42"/>
          <p:cNvSpPr/>
          <p:nvPr/>
        </p:nvSpPr>
        <p:spPr>
          <a:xfrm>
            <a:off x="8561704" y="5886450"/>
            <a:ext cx="80899" cy="420623"/>
          </a:xfrm>
          <a:custGeom>
            <a:avLst/>
            <a:gdLst/>
            <a:ahLst/>
            <a:cxnLst/>
            <a:rect l="0" t="0" r="0" b="0"/>
            <a:pathLst>
              <a:path w="127" h="662">
                <a:moveTo>
                  <a:pt x="10" y="10"/>
                </a:moveTo>
                <a:cubicBezTo>
                  <a:pt x="69" y="10"/>
                  <a:pt x="117" y="58"/>
                  <a:pt x="117" y="117"/>
                </a:cubicBezTo>
                <a:moveTo>
                  <a:pt x="117" y="545"/>
                </a:moveTo>
                <a:cubicBezTo>
                  <a:pt x="117" y="604"/>
                  <a:pt x="69" y="652"/>
                  <a:pt x="10" y="652"/>
                </a:cubicBezTo>
              </a:path>
            </a:pathLst>
          </a:custGeom>
          <a:noFill/>
          <a:ln w="12953" cap="flat">
            <a:solidFill>
              <a:srgbClr val="EEE3D7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" name="table 44"/>
          <p:cNvGraphicFramePr>
            <a:graphicFrameLocks noGrp="1"/>
          </p:cNvGraphicFramePr>
          <p:nvPr/>
        </p:nvGraphicFramePr>
        <p:xfrm>
          <a:off x="502158" y="1314450"/>
          <a:ext cx="8140065" cy="2889885"/>
        </p:xfrm>
        <a:graphic>
          <a:graphicData uri="http://schemas.openxmlformats.org/drawingml/2006/table">
            <a:tbl>
              <a:tblPr>
                <a:solidFill>
                  <a:srgbClr val="EEF3F0"/>
                </a:solidFill>
              </a:tblPr>
              <a:tblGrid>
                <a:gridCol w="37465"/>
                <a:gridCol w="8102600"/>
              </a:tblGrid>
              <a:tr h="288988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167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2245" indent="10795" algn="l" rtl="0" eaLnBrk="0">
                        <a:lnSpc>
                          <a:spcPct val="85000"/>
                        </a:lnSpc>
                        <a:tabLst/>
                      </a:pP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Models for studying and</a:t>
                      </a:r>
                      <a:r>
                        <a:rPr sz="2400" kern="0" spc="15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understanding society a</a:t>
                      </a:r>
                      <a:r>
                        <a:rPr sz="24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nd</a:t>
                      </a:r>
                      <a:r>
                        <a:rPr sz="2400" kern="0" spc="17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its</a:t>
                      </a:r>
                      <a:r>
                        <a:rPr sz="24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  </a:t>
                      </a:r>
                      <a:r>
                        <a:rPr sz="24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elements.</a:t>
                      </a:r>
                      <a:endParaRPr sz="2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59130" algn="l" rtl="0" eaLnBrk="0">
                        <a:lnSpc>
                          <a:spcPct val="79000"/>
                        </a:lnSpc>
                        <a:spcBef>
                          <a:spcPts val="670"/>
                        </a:spcBef>
                        <a:tabLst/>
                      </a:pPr>
                      <a:r>
                        <a:rPr sz="2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1.   Functionalist</a:t>
                      </a:r>
                      <a:r>
                        <a:rPr sz="2200" kern="0" spc="2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(Durkheim)</a:t>
                      </a:r>
                      <a:endParaRPr sz="2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36269" algn="l" rtl="0" eaLnBrk="0">
                        <a:lnSpc>
                          <a:spcPct val="79000"/>
                        </a:lnSpc>
                        <a:spcBef>
                          <a:spcPts val="555"/>
                        </a:spcBef>
                        <a:tabLst/>
                      </a:pPr>
                      <a:r>
                        <a:rPr sz="2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2.   Conflict (Marx,</a:t>
                      </a:r>
                      <a:r>
                        <a:rPr sz="2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Weber, feminism)</a:t>
                      </a:r>
                      <a:endParaRPr sz="2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40080" algn="l" rtl="0" eaLnBrk="0">
                        <a:lnSpc>
                          <a:spcPct val="79000"/>
                        </a:lnSpc>
                        <a:spcBef>
                          <a:spcPts val="555"/>
                        </a:spcBef>
                        <a:tabLst/>
                      </a:pPr>
                      <a:r>
                        <a:rPr sz="2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3.   Interactionist</a:t>
                      </a:r>
                      <a:r>
                        <a:rPr sz="2200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(M</a:t>
                      </a:r>
                      <a:r>
                        <a:rPr sz="2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ead,</a:t>
                      </a:r>
                      <a:r>
                        <a:rPr sz="2200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Goffman)</a:t>
                      </a:r>
                      <a:endParaRPr sz="2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</a:tr>
            </a:tbl>
          </a:graphicData>
        </a:graphic>
      </p:graphicFrame>
      <p:sp>
        <p:nvSpPr>
          <p:cNvPr id="46" name="textbox 46"/>
          <p:cNvSpPr/>
          <p:nvPr/>
        </p:nvSpPr>
        <p:spPr>
          <a:xfrm>
            <a:off x="454106" y="663923"/>
            <a:ext cx="8171815" cy="4610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696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tabLst/>
            </a:pPr>
            <a:r>
              <a:rPr sz="3600" b="1" kern="0" spc="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Theoretical perspecti</a:t>
            </a:r>
            <a:r>
              <a:rPr sz="3600" b="1" kern="0" spc="-1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ves in</a:t>
            </a:r>
            <a:r>
              <a:rPr sz="3600" b="1" kern="0" spc="8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600" b="1" kern="0" spc="-1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sociology</a:t>
            </a:r>
            <a:endParaRPr sz="3600" dirty="0">
              <a:latin typeface="Arial"/>
              <a:ea typeface="Arial"/>
              <a:cs typeface="Arial"/>
            </a:endParaRPr>
          </a:p>
        </p:txBody>
      </p:sp>
      <p:sp>
        <p:nvSpPr>
          <p:cNvPr id="48" name="rect 48"/>
          <p:cNvSpPr/>
          <p:nvPr/>
        </p:nvSpPr>
        <p:spPr>
          <a:xfrm>
            <a:off x="0" y="0"/>
            <a:ext cx="9144000" cy="365759"/>
          </a:xfrm>
          <a:prstGeom prst="rect">
            <a:avLst/>
          </a:prstGeom>
          <a:solidFill>
            <a:srgbClr val="93A29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0" name="textbox 50"/>
          <p:cNvSpPr/>
          <p:nvPr/>
        </p:nvSpPr>
        <p:spPr>
          <a:xfrm>
            <a:off x="6537680" y="6473393"/>
            <a:ext cx="2493010" cy="2432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37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tabLst/>
            </a:pPr>
            <a:r>
              <a:rPr sz="18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© 2017 Taylor &amp;</a:t>
            </a:r>
            <a:r>
              <a:rPr sz="1800" kern="0" spc="2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Francis</a:t>
            </a:r>
            <a:endParaRPr sz="18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2" name="table 52"/>
          <p:cNvGraphicFramePr>
            <a:graphicFrameLocks noGrp="1"/>
          </p:cNvGraphicFramePr>
          <p:nvPr/>
        </p:nvGraphicFramePr>
        <p:xfrm>
          <a:off x="552450" y="1544573"/>
          <a:ext cx="8140700" cy="4753609"/>
        </p:xfrm>
        <a:graphic>
          <a:graphicData uri="http://schemas.openxmlformats.org/drawingml/2006/table">
            <a:tbl>
              <a:tblPr>
                <a:solidFill>
                  <a:srgbClr val="EEF3F0"/>
                </a:solidFill>
              </a:tblPr>
              <a:tblGrid>
                <a:gridCol w="38100"/>
                <a:gridCol w="8102600"/>
              </a:tblGrid>
              <a:tr h="475360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6689" algn="l" rtl="0" eaLnBrk="0">
                        <a:lnSpc>
                          <a:spcPct val="74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Characteristics:</a:t>
                      </a:r>
                      <a:endParaRPr sz="2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4470" algn="l" rtl="0" eaLnBrk="0">
                        <a:lnSpc>
                          <a:spcPct val="78000"/>
                        </a:lnSpc>
                        <a:spcBef>
                          <a:spcPts val="730"/>
                        </a:spcBef>
                        <a:tabLst/>
                      </a:pPr>
                      <a:r>
                        <a:rPr sz="2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1.</a:t>
                      </a:r>
                      <a:r>
                        <a:rPr sz="2400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24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Assumpt</a:t>
                      </a:r>
                      <a:r>
                        <a:rPr sz="2400" kern="0" spc="-3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ions</a:t>
                      </a:r>
                      <a:endParaRPr sz="2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43255" algn="l" rtl="0" eaLnBrk="0">
                        <a:lnSpc>
                          <a:spcPct val="79000"/>
                        </a:lnSpc>
                        <a:spcBef>
                          <a:spcPts val="370"/>
                        </a:spcBef>
                        <a:tabLst/>
                      </a:pPr>
                      <a:r>
                        <a:rPr sz="22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     Is solidarity or conflict necessary</a:t>
                      </a:r>
                      <a:r>
                        <a:rPr sz="2200" kern="0" spc="7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to</a:t>
                      </a:r>
                      <a:r>
                        <a:rPr sz="2200" kern="0" spc="7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society?</a:t>
                      </a:r>
                      <a:endParaRPr sz="2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43255" algn="l" rtl="0" eaLnBrk="0">
                        <a:lnSpc>
                          <a:spcPct val="78000"/>
                        </a:lnSpc>
                        <a:spcBef>
                          <a:spcPts val="347"/>
                        </a:spcBef>
                        <a:tabLst/>
                      </a:pPr>
                      <a:r>
                        <a:rPr sz="22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     Is</a:t>
                      </a:r>
                      <a:r>
                        <a:rPr sz="2200" kern="0" spc="14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human</a:t>
                      </a:r>
                      <a:r>
                        <a:rPr sz="2200" kern="0" spc="15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nature self-intereste</a:t>
                      </a:r>
                      <a:r>
                        <a:rPr sz="2200" kern="0" spc="-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 or cooperative?</a:t>
                      </a:r>
                      <a:endParaRPr sz="2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9704" algn="l" rtl="0" eaLnBrk="0">
                        <a:lnSpc>
                          <a:spcPct val="78000"/>
                        </a:lnSpc>
                        <a:spcBef>
                          <a:spcPts val="1600"/>
                        </a:spcBef>
                        <a:tabLst/>
                      </a:pPr>
                      <a:r>
                        <a:rPr sz="2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2.</a:t>
                      </a:r>
                      <a:r>
                        <a:rPr sz="2400" kern="0" spc="2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Focus on a specific f</a:t>
                      </a:r>
                      <a:r>
                        <a:rPr sz="24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acet</a:t>
                      </a:r>
                      <a:r>
                        <a:rPr sz="2400" kern="0" spc="8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of a</a:t>
                      </a:r>
                      <a:r>
                        <a:rPr sz="2400" kern="0" spc="16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phenomenon</a:t>
                      </a:r>
                      <a:endParaRPr sz="2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43255" algn="l" rtl="0" eaLnBrk="0">
                        <a:lnSpc>
                          <a:spcPct val="78000"/>
                        </a:lnSpc>
                        <a:spcBef>
                          <a:spcPts val="366"/>
                        </a:spcBef>
                        <a:tabLst/>
                      </a:pPr>
                      <a:r>
                        <a:rPr sz="22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</a:t>
                      </a:r>
                      <a:r>
                        <a:rPr sz="2200" kern="0" spc="13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</a:t>
                      </a:r>
                      <a:r>
                        <a:rPr sz="2200" b="1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Micro</a:t>
                      </a:r>
                      <a:r>
                        <a:rPr sz="2200" b="1" kern="0" spc="16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interactions or </a:t>
                      </a:r>
                      <a:r>
                        <a:rPr sz="2200" b="1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macro </a:t>
                      </a:r>
                      <a:r>
                        <a:rPr sz="22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stru</a:t>
                      </a:r>
                      <a:r>
                        <a:rPr sz="2200" kern="0" spc="-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ctures?</a:t>
                      </a:r>
                      <a:endParaRPr sz="2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04264" indent="-461009" algn="l" rtl="0" eaLnBrk="0">
                        <a:lnSpc>
                          <a:spcPct val="86000"/>
                        </a:lnSpc>
                        <a:spcBef>
                          <a:spcPts val="320"/>
                        </a:spcBef>
                        <a:tabLst/>
                      </a:pPr>
                      <a:r>
                        <a:rPr sz="22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</a:t>
                      </a:r>
                      <a:r>
                        <a:rPr sz="2200" kern="0" spc="14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</a:t>
                      </a:r>
                      <a:r>
                        <a:rPr sz="22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How does society function as a</a:t>
                      </a:r>
                      <a:r>
                        <a:rPr sz="2200" kern="0" spc="9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b="1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cohesive </a:t>
                      </a:r>
                      <a:r>
                        <a:rPr sz="22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whole,</a:t>
                      </a:r>
                      <a:r>
                        <a:rPr sz="2200" kern="0" spc="7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or</a:t>
                      </a:r>
                      <a:r>
                        <a:rPr sz="2200" kern="0" spc="-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:</a:t>
                      </a:r>
                      <a:r>
                        <a:rPr sz="22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  </a:t>
                      </a:r>
                      <a:r>
                        <a:rPr sz="22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how to understand </a:t>
                      </a:r>
                      <a:r>
                        <a:rPr sz="2200" b="1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conflict</a:t>
                      </a:r>
                      <a:r>
                        <a:rPr sz="2200" b="1" kern="0" spc="23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between social</a:t>
                      </a:r>
                      <a:r>
                        <a:rPr sz="2200" kern="0" spc="7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groups?</a:t>
                      </a:r>
                      <a:endParaRPr sz="2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4150" algn="l" rtl="0" eaLnBrk="0">
                        <a:lnSpc>
                          <a:spcPct val="79000"/>
                        </a:lnSpc>
                        <a:spcBef>
                          <a:spcPts val="1604"/>
                        </a:spcBef>
                        <a:tabLst/>
                      </a:pPr>
                      <a:r>
                        <a:rPr sz="2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3.</a:t>
                      </a:r>
                      <a:r>
                        <a:rPr sz="2400" kern="0" spc="2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Relativ</a:t>
                      </a:r>
                      <a:r>
                        <a:rPr sz="24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ely flexible</a:t>
                      </a:r>
                      <a:endParaRPr sz="2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42619" algn="l" rtl="0" eaLnBrk="0">
                        <a:lnSpc>
                          <a:spcPct val="79000"/>
                        </a:lnSpc>
                        <a:spcBef>
                          <a:spcPts val="318"/>
                        </a:spcBef>
                        <a:tabLst/>
                      </a:pPr>
                      <a:r>
                        <a:rPr sz="22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Choose a</a:t>
                      </a:r>
                      <a:r>
                        <a:rPr sz="2200" kern="0" spc="14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perspective that</a:t>
                      </a:r>
                      <a:r>
                        <a:rPr sz="2200" kern="0" spc="14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best “fit</a:t>
                      </a:r>
                      <a:r>
                        <a:rPr sz="22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s” a</a:t>
                      </a:r>
                      <a:r>
                        <a:rPr sz="2200" kern="0" spc="14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research</a:t>
                      </a:r>
                      <a:r>
                        <a:rPr sz="2200" kern="0" spc="16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problem.</a:t>
                      </a:r>
                      <a:endParaRPr sz="2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43255" algn="l" rtl="0" eaLnBrk="0">
                        <a:lnSpc>
                          <a:spcPct val="79000"/>
                        </a:lnSpc>
                        <a:spcBef>
                          <a:spcPts val="369"/>
                        </a:spcBef>
                        <a:tabLst/>
                      </a:pPr>
                      <a:r>
                        <a:rPr sz="22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</a:t>
                      </a:r>
                      <a:r>
                        <a:rPr sz="2200" kern="0" spc="10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</a:t>
                      </a:r>
                      <a:r>
                        <a:rPr sz="22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What food</a:t>
                      </a:r>
                      <a:r>
                        <a:rPr sz="2200" kern="0" spc="15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phenomenon</a:t>
                      </a:r>
                      <a:r>
                        <a:rPr sz="2200" kern="0" spc="15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interests you the most?</a:t>
                      </a:r>
                      <a:endParaRPr sz="2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43255" algn="l" rtl="0" eaLnBrk="0">
                        <a:lnSpc>
                          <a:spcPct val="79000"/>
                        </a:lnSpc>
                        <a:spcBef>
                          <a:spcPts val="346"/>
                        </a:spcBef>
                        <a:tabLst/>
                      </a:pPr>
                      <a:r>
                        <a:rPr sz="22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</a:t>
                      </a:r>
                      <a:r>
                        <a:rPr sz="2200" kern="0" spc="10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</a:t>
                      </a:r>
                      <a:r>
                        <a:rPr sz="22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Which theoretica</a:t>
                      </a:r>
                      <a:r>
                        <a:rPr sz="22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 perspective(s) best</a:t>
                      </a:r>
                      <a:r>
                        <a:rPr sz="2200" kern="0" spc="3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fit</a:t>
                      </a:r>
                      <a:r>
                        <a:rPr sz="2200" kern="0" spc="14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it?</a:t>
                      </a:r>
                      <a:endParaRPr sz="2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</a:tr>
            </a:tbl>
          </a:graphicData>
        </a:graphic>
      </p:graphicFrame>
      <p:sp>
        <p:nvSpPr>
          <p:cNvPr id="54" name="textbox 54"/>
          <p:cNvSpPr/>
          <p:nvPr/>
        </p:nvSpPr>
        <p:spPr>
          <a:xfrm>
            <a:off x="454101" y="446176"/>
            <a:ext cx="8170544" cy="10166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60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8000"/>
              </a:lnSpc>
              <a:tabLst/>
            </a:pPr>
            <a:r>
              <a:rPr sz="3600" b="1" kern="0" spc="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Theoretical perspect</a:t>
            </a:r>
            <a:r>
              <a:rPr sz="3600" b="1" kern="0" spc="-1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ives in</a:t>
            </a:r>
            <a:r>
              <a:rPr sz="3600" b="1" kern="0" spc="7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600" b="1" kern="0" spc="-1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sociology</a:t>
            </a:r>
            <a:endParaRPr sz="3600" dirty="0">
              <a:latin typeface="Arial"/>
              <a:ea typeface="Arial"/>
              <a:cs typeface="Arial"/>
            </a:endParaRPr>
          </a:p>
          <a:p>
            <a:pPr marL="26669" algn="l" rtl="0" eaLnBrk="0">
              <a:lnSpc>
                <a:spcPts val="4426"/>
              </a:lnSpc>
              <a:tabLst/>
            </a:pPr>
            <a:r>
              <a:rPr sz="3600" b="1" kern="0" spc="-2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(continued)</a:t>
            </a:r>
            <a:endParaRPr sz="3600" dirty="0">
              <a:latin typeface="Arial"/>
              <a:ea typeface="Arial"/>
              <a:cs typeface="Arial"/>
            </a:endParaRPr>
          </a:p>
        </p:txBody>
      </p:sp>
      <p:sp>
        <p:nvSpPr>
          <p:cNvPr id="56" name="rect 56"/>
          <p:cNvSpPr/>
          <p:nvPr/>
        </p:nvSpPr>
        <p:spPr>
          <a:xfrm>
            <a:off x="0" y="0"/>
            <a:ext cx="9144000" cy="365759"/>
          </a:xfrm>
          <a:prstGeom prst="rect">
            <a:avLst/>
          </a:prstGeom>
          <a:solidFill>
            <a:srgbClr val="93A29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8" name="textbox 58"/>
          <p:cNvSpPr/>
          <p:nvPr/>
        </p:nvSpPr>
        <p:spPr>
          <a:xfrm>
            <a:off x="6537680" y="6473393"/>
            <a:ext cx="2493010" cy="2432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37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tabLst/>
            </a:pPr>
            <a:r>
              <a:rPr sz="18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© 2017 Taylor &amp;</a:t>
            </a:r>
            <a:r>
              <a:rPr sz="1800" kern="0" spc="2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Francis</a:t>
            </a:r>
            <a:endParaRPr sz="18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0" name="table 60"/>
          <p:cNvGraphicFramePr>
            <a:graphicFrameLocks noGrp="1"/>
          </p:cNvGraphicFramePr>
          <p:nvPr/>
        </p:nvGraphicFramePr>
        <p:xfrm>
          <a:off x="502158" y="2686050"/>
          <a:ext cx="8140065" cy="1543050"/>
        </p:xfrm>
        <a:graphic>
          <a:graphicData uri="http://schemas.openxmlformats.org/drawingml/2006/table">
            <a:tbl>
              <a:tblPr>
                <a:solidFill>
                  <a:srgbClr val="EEF3F0"/>
                </a:solidFill>
              </a:tblPr>
              <a:tblGrid>
                <a:gridCol w="37465"/>
                <a:gridCol w="8102600"/>
              </a:tblGrid>
              <a:tr h="15430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0975" indent="13970" algn="l" rtl="0" eaLnBrk="0">
                        <a:lnSpc>
                          <a:spcPct val="86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Existed since the</a:t>
                      </a:r>
                      <a:r>
                        <a:rPr sz="2400" kern="0" spc="15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beginning of capitalism,</a:t>
                      </a:r>
                      <a:r>
                        <a:rPr sz="2400" kern="0" spc="17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intensified wi</a:t>
                      </a:r>
                      <a:r>
                        <a:rPr sz="24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th</a:t>
                      </a:r>
                      <a:r>
                        <a:rPr sz="24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globalization.</a:t>
                      </a:r>
                      <a:endParaRPr sz="2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79805" indent="-336550" algn="l" rtl="0" eaLnBrk="0">
                        <a:lnSpc>
                          <a:spcPct val="86000"/>
                        </a:lnSpc>
                        <a:spcBef>
                          <a:spcPts val="320"/>
                        </a:spcBef>
                        <a:tabLst/>
                      </a:pPr>
                      <a:r>
                        <a:rPr sz="2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   </a:t>
                      </a:r>
                      <a:r>
                        <a:rPr sz="22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“We taste the spices</a:t>
                      </a:r>
                      <a:r>
                        <a:rPr sz="2200" kern="0" spc="6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of </a:t>
                      </a:r>
                      <a:r>
                        <a:rPr sz="22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Arabia yet</a:t>
                      </a:r>
                      <a:r>
                        <a:rPr sz="2200" kern="0" spc="15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never feel the</a:t>
                      </a:r>
                      <a:r>
                        <a:rPr sz="22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          </a:t>
                      </a:r>
                      <a:r>
                        <a:rPr sz="22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scorching</a:t>
                      </a:r>
                      <a:r>
                        <a:rPr sz="2200" kern="0" spc="4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sun</a:t>
                      </a:r>
                      <a:r>
                        <a:rPr sz="2200" kern="0" spc="4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that</a:t>
                      </a:r>
                      <a:r>
                        <a:rPr sz="2200" kern="0" spc="4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brings</a:t>
                      </a:r>
                      <a:r>
                        <a:rPr sz="2200" kern="0" spc="4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them</a:t>
                      </a:r>
                      <a:r>
                        <a:rPr sz="2200" kern="0" spc="4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forth</a:t>
                      </a:r>
                      <a:r>
                        <a:rPr sz="2200" kern="0" spc="4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.”</a:t>
                      </a:r>
                      <a:endParaRPr sz="2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2" name="table 62"/>
          <p:cNvGraphicFramePr>
            <a:graphicFrameLocks noGrp="1"/>
          </p:cNvGraphicFramePr>
          <p:nvPr/>
        </p:nvGraphicFramePr>
        <p:xfrm>
          <a:off x="502158" y="1314450"/>
          <a:ext cx="8140065" cy="1210945"/>
        </p:xfrm>
        <a:graphic>
          <a:graphicData uri="http://schemas.openxmlformats.org/drawingml/2006/table">
            <a:tbl>
              <a:tblPr>
                <a:solidFill>
                  <a:srgbClr val="EEF3F0"/>
                </a:solidFill>
              </a:tblPr>
              <a:tblGrid>
                <a:gridCol w="37465"/>
                <a:gridCol w="8102600"/>
              </a:tblGrid>
              <a:tr h="121094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167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2879" indent="10160" algn="l" rtl="0" eaLnBrk="0">
                        <a:lnSpc>
                          <a:spcPct val="85000"/>
                        </a:lnSpc>
                        <a:tabLst/>
                      </a:pPr>
                      <a:r>
                        <a:rPr sz="2400" b="1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Production</a:t>
                      </a:r>
                      <a:r>
                        <a:rPr sz="2400" b="1" kern="0" spc="14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b="1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process</a:t>
                      </a:r>
                      <a:r>
                        <a:rPr sz="2400" b="1" kern="0" spc="18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is obs</a:t>
                      </a:r>
                      <a:r>
                        <a:rPr sz="24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cured at the</a:t>
                      </a:r>
                      <a:r>
                        <a:rPr sz="2400" kern="0" spc="16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point of</a:t>
                      </a:r>
                      <a:r>
                        <a:rPr sz="24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            </a:t>
                      </a:r>
                      <a:r>
                        <a:rPr sz="24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consumption</a:t>
                      </a:r>
                      <a:endParaRPr sz="2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43255" algn="l" rtl="0" eaLnBrk="0">
                        <a:lnSpc>
                          <a:spcPct val="78000"/>
                        </a:lnSpc>
                        <a:spcBef>
                          <a:spcPts val="377"/>
                        </a:spcBef>
                        <a:tabLst/>
                      </a:pPr>
                      <a:r>
                        <a:rPr sz="2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</a:t>
                      </a:r>
                      <a:r>
                        <a:rPr sz="2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</a:t>
                      </a:r>
                      <a:r>
                        <a:rPr sz="22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i.e.</a:t>
                      </a:r>
                      <a:r>
                        <a:rPr sz="2200" kern="0" spc="16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invisible to the c</a:t>
                      </a:r>
                      <a:r>
                        <a:rPr sz="22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onsumer.</a:t>
                      </a:r>
                      <a:endParaRPr sz="2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</a:tr>
            </a:tbl>
          </a:graphicData>
        </a:graphic>
      </p:graphicFrame>
      <p:sp>
        <p:nvSpPr>
          <p:cNvPr id="64" name="rect 64"/>
          <p:cNvSpPr/>
          <p:nvPr/>
        </p:nvSpPr>
        <p:spPr>
          <a:xfrm>
            <a:off x="0" y="0"/>
            <a:ext cx="9144000" cy="365759"/>
          </a:xfrm>
          <a:prstGeom prst="rect">
            <a:avLst/>
          </a:prstGeom>
          <a:solidFill>
            <a:srgbClr val="93A29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6" name="textbox 66"/>
          <p:cNvSpPr/>
          <p:nvPr/>
        </p:nvSpPr>
        <p:spPr>
          <a:xfrm>
            <a:off x="476979" y="663923"/>
            <a:ext cx="5913120" cy="4610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696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tabLst/>
            </a:pPr>
            <a:r>
              <a:rPr sz="3600" b="1" kern="0" spc="-1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Marx: commodity fetishism</a:t>
            </a:r>
            <a:endParaRPr sz="3600" dirty="0">
              <a:latin typeface="Arial"/>
              <a:ea typeface="Arial"/>
              <a:cs typeface="Arial"/>
            </a:endParaRPr>
          </a:p>
        </p:txBody>
      </p:sp>
      <p:sp>
        <p:nvSpPr>
          <p:cNvPr id="68" name="textbox 68"/>
          <p:cNvSpPr/>
          <p:nvPr/>
        </p:nvSpPr>
        <p:spPr>
          <a:xfrm>
            <a:off x="6537680" y="6473393"/>
            <a:ext cx="2493010" cy="2432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37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tabLst/>
            </a:pPr>
            <a:r>
              <a:rPr sz="18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© 2017 Taylor &amp;</a:t>
            </a:r>
            <a:r>
              <a:rPr sz="1800" kern="0" spc="2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Francis</a:t>
            </a:r>
            <a:endParaRPr sz="18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0" name="table 70"/>
          <p:cNvGraphicFramePr>
            <a:graphicFrameLocks noGrp="1"/>
          </p:cNvGraphicFramePr>
          <p:nvPr/>
        </p:nvGraphicFramePr>
        <p:xfrm>
          <a:off x="4700015" y="2565653"/>
          <a:ext cx="3922395" cy="1632585"/>
        </p:xfrm>
        <a:graphic>
          <a:graphicData uri="http://schemas.openxmlformats.org/drawingml/2006/table">
            <a:tbl>
              <a:tblPr>
                <a:solidFill>
                  <a:srgbClr val="FAF5EF"/>
                </a:solidFill>
              </a:tblPr>
              <a:tblGrid>
                <a:gridCol w="38100"/>
                <a:gridCol w="3884295"/>
              </a:tblGrid>
              <a:tr h="163258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3514" algn="l" rtl="0" eaLnBrk="0">
                        <a:lnSpc>
                          <a:spcPct val="79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</a:t>
                      </a:r>
                      <a:r>
                        <a:rPr sz="1800" kern="0" spc="15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Do you drink</a:t>
                      </a:r>
                      <a:r>
                        <a:rPr sz="1800" kern="0" spc="15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Fair Trade </a:t>
                      </a:r>
                      <a:r>
                        <a:rPr sz="1800" kern="0" spc="-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coffee?</a:t>
                      </a:r>
                      <a:endParaRPr sz="1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3514" algn="l" rtl="0" eaLnBrk="0">
                        <a:lnSpc>
                          <a:spcPct val="79000"/>
                        </a:lnSpc>
                        <a:spcBef>
                          <a:spcPts val="280"/>
                        </a:spcBef>
                        <a:tabLst/>
                      </a:pPr>
                      <a:r>
                        <a:rPr sz="1800" kern="0" spc="-3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</a:t>
                      </a:r>
                      <a:r>
                        <a:rPr sz="1800" kern="0" spc="10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1800" kern="0" spc="-3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Why?</a:t>
                      </a:r>
                      <a:endParaRPr sz="18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2" name="table 72"/>
          <p:cNvGraphicFramePr>
            <a:graphicFrameLocks noGrp="1"/>
          </p:cNvGraphicFramePr>
          <p:nvPr/>
        </p:nvGraphicFramePr>
        <p:xfrm>
          <a:off x="451104" y="2570225"/>
          <a:ext cx="3922395" cy="1631950"/>
        </p:xfrm>
        <a:graphic>
          <a:graphicData uri="http://schemas.openxmlformats.org/drawingml/2006/table">
            <a:tbl>
              <a:tblPr>
                <a:solidFill>
                  <a:srgbClr val="EEF3F0"/>
                </a:solidFill>
              </a:tblPr>
              <a:tblGrid>
                <a:gridCol w="37465"/>
                <a:gridCol w="3884929"/>
              </a:tblGrid>
              <a:tr h="16319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81000" algn="l" rtl="0" eaLnBrk="0">
                        <a:lnSpc>
                          <a:spcPct val="78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2400" b="1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Labour: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exploita</a:t>
                      </a:r>
                      <a:r>
                        <a:rPr sz="24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tive</a:t>
                      </a:r>
                      <a:endParaRPr sz="2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68300" algn="l" rtl="0" eaLnBrk="0">
                        <a:lnSpc>
                          <a:spcPct val="79000"/>
                        </a:lnSpc>
                        <a:spcBef>
                          <a:spcPts val="399"/>
                        </a:spcBef>
                        <a:tabLst/>
                      </a:pP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and alienating</a:t>
                      </a:r>
                      <a:endParaRPr sz="2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77825" algn="l" rtl="0" eaLnBrk="0">
                        <a:lnSpc>
                          <a:spcPct val="78000"/>
                        </a:lnSpc>
                        <a:spcBef>
                          <a:spcPts val="372"/>
                        </a:spcBef>
                        <a:tabLst/>
                      </a:pPr>
                      <a:r>
                        <a:rPr sz="2400" b="1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relations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betw</a:t>
                      </a:r>
                      <a:r>
                        <a:rPr sz="24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een</a:t>
                      </a:r>
                      <a:endParaRPr sz="2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58140" algn="l" rtl="0" eaLnBrk="0">
                        <a:lnSpc>
                          <a:spcPct val="79000"/>
                        </a:lnSpc>
                        <a:spcBef>
                          <a:spcPts val="404"/>
                        </a:spcBef>
                        <a:tabLst/>
                      </a:pPr>
                      <a:r>
                        <a:rPr sz="24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workers and employe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rs</a:t>
                      </a:r>
                      <a:endParaRPr sz="2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4" name="table 74"/>
          <p:cNvGraphicFramePr>
            <a:graphicFrameLocks noGrp="1"/>
          </p:cNvGraphicFramePr>
          <p:nvPr/>
        </p:nvGraphicFramePr>
        <p:xfrm>
          <a:off x="451104" y="4477511"/>
          <a:ext cx="3922395" cy="1190625"/>
        </p:xfrm>
        <a:graphic>
          <a:graphicData uri="http://schemas.openxmlformats.org/drawingml/2006/table">
            <a:tbl>
              <a:tblPr>
                <a:solidFill>
                  <a:srgbClr val="EEF3F0"/>
                </a:solidFill>
              </a:tblPr>
              <a:tblGrid>
                <a:gridCol w="37465"/>
                <a:gridCol w="3884929"/>
              </a:tblGrid>
              <a:tr h="11906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32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98779" algn="l" rtl="0" eaLnBrk="0">
                        <a:lnSpc>
                          <a:spcPct val="73000"/>
                        </a:lnSpc>
                        <a:tabLst/>
                      </a:pPr>
                      <a:r>
                        <a:rPr sz="2400" b="1" kern="0" spc="-3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Nature</a:t>
                      </a:r>
                      <a:endParaRPr sz="2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6" name="table 76"/>
          <p:cNvGraphicFramePr>
            <a:graphicFrameLocks noGrp="1"/>
          </p:cNvGraphicFramePr>
          <p:nvPr/>
        </p:nvGraphicFramePr>
        <p:xfrm>
          <a:off x="4720590" y="4477511"/>
          <a:ext cx="3921759" cy="1190625"/>
        </p:xfrm>
        <a:graphic>
          <a:graphicData uri="http://schemas.openxmlformats.org/drawingml/2006/table">
            <a:tbl>
              <a:tblPr>
                <a:solidFill>
                  <a:srgbClr val="FAF5EF"/>
                </a:solidFill>
              </a:tblPr>
              <a:tblGrid>
                <a:gridCol w="37465"/>
                <a:gridCol w="3884295"/>
              </a:tblGrid>
              <a:tr h="11906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935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8754" algn="l" rtl="0" eaLnBrk="0">
                        <a:lnSpc>
                          <a:spcPct val="78000"/>
                        </a:lnSpc>
                        <a:tabLst/>
                      </a:pP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</a:t>
                      </a:r>
                      <a:r>
                        <a:rPr sz="1800" kern="0" spc="9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What are con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sequences</a:t>
                      </a:r>
                      <a:r>
                        <a:rPr sz="1800" kern="0" spc="5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of</a:t>
                      </a:r>
                      <a:endParaRPr sz="1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19100" indent="-1905" algn="l" rtl="0" eaLnBrk="0">
                        <a:lnSpc>
                          <a:spcPct val="86000"/>
                        </a:lnSpc>
                        <a:spcBef>
                          <a:spcPts val="255"/>
                        </a:spcBef>
                        <a:tabLst/>
                      </a:pP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factory farming to animals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and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  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the environm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ent?</a:t>
                      </a:r>
                      <a:endParaRPr sz="18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F"/>
                    </a:solidFill>
                  </a:tcPr>
                </a:tc>
              </a:tr>
            </a:tbl>
          </a:graphicData>
        </a:graphic>
      </p:graphicFrame>
      <p:sp>
        <p:nvSpPr>
          <p:cNvPr id="78" name="textbox 78"/>
          <p:cNvSpPr/>
          <p:nvPr/>
        </p:nvSpPr>
        <p:spPr>
          <a:xfrm>
            <a:off x="457454" y="1562353"/>
            <a:ext cx="8128634" cy="532765"/>
          </a:xfrm>
          <a:prstGeom prst="roundRect">
            <a:avLst>
              <a:gd name="adj" fmla="val 6853"/>
            </a:avLst>
          </a:prstGeom>
          <a:solidFill>
            <a:srgbClr val="EEF3F0">
              <a:alpha val="100000"/>
            </a:srgbClr>
          </a:solidFill>
          <a:ln w="12700" cap="flat">
            <a:solidFill>
              <a:srgbClr val="C8D6CE"/>
            </a:solidFill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62864" algn="l" rtl="0" eaLnBrk="0">
              <a:lnSpc>
                <a:spcPct val="76000"/>
              </a:lnSpc>
              <a:spcBef>
                <a:spcPts val="6"/>
              </a:spcBef>
              <a:tabLst>
                <a:tab pos="226059" algn="l"/>
              </a:tabLst>
            </a:pPr>
            <a:r>
              <a:rPr sz="2400" kern="0" spc="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24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Production</a:t>
            </a:r>
            <a:r>
              <a:rPr sz="2400" kern="0" spc="17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pr</a:t>
            </a:r>
            <a:r>
              <a:rPr sz="2400" kern="0" spc="-3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ocess</a:t>
            </a:r>
            <a:r>
              <a:rPr sz="2400" kern="0" spc="17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3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includes:</a:t>
            </a:r>
            <a:endParaRPr sz="2400" dirty="0">
              <a:latin typeface="Arial"/>
              <a:ea typeface="Arial"/>
              <a:cs typeface="Arial"/>
            </a:endParaRPr>
          </a:p>
        </p:txBody>
      </p:sp>
      <p:sp>
        <p:nvSpPr>
          <p:cNvPr id="80" name="path 80"/>
          <p:cNvSpPr/>
          <p:nvPr/>
        </p:nvSpPr>
        <p:spPr>
          <a:xfrm>
            <a:off x="468136" y="1573035"/>
            <a:ext cx="63077" cy="510766"/>
          </a:xfrm>
          <a:custGeom>
            <a:avLst/>
            <a:gdLst/>
            <a:ahLst/>
            <a:cxnLst/>
            <a:rect l="0" t="0" r="0" b="0"/>
            <a:pathLst>
              <a:path w="99" h="804">
                <a:moveTo>
                  <a:pt x="0" y="804"/>
                </a:moveTo>
                <a:lnTo>
                  <a:pt x="99" y="804"/>
                </a:lnTo>
                <a:lnTo>
                  <a:pt x="99" y="0"/>
                </a:lnTo>
                <a:lnTo>
                  <a:pt x="0" y="0"/>
                </a:lnTo>
                <a:lnTo>
                  <a:pt x="0" y="804"/>
                </a:lnTo>
                <a:close/>
              </a:path>
            </a:pathLst>
          </a:custGeom>
          <a:solidFill>
            <a:srgbClr val="D2533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2" name="rect 82"/>
          <p:cNvSpPr/>
          <p:nvPr/>
        </p:nvSpPr>
        <p:spPr>
          <a:xfrm>
            <a:off x="0" y="0"/>
            <a:ext cx="9144000" cy="365759"/>
          </a:xfrm>
          <a:prstGeom prst="rect">
            <a:avLst/>
          </a:prstGeom>
          <a:solidFill>
            <a:srgbClr val="93A29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4" name="textbox 84"/>
          <p:cNvSpPr/>
          <p:nvPr/>
        </p:nvSpPr>
        <p:spPr>
          <a:xfrm>
            <a:off x="466000" y="663923"/>
            <a:ext cx="7270115" cy="4610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696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tabLst/>
            </a:pPr>
            <a:r>
              <a:rPr sz="3600" b="1" kern="0" spc="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Commodity fetis</a:t>
            </a:r>
            <a:r>
              <a:rPr sz="3600" b="1" kern="0" spc="-1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hism (continued)</a:t>
            </a:r>
            <a:endParaRPr sz="3600" dirty="0">
              <a:latin typeface="Arial"/>
              <a:ea typeface="Arial"/>
              <a:cs typeface="Arial"/>
            </a:endParaRPr>
          </a:p>
        </p:txBody>
      </p:sp>
      <p:sp>
        <p:nvSpPr>
          <p:cNvPr id="86" name="textbox 86"/>
          <p:cNvSpPr/>
          <p:nvPr/>
        </p:nvSpPr>
        <p:spPr>
          <a:xfrm>
            <a:off x="6537680" y="6473393"/>
            <a:ext cx="2493010" cy="2432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37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tabLst/>
            </a:pPr>
            <a:r>
              <a:rPr sz="18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© 2017 Taylor &amp;</a:t>
            </a:r>
            <a:r>
              <a:rPr sz="1800" kern="0" spc="2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Francis</a:t>
            </a:r>
            <a:endParaRPr sz="18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8" name="table 88"/>
          <p:cNvGraphicFramePr>
            <a:graphicFrameLocks noGrp="1"/>
          </p:cNvGraphicFramePr>
          <p:nvPr/>
        </p:nvGraphicFramePr>
        <p:xfrm>
          <a:off x="502158" y="4184904"/>
          <a:ext cx="8140065" cy="1816100"/>
        </p:xfrm>
        <a:graphic>
          <a:graphicData uri="http://schemas.openxmlformats.org/drawingml/2006/table">
            <a:tbl>
              <a:tblPr>
                <a:solidFill>
                  <a:srgbClr val="FAF5EF"/>
                </a:solidFill>
              </a:tblPr>
              <a:tblGrid>
                <a:gridCol w="37465"/>
                <a:gridCol w="8102600"/>
              </a:tblGrid>
              <a:tr h="18161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3514" algn="l" rtl="0" eaLnBrk="0">
                        <a:lnSpc>
                          <a:spcPct val="79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  What kinds of food are</a:t>
                      </a:r>
                      <a:r>
                        <a:rPr sz="1800" kern="0" spc="6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associated with</a:t>
                      </a:r>
                      <a:r>
                        <a:rPr sz="1800" kern="0" spc="7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  <a:r>
                        <a:rPr sz="1800" kern="0" spc="1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holid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ay your family</a:t>
                      </a:r>
                      <a:r>
                        <a:rPr sz="1800" kern="0" spc="8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celebrates?</a:t>
                      </a:r>
                      <a:endParaRPr sz="1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3514" algn="l" rtl="0" eaLnBrk="0">
                        <a:lnSpc>
                          <a:spcPct val="79000"/>
                        </a:lnSpc>
                        <a:spcBef>
                          <a:spcPts val="880"/>
                        </a:spcBef>
                        <a:tabLst/>
                      </a:pP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  Would you prefer t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</a:t>
                      </a:r>
                      <a:r>
                        <a:rPr sz="1800" kern="0" spc="6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eat</a:t>
                      </a:r>
                      <a:r>
                        <a:rPr sz="1800" kern="0" spc="6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some</a:t>
                      </a:r>
                      <a:r>
                        <a:rPr sz="1800" kern="0" spc="6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other food</a:t>
                      </a:r>
                      <a:r>
                        <a:rPr sz="1800" kern="0" spc="6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on</a:t>
                      </a:r>
                      <a:r>
                        <a:rPr sz="1800" kern="0" spc="3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that</a:t>
                      </a:r>
                      <a:r>
                        <a:rPr sz="1800" kern="0" spc="1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holiday?</a:t>
                      </a:r>
                      <a:endParaRPr sz="1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3514" algn="l" rtl="0" eaLnBrk="0">
                        <a:lnSpc>
                          <a:spcPct val="79000"/>
                        </a:lnSpc>
                        <a:spcBef>
                          <a:spcPts val="880"/>
                        </a:spcBef>
                        <a:tabLst/>
                      </a:pP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</a:t>
                      </a:r>
                      <a:r>
                        <a:rPr sz="1800" kern="0" spc="17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If so,</a:t>
                      </a:r>
                      <a:r>
                        <a:rPr sz="1800" kern="0" spc="1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have you sugge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sted the change to your family members?</a:t>
                      </a:r>
                      <a:endParaRPr sz="1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3514" algn="l" rtl="0" eaLnBrk="0">
                        <a:lnSpc>
                          <a:spcPct val="79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800" kern="0" spc="-3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</a:t>
                      </a:r>
                      <a:r>
                        <a:rPr sz="1800" kern="0" spc="10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1800" kern="0" spc="-3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Why?</a:t>
                      </a:r>
                      <a:endParaRPr sz="18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0" name="table 90"/>
          <p:cNvGraphicFramePr>
            <a:graphicFrameLocks noGrp="1"/>
          </p:cNvGraphicFramePr>
          <p:nvPr/>
        </p:nvGraphicFramePr>
        <p:xfrm>
          <a:off x="502158" y="1314450"/>
          <a:ext cx="8140065" cy="1581150"/>
        </p:xfrm>
        <a:graphic>
          <a:graphicData uri="http://schemas.openxmlformats.org/drawingml/2006/table">
            <a:tbl>
              <a:tblPr>
                <a:solidFill>
                  <a:srgbClr val="EEF3F0"/>
                </a:solidFill>
              </a:tblPr>
              <a:tblGrid>
                <a:gridCol w="37465"/>
                <a:gridCol w="8102600"/>
              </a:tblGrid>
              <a:tr h="15811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8435" algn="l" rtl="0" eaLnBrk="0">
                        <a:lnSpc>
                          <a:spcPct val="78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The </a:t>
                      </a:r>
                      <a:r>
                        <a:rPr sz="2400" b="1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sacred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and th</a:t>
                      </a:r>
                      <a:r>
                        <a:rPr sz="24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</a:t>
                      </a:r>
                      <a:r>
                        <a:rPr sz="2400" kern="0" spc="16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b="1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profane</a:t>
                      </a:r>
                      <a:r>
                        <a:rPr sz="2400" b="1" kern="0" spc="17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in social</a:t>
                      </a:r>
                      <a:r>
                        <a:rPr sz="2400" kern="0" spc="16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life.</a:t>
                      </a:r>
                      <a:endParaRPr sz="2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9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7800" algn="l" rtl="0" eaLnBrk="0">
                        <a:lnSpc>
                          <a:spcPct val="78000"/>
                        </a:lnSpc>
                        <a:spcBef>
                          <a:spcPts val="722"/>
                        </a:spcBef>
                        <a:tabLst/>
                      </a:pPr>
                      <a:r>
                        <a:rPr sz="2400" b="1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Totem: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  <a:r>
                        <a:rPr sz="2400" kern="0" spc="15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plant or animal</a:t>
                      </a:r>
                      <a:r>
                        <a:rPr sz="2400" kern="0" spc="18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b="1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representing </a:t>
                      </a:r>
                      <a:r>
                        <a:rPr sz="24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the</a:t>
                      </a:r>
                      <a:endParaRPr sz="2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0975" algn="l" rtl="0" eaLnBrk="0">
                        <a:lnSpc>
                          <a:spcPct val="91000"/>
                        </a:lnSpc>
                        <a:spcBef>
                          <a:spcPts val="25"/>
                        </a:spcBef>
                        <a:tabLst/>
                      </a:pP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group/society.</a:t>
                      </a:r>
                      <a:endParaRPr sz="2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2" name="table 92"/>
          <p:cNvGraphicFramePr>
            <a:graphicFrameLocks noGrp="1"/>
          </p:cNvGraphicFramePr>
          <p:nvPr/>
        </p:nvGraphicFramePr>
        <p:xfrm>
          <a:off x="502158" y="3137153"/>
          <a:ext cx="8140065" cy="883920"/>
        </p:xfrm>
        <a:graphic>
          <a:graphicData uri="http://schemas.openxmlformats.org/drawingml/2006/table">
            <a:tbl>
              <a:tblPr>
                <a:solidFill>
                  <a:srgbClr val="EEF3F0"/>
                </a:solidFill>
              </a:tblPr>
              <a:tblGrid>
                <a:gridCol w="37465"/>
                <a:gridCol w="8102600"/>
              </a:tblGrid>
              <a:tr h="88391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8754" indent="-24129" algn="l" rtl="0" eaLnBrk="0">
                        <a:lnSpc>
                          <a:spcPct val="8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24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Worship of a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totem</a:t>
                      </a:r>
                      <a:r>
                        <a:rPr sz="2400" kern="0" spc="15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is worship of the group/society</a:t>
                      </a:r>
                      <a:r>
                        <a:rPr sz="2400" kern="0" spc="18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itself.</a:t>
                      </a:r>
                      <a:r>
                        <a:rPr sz="24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It generates </a:t>
                      </a:r>
                      <a:r>
                        <a:rPr sz="2400" b="1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social solidarity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.</a:t>
                      </a:r>
                      <a:endParaRPr sz="2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</a:tr>
            </a:tbl>
          </a:graphicData>
        </a:graphic>
      </p:graphicFrame>
      <p:sp>
        <p:nvSpPr>
          <p:cNvPr id="94" name="rect 94"/>
          <p:cNvSpPr/>
          <p:nvPr/>
        </p:nvSpPr>
        <p:spPr>
          <a:xfrm>
            <a:off x="0" y="0"/>
            <a:ext cx="9144000" cy="365759"/>
          </a:xfrm>
          <a:prstGeom prst="rect">
            <a:avLst/>
          </a:prstGeom>
          <a:solidFill>
            <a:srgbClr val="93A29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6" name="textbox 96"/>
          <p:cNvSpPr/>
          <p:nvPr/>
        </p:nvSpPr>
        <p:spPr>
          <a:xfrm>
            <a:off x="477436" y="663923"/>
            <a:ext cx="5379084" cy="4546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17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8000"/>
              </a:lnSpc>
              <a:tabLst/>
            </a:pPr>
            <a:r>
              <a:rPr sz="3600" b="1" kern="0" spc="-1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Durkheim: food as tote</a:t>
            </a:r>
            <a:r>
              <a:rPr sz="3600" b="1" kern="0" spc="-2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m</a:t>
            </a:r>
            <a:endParaRPr sz="3600" dirty="0">
              <a:latin typeface="Arial"/>
              <a:ea typeface="Arial"/>
              <a:cs typeface="Arial"/>
            </a:endParaRPr>
          </a:p>
        </p:txBody>
      </p:sp>
      <p:sp>
        <p:nvSpPr>
          <p:cNvPr id="98" name="textbox 98"/>
          <p:cNvSpPr/>
          <p:nvPr/>
        </p:nvSpPr>
        <p:spPr>
          <a:xfrm>
            <a:off x="6537680" y="6473393"/>
            <a:ext cx="2493010" cy="2432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37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tabLst/>
            </a:pPr>
            <a:r>
              <a:rPr sz="18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© 2017 Taylor &amp;</a:t>
            </a:r>
            <a:r>
              <a:rPr sz="1800" kern="0" spc="2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Francis</a:t>
            </a:r>
            <a:endParaRPr sz="18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0" name="table 100"/>
          <p:cNvGraphicFramePr>
            <a:graphicFrameLocks noGrp="1"/>
          </p:cNvGraphicFramePr>
          <p:nvPr/>
        </p:nvGraphicFramePr>
        <p:xfrm>
          <a:off x="502158" y="3886200"/>
          <a:ext cx="8140065" cy="1667510"/>
        </p:xfrm>
        <a:graphic>
          <a:graphicData uri="http://schemas.openxmlformats.org/drawingml/2006/table">
            <a:tbl>
              <a:tblPr>
                <a:solidFill>
                  <a:srgbClr val="FAF5EF"/>
                </a:solidFill>
              </a:tblPr>
              <a:tblGrid>
                <a:gridCol w="37465"/>
                <a:gridCol w="8102600"/>
              </a:tblGrid>
              <a:tr h="16675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3514" algn="l" rtl="0" eaLnBrk="0">
                        <a:lnSpc>
                          <a:spcPct val="79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</a:t>
                      </a:r>
                      <a:r>
                        <a:rPr sz="1800" kern="0" spc="19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How would you explain this research</a:t>
                      </a:r>
                      <a:r>
                        <a:rPr sz="1800" kern="0" spc="1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result?</a:t>
                      </a:r>
                      <a:endParaRPr sz="1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3514" algn="l" rtl="0" eaLnBrk="0">
                        <a:lnSpc>
                          <a:spcPct val="79000"/>
                        </a:lnSpc>
                        <a:spcBef>
                          <a:spcPts val="880"/>
                        </a:spcBef>
                        <a:tabLst/>
                      </a:pP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</a:t>
                      </a:r>
                      <a:r>
                        <a:rPr sz="1800" kern="0" spc="15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Do you agree with your pa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rents’ division of food</a:t>
                      </a:r>
                      <a:r>
                        <a:rPr sz="1800" kern="0" spc="13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labour? Why or why</a:t>
                      </a:r>
                      <a:r>
                        <a:rPr sz="1800" kern="0" spc="1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not?</a:t>
                      </a:r>
                      <a:endParaRPr sz="1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3514" algn="l" rtl="0" eaLnBrk="0">
                        <a:lnSpc>
                          <a:spcPct val="79000"/>
                        </a:lnSpc>
                        <a:spcBef>
                          <a:spcPts val="880"/>
                        </a:spcBef>
                        <a:tabLst/>
                      </a:pP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</a:t>
                      </a:r>
                      <a:r>
                        <a:rPr sz="1800" kern="0" spc="15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Do you</a:t>
                      </a:r>
                      <a:r>
                        <a:rPr sz="1800" kern="0" spc="1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intend to</a:t>
                      </a:r>
                      <a:r>
                        <a:rPr sz="1800" kern="0" spc="1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reproduce i</a:t>
                      </a:r>
                      <a:r>
                        <a:rPr sz="1800" kern="0" spc="-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</a:t>
                      </a:r>
                      <a:r>
                        <a:rPr sz="1800" kern="0" spc="1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in your own</a:t>
                      </a:r>
                      <a:r>
                        <a:rPr sz="1800" kern="0" spc="1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household?</a:t>
                      </a:r>
                      <a:endParaRPr sz="1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3514" algn="l" rtl="0" eaLnBrk="0">
                        <a:lnSpc>
                          <a:spcPct val="79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</a:t>
                      </a:r>
                      <a:r>
                        <a:rPr sz="1800" kern="0" spc="16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If not, how would</a:t>
                      </a:r>
                      <a:r>
                        <a:rPr sz="1800" kern="0" spc="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yo</a:t>
                      </a:r>
                      <a:r>
                        <a:rPr sz="1800" kern="0" spc="-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u</a:t>
                      </a:r>
                      <a:r>
                        <a:rPr sz="1800" kern="0" spc="7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change</a:t>
                      </a:r>
                      <a:r>
                        <a:rPr sz="1800" kern="0" spc="1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it?</a:t>
                      </a:r>
                      <a:endParaRPr sz="18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2" name="table 102"/>
          <p:cNvGraphicFramePr>
            <a:graphicFrameLocks noGrp="1"/>
          </p:cNvGraphicFramePr>
          <p:nvPr/>
        </p:nvGraphicFramePr>
        <p:xfrm>
          <a:off x="502158" y="2281428"/>
          <a:ext cx="8140065" cy="1463675"/>
        </p:xfrm>
        <a:graphic>
          <a:graphicData uri="http://schemas.openxmlformats.org/drawingml/2006/table">
            <a:tbl>
              <a:tblPr>
                <a:solidFill>
                  <a:srgbClr val="EEF3F0"/>
                </a:solidFill>
              </a:tblPr>
              <a:tblGrid>
                <a:gridCol w="37465"/>
                <a:gridCol w="8102600"/>
              </a:tblGrid>
              <a:tr h="14636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844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3675" algn="l" rtl="0" eaLnBrk="0">
                        <a:lnSpc>
                          <a:spcPct val="79000"/>
                        </a:lnSpc>
                        <a:tabLst/>
                      </a:pPr>
                      <a:r>
                        <a:rPr sz="24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Most</a:t>
                      </a:r>
                      <a:r>
                        <a:rPr sz="2400" kern="0" spc="19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people</a:t>
                      </a:r>
                      <a:r>
                        <a:rPr sz="2400" kern="0" spc="19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b="1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reject the</a:t>
                      </a:r>
                      <a:r>
                        <a:rPr sz="2400" b="1" kern="0" spc="17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b="1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idea </a:t>
                      </a:r>
                      <a:r>
                        <a:rPr sz="24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that foodwork</a:t>
                      </a:r>
                      <a:r>
                        <a:rPr sz="2400" kern="0" spc="17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is “women’s</a:t>
                      </a:r>
                      <a:endParaRPr sz="2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1135" indent="-19050" algn="l" rtl="0" eaLnBrk="0">
                        <a:lnSpc>
                          <a:spcPct val="86000"/>
                        </a:lnSpc>
                        <a:spcBef>
                          <a:spcPts val="317"/>
                        </a:spcBef>
                        <a:tabLst/>
                      </a:pP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work,”</a:t>
                      </a:r>
                      <a:r>
                        <a:rPr sz="2400" kern="0" spc="15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but</a:t>
                      </a:r>
                      <a:r>
                        <a:rPr sz="2400" kern="0" spc="16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unpaid foodwork at home</a:t>
                      </a:r>
                      <a:r>
                        <a:rPr sz="2400" kern="0" spc="17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is still</a:t>
                      </a:r>
                      <a:r>
                        <a:rPr sz="2400" kern="0" spc="16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predominantly</a:t>
                      </a:r>
                      <a:r>
                        <a:rPr sz="24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24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performed</a:t>
                      </a:r>
                      <a:r>
                        <a:rPr sz="2400" kern="0" spc="18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by </a:t>
                      </a:r>
                      <a:r>
                        <a:rPr sz="2400" b="1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women</a:t>
                      </a:r>
                      <a:r>
                        <a:rPr sz="24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.</a:t>
                      </a:r>
                      <a:endParaRPr sz="2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</a:tr>
            </a:tbl>
          </a:graphicData>
        </a:graphic>
      </p:graphicFrame>
      <p:sp>
        <p:nvSpPr>
          <p:cNvPr id="104" name="textbox 104"/>
          <p:cNvSpPr/>
          <p:nvPr/>
        </p:nvSpPr>
        <p:spPr>
          <a:xfrm>
            <a:off x="508508" y="1320800"/>
            <a:ext cx="8128000" cy="635000"/>
          </a:xfrm>
          <a:prstGeom prst="roundRect">
            <a:avLst>
              <a:gd name="adj" fmla="val 6491"/>
            </a:avLst>
          </a:prstGeom>
          <a:solidFill>
            <a:srgbClr val="EEF3F0">
              <a:alpha val="100000"/>
            </a:srgbClr>
          </a:solidFill>
          <a:ln w="12700" cap="flat">
            <a:solidFill>
              <a:srgbClr val="C8D6CE"/>
            </a:solidFill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62864" algn="l" rtl="0" eaLnBrk="0">
              <a:lnSpc>
                <a:spcPct val="77000"/>
              </a:lnSpc>
              <a:tabLst>
                <a:tab pos="224790" algn="l"/>
              </a:tabLst>
            </a:pPr>
            <a:r>
              <a:rPr sz="2400" kern="0" spc="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24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Bringing food to the ta</a:t>
            </a:r>
            <a:r>
              <a:rPr sz="24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ble</a:t>
            </a:r>
            <a:r>
              <a:rPr sz="2400" kern="0" spc="15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involves</a:t>
            </a:r>
            <a:r>
              <a:rPr sz="2400" kern="0" spc="18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paid and</a:t>
            </a:r>
            <a:r>
              <a:rPr sz="2400" kern="0" spc="18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1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unpaid </a:t>
            </a:r>
            <a:r>
              <a:rPr sz="2400" kern="0" spc="-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work.</a:t>
            </a:r>
            <a:endParaRPr sz="2400" dirty="0">
              <a:latin typeface="Arial"/>
              <a:ea typeface="Arial"/>
              <a:cs typeface="Arial"/>
            </a:endParaRPr>
          </a:p>
        </p:txBody>
      </p:sp>
      <p:sp>
        <p:nvSpPr>
          <p:cNvPr id="106" name="path 106"/>
          <p:cNvSpPr/>
          <p:nvPr/>
        </p:nvSpPr>
        <p:spPr>
          <a:xfrm>
            <a:off x="520581" y="1332873"/>
            <a:ext cx="63147" cy="610852"/>
          </a:xfrm>
          <a:custGeom>
            <a:avLst/>
            <a:gdLst/>
            <a:ahLst/>
            <a:cxnLst/>
            <a:rect l="0" t="0" r="0" b="0"/>
            <a:pathLst>
              <a:path w="99" h="961">
                <a:moveTo>
                  <a:pt x="0" y="961"/>
                </a:moveTo>
                <a:lnTo>
                  <a:pt x="99" y="961"/>
                </a:lnTo>
                <a:lnTo>
                  <a:pt x="99" y="0"/>
                </a:lnTo>
                <a:lnTo>
                  <a:pt x="0" y="0"/>
                </a:lnTo>
                <a:lnTo>
                  <a:pt x="0" y="961"/>
                </a:lnTo>
                <a:close/>
              </a:path>
            </a:pathLst>
          </a:custGeom>
          <a:solidFill>
            <a:srgbClr val="D2533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8" name="rect 108"/>
          <p:cNvSpPr/>
          <p:nvPr/>
        </p:nvSpPr>
        <p:spPr>
          <a:xfrm>
            <a:off x="0" y="0"/>
            <a:ext cx="9144000" cy="365759"/>
          </a:xfrm>
          <a:prstGeom prst="rect">
            <a:avLst/>
          </a:prstGeom>
          <a:solidFill>
            <a:srgbClr val="93A29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10" name="textbox 110"/>
          <p:cNvSpPr/>
          <p:nvPr/>
        </p:nvSpPr>
        <p:spPr>
          <a:xfrm>
            <a:off x="478351" y="663923"/>
            <a:ext cx="5251450" cy="4546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17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8000"/>
              </a:lnSpc>
              <a:tabLst/>
            </a:pPr>
            <a:r>
              <a:rPr sz="3600" b="1" kern="0" spc="-1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Feminism and fo</a:t>
            </a:r>
            <a:r>
              <a:rPr sz="3600" b="1" kern="0" spc="-2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odwork</a:t>
            </a:r>
            <a:endParaRPr sz="3600" dirty="0">
              <a:latin typeface="Arial"/>
              <a:ea typeface="Arial"/>
              <a:cs typeface="Arial"/>
            </a:endParaRPr>
          </a:p>
        </p:txBody>
      </p:sp>
      <p:sp>
        <p:nvSpPr>
          <p:cNvPr id="112" name="textbox 112"/>
          <p:cNvSpPr/>
          <p:nvPr/>
        </p:nvSpPr>
        <p:spPr>
          <a:xfrm>
            <a:off x="6537680" y="6473393"/>
            <a:ext cx="2493010" cy="2432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37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tabLst/>
            </a:pPr>
            <a:r>
              <a:rPr sz="18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© 2017 Taylor &amp;</a:t>
            </a:r>
            <a:r>
              <a:rPr sz="1800" kern="0" spc="2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Francis</a:t>
            </a:r>
            <a:endParaRPr sz="18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4" name="table 114"/>
          <p:cNvGraphicFramePr>
            <a:graphicFrameLocks noGrp="1"/>
          </p:cNvGraphicFramePr>
          <p:nvPr/>
        </p:nvGraphicFramePr>
        <p:xfrm>
          <a:off x="502158" y="2484882"/>
          <a:ext cx="8140065" cy="1374775"/>
        </p:xfrm>
        <a:graphic>
          <a:graphicData uri="http://schemas.openxmlformats.org/drawingml/2006/table">
            <a:tbl>
              <a:tblPr>
                <a:solidFill>
                  <a:srgbClr val="EEF3F0"/>
                </a:solidFill>
              </a:tblPr>
              <a:tblGrid>
                <a:gridCol w="37465"/>
                <a:gridCol w="8102600"/>
              </a:tblGrid>
              <a:tr h="13747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95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5579" algn="l" rtl="0" eaLnBrk="0">
                        <a:lnSpc>
                          <a:spcPct val="78000"/>
                        </a:lnSpc>
                        <a:tabLst/>
                      </a:pP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Elements of cultur</a:t>
                      </a:r>
                      <a:r>
                        <a:rPr sz="24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e:</a:t>
                      </a:r>
                      <a:endParaRPr sz="2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50240" algn="l" rtl="0" eaLnBrk="0">
                        <a:lnSpc>
                          <a:spcPct val="78000"/>
                        </a:lnSpc>
                        <a:spcBef>
                          <a:spcPts val="587"/>
                        </a:spcBef>
                        <a:tabLst/>
                      </a:pPr>
                      <a:r>
                        <a:rPr sz="2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1.   Material</a:t>
                      </a:r>
                      <a:r>
                        <a:rPr sz="2200" b="1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an</a:t>
                      </a:r>
                      <a:r>
                        <a:rPr sz="2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</a:t>
                      </a:r>
                      <a:endParaRPr sz="2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35634" algn="l" rtl="0" eaLnBrk="0">
                        <a:lnSpc>
                          <a:spcPct val="79000"/>
                        </a:lnSpc>
                        <a:spcBef>
                          <a:spcPts val="585"/>
                        </a:spcBef>
                        <a:tabLst/>
                      </a:pPr>
                      <a:r>
                        <a:rPr sz="22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2.   Non-mat</a:t>
                      </a:r>
                      <a:r>
                        <a:rPr sz="2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erial</a:t>
                      </a:r>
                      <a:r>
                        <a:rPr sz="2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:</a:t>
                      </a:r>
                      <a:r>
                        <a:rPr sz="2200" kern="0" spc="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norms, values and symbols.</a:t>
                      </a:r>
                      <a:endParaRPr sz="2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6" name="table 116"/>
          <p:cNvGraphicFramePr>
            <a:graphicFrameLocks noGrp="1"/>
          </p:cNvGraphicFramePr>
          <p:nvPr/>
        </p:nvGraphicFramePr>
        <p:xfrm>
          <a:off x="502158" y="3956304"/>
          <a:ext cx="8140065" cy="1365250"/>
        </p:xfrm>
        <a:graphic>
          <a:graphicData uri="http://schemas.openxmlformats.org/drawingml/2006/table">
            <a:tbl>
              <a:tblPr>
                <a:solidFill>
                  <a:srgbClr val="FAF5EF"/>
                </a:solidFill>
              </a:tblPr>
              <a:tblGrid>
                <a:gridCol w="37465"/>
                <a:gridCol w="8102600"/>
              </a:tblGrid>
              <a:tr h="13652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7669" indent="-224154" algn="l" rtl="0" eaLnBrk="0">
                        <a:lnSpc>
                          <a:spcPct val="8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  What are the material</a:t>
                      </a:r>
                      <a:r>
                        <a:rPr sz="1800" kern="0" spc="6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and</a:t>
                      </a:r>
                      <a:r>
                        <a:rPr sz="1800" kern="0" spc="1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non-material</a:t>
                      </a:r>
                      <a:r>
                        <a:rPr sz="1800" kern="0" spc="5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element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</a:t>
                      </a:r>
                      <a:r>
                        <a:rPr sz="1800" kern="0" spc="5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of Thanksgiving turkey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as a food</a:t>
                      </a:r>
                      <a:r>
                        <a:rPr sz="1800" kern="0" spc="7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totem?</a:t>
                      </a:r>
                      <a:endParaRPr sz="1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10844" indent="-227329" algn="l" rtl="0" eaLnBrk="0">
                        <a:lnSpc>
                          <a:spcPct val="80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  What material and</a:t>
                      </a:r>
                      <a:r>
                        <a:rPr sz="1800" kern="0" spc="1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non-material elem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ents</a:t>
                      </a:r>
                      <a:r>
                        <a:rPr sz="1800" kern="0" spc="6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contribute</a:t>
                      </a:r>
                      <a:r>
                        <a:rPr sz="1800" kern="0" spc="3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to</a:t>
                      </a:r>
                      <a:r>
                        <a:rPr sz="1800" kern="0" spc="1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popularity</a:t>
                      </a:r>
                      <a:r>
                        <a:rPr sz="1800" kern="0" spc="5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of</a:t>
                      </a:r>
                      <a:r>
                        <a:rPr sz="1800" kern="0" spc="3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Coca-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1800" kern="0" spc="-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Cola?</a:t>
                      </a:r>
                      <a:endParaRPr sz="18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8" name="table 118"/>
          <p:cNvGraphicFramePr>
            <a:graphicFrameLocks noGrp="1"/>
          </p:cNvGraphicFramePr>
          <p:nvPr/>
        </p:nvGraphicFramePr>
        <p:xfrm>
          <a:off x="502158" y="1314450"/>
          <a:ext cx="8140065" cy="946150"/>
        </p:xfrm>
        <a:graphic>
          <a:graphicData uri="http://schemas.openxmlformats.org/drawingml/2006/table">
            <a:tbl>
              <a:tblPr>
                <a:solidFill>
                  <a:srgbClr val="EEF3F0"/>
                </a:solidFill>
              </a:tblPr>
              <a:tblGrid>
                <a:gridCol w="37465"/>
                <a:gridCol w="8102600"/>
              </a:tblGrid>
              <a:tr h="9461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37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1610" indent="3175" algn="l" rtl="0" eaLnBrk="0">
                        <a:lnSpc>
                          <a:spcPct val="85000"/>
                        </a:lnSpc>
                        <a:tabLst/>
                      </a:pP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Systems and</a:t>
                      </a:r>
                      <a:r>
                        <a:rPr sz="2400" kern="0" spc="16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patterns of </a:t>
                      </a:r>
                      <a:r>
                        <a:rPr sz="2400" b="1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mean</a:t>
                      </a:r>
                      <a:r>
                        <a:rPr sz="2400" b="1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ing</a:t>
                      </a:r>
                      <a:r>
                        <a:rPr sz="24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, </a:t>
                      </a:r>
                      <a:r>
                        <a:rPr sz="2400" b="1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shared</a:t>
                      </a:r>
                      <a:r>
                        <a:rPr sz="2400" b="1" kern="0" spc="16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by</a:t>
                      </a:r>
                      <a:r>
                        <a:rPr sz="2400" kern="0" spc="16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members</a:t>
                      </a:r>
                      <a:r>
                        <a:rPr sz="24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of a group</a:t>
                      </a:r>
                      <a:r>
                        <a:rPr sz="24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.</a:t>
                      </a:r>
                      <a:endParaRPr sz="2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</a:tr>
            </a:tbl>
          </a:graphicData>
        </a:graphic>
      </p:graphicFrame>
      <p:sp>
        <p:nvSpPr>
          <p:cNvPr id="120" name="rect 120"/>
          <p:cNvSpPr/>
          <p:nvPr/>
        </p:nvSpPr>
        <p:spPr>
          <a:xfrm>
            <a:off x="0" y="0"/>
            <a:ext cx="9144000" cy="365759"/>
          </a:xfrm>
          <a:prstGeom prst="rect">
            <a:avLst/>
          </a:prstGeom>
          <a:solidFill>
            <a:srgbClr val="93A29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22" name="textbox 122"/>
          <p:cNvSpPr/>
          <p:nvPr/>
        </p:nvSpPr>
        <p:spPr>
          <a:xfrm>
            <a:off x="466000" y="663923"/>
            <a:ext cx="1605280" cy="431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86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4000"/>
              </a:lnSpc>
              <a:tabLst/>
            </a:pPr>
            <a:r>
              <a:rPr sz="3600" b="1" kern="0" spc="-3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Culture</a:t>
            </a:r>
            <a:endParaRPr sz="3600" dirty="0">
              <a:latin typeface="Arial"/>
              <a:ea typeface="Arial"/>
              <a:cs typeface="Arial"/>
            </a:endParaRPr>
          </a:p>
        </p:txBody>
      </p:sp>
      <p:sp>
        <p:nvSpPr>
          <p:cNvPr id="124" name="textbox 124"/>
          <p:cNvSpPr/>
          <p:nvPr/>
        </p:nvSpPr>
        <p:spPr>
          <a:xfrm>
            <a:off x="6537680" y="6473393"/>
            <a:ext cx="2493010" cy="2432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37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tabLst/>
            </a:pPr>
            <a:r>
              <a:rPr sz="18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© 2017 Taylor &amp;</a:t>
            </a:r>
            <a:r>
              <a:rPr sz="1800" kern="0" spc="2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Francis</a:t>
            </a:r>
            <a:endParaRPr sz="18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6" name="table 126"/>
          <p:cNvGraphicFramePr>
            <a:graphicFrameLocks noGrp="1"/>
          </p:cNvGraphicFramePr>
          <p:nvPr/>
        </p:nvGraphicFramePr>
        <p:xfrm>
          <a:off x="502158" y="2425445"/>
          <a:ext cx="8140065" cy="2044700"/>
        </p:xfrm>
        <a:graphic>
          <a:graphicData uri="http://schemas.openxmlformats.org/drawingml/2006/table">
            <a:tbl>
              <a:tblPr>
                <a:solidFill>
                  <a:srgbClr val="FAF5EF"/>
                </a:solidFill>
              </a:tblPr>
              <a:tblGrid>
                <a:gridCol w="37465"/>
                <a:gridCol w="8102600"/>
              </a:tblGrid>
              <a:tr h="20447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3514" algn="l" rtl="0" eaLnBrk="0">
                        <a:lnSpc>
                          <a:spcPct val="79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</a:t>
                      </a:r>
                      <a:r>
                        <a:rPr sz="1800" kern="0" spc="15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Do you eat with you</a:t>
                      </a:r>
                      <a:r>
                        <a:rPr sz="1800" kern="0" spc="-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</a:t>
                      </a:r>
                      <a:r>
                        <a:rPr sz="1800" kern="0" spc="10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hands?</a:t>
                      </a:r>
                      <a:endParaRPr sz="1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3514" algn="l" rtl="0" eaLnBrk="0">
                        <a:lnSpc>
                          <a:spcPct val="79000"/>
                        </a:lnSpc>
                        <a:spcBef>
                          <a:spcPts val="880"/>
                        </a:spcBef>
                        <a:tabLst/>
                      </a:pP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</a:t>
                      </a:r>
                      <a:r>
                        <a:rPr sz="1800" kern="0" spc="16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If so, what</a:t>
                      </a:r>
                      <a:r>
                        <a:rPr sz="1800" kern="0" spc="13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kind of food do you eat</a:t>
                      </a:r>
                      <a:r>
                        <a:rPr sz="1800" kern="0" spc="1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in this </a:t>
                      </a:r>
                      <a:r>
                        <a:rPr sz="1800" kern="0" spc="-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way?</a:t>
                      </a:r>
                      <a:endParaRPr sz="1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3514" algn="l" rtl="0" eaLnBrk="0">
                        <a:lnSpc>
                          <a:spcPct val="79000"/>
                        </a:lnSpc>
                        <a:spcBef>
                          <a:spcPts val="880"/>
                        </a:spcBef>
                        <a:tabLst/>
                      </a:pP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</a:t>
                      </a:r>
                      <a:r>
                        <a:rPr sz="1800" kern="0" spc="17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In whose company can you eat</a:t>
                      </a:r>
                      <a:r>
                        <a:rPr sz="1800" kern="0" spc="1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in</a:t>
                      </a:r>
                      <a:r>
                        <a:rPr sz="1800" kern="0" spc="3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this wa</a:t>
                      </a:r>
                      <a:r>
                        <a:rPr sz="1800" kern="0" spc="-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y?</a:t>
                      </a:r>
                      <a:endParaRPr sz="1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3514" algn="l" rtl="0" eaLnBrk="0">
                        <a:lnSpc>
                          <a:spcPct val="79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800" kern="0" spc="-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</a:t>
                      </a:r>
                      <a:r>
                        <a:rPr sz="1800" kern="0" spc="18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1800" kern="0" spc="-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Do you eat</a:t>
                      </a:r>
                      <a:r>
                        <a:rPr sz="1800" kern="0" spc="1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pork? Why?</a:t>
                      </a:r>
                      <a:endParaRPr sz="18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8" name="table 128"/>
          <p:cNvGraphicFramePr>
            <a:graphicFrameLocks noGrp="1"/>
          </p:cNvGraphicFramePr>
          <p:nvPr/>
        </p:nvGraphicFramePr>
        <p:xfrm>
          <a:off x="502158" y="1314450"/>
          <a:ext cx="8140065" cy="926465"/>
        </p:xfrm>
        <a:graphic>
          <a:graphicData uri="http://schemas.openxmlformats.org/drawingml/2006/table">
            <a:tbl>
              <a:tblPr>
                <a:solidFill>
                  <a:srgbClr val="EEF3F0"/>
                </a:solidFill>
              </a:tblPr>
              <a:tblGrid>
                <a:gridCol w="37465"/>
                <a:gridCol w="8102600"/>
              </a:tblGrid>
              <a:tr h="92646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37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1610" indent="3810" algn="l" rtl="0" eaLnBrk="0">
                        <a:lnSpc>
                          <a:spcPct val="85000"/>
                        </a:lnSpc>
                        <a:tabLst/>
                      </a:pP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Often informal,</a:t>
                      </a:r>
                      <a:r>
                        <a:rPr sz="2400" kern="0" spc="15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but widely</a:t>
                      </a:r>
                      <a:r>
                        <a:rPr sz="2400" kern="0" spc="18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known and accepted ways</a:t>
                      </a:r>
                      <a:r>
                        <a:rPr sz="2400" kern="0" spc="8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</a:t>
                      </a:r>
                      <a:r>
                        <a:rPr sz="24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f</a:t>
                      </a:r>
                      <a:r>
                        <a:rPr sz="24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doing things within a</a:t>
                      </a:r>
                      <a:r>
                        <a:rPr sz="2400" kern="0" spc="16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culture.</a:t>
                      </a:r>
                      <a:endParaRPr sz="2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</a:tr>
            </a:tbl>
          </a:graphicData>
        </a:graphic>
      </p:graphicFrame>
      <p:sp>
        <p:nvSpPr>
          <p:cNvPr id="130" name="rect 130"/>
          <p:cNvSpPr/>
          <p:nvPr/>
        </p:nvSpPr>
        <p:spPr>
          <a:xfrm>
            <a:off x="0" y="0"/>
            <a:ext cx="9144000" cy="365759"/>
          </a:xfrm>
          <a:prstGeom prst="rect">
            <a:avLst/>
          </a:prstGeom>
          <a:solidFill>
            <a:srgbClr val="93A29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32" name="textbox 132"/>
          <p:cNvSpPr/>
          <p:nvPr/>
        </p:nvSpPr>
        <p:spPr>
          <a:xfrm>
            <a:off x="6537680" y="6473393"/>
            <a:ext cx="2493010" cy="2432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37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tabLst/>
            </a:pPr>
            <a:r>
              <a:rPr sz="18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© 2017 Taylor &amp;</a:t>
            </a:r>
            <a:r>
              <a:rPr sz="1800" kern="0" spc="2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Francis</a:t>
            </a:r>
            <a:endParaRPr sz="1800" dirty="0">
              <a:latin typeface="Arial"/>
              <a:ea typeface="Arial"/>
              <a:cs typeface="Arial"/>
            </a:endParaRPr>
          </a:p>
        </p:txBody>
      </p:sp>
      <p:sp>
        <p:nvSpPr>
          <p:cNvPr id="134" name="textbox 134"/>
          <p:cNvSpPr/>
          <p:nvPr/>
        </p:nvSpPr>
        <p:spPr>
          <a:xfrm>
            <a:off x="478351" y="669413"/>
            <a:ext cx="1440814" cy="4254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28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3000"/>
              </a:lnSpc>
              <a:tabLst/>
            </a:pPr>
            <a:r>
              <a:rPr sz="3600" b="1" kern="0" spc="-5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Norms</a:t>
            </a:r>
            <a:endParaRPr sz="36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6" name="table 136"/>
          <p:cNvGraphicFramePr>
            <a:graphicFrameLocks noGrp="1"/>
          </p:cNvGraphicFramePr>
          <p:nvPr/>
        </p:nvGraphicFramePr>
        <p:xfrm>
          <a:off x="502158" y="1314450"/>
          <a:ext cx="8140065" cy="1660525"/>
        </p:xfrm>
        <a:graphic>
          <a:graphicData uri="http://schemas.openxmlformats.org/drawingml/2006/table">
            <a:tbl>
              <a:tblPr>
                <a:solidFill>
                  <a:srgbClr val="EEF3F0"/>
                </a:solidFill>
              </a:tblPr>
              <a:tblGrid>
                <a:gridCol w="37465"/>
                <a:gridCol w="8102600"/>
              </a:tblGrid>
              <a:tr h="16605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95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1450" algn="l" rtl="0" eaLnBrk="0">
                        <a:lnSpc>
                          <a:spcPct val="78000"/>
                        </a:lnSpc>
                        <a:tabLst/>
                      </a:pP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 </a:t>
                      </a:r>
                      <a:r>
                        <a:rPr sz="2400" b="1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violation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of a social</a:t>
                      </a:r>
                      <a:r>
                        <a:rPr sz="2400" kern="0" spc="23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norm.</a:t>
                      </a:r>
                      <a:endParaRPr sz="2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9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1135" indent="8254" algn="l" rtl="0" eaLnBrk="0">
                        <a:lnSpc>
                          <a:spcPct val="8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Its understanding varies across </a:t>
                      </a:r>
                      <a:r>
                        <a:rPr sz="2400" b="1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cultures</a:t>
                      </a:r>
                      <a:r>
                        <a:rPr sz="2400" b="1" kern="0" spc="17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and</a:t>
                      </a:r>
                      <a:r>
                        <a:rPr sz="2400" kern="0" spc="8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over </a:t>
                      </a:r>
                      <a:r>
                        <a:rPr sz="2400" b="1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time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,</a:t>
                      </a:r>
                      <a:r>
                        <a:rPr sz="24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</a:t>
                      </a:r>
                      <a:r>
                        <a:rPr sz="24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because</a:t>
                      </a:r>
                      <a:r>
                        <a:rPr sz="2400" kern="0" spc="25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norms vary too.</a:t>
                      </a:r>
                      <a:endParaRPr sz="2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8" name="table 138"/>
          <p:cNvGraphicFramePr>
            <a:graphicFrameLocks noGrp="1"/>
          </p:cNvGraphicFramePr>
          <p:nvPr/>
        </p:nvGraphicFramePr>
        <p:xfrm>
          <a:off x="502158" y="3172205"/>
          <a:ext cx="8140065" cy="1282064"/>
        </p:xfrm>
        <a:graphic>
          <a:graphicData uri="http://schemas.openxmlformats.org/drawingml/2006/table">
            <a:tbl>
              <a:tblPr>
                <a:solidFill>
                  <a:srgbClr val="FAF5EF"/>
                </a:solidFill>
              </a:tblPr>
              <a:tblGrid>
                <a:gridCol w="37465"/>
                <a:gridCol w="8102600"/>
              </a:tblGrid>
              <a:tr h="128206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14655" indent="-231140" algn="l" rtl="0" eaLnBrk="0">
                        <a:lnSpc>
                          <a:spcPct val="8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</a:t>
                      </a:r>
                      <a:r>
                        <a:rPr sz="1800" kern="0" spc="15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List animals you conceptualize as food,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and those you conceptualize</a:t>
                      </a:r>
                      <a:r>
                        <a:rPr sz="1800" kern="0" spc="5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as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 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pets.</a:t>
                      </a:r>
                      <a:r>
                        <a:rPr sz="1800" kern="0" spc="16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Is there a</a:t>
                      </a:r>
                      <a:r>
                        <a:rPr sz="1800" kern="0" spc="-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ny</a:t>
                      </a:r>
                      <a:r>
                        <a:rPr sz="1800" kern="0" spc="6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overlap?</a:t>
                      </a:r>
                      <a:endParaRPr sz="1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3514" algn="l" rtl="0" eaLnBrk="0">
                        <a:lnSpc>
                          <a:spcPct val="79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</a:t>
                      </a:r>
                      <a:r>
                        <a:rPr sz="1800" kern="0" spc="15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Do you</a:t>
                      </a:r>
                      <a:r>
                        <a:rPr sz="1800" kern="0" spc="1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know of people who would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write lists different from your own?</a:t>
                      </a:r>
                      <a:endParaRPr sz="18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F"/>
                    </a:solidFill>
                  </a:tcPr>
                </a:tc>
              </a:tr>
            </a:tbl>
          </a:graphicData>
        </a:graphic>
      </p:graphicFrame>
      <p:sp>
        <p:nvSpPr>
          <p:cNvPr id="140" name="rect 140"/>
          <p:cNvSpPr/>
          <p:nvPr/>
        </p:nvSpPr>
        <p:spPr>
          <a:xfrm>
            <a:off x="0" y="0"/>
            <a:ext cx="9144000" cy="365759"/>
          </a:xfrm>
          <a:prstGeom prst="rect">
            <a:avLst/>
          </a:prstGeom>
          <a:solidFill>
            <a:srgbClr val="93A29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42" name="textbox 142"/>
          <p:cNvSpPr/>
          <p:nvPr/>
        </p:nvSpPr>
        <p:spPr>
          <a:xfrm>
            <a:off x="477436" y="669413"/>
            <a:ext cx="2001520" cy="4254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28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3000"/>
              </a:lnSpc>
              <a:tabLst/>
            </a:pPr>
            <a:r>
              <a:rPr sz="3600" b="1" kern="0" spc="-3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Deviance</a:t>
            </a:r>
            <a:endParaRPr sz="3600" dirty="0">
              <a:latin typeface="Arial"/>
              <a:ea typeface="Arial"/>
              <a:cs typeface="Arial"/>
            </a:endParaRPr>
          </a:p>
        </p:txBody>
      </p:sp>
      <p:sp>
        <p:nvSpPr>
          <p:cNvPr id="144" name="textbox 144"/>
          <p:cNvSpPr/>
          <p:nvPr/>
        </p:nvSpPr>
        <p:spPr>
          <a:xfrm>
            <a:off x="6537680" y="6473393"/>
            <a:ext cx="2493010" cy="2432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37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tabLst/>
            </a:pPr>
            <a:r>
              <a:rPr sz="18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© 2017 Taylor &amp;</a:t>
            </a:r>
            <a:r>
              <a:rPr sz="1800" kern="0" spc="2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Francis</a:t>
            </a:r>
            <a:endParaRPr sz="18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6" name="table 146"/>
          <p:cNvGraphicFramePr>
            <a:graphicFrameLocks noGrp="1"/>
          </p:cNvGraphicFramePr>
          <p:nvPr/>
        </p:nvGraphicFramePr>
        <p:xfrm>
          <a:off x="502158" y="2296667"/>
          <a:ext cx="8140065" cy="2174875"/>
        </p:xfrm>
        <a:graphic>
          <a:graphicData uri="http://schemas.openxmlformats.org/drawingml/2006/table">
            <a:tbl>
              <a:tblPr/>
              <a:tblGrid>
                <a:gridCol w="41275"/>
                <a:gridCol w="3909059"/>
                <a:gridCol w="231775"/>
                <a:gridCol w="25400"/>
                <a:gridCol w="3932554"/>
              </a:tblGrid>
              <a:tr h="553084">
                <a:tc gridSpan="5"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237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9214" algn="l" rtl="0" eaLnBrk="0">
                        <a:lnSpc>
                          <a:spcPct val="73000"/>
                        </a:lnSpc>
                        <a:tabLst>
                          <a:tab pos="231140" algn="l"/>
                        </a:tabLst>
                      </a:pPr>
                      <a:r>
                        <a:rPr sz="24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	</a:t>
                      </a:r>
                      <a:r>
                        <a:rPr sz="24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Mechanisms:</a:t>
                      </a:r>
                      <a:endParaRPr sz="2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</a:tr>
              <a:tr h="94615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ts val="695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695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ts val="695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271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18440" algn="l" rtl="0" eaLnBrk="0">
                        <a:lnSpc>
                          <a:spcPct val="78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2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1.   Socialization</a:t>
                      </a:r>
                      <a:endParaRPr sz="2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32765" indent="-330200" algn="l" rtl="0" eaLnBrk="0">
                        <a:lnSpc>
                          <a:spcPct val="93000"/>
                        </a:lnSpc>
                        <a:spcBef>
                          <a:spcPts val="370"/>
                        </a:spcBef>
                        <a:tabLst/>
                      </a:pPr>
                      <a:r>
                        <a:rPr sz="22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   Who</a:t>
                      </a:r>
                      <a:r>
                        <a:rPr sz="2200" kern="0" spc="14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has</a:t>
                      </a:r>
                      <a:r>
                        <a:rPr sz="2200" kern="0" spc="15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influenc</a:t>
                      </a:r>
                      <a:r>
                        <a:rPr sz="2200" kern="0" spc="-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ed your</a:t>
                      </a:r>
                      <a:r>
                        <a:rPr sz="22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</a:t>
                      </a:r>
                      <a:r>
                        <a:rPr sz="22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food preferen</a:t>
                      </a:r>
                      <a:r>
                        <a:rPr sz="22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ces?</a:t>
                      </a:r>
                      <a:endParaRPr sz="2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3175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200" algn="l" rtl="0" eaLnBrk="0">
                        <a:lnSpc>
                          <a:spcPct val="78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2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2.   Surveillance</a:t>
                      </a:r>
                      <a:endParaRPr sz="2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10184" algn="l" rtl="0" eaLnBrk="0">
                        <a:lnSpc>
                          <a:spcPct val="78000"/>
                        </a:lnSpc>
                        <a:spcBef>
                          <a:spcPts val="581"/>
                        </a:spcBef>
                        <a:tabLst/>
                      </a:pPr>
                      <a:r>
                        <a:rPr sz="2200" kern="0" spc="-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</a:t>
                      </a:r>
                      <a:r>
                        <a:rPr sz="2200" kern="0" spc="8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</a:t>
                      </a:r>
                      <a:r>
                        <a:rPr sz="2200" kern="0" spc="-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Should fast food</a:t>
                      </a:r>
                      <a:r>
                        <a:rPr sz="2200" kern="0" spc="16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be</a:t>
                      </a:r>
                      <a:endParaRPr sz="2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56259" indent="-7620" algn="l" rtl="0" eaLnBrk="0">
                        <a:lnSpc>
                          <a:spcPct val="93000"/>
                        </a:lnSpc>
                        <a:spcBef>
                          <a:spcPts val="370"/>
                        </a:spcBef>
                        <a:tabLst/>
                      </a:pPr>
                      <a:r>
                        <a:rPr sz="22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available in</a:t>
                      </a:r>
                      <a:r>
                        <a:rPr sz="2200" kern="0" spc="6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schoo</a:t>
                      </a:r>
                      <a:r>
                        <a:rPr sz="2200" kern="0" spc="-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</a:t>
                      </a:r>
                      <a:r>
                        <a:rPr sz="2200" kern="0" spc="7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and</a:t>
                      </a:r>
                      <a:r>
                        <a:rPr sz="22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  </a:t>
                      </a:r>
                      <a:r>
                        <a:rPr sz="22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university cafeterias?</a:t>
                      </a:r>
                      <a:endParaRPr sz="2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</a:tr>
            </a:tbl>
          </a:graphicData>
        </a:graphic>
      </p:graphicFrame>
      <p:sp>
        <p:nvSpPr>
          <p:cNvPr id="148" name="path 148"/>
          <p:cNvSpPr/>
          <p:nvPr/>
        </p:nvSpPr>
        <p:spPr>
          <a:xfrm>
            <a:off x="508254" y="2302764"/>
            <a:ext cx="63245" cy="540638"/>
          </a:xfrm>
          <a:custGeom>
            <a:avLst/>
            <a:gdLst/>
            <a:ahLst/>
            <a:cxnLst/>
            <a:rect l="0" t="0" r="0" b="0"/>
            <a:pathLst>
              <a:path w="99" h="851">
                <a:moveTo>
                  <a:pt x="0" y="851"/>
                </a:moveTo>
                <a:lnTo>
                  <a:pt x="99" y="851"/>
                </a:lnTo>
                <a:lnTo>
                  <a:pt x="99" y="0"/>
                </a:lnTo>
                <a:lnTo>
                  <a:pt x="0" y="0"/>
                </a:lnTo>
                <a:lnTo>
                  <a:pt x="0" y="851"/>
                </a:lnTo>
                <a:close/>
              </a:path>
            </a:pathLst>
          </a:custGeom>
          <a:solidFill>
            <a:srgbClr val="D2533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150" name="table 150"/>
          <p:cNvGraphicFramePr>
            <a:graphicFrameLocks noGrp="1"/>
          </p:cNvGraphicFramePr>
          <p:nvPr/>
        </p:nvGraphicFramePr>
        <p:xfrm>
          <a:off x="502158" y="4576571"/>
          <a:ext cx="8044815" cy="1805939"/>
        </p:xfrm>
        <a:graphic>
          <a:graphicData uri="http://schemas.openxmlformats.org/drawingml/2006/table">
            <a:tbl>
              <a:tblPr>
                <a:solidFill>
                  <a:srgbClr val="EEF3F0"/>
                </a:solidFill>
              </a:tblPr>
              <a:tblGrid>
                <a:gridCol w="37465"/>
                <a:gridCol w="8007350"/>
              </a:tblGrid>
              <a:tr h="180593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927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74320" algn="l" rtl="0" eaLnBrk="0">
                        <a:lnSpc>
                          <a:spcPct val="78000"/>
                        </a:lnSpc>
                        <a:tabLst/>
                      </a:pPr>
                      <a:r>
                        <a:rPr sz="2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3.   Sanct</a:t>
                      </a:r>
                      <a:r>
                        <a:rPr sz="2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ions</a:t>
                      </a:r>
                      <a:endParaRPr sz="2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05790" indent="-328295" algn="l" rtl="0" eaLnBrk="0">
                        <a:lnSpc>
                          <a:spcPct val="93000"/>
                        </a:lnSpc>
                        <a:spcBef>
                          <a:spcPts val="370"/>
                        </a:spcBef>
                        <a:tabLst/>
                      </a:pPr>
                      <a:r>
                        <a:rPr sz="22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   Has anyone</a:t>
                      </a:r>
                      <a:r>
                        <a:rPr sz="2200" kern="0" spc="1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ever criticized</a:t>
                      </a:r>
                      <a:r>
                        <a:rPr sz="2200" kern="0" spc="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your food</a:t>
                      </a:r>
                      <a:r>
                        <a:rPr sz="2200" kern="0" spc="14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preferences?</a:t>
                      </a:r>
                      <a:r>
                        <a:rPr sz="2200" kern="0" spc="2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If so,</a:t>
                      </a:r>
                      <a:r>
                        <a:rPr sz="22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</a:t>
                      </a:r>
                      <a:r>
                        <a:rPr sz="22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who?</a:t>
                      </a:r>
                      <a:endParaRPr sz="2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15315" indent="-337820" algn="l" rtl="0" eaLnBrk="0">
                        <a:lnSpc>
                          <a:spcPct val="93000"/>
                        </a:lnSpc>
                        <a:spcBef>
                          <a:spcPts val="370"/>
                        </a:spcBef>
                        <a:tabLst/>
                      </a:pPr>
                      <a:r>
                        <a:rPr sz="22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   When you were a child</a:t>
                      </a:r>
                      <a:r>
                        <a:rPr sz="22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, were you</a:t>
                      </a:r>
                      <a:r>
                        <a:rPr sz="2200" kern="0" spc="7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ever sent</a:t>
                      </a:r>
                      <a:r>
                        <a:rPr sz="2200" kern="0" spc="4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to</a:t>
                      </a:r>
                      <a:r>
                        <a:rPr sz="2200" kern="0" spc="15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bed without</a:t>
                      </a:r>
                      <a:r>
                        <a:rPr sz="22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22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 dessert?</a:t>
                      </a:r>
                      <a:endParaRPr sz="2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2" name="table 152"/>
          <p:cNvGraphicFramePr>
            <a:graphicFrameLocks noGrp="1"/>
          </p:cNvGraphicFramePr>
          <p:nvPr/>
        </p:nvGraphicFramePr>
        <p:xfrm>
          <a:off x="502158" y="1187958"/>
          <a:ext cx="8140065" cy="957579"/>
        </p:xfrm>
        <a:graphic>
          <a:graphicData uri="http://schemas.openxmlformats.org/drawingml/2006/table">
            <a:tbl>
              <a:tblPr>
                <a:solidFill>
                  <a:srgbClr val="EEF3F0"/>
                </a:solidFill>
              </a:tblPr>
              <a:tblGrid>
                <a:gridCol w="37465"/>
                <a:gridCol w="8102600"/>
              </a:tblGrid>
              <a:tr h="95758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2879" indent="11429" algn="l" rtl="0" eaLnBrk="0">
                        <a:lnSpc>
                          <a:spcPct val="85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Process of regulating</a:t>
                      </a:r>
                      <a:r>
                        <a:rPr sz="2400" kern="0" spc="18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indi</a:t>
                      </a:r>
                      <a:r>
                        <a:rPr sz="24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vidual</a:t>
                      </a:r>
                      <a:r>
                        <a:rPr sz="2400" kern="0" spc="18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behavior to ensure</a:t>
                      </a:r>
                      <a:r>
                        <a:rPr sz="2400" kern="0" spc="17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it</a:t>
                      </a:r>
                      <a:r>
                        <a:rPr sz="24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    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conforms to grou</a:t>
                      </a:r>
                      <a:r>
                        <a:rPr sz="24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</a:t>
                      </a:r>
                      <a:r>
                        <a:rPr sz="2400" kern="0" spc="16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norms.</a:t>
                      </a:r>
                      <a:endParaRPr sz="2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</a:tr>
            </a:tbl>
          </a:graphicData>
        </a:graphic>
      </p:graphicFrame>
      <p:sp>
        <p:nvSpPr>
          <p:cNvPr id="154" name="rect 154"/>
          <p:cNvSpPr/>
          <p:nvPr/>
        </p:nvSpPr>
        <p:spPr>
          <a:xfrm>
            <a:off x="0" y="0"/>
            <a:ext cx="9144000" cy="365759"/>
          </a:xfrm>
          <a:prstGeom prst="rect">
            <a:avLst/>
          </a:prstGeom>
          <a:solidFill>
            <a:srgbClr val="93A29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6" name="textbox 156"/>
          <p:cNvSpPr/>
          <p:nvPr/>
        </p:nvSpPr>
        <p:spPr>
          <a:xfrm>
            <a:off x="460968" y="605503"/>
            <a:ext cx="3032760" cy="4546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17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8000"/>
              </a:lnSpc>
              <a:tabLst/>
            </a:pPr>
            <a:r>
              <a:rPr sz="3600" b="1" kern="0" spc="-1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Social control</a:t>
            </a:r>
            <a:endParaRPr sz="3600" dirty="0">
              <a:latin typeface="Arial"/>
              <a:ea typeface="Arial"/>
              <a:cs typeface="Arial"/>
            </a:endParaRPr>
          </a:p>
        </p:txBody>
      </p:sp>
      <p:sp>
        <p:nvSpPr>
          <p:cNvPr id="158" name="textbox 158"/>
          <p:cNvSpPr/>
          <p:nvPr/>
        </p:nvSpPr>
        <p:spPr>
          <a:xfrm>
            <a:off x="6537680" y="6413264"/>
            <a:ext cx="2493010" cy="2438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93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tabLst/>
            </a:pPr>
            <a:r>
              <a:rPr sz="18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© 2017 Taylor &amp;</a:t>
            </a:r>
            <a:r>
              <a:rPr sz="1800" kern="0" spc="20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Francis</a:t>
            </a:r>
            <a:endParaRPr sz="18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0" name="table 160"/>
          <p:cNvGraphicFramePr>
            <a:graphicFrameLocks noGrp="1"/>
          </p:cNvGraphicFramePr>
          <p:nvPr/>
        </p:nvGraphicFramePr>
        <p:xfrm>
          <a:off x="502158" y="2516885"/>
          <a:ext cx="8140065" cy="3683000"/>
        </p:xfrm>
        <a:graphic>
          <a:graphicData uri="http://schemas.openxmlformats.org/drawingml/2006/table">
            <a:tbl>
              <a:tblPr>
                <a:solidFill>
                  <a:srgbClr val="EEF3F0"/>
                </a:solidFill>
              </a:tblPr>
              <a:tblGrid>
                <a:gridCol w="37465"/>
                <a:gridCol w="8102600"/>
              </a:tblGrid>
              <a:tr h="36830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721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0665" algn="l" rtl="0" eaLnBrk="0">
                        <a:lnSpc>
                          <a:spcPct val="78000"/>
                        </a:lnSpc>
                        <a:tabLst/>
                      </a:pPr>
                      <a:r>
                        <a:rPr sz="2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Positive:</a:t>
                      </a:r>
                      <a:r>
                        <a:rPr sz="2400" kern="0" spc="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rewards, compliments, award</a:t>
                      </a:r>
                      <a:r>
                        <a:rPr sz="2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</a:t>
                      </a:r>
                      <a:r>
                        <a:rPr sz="2400" kern="0" spc="3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…</a:t>
                      </a:r>
                      <a:endParaRPr sz="2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77850" indent="-346075" algn="l" rtl="0" eaLnBrk="0">
                        <a:lnSpc>
                          <a:spcPct val="93000"/>
                        </a:lnSpc>
                        <a:spcBef>
                          <a:spcPts val="971"/>
                        </a:spcBef>
                        <a:tabLst/>
                      </a:pPr>
                      <a:r>
                        <a:rPr sz="22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   What san</a:t>
                      </a:r>
                      <a:r>
                        <a:rPr sz="22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ctions did your family</a:t>
                      </a:r>
                      <a:r>
                        <a:rPr sz="2200" kern="0" spc="1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use to teach</a:t>
                      </a:r>
                      <a:r>
                        <a:rPr sz="2200" kern="0" spc="4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you</a:t>
                      </a:r>
                      <a:r>
                        <a:rPr sz="2200" kern="0" spc="14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how</a:t>
                      </a:r>
                      <a:r>
                        <a:rPr sz="2200" kern="0" spc="4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to</a:t>
                      </a:r>
                      <a:r>
                        <a:rPr sz="22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    </a:t>
                      </a:r>
                      <a:r>
                        <a:rPr sz="22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behave at the</a:t>
                      </a:r>
                      <a:r>
                        <a:rPr sz="2200" kern="0" spc="4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table</a:t>
                      </a:r>
                      <a:r>
                        <a:rPr sz="2200" kern="0" spc="-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?</a:t>
                      </a:r>
                      <a:endParaRPr sz="2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0665" algn="l" rtl="0" eaLnBrk="0">
                        <a:lnSpc>
                          <a:spcPct val="80000"/>
                        </a:lnSpc>
                        <a:spcBef>
                          <a:spcPts val="1798"/>
                        </a:spcBef>
                        <a:tabLst/>
                      </a:pPr>
                      <a:r>
                        <a:rPr sz="2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Negative: funny</a:t>
                      </a:r>
                      <a:r>
                        <a:rPr sz="2400" kern="0" spc="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</a:t>
                      </a:r>
                      <a:r>
                        <a:rPr sz="2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ooks, stifled laughter, fines, jail time</a:t>
                      </a:r>
                      <a:r>
                        <a:rPr sz="2400" kern="0" spc="2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…</a:t>
                      </a:r>
                      <a:endParaRPr sz="2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77850" indent="-346075" algn="l" rtl="0" eaLnBrk="0">
                        <a:lnSpc>
                          <a:spcPct val="94000"/>
                        </a:lnSpc>
                        <a:spcBef>
                          <a:spcPts val="897"/>
                        </a:spcBef>
                        <a:tabLst/>
                      </a:pPr>
                      <a:r>
                        <a:rPr sz="22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   What sanction</a:t>
                      </a:r>
                      <a:r>
                        <a:rPr sz="22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 did your family</a:t>
                      </a:r>
                      <a:r>
                        <a:rPr sz="2200" kern="0" spc="13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use to teach you</a:t>
                      </a:r>
                      <a:r>
                        <a:rPr sz="2200" kern="0" spc="15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how</a:t>
                      </a:r>
                      <a:r>
                        <a:rPr sz="2200" kern="0" spc="4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to</a:t>
                      </a:r>
                      <a:r>
                        <a:rPr sz="22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    </a:t>
                      </a:r>
                      <a:r>
                        <a:rPr sz="22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behave at the</a:t>
                      </a:r>
                      <a:r>
                        <a:rPr sz="2200" kern="0" spc="4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table</a:t>
                      </a:r>
                      <a:r>
                        <a:rPr sz="2200" kern="0" spc="-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?</a:t>
                      </a:r>
                      <a:endParaRPr sz="2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77850" indent="-346075" algn="l" rtl="0" eaLnBrk="0">
                        <a:lnSpc>
                          <a:spcPct val="93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22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   What sanctions are</a:t>
                      </a:r>
                      <a:r>
                        <a:rPr sz="2200" kern="0" spc="19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used to</a:t>
                      </a:r>
                      <a:r>
                        <a:rPr sz="2200" kern="0" spc="9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ensure that</a:t>
                      </a:r>
                      <a:r>
                        <a:rPr sz="2200" kern="0" spc="6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shops</a:t>
                      </a:r>
                      <a:r>
                        <a:rPr sz="2200" kern="0" spc="8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and</a:t>
                      </a:r>
                      <a:r>
                        <a:rPr sz="22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            </a:t>
                      </a:r>
                      <a:r>
                        <a:rPr sz="22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restaurants only sell food that</a:t>
                      </a:r>
                      <a:r>
                        <a:rPr sz="2200" kern="0" spc="20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is safe to</a:t>
                      </a:r>
                      <a:r>
                        <a:rPr sz="2200" kern="0" spc="9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eat?</a:t>
                      </a:r>
                      <a:endParaRPr sz="2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2" name="table 162"/>
          <p:cNvGraphicFramePr>
            <a:graphicFrameLocks noGrp="1"/>
          </p:cNvGraphicFramePr>
          <p:nvPr/>
        </p:nvGraphicFramePr>
        <p:xfrm>
          <a:off x="502158" y="1314450"/>
          <a:ext cx="8140065" cy="998220"/>
        </p:xfrm>
        <a:graphic>
          <a:graphicData uri="http://schemas.openxmlformats.org/drawingml/2006/table">
            <a:tbl>
              <a:tblPr>
                <a:solidFill>
                  <a:srgbClr val="EEF3F0"/>
                </a:solidFill>
              </a:tblPr>
              <a:tblGrid>
                <a:gridCol w="37465"/>
                <a:gridCol w="8102600"/>
              </a:tblGrid>
              <a:tr h="99821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167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1610" indent="-10160" algn="l" rtl="0" eaLnBrk="0">
                        <a:lnSpc>
                          <a:spcPct val="85000"/>
                        </a:lnSpc>
                        <a:tabLst/>
                      </a:pPr>
                      <a:r>
                        <a:rPr sz="24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Actions that expr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ess approval of conformity to</a:t>
                      </a:r>
                      <a:r>
                        <a:rPr sz="2400" kern="0" spc="9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  <a:r>
                        <a:rPr sz="2400" kern="0" spc="15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norm</a:t>
                      </a:r>
                      <a:r>
                        <a:rPr sz="2400" kern="0" spc="8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or</a:t>
                      </a:r>
                      <a:r>
                        <a:rPr sz="24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</a:t>
                      </a:r>
                      <a:r>
                        <a:rPr sz="24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disapproval of i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ts violation.</a:t>
                      </a:r>
                      <a:endParaRPr sz="2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</a:tr>
            </a:tbl>
          </a:graphicData>
        </a:graphic>
      </p:graphicFrame>
      <p:sp>
        <p:nvSpPr>
          <p:cNvPr id="164" name="rect 164"/>
          <p:cNvSpPr/>
          <p:nvPr/>
        </p:nvSpPr>
        <p:spPr>
          <a:xfrm>
            <a:off x="0" y="0"/>
            <a:ext cx="9144000" cy="365759"/>
          </a:xfrm>
          <a:prstGeom prst="rect">
            <a:avLst/>
          </a:prstGeom>
          <a:solidFill>
            <a:srgbClr val="93A29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6" name="textbox 166"/>
          <p:cNvSpPr/>
          <p:nvPr/>
        </p:nvSpPr>
        <p:spPr>
          <a:xfrm>
            <a:off x="460968" y="663923"/>
            <a:ext cx="2195195" cy="4324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86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4000"/>
              </a:lnSpc>
              <a:tabLst/>
            </a:pPr>
            <a:r>
              <a:rPr sz="3600" b="1" kern="0" spc="-2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Sanctions</a:t>
            </a:r>
            <a:endParaRPr sz="3600" dirty="0">
              <a:latin typeface="Arial"/>
              <a:ea typeface="Arial"/>
              <a:cs typeface="Arial"/>
            </a:endParaRPr>
          </a:p>
        </p:txBody>
      </p:sp>
      <p:sp>
        <p:nvSpPr>
          <p:cNvPr id="168" name="textbox 168"/>
          <p:cNvSpPr/>
          <p:nvPr/>
        </p:nvSpPr>
        <p:spPr>
          <a:xfrm>
            <a:off x="6537680" y="6473393"/>
            <a:ext cx="2493010" cy="2432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37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tabLst/>
            </a:pPr>
            <a:r>
              <a:rPr sz="18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© 2017 Taylor &amp;</a:t>
            </a:r>
            <a:r>
              <a:rPr sz="1800" kern="0" spc="2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Francis</a:t>
            </a:r>
            <a:endParaRPr sz="18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0" name="table 170"/>
          <p:cNvGraphicFramePr>
            <a:graphicFrameLocks noGrp="1"/>
          </p:cNvGraphicFramePr>
          <p:nvPr/>
        </p:nvGraphicFramePr>
        <p:xfrm>
          <a:off x="502158" y="2705861"/>
          <a:ext cx="8140065" cy="3310890"/>
        </p:xfrm>
        <a:graphic>
          <a:graphicData uri="http://schemas.openxmlformats.org/drawingml/2006/table">
            <a:tbl>
              <a:tblPr>
                <a:solidFill>
                  <a:srgbClr val="EEF3F0"/>
                </a:solidFill>
              </a:tblPr>
              <a:tblGrid>
                <a:gridCol w="37465"/>
                <a:gridCol w="8102600"/>
              </a:tblGrid>
              <a:tr h="331089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94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18440" algn="l" rtl="0" eaLnBrk="0">
                        <a:lnSpc>
                          <a:spcPct val="73000"/>
                        </a:lnSpc>
                        <a:tabLst/>
                      </a:pPr>
                      <a:r>
                        <a:rPr sz="2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Values:</a:t>
                      </a:r>
                      <a:endParaRPr sz="2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50190" algn="l" rtl="0" eaLnBrk="0">
                        <a:lnSpc>
                          <a:spcPct val="78000"/>
                        </a:lnSpc>
                        <a:spcBef>
                          <a:spcPts val="723"/>
                        </a:spcBef>
                        <a:tabLst/>
                      </a:pPr>
                      <a:r>
                        <a:rPr sz="24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1.</a:t>
                      </a:r>
                      <a:r>
                        <a:rPr sz="2400" kern="0" spc="2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24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Inform</a:t>
                      </a:r>
                      <a:r>
                        <a:rPr sz="2400" kern="0" spc="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norms.</a:t>
                      </a:r>
                      <a:endParaRPr sz="2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60069" indent="-328295" algn="l" rtl="0" eaLnBrk="0">
                        <a:lnSpc>
                          <a:spcPct val="96000"/>
                        </a:lnSpc>
                        <a:spcBef>
                          <a:spcPts val="326"/>
                        </a:spcBef>
                        <a:tabLst/>
                      </a:pPr>
                      <a:r>
                        <a:rPr sz="22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   Most</a:t>
                      </a:r>
                      <a:r>
                        <a:rPr sz="2200" kern="0" spc="16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North Americans eat from</a:t>
                      </a:r>
                      <a:r>
                        <a:rPr sz="2200" kern="0" spc="15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individual</a:t>
                      </a:r>
                      <a:r>
                        <a:rPr sz="2200" kern="0" spc="13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plate</a:t>
                      </a:r>
                      <a:r>
                        <a:rPr sz="2200" kern="0" spc="-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s,</a:t>
                      </a:r>
                      <a:r>
                        <a:rPr sz="2200" kern="0" spc="14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rather</a:t>
                      </a:r>
                      <a:r>
                        <a:rPr sz="22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     </a:t>
                      </a:r>
                      <a:r>
                        <a:rPr sz="22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than communal ones. Which values underlie thes</a:t>
                      </a:r>
                      <a:r>
                        <a:rPr sz="22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 two</a:t>
                      </a:r>
                      <a:r>
                        <a:rPr sz="22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    </a:t>
                      </a:r>
                      <a:r>
                        <a:rPr sz="22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ways of serving fo</a:t>
                      </a:r>
                      <a:r>
                        <a:rPr sz="22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od?</a:t>
                      </a:r>
                      <a:endParaRPr sz="2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6059" algn="l" rtl="0" eaLnBrk="0">
                        <a:lnSpc>
                          <a:spcPct val="79000"/>
                        </a:lnSpc>
                        <a:spcBef>
                          <a:spcPts val="632"/>
                        </a:spcBef>
                        <a:tabLst/>
                      </a:pPr>
                      <a:r>
                        <a:rPr sz="2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2.</a:t>
                      </a:r>
                      <a:r>
                        <a:rPr sz="2400" kern="0" spc="2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2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Guide</a:t>
                      </a:r>
                      <a:r>
                        <a:rPr sz="2400" kern="0" spc="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individual decision-making and actions.</a:t>
                      </a:r>
                      <a:endParaRPr sz="2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62609" indent="-330834" algn="l" rtl="0" eaLnBrk="0">
                        <a:lnSpc>
                          <a:spcPct val="93000"/>
                        </a:lnSpc>
                        <a:spcBef>
                          <a:spcPts val="343"/>
                        </a:spcBef>
                        <a:tabLst/>
                      </a:pPr>
                      <a:r>
                        <a:rPr sz="22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   You are</a:t>
                      </a:r>
                      <a:r>
                        <a:rPr sz="2200" kern="0" spc="15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invited to a</a:t>
                      </a:r>
                      <a:r>
                        <a:rPr sz="2200" kern="0" spc="14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meal</a:t>
                      </a:r>
                      <a:r>
                        <a:rPr sz="2200" kern="0" spc="-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served</a:t>
                      </a:r>
                      <a:r>
                        <a:rPr sz="2200" kern="0" spc="7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on</a:t>
                      </a:r>
                      <a:r>
                        <a:rPr sz="2200" kern="0" spc="8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  <a:r>
                        <a:rPr sz="2200" kern="0" spc="9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communal</a:t>
                      </a:r>
                      <a:r>
                        <a:rPr sz="2200" kern="0" spc="14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plate.</a:t>
                      </a:r>
                      <a:r>
                        <a:rPr sz="22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   </a:t>
                      </a:r>
                      <a:r>
                        <a:rPr sz="22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Would you eat fro</a:t>
                      </a:r>
                      <a:r>
                        <a:rPr sz="22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 it or</a:t>
                      </a:r>
                      <a:r>
                        <a:rPr sz="2200" kern="0" spc="5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ask for your</a:t>
                      </a:r>
                      <a:r>
                        <a:rPr sz="2200" kern="0" spc="4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own</a:t>
                      </a:r>
                      <a:r>
                        <a:rPr sz="2200" kern="0" spc="15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plate?</a:t>
                      </a:r>
                      <a:r>
                        <a:rPr sz="2200" kern="0" spc="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Why?</a:t>
                      </a:r>
                      <a:endParaRPr sz="2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2" name="table 172"/>
          <p:cNvGraphicFramePr>
            <a:graphicFrameLocks noGrp="1"/>
          </p:cNvGraphicFramePr>
          <p:nvPr/>
        </p:nvGraphicFramePr>
        <p:xfrm>
          <a:off x="502158" y="1314450"/>
          <a:ext cx="8140065" cy="1263650"/>
        </p:xfrm>
        <a:graphic>
          <a:graphicData uri="http://schemas.openxmlformats.org/drawingml/2006/table">
            <a:tbl>
              <a:tblPr>
                <a:solidFill>
                  <a:srgbClr val="EEF3F0"/>
                </a:solidFill>
              </a:tblPr>
              <a:tblGrid>
                <a:gridCol w="37465"/>
                <a:gridCol w="8102600"/>
              </a:tblGrid>
              <a:tr h="12636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2085" indent="27305" algn="l" rtl="0" eaLnBrk="0">
                        <a:lnSpc>
                          <a:spcPct val="88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Individual or gro</a:t>
                      </a:r>
                      <a:r>
                        <a:rPr sz="24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up</a:t>
                      </a:r>
                      <a:r>
                        <a:rPr sz="2400" kern="0" spc="17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b="1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beliefs </a:t>
                      </a:r>
                      <a:r>
                        <a:rPr sz="24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about what</a:t>
                      </a:r>
                      <a:r>
                        <a:rPr sz="2400" kern="0" spc="16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is</a:t>
                      </a:r>
                      <a:r>
                        <a:rPr sz="2400" kern="0" spc="16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b="1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right </a:t>
                      </a:r>
                      <a:r>
                        <a:rPr sz="24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and</a:t>
                      </a:r>
                      <a:r>
                        <a:rPr sz="24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       </a:t>
                      </a:r>
                      <a:r>
                        <a:rPr sz="24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wrong,</a:t>
                      </a:r>
                      <a:r>
                        <a:rPr sz="2400" kern="0" spc="18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b="1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important </a:t>
                      </a:r>
                      <a:r>
                        <a:rPr sz="24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or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unimportant, </a:t>
                      </a:r>
                      <a:r>
                        <a:rPr sz="2400" b="1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desirable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and</a:t>
                      </a:r>
                      <a:r>
                        <a:rPr sz="24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          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undesirable.</a:t>
                      </a:r>
                      <a:endParaRPr sz="2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</a:tr>
            </a:tbl>
          </a:graphicData>
        </a:graphic>
      </p:graphicFrame>
      <p:sp>
        <p:nvSpPr>
          <p:cNvPr id="174" name="rect 174"/>
          <p:cNvSpPr/>
          <p:nvPr/>
        </p:nvSpPr>
        <p:spPr>
          <a:xfrm>
            <a:off x="0" y="0"/>
            <a:ext cx="9144000" cy="365759"/>
          </a:xfrm>
          <a:prstGeom prst="rect">
            <a:avLst/>
          </a:prstGeom>
          <a:solidFill>
            <a:srgbClr val="93A29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76" name="textbox 176"/>
          <p:cNvSpPr/>
          <p:nvPr/>
        </p:nvSpPr>
        <p:spPr>
          <a:xfrm>
            <a:off x="6537680" y="6473393"/>
            <a:ext cx="2493010" cy="2432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37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tabLst/>
            </a:pPr>
            <a:r>
              <a:rPr sz="18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© 2017 Taylor &amp;</a:t>
            </a:r>
            <a:r>
              <a:rPr sz="1800" kern="0" spc="2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Francis</a:t>
            </a:r>
            <a:endParaRPr sz="1800" dirty="0">
              <a:latin typeface="Arial"/>
              <a:ea typeface="Arial"/>
              <a:cs typeface="Arial"/>
            </a:endParaRPr>
          </a:p>
        </p:txBody>
      </p:sp>
      <p:sp>
        <p:nvSpPr>
          <p:cNvPr id="178" name="textbox 178"/>
          <p:cNvSpPr/>
          <p:nvPr/>
        </p:nvSpPr>
        <p:spPr>
          <a:xfrm>
            <a:off x="444500" y="669413"/>
            <a:ext cx="1500505" cy="4254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28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3000"/>
              </a:lnSpc>
              <a:tabLst/>
            </a:pPr>
            <a:r>
              <a:rPr sz="3600" b="1" kern="0" spc="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Values</a:t>
            </a:r>
            <a:endParaRPr sz="36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rect 180"/>
          <p:cNvSpPr/>
          <p:nvPr/>
        </p:nvSpPr>
        <p:spPr>
          <a:xfrm>
            <a:off x="558926" y="1397127"/>
            <a:ext cx="8128254" cy="2209800"/>
          </a:xfrm>
          <a:prstGeom prst="rect">
            <a:avLst/>
          </a:prstGeom>
          <a:solidFill>
            <a:srgbClr val="FAF5EF">
              <a:alpha val="98823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182" name="table 182"/>
          <p:cNvGraphicFramePr>
            <a:graphicFrameLocks noGrp="1"/>
          </p:cNvGraphicFramePr>
          <p:nvPr/>
        </p:nvGraphicFramePr>
        <p:xfrm>
          <a:off x="552450" y="1390650"/>
          <a:ext cx="8140700" cy="2222500"/>
        </p:xfrm>
        <a:graphic>
          <a:graphicData uri="http://schemas.openxmlformats.org/drawingml/2006/table">
            <a:tbl>
              <a:tblPr/>
              <a:tblGrid>
                <a:gridCol w="38100"/>
                <a:gridCol w="8102600"/>
              </a:tblGrid>
              <a:tr h="22225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117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4785" algn="l" rtl="0" eaLnBrk="0">
                        <a:lnSpc>
                          <a:spcPct val="83000"/>
                        </a:lnSpc>
                        <a:tabLst/>
                      </a:pPr>
                      <a:r>
                        <a:rPr sz="1900" kern="0" spc="4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  Do you and your</a:t>
                      </a:r>
                      <a:r>
                        <a:rPr sz="1900" kern="0" spc="1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900" kern="0" spc="4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parents alw</a:t>
                      </a:r>
                      <a:r>
                        <a:rPr sz="1900" kern="0" spc="3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ays</a:t>
                      </a:r>
                      <a:r>
                        <a:rPr sz="1900" kern="0" spc="5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900" kern="0" spc="3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follow</a:t>
                      </a:r>
                      <a:r>
                        <a:rPr sz="1900" kern="0" spc="7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900" kern="0" spc="3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the</a:t>
                      </a:r>
                      <a:r>
                        <a:rPr sz="1900" kern="0" spc="8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900" kern="0" spc="3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same</a:t>
                      </a:r>
                      <a:r>
                        <a:rPr sz="1900" kern="0" spc="5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900" kern="0" spc="3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values?</a:t>
                      </a:r>
                      <a:endParaRPr sz="1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4785" algn="l" rtl="0" eaLnBrk="0">
                        <a:lnSpc>
                          <a:spcPct val="83000"/>
                        </a:lnSpc>
                        <a:spcBef>
                          <a:spcPts val="916"/>
                        </a:spcBef>
                        <a:tabLst/>
                      </a:pPr>
                      <a:r>
                        <a:rPr sz="1900" kern="0" spc="13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  </a:t>
                      </a:r>
                      <a:r>
                        <a:rPr sz="19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If</a:t>
                      </a:r>
                      <a:r>
                        <a:rPr sz="1900" kern="0" spc="13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9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you</a:t>
                      </a:r>
                      <a:r>
                        <a:rPr sz="1900" kern="0" spc="13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9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do</a:t>
                      </a:r>
                      <a:r>
                        <a:rPr sz="1900" kern="0" spc="19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9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not</a:t>
                      </a:r>
                      <a:r>
                        <a:rPr sz="1900" kern="0" spc="13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,</a:t>
                      </a:r>
                      <a:r>
                        <a:rPr sz="1900" kern="0" spc="14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9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how</a:t>
                      </a:r>
                      <a:r>
                        <a:rPr sz="1900" kern="0" spc="13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9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do</a:t>
                      </a:r>
                      <a:r>
                        <a:rPr sz="1900" kern="0" spc="6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9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you</a:t>
                      </a:r>
                      <a:r>
                        <a:rPr sz="1900" kern="0" spc="15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9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resolve</a:t>
                      </a:r>
                      <a:r>
                        <a:rPr sz="1900" kern="0" spc="7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9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the</a:t>
                      </a:r>
                      <a:r>
                        <a:rPr sz="1900" kern="0" spc="9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9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conflict</a:t>
                      </a:r>
                      <a:r>
                        <a:rPr sz="1900" kern="0" spc="13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?</a:t>
                      </a:r>
                      <a:endParaRPr sz="1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4785" algn="l" rtl="0" eaLnBrk="0">
                        <a:lnSpc>
                          <a:spcPct val="83000"/>
                        </a:lnSpc>
                        <a:spcBef>
                          <a:spcPts val="1516"/>
                        </a:spcBef>
                        <a:tabLst/>
                      </a:pPr>
                      <a:r>
                        <a:rPr sz="1900" kern="0" spc="4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  Do you s</a:t>
                      </a:r>
                      <a:r>
                        <a:rPr sz="1900" kern="0" spc="3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upport values that the</a:t>
                      </a:r>
                      <a:r>
                        <a:rPr sz="1900" kern="0" spc="14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900" kern="0" spc="3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mass</a:t>
                      </a:r>
                      <a:r>
                        <a:rPr sz="1900" kern="0" spc="16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900" kern="0" spc="3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media</a:t>
                      </a:r>
                      <a:r>
                        <a:rPr sz="1900" kern="0" spc="15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900" kern="0" spc="3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propagate?</a:t>
                      </a:r>
                      <a:endParaRPr sz="1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4785" algn="l" rtl="0" eaLnBrk="0">
                        <a:lnSpc>
                          <a:spcPct val="83000"/>
                        </a:lnSpc>
                        <a:spcBef>
                          <a:spcPts val="1516"/>
                        </a:spcBef>
                        <a:tabLst/>
                      </a:pPr>
                      <a:r>
                        <a:rPr sz="1900" kern="0" spc="4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  Which values gui</a:t>
                      </a:r>
                      <a:r>
                        <a:rPr sz="1900" kern="0" spc="3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ded your decision to enroll</a:t>
                      </a:r>
                      <a:r>
                        <a:rPr sz="1900" kern="0" spc="16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900" kern="0" spc="3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in the</a:t>
                      </a:r>
                      <a:r>
                        <a:rPr sz="1900" kern="0" spc="15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900" kern="0" spc="3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university?</a:t>
                      </a:r>
                      <a:endParaRPr sz="1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4785" algn="l" rtl="0" eaLnBrk="0">
                        <a:lnSpc>
                          <a:spcPct val="83000"/>
                        </a:lnSpc>
                        <a:tabLst/>
                      </a:pPr>
                      <a:r>
                        <a:rPr sz="1900" kern="0" spc="4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  Did you</a:t>
                      </a:r>
                      <a:r>
                        <a:rPr sz="1900" kern="0" spc="15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900" kern="0" spc="4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have to</a:t>
                      </a:r>
                      <a:r>
                        <a:rPr sz="1900" kern="0" spc="3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choose</a:t>
                      </a:r>
                      <a:r>
                        <a:rPr sz="1900" kern="0" spc="9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900" kern="0" spc="3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some values</a:t>
                      </a:r>
                      <a:r>
                        <a:rPr sz="1900" kern="0" spc="9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900" kern="0" spc="3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over</a:t>
                      </a:r>
                      <a:r>
                        <a:rPr sz="1900" kern="0" spc="6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900" kern="0" spc="3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others?</a:t>
                      </a:r>
                      <a:endParaRPr sz="19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4" name="rect 184"/>
          <p:cNvSpPr/>
          <p:nvPr/>
        </p:nvSpPr>
        <p:spPr>
          <a:xfrm>
            <a:off x="0" y="0"/>
            <a:ext cx="9144000" cy="365759"/>
          </a:xfrm>
          <a:prstGeom prst="rect">
            <a:avLst/>
          </a:prstGeom>
          <a:solidFill>
            <a:srgbClr val="93A29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86" name="textbox 186"/>
          <p:cNvSpPr/>
          <p:nvPr/>
        </p:nvSpPr>
        <p:spPr>
          <a:xfrm>
            <a:off x="444500" y="663923"/>
            <a:ext cx="3000375" cy="4546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17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8000"/>
              </a:lnSpc>
              <a:tabLst/>
            </a:pPr>
            <a:r>
              <a:rPr sz="3600" b="1" kern="0" spc="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Value</a:t>
            </a:r>
            <a:r>
              <a:rPr sz="3600" b="1" kern="0" spc="2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600" b="1" kern="0" spc="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conflict</a:t>
            </a:r>
            <a:endParaRPr sz="3600" dirty="0">
              <a:latin typeface="Arial"/>
              <a:ea typeface="Arial"/>
              <a:cs typeface="Arial"/>
            </a:endParaRPr>
          </a:p>
        </p:txBody>
      </p:sp>
      <p:sp>
        <p:nvSpPr>
          <p:cNvPr id="188" name="textbox 188"/>
          <p:cNvSpPr/>
          <p:nvPr/>
        </p:nvSpPr>
        <p:spPr>
          <a:xfrm>
            <a:off x="6537680" y="6473393"/>
            <a:ext cx="2493010" cy="2432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37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tabLst/>
            </a:pPr>
            <a:r>
              <a:rPr sz="18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© 2017 Taylor &amp;</a:t>
            </a:r>
            <a:r>
              <a:rPr sz="1800" kern="0" spc="2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Francis</a:t>
            </a:r>
            <a:endParaRPr sz="18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0" name="table 190"/>
          <p:cNvGraphicFramePr>
            <a:graphicFrameLocks noGrp="1"/>
          </p:cNvGraphicFramePr>
          <p:nvPr/>
        </p:nvGraphicFramePr>
        <p:xfrm>
          <a:off x="502158" y="2508503"/>
          <a:ext cx="8140065" cy="1080770"/>
        </p:xfrm>
        <a:graphic>
          <a:graphicData uri="http://schemas.openxmlformats.org/drawingml/2006/table">
            <a:tbl>
              <a:tblPr>
                <a:solidFill>
                  <a:srgbClr val="FAF5EF"/>
                </a:solidFill>
              </a:tblPr>
              <a:tblGrid>
                <a:gridCol w="37465"/>
                <a:gridCol w="8102600"/>
              </a:tblGrid>
              <a:tr h="108076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3514" algn="l" rtl="0" eaLnBrk="0">
                        <a:lnSpc>
                          <a:spcPct val="79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  Why do families divide</a:t>
                      </a:r>
                      <a:r>
                        <a:rPr sz="1800" kern="0" spc="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foodwork</a:t>
                      </a:r>
                      <a:r>
                        <a:rPr sz="1800" kern="0" spc="1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in</a:t>
                      </a:r>
                      <a:r>
                        <a:rPr sz="1800" kern="0" spc="6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ifferent</a:t>
                      </a:r>
                      <a:r>
                        <a:rPr sz="1800" kern="0" spc="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ways?</a:t>
                      </a:r>
                      <a:endParaRPr sz="1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3514" algn="l" rtl="0" eaLnBrk="0">
                        <a:lnSpc>
                          <a:spcPct val="79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800" kern="0" spc="-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</a:t>
                      </a:r>
                      <a:r>
                        <a:rPr sz="1800" kern="0" spc="16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1800" kern="0" spc="-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Is there a</a:t>
                      </a:r>
                      <a:r>
                        <a:rPr sz="1800" kern="0" spc="13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best way</a:t>
                      </a:r>
                      <a:r>
                        <a:rPr sz="1800" kern="0" spc="6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or</a:t>
                      </a:r>
                      <a:r>
                        <a:rPr sz="1800" kern="0" spc="9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not</a:t>
                      </a:r>
                      <a:r>
                        <a:rPr sz="1800" kern="0" spc="-3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?</a:t>
                      </a:r>
                      <a:endParaRPr sz="18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2" name="table 192"/>
          <p:cNvGraphicFramePr>
            <a:graphicFrameLocks noGrp="1"/>
          </p:cNvGraphicFramePr>
          <p:nvPr/>
        </p:nvGraphicFramePr>
        <p:xfrm>
          <a:off x="502158" y="1314450"/>
          <a:ext cx="8140065" cy="952500"/>
        </p:xfrm>
        <a:graphic>
          <a:graphicData uri="http://schemas.openxmlformats.org/drawingml/2006/table">
            <a:tbl>
              <a:tblPr>
                <a:solidFill>
                  <a:srgbClr val="EEF3F0"/>
                </a:solidFill>
              </a:tblPr>
              <a:tblGrid>
                <a:gridCol w="37465"/>
                <a:gridCol w="8102600"/>
              </a:tblGrid>
              <a:tr h="9525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37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3989" indent="-2540" algn="l" rtl="0" eaLnBrk="0">
                        <a:lnSpc>
                          <a:spcPct val="85000"/>
                        </a:lnSpc>
                        <a:tabLst/>
                      </a:pP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Attempt to understand an</a:t>
                      </a:r>
                      <a:r>
                        <a:rPr sz="2400" kern="0" spc="16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individual’s</a:t>
                      </a:r>
                      <a:r>
                        <a:rPr sz="2400" kern="0" spc="18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beliefs,</a:t>
                      </a:r>
                      <a:r>
                        <a:rPr sz="2400" kern="0" spc="16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beha</a:t>
                      </a:r>
                      <a:r>
                        <a:rPr sz="24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vior,</a:t>
                      </a:r>
                      <a:r>
                        <a:rPr sz="24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 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feelings and worldview</a:t>
                      </a:r>
                      <a:r>
                        <a:rPr sz="2400" kern="0" spc="20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b="1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in relation to</a:t>
                      </a:r>
                      <a:r>
                        <a:rPr sz="2400" b="1" kern="0" spc="16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b="1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hi</a:t>
                      </a:r>
                      <a:r>
                        <a:rPr sz="2400" b="1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 or</a:t>
                      </a:r>
                      <a:r>
                        <a:rPr sz="2400" b="1" kern="0" spc="14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b="1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her</a:t>
                      </a:r>
                      <a:r>
                        <a:rPr sz="2400" b="1" kern="0" spc="8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b="1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culture</a:t>
                      </a:r>
                      <a:r>
                        <a:rPr sz="24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.</a:t>
                      </a:r>
                      <a:endParaRPr sz="2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4" name="table 194"/>
          <p:cNvGraphicFramePr>
            <a:graphicFrameLocks noGrp="1"/>
          </p:cNvGraphicFramePr>
          <p:nvPr/>
        </p:nvGraphicFramePr>
        <p:xfrm>
          <a:off x="502158" y="3842004"/>
          <a:ext cx="8140065" cy="952500"/>
        </p:xfrm>
        <a:graphic>
          <a:graphicData uri="http://schemas.openxmlformats.org/drawingml/2006/table">
            <a:tbl>
              <a:tblPr>
                <a:solidFill>
                  <a:srgbClr val="EEF3F0"/>
                </a:solidFill>
              </a:tblPr>
              <a:tblGrid>
                <a:gridCol w="37465"/>
                <a:gridCol w="8102600"/>
              </a:tblGrid>
              <a:tr h="9525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224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76225" algn="l" rtl="0" eaLnBrk="0">
                        <a:lnSpc>
                          <a:spcPct val="79000"/>
                        </a:lnSpc>
                        <a:tabLst/>
                      </a:pP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Sociologists strive for</a:t>
                      </a:r>
                      <a:r>
                        <a:rPr sz="2400" kern="0" spc="1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it.</a:t>
                      </a:r>
                      <a:endParaRPr sz="2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</a:tr>
            </a:tbl>
          </a:graphicData>
        </a:graphic>
      </p:graphicFrame>
      <p:sp>
        <p:nvSpPr>
          <p:cNvPr id="196" name="rect 196"/>
          <p:cNvSpPr/>
          <p:nvPr/>
        </p:nvSpPr>
        <p:spPr>
          <a:xfrm>
            <a:off x="0" y="0"/>
            <a:ext cx="9144000" cy="365759"/>
          </a:xfrm>
          <a:prstGeom prst="rect">
            <a:avLst/>
          </a:prstGeom>
          <a:solidFill>
            <a:srgbClr val="93A29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98" name="textbox 198"/>
          <p:cNvSpPr/>
          <p:nvPr/>
        </p:nvSpPr>
        <p:spPr>
          <a:xfrm>
            <a:off x="466000" y="663923"/>
            <a:ext cx="3994150" cy="4546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17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8000"/>
              </a:lnSpc>
              <a:tabLst/>
            </a:pPr>
            <a:r>
              <a:rPr sz="3600" b="1" kern="0" spc="-1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Cultural relativism</a:t>
            </a:r>
            <a:endParaRPr sz="3600" dirty="0">
              <a:latin typeface="Arial"/>
              <a:ea typeface="Arial"/>
              <a:cs typeface="Arial"/>
            </a:endParaRPr>
          </a:p>
        </p:txBody>
      </p:sp>
      <p:sp>
        <p:nvSpPr>
          <p:cNvPr id="200" name="textbox 200"/>
          <p:cNvSpPr/>
          <p:nvPr/>
        </p:nvSpPr>
        <p:spPr>
          <a:xfrm>
            <a:off x="6537680" y="6473393"/>
            <a:ext cx="2493010" cy="2432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37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tabLst/>
            </a:pPr>
            <a:r>
              <a:rPr sz="18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© 2017 Taylor &amp;</a:t>
            </a:r>
            <a:r>
              <a:rPr sz="1800" kern="0" spc="2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Francis</a:t>
            </a:r>
            <a:endParaRPr sz="18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2" name="table 202"/>
          <p:cNvGraphicFramePr>
            <a:graphicFrameLocks noGrp="1"/>
          </p:cNvGraphicFramePr>
          <p:nvPr/>
        </p:nvGraphicFramePr>
        <p:xfrm>
          <a:off x="502158" y="3563873"/>
          <a:ext cx="8140065" cy="1282700"/>
        </p:xfrm>
        <a:graphic>
          <a:graphicData uri="http://schemas.openxmlformats.org/drawingml/2006/table">
            <a:tbl>
              <a:tblPr>
                <a:solidFill>
                  <a:srgbClr val="FAF5EF"/>
                </a:solidFill>
              </a:tblPr>
              <a:tblGrid>
                <a:gridCol w="37465"/>
                <a:gridCol w="8102600"/>
              </a:tblGrid>
              <a:tr h="12827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3514" algn="l" rtl="0" eaLnBrk="0">
                        <a:lnSpc>
                          <a:spcPct val="79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</a:t>
                      </a:r>
                      <a:r>
                        <a:rPr sz="1800" kern="0" spc="15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Do you ever think of food and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foodwork in an</a:t>
                      </a:r>
                      <a:r>
                        <a:rPr sz="1800" kern="0" spc="7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ethnocentric way?</a:t>
                      </a:r>
                      <a:endParaRPr sz="1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7669" indent="-224154" algn="l" rtl="0" eaLnBrk="0">
                        <a:lnSpc>
                          <a:spcPct val="8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  Which of your food values and n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orms</a:t>
                      </a:r>
                      <a:r>
                        <a:rPr sz="1800" kern="0" spc="6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are</a:t>
                      </a:r>
                      <a:r>
                        <a:rPr sz="1800" kern="0" spc="3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the</a:t>
                      </a:r>
                      <a:r>
                        <a:rPr sz="1800" kern="0" spc="1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most</a:t>
                      </a:r>
                      <a:r>
                        <a:rPr sz="1800" kern="0" spc="6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difficult</a:t>
                      </a:r>
                      <a:r>
                        <a:rPr sz="1800" kern="0" spc="3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to</a:t>
                      </a:r>
                      <a:r>
                        <a:rPr sz="1800" kern="0" spc="1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understand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</a:t>
                      </a:r>
                      <a:r>
                        <a:rPr sz="1800" kern="0" spc="-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as</a:t>
                      </a:r>
                      <a:r>
                        <a:rPr sz="1800" kern="0" spc="16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relative?</a:t>
                      </a:r>
                      <a:endParaRPr sz="18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4" name="table 204"/>
          <p:cNvGraphicFramePr>
            <a:graphicFrameLocks noGrp="1"/>
          </p:cNvGraphicFramePr>
          <p:nvPr/>
        </p:nvGraphicFramePr>
        <p:xfrm>
          <a:off x="502158" y="2476500"/>
          <a:ext cx="8140065" cy="946784"/>
        </p:xfrm>
        <a:graphic>
          <a:graphicData uri="http://schemas.openxmlformats.org/drawingml/2006/table">
            <a:tbl>
              <a:tblPr>
                <a:solidFill>
                  <a:srgbClr val="EEF3F0"/>
                </a:solidFill>
              </a:tblPr>
              <a:tblGrid>
                <a:gridCol w="37465"/>
                <a:gridCol w="8102600"/>
              </a:tblGrid>
              <a:tr h="94678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167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1610" indent="4444" algn="l" rtl="0" eaLnBrk="0">
                        <a:lnSpc>
                          <a:spcPct val="86000"/>
                        </a:lnSpc>
                        <a:tabLst/>
                      </a:pP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Often includes the</a:t>
                      </a:r>
                      <a:r>
                        <a:rPr sz="2400" kern="0" spc="15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belief that one’s culture</a:t>
                      </a:r>
                      <a:r>
                        <a:rPr sz="2400" kern="0" spc="17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is</a:t>
                      </a:r>
                      <a:r>
                        <a:rPr sz="2400" kern="0" spc="8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superior </a:t>
                      </a:r>
                      <a:r>
                        <a:rPr sz="24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to</a:t>
                      </a:r>
                      <a:r>
                        <a:rPr sz="24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</a:t>
                      </a:r>
                      <a:r>
                        <a:rPr sz="24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others.</a:t>
                      </a:r>
                      <a:endParaRPr sz="2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6" name="table 206"/>
          <p:cNvGraphicFramePr>
            <a:graphicFrameLocks noGrp="1"/>
          </p:cNvGraphicFramePr>
          <p:nvPr/>
        </p:nvGraphicFramePr>
        <p:xfrm>
          <a:off x="502158" y="1314450"/>
          <a:ext cx="8140065" cy="946150"/>
        </p:xfrm>
        <a:graphic>
          <a:graphicData uri="http://schemas.openxmlformats.org/drawingml/2006/table">
            <a:tbl>
              <a:tblPr>
                <a:solidFill>
                  <a:srgbClr val="EEF3F0"/>
                </a:solidFill>
              </a:tblPr>
              <a:tblGrid>
                <a:gridCol w="37465"/>
                <a:gridCol w="8102600"/>
              </a:tblGrid>
              <a:tr h="9461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167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1610" indent="13970" algn="l" rtl="0" eaLnBrk="0">
                        <a:lnSpc>
                          <a:spcPct val="85000"/>
                        </a:lnSpc>
                        <a:tabLst/>
                      </a:pP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Using one’s own culture to</a:t>
                      </a:r>
                      <a:r>
                        <a:rPr sz="2400" kern="0" spc="14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unders</a:t>
                      </a:r>
                      <a:r>
                        <a:rPr sz="24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tand</a:t>
                      </a:r>
                      <a:r>
                        <a:rPr sz="2400" kern="0" spc="1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and</a:t>
                      </a:r>
                      <a:r>
                        <a:rPr sz="2400" kern="0" spc="10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evaluate</a:t>
                      </a:r>
                      <a:r>
                        <a:rPr sz="24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     </a:t>
                      </a:r>
                      <a:r>
                        <a:rPr sz="24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others.</a:t>
                      </a:r>
                      <a:endParaRPr sz="2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</a:tr>
            </a:tbl>
          </a:graphicData>
        </a:graphic>
      </p:graphicFrame>
      <p:sp>
        <p:nvSpPr>
          <p:cNvPr id="208" name="rect 208"/>
          <p:cNvSpPr/>
          <p:nvPr/>
        </p:nvSpPr>
        <p:spPr>
          <a:xfrm>
            <a:off x="0" y="0"/>
            <a:ext cx="9144000" cy="365759"/>
          </a:xfrm>
          <a:prstGeom prst="rect">
            <a:avLst/>
          </a:prstGeom>
          <a:solidFill>
            <a:srgbClr val="93A29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10" name="textbox 210"/>
          <p:cNvSpPr/>
          <p:nvPr/>
        </p:nvSpPr>
        <p:spPr>
          <a:xfrm>
            <a:off x="477894" y="669413"/>
            <a:ext cx="3194685" cy="4254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28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3000"/>
              </a:lnSpc>
              <a:tabLst/>
            </a:pPr>
            <a:r>
              <a:rPr sz="3600" b="1" kern="0" spc="-2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Ethnocentrism</a:t>
            </a:r>
            <a:endParaRPr sz="3600" dirty="0">
              <a:latin typeface="Arial"/>
              <a:ea typeface="Arial"/>
              <a:cs typeface="Arial"/>
            </a:endParaRPr>
          </a:p>
        </p:txBody>
      </p:sp>
      <p:sp>
        <p:nvSpPr>
          <p:cNvPr id="212" name="textbox 212"/>
          <p:cNvSpPr/>
          <p:nvPr/>
        </p:nvSpPr>
        <p:spPr>
          <a:xfrm>
            <a:off x="6537680" y="6473393"/>
            <a:ext cx="2493010" cy="2432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37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tabLst/>
            </a:pPr>
            <a:r>
              <a:rPr sz="18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© 2017 Taylor &amp;</a:t>
            </a:r>
            <a:r>
              <a:rPr sz="1800" kern="0" spc="2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Francis</a:t>
            </a:r>
            <a:endParaRPr sz="18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4" name="table 214"/>
          <p:cNvGraphicFramePr>
            <a:graphicFrameLocks noGrp="1"/>
          </p:cNvGraphicFramePr>
          <p:nvPr/>
        </p:nvGraphicFramePr>
        <p:xfrm>
          <a:off x="502158" y="2907029"/>
          <a:ext cx="8140065" cy="1690370"/>
        </p:xfrm>
        <a:graphic>
          <a:graphicData uri="http://schemas.openxmlformats.org/drawingml/2006/table">
            <a:tbl>
              <a:tblPr>
                <a:solidFill>
                  <a:srgbClr val="EEF3F0"/>
                </a:solidFill>
              </a:tblPr>
              <a:tblGrid>
                <a:gridCol w="37465"/>
                <a:gridCol w="8102600"/>
              </a:tblGrid>
              <a:tr h="16903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195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1940" indent="16509" algn="l" rtl="0" eaLnBrk="0">
                        <a:lnSpc>
                          <a:spcPct val="93000"/>
                        </a:lnSpc>
                        <a:tabLst/>
                      </a:pPr>
                      <a:r>
                        <a:rPr sz="24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Normative </a:t>
                      </a:r>
                      <a:r>
                        <a:rPr sz="2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approach</a:t>
                      </a:r>
                      <a:r>
                        <a:rPr sz="2400" kern="0" spc="1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is concerned</a:t>
                      </a:r>
                      <a:r>
                        <a:rPr sz="2400" kern="0" spc="1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not only with facts of</a:t>
                      </a:r>
                      <a:r>
                        <a:rPr sz="2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</a:t>
                      </a:r>
                      <a:r>
                        <a:rPr sz="2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the social world as</a:t>
                      </a:r>
                      <a:r>
                        <a:rPr sz="2400" kern="0" spc="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it</a:t>
                      </a:r>
                      <a:r>
                        <a:rPr sz="2400" kern="0" spc="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is, but with the</a:t>
                      </a:r>
                      <a:r>
                        <a:rPr sz="24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way</a:t>
                      </a:r>
                      <a:r>
                        <a:rPr sz="2400" kern="0" spc="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it</a:t>
                      </a:r>
                      <a:r>
                        <a:rPr sz="24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b="1" i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should be</a:t>
                      </a:r>
                      <a:r>
                        <a:rPr sz="2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.</a:t>
                      </a:r>
                      <a:endParaRPr sz="2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35000" indent="-345440" algn="l" rtl="0" eaLnBrk="0">
                        <a:lnSpc>
                          <a:spcPct val="99000"/>
                        </a:lnSpc>
                        <a:spcBef>
                          <a:spcPts val="292"/>
                        </a:spcBef>
                        <a:tabLst/>
                      </a:pPr>
                      <a:r>
                        <a:rPr sz="1900" kern="0" spc="4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   Why</a:t>
                      </a:r>
                      <a:r>
                        <a:rPr sz="1900" kern="0" spc="9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900" kern="0" spc="4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are there</a:t>
                      </a:r>
                      <a:r>
                        <a:rPr sz="1900" kern="0" spc="10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900" kern="0" spc="4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“pseudo-foods”</a:t>
                      </a:r>
                      <a:r>
                        <a:rPr sz="1900" kern="0" spc="9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900" kern="0" spc="4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on the</a:t>
                      </a:r>
                      <a:r>
                        <a:rPr sz="1900" kern="0" spc="14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900" kern="0" spc="4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marke</a:t>
                      </a:r>
                      <a:r>
                        <a:rPr sz="1900" kern="0" spc="3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t?</a:t>
                      </a:r>
                      <a:r>
                        <a:rPr sz="1900" kern="0" spc="1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900" kern="0" spc="3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Should</a:t>
                      </a:r>
                      <a:r>
                        <a:rPr sz="1900" kern="0" spc="1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900" kern="0" spc="3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anything</a:t>
                      </a:r>
                      <a:r>
                        <a:rPr sz="19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  </a:t>
                      </a:r>
                      <a:r>
                        <a:rPr sz="19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be</a:t>
                      </a:r>
                      <a:r>
                        <a:rPr sz="1900" kern="0" spc="14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9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done</a:t>
                      </a:r>
                      <a:r>
                        <a:rPr sz="1900" kern="0" spc="14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9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about</a:t>
                      </a:r>
                      <a:r>
                        <a:rPr sz="1900" kern="0" spc="14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9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this</a:t>
                      </a:r>
                      <a:r>
                        <a:rPr sz="1900" kern="0" spc="14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?</a:t>
                      </a:r>
                      <a:r>
                        <a:rPr sz="1900" kern="0" spc="16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9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if</a:t>
                      </a:r>
                      <a:r>
                        <a:rPr sz="1900" kern="0" spc="14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9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so</a:t>
                      </a:r>
                      <a:r>
                        <a:rPr sz="1900" kern="0" spc="14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, </a:t>
                      </a:r>
                      <a:r>
                        <a:rPr sz="19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what</a:t>
                      </a:r>
                      <a:r>
                        <a:rPr sz="1900" kern="0" spc="14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9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would</a:t>
                      </a:r>
                      <a:r>
                        <a:rPr sz="1900" kern="0" spc="14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9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you</a:t>
                      </a:r>
                      <a:r>
                        <a:rPr sz="1900" kern="0" spc="9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9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do</a:t>
                      </a:r>
                      <a:r>
                        <a:rPr sz="1900" kern="0" spc="14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?</a:t>
                      </a:r>
                      <a:endParaRPr sz="19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6" name="table 216"/>
          <p:cNvGraphicFramePr>
            <a:graphicFrameLocks noGrp="1"/>
          </p:cNvGraphicFramePr>
          <p:nvPr/>
        </p:nvGraphicFramePr>
        <p:xfrm>
          <a:off x="502158" y="1619250"/>
          <a:ext cx="8140065" cy="1044575"/>
        </p:xfrm>
        <a:graphic>
          <a:graphicData uri="http://schemas.openxmlformats.org/drawingml/2006/table">
            <a:tbl>
              <a:tblPr>
                <a:solidFill>
                  <a:srgbClr val="EEF3F0"/>
                </a:solidFill>
              </a:tblPr>
              <a:tblGrid>
                <a:gridCol w="37465"/>
                <a:gridCol w="8102600"/>
              </a:tblGrid>
              <a:tr h="10445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554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96545" indent="1905" algn="l" rtl="0" eaLnBrk="0">
                        <a:lnSpc>
                          <a:spcPct val="93000"/>
                        </a:lnSpc>
                        <a:tabLst/>
                      </a:pPr>
                      <a:r>
                        <a:rPr sz="24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Empirical </a:t>
                      </a:r>
                      <a:r>
                        <a:rPr sz="2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research </a:t>
                      </a:r>
                      <a:r>
                        <a:rPr sz="2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documents the social world</a:t>
                      </a:r>
                      <a:r>
                        <a:rPr sz="24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b="1" i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as it is</a:t>
                      </a:r>
                      <a:r>
                        <a:rPr sz="2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,</a:t>
                      </a:r>
                      <a:r>
                        <a:rPr sz="2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2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not as</a:t>
                      </a:r>
                      <a:r>
                        <a:rPr sz="2400" kern="0" spc="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it</a:t>
                      </a:r>
                      <a:r>
                        <a:rPr sz="24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</a:t>
                      </a:r>
                      <a:r>
                        <a:rPr sz="24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hould</a:t>
                      </a:r>
                      <a:r>
                        <a:rPr sz="2400" kern="0" spc="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be.</a:t>
                      </a:r>
                      <a:endParaRPr sz="2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</a:tr>
            </a:tbl>
          </a:graphicData>
        </a:graphic>
      </p:graphicFrame>
      <p:sp>
        <p:nvSpPr>
          <p:cNvPr id="218" name="textbox 218"/>
          <p:cNvSpPr/>
          <p:nvPr/>
        </p:nvSpPr>
        <p:spPr>
          <a:xfrm>
            <a:off x="477418" y="515079"/>
            <a:ext cx="7995919" cy="10172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17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334" algn="l" rtl="0" eaLnBrk="0">
              <a:lnSpc>
                <a:spcPct val="78000"/>
              </a:lnSpc>
              <a:tabLst/>
            </a:pPr>
            <a:r>
              <a:rPr sz="3600" b="1" kern="0" spc="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Normative</a:t>
            </a:r>
            <a:r>
              <a:rPr sz="3600" b="1" kern="0" spc="-1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and empirical approaches</a:t>
            </a:r>
            <a:endParaRPr sz="36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4427"/>
              </a:lnSpc>
              <a:tabLst/>
            </a:pPr>
            <a:r>
              <a:rPr sz="3600" b="1" kern="0" spc="-2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in sociolo</a:t>
            </a:r>
            <a:r>
              <a:rPr sz="3600" b="1" kern="0" spc="-3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gy</a:t>
            </a:r>
            <a:endParaRPr sz="3600" dirty="0">
              <a:latin typeface="Arial"/>
              <a:ea typeface="Arial"/>
              <a:cs typeface="Arial"/>
            </a:endParaRPr>
          </a:p>
        </p:txBody>
      </p:sp>
      <p:sp>
        <p:nvSpPr>
          <p:cNvPr id="220" name="rect 220"/>
          <p:cNvSpPr/>
          <p:nvPr/>
        </p:nvSpPr>
        <p:spPr>
          <a:xfrm>
            <a:off x="0" y="0"/>
            <a:ext cx="9144000" cy="365759"/>
          </a:xfrm>
          <a:prstGeom prst="rect">
            <a:avLst/>
          </a:prstGeom>
          <a:solidFill>
            <a:srgbClr val="93A29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22" name="textbox 222"/>
          <p:cNvSpPr/>
          <p:nvPr/>
        </p:nvSpPr>
        <p:spPr>
          <a:xfrm>
            <a:off x="6537680" y="6473393"/>
            <a:ext cx="2493010" cy="2432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37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tabLst/>
            </a:pPr>
            <a:r>
              <a:rPr sz="18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© 2017 Taylor &amp;</a:t>
            </a:r>
            <a:r>
              <a:rPr sz="1800" kern="0" spc="2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Francis</a:t>
            </a:r>
            <a:endParaRPr sz="18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4" name="table 224"/>
          <p:cNvGraphicFramePr>
            <a:graphicFrameLocks noGrp="1"/>
          </p:cNvGraphicFramePr>
          <p:nvPr/>
        </p:nvGraphicFramePr>
        <p:xfrm>
          <a:off x="502158" y="1690115"/>
          <a:ext cx="8140065" cy="3048000"/>
        </p:xfrm>
        <a:graphic>
          <a:graphicData uri="http://schemas.openxmlformats.org/drawingml/2006/table">
            <a:tbl>
              <a:tblPr>
                <a:solidFill>
                  <a:srgbClr val="EEF3F0"/>
                </a:solidFill>
              </a:tblPr>
              <a:tblGrid>
                <a:gridCol w="37465"/>
                <a:gridCol w="8102600"/>
              </a:tblGrid>
              <a:tr h="30480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0500" indent="-6350" algn="l" rtl="0" eaLnBrk="0">
                        <a:lnSpc>
                          <a:spcPct val="85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2400" b="1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Open-ended </a:t>
                      </a:r>
                      <a:r>
                        <a:rPr sz="24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questions asked o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f a </a:t>
                      </a:r>
                      <a:r>
                        <a:rPr sz="2400" b="1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small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group</a:t>
                      </a:r>
                      <a:r>
                        <a:rPr sz="2400" kern="0" spc="9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of</a:t>
                      </a:r>
                      <a:r>
                        <a:rPr sz="24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          </a:t>
                      </a:r>
                      <a:r>
                        <a:rPr sz="24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respondents.</a:t>
                      </a:r>
                      <a:endParaRPr sz="2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8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2245" indent="3175" algn="l" rtl="0" eaLnBrk="0">
                        <a:lnSpc>
                          <a:spcPct val="86000"/>
                        </a:lnSpc>
                        <a:spcBef>
                          <a:spcPts val="729"/>
                        </a:spcBef>
                        <a:tabLst/>
                      </a:pPr>
                      <a:r>
                        <a:rPr sz="2400" b="1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Goal: </a:t>
                      </a:r>
                      <a:r>
                        <a:rPr sz="24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better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understanding of the</a:t>
                      </a:r>
                      <a:r>
                        <a:rPr sz="2400" kern="0" spc="15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respondents’</a:t>
                      </a:r>
                      <a:r>
                        <a:rPr sz="24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            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experiences,</a:t>
                      </a:r>
                      <a:r>
                        <a:rPr sz="2400" kern="0" spc="17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understandings and</a:t>
                      </a:r>
                      <a:r>
                        <a:rPr sz="2400" kern="0" spc="16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ide</a:t>
                      </a:r>
                      <a:r>
                        <a:rPr sz="24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ntities.</a:t>
                      </a:r>
                      <a:endParaRPr sz="2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8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0975" indent="12700" algn="l" rtl="0" eaLnBrk="0">
                        <a:lnSpc>
                          <a:spcPct val="86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2400" b="1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Not</a:t>
                      </a:r>
                      <a:r>
                        <a:rPr sz="2400" b="1" kern="0" spc="15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intended to shed</a:t>
                      </a:r>
                      <a:r>
                        <a:rPr sz="2400" kern="0" spc="16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light on experienc</a:t>
                      </a:r>
                      <a:r>
                        <a:rPr sz="24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es of</a:t>
                      </a:r>
                      <a:r>
                        <a:rPr sz="2400" kern="0" spc="7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broader</a:t>
                      </a:r>
                      <a:r>
                        <a:rPr sz="24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   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social groups.</a:t>
                      </a:r>
                      <a:endParaRPr sz="2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6" name="table 226"/>
          <p:cNvGraphicFramePr>
            <a:graphicFrameLocks noGrp="1"/>
          </p:cNvGraphicFramePr>
          <p:nvPr/>
        </p:nvGraphicFramePr>
        <p:xfrm>
          <a:off x="502158" y="4852416"/>
          <a:ext cx="8140065" cy="1282700"/>
        </p:xfrm>
        <a:graphic>
          <a:graphicData uri="http://schemas.openxmlformats.org/drawingml/2006/table">
            <a:tbl>
              <a:tblPr>
                <a:solidFill>
                  <a:srgbClr val="FAF5EF"/>
                </a:solidFill>
              </a:tblPr>
              <a:tblGrid>
                <a:gridCol w="37465"/>
                <a:gridCol w="8102600"/>
              </a:tblGrid>
              <a:tr h="12827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14655" indent="-231140" algn="l" rtl="0" eaLnBrk="0">
                        <a:lnSpc>
                          <a:spcPct val="85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  What topics in food</a:t>
                      </a:r>
                      <a:r>
                        <a:rPr sz="1800" kern="0" spc="4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sociology</a:t>
                      </a:r>
                      <a:r>
                        <a:rPr sz="1800" kern="0" spc="7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could</a:t>
                      </a:r>
                      <a:r>
                        <a:rPr sz="1800" kern="0" spc="1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be</a:t>
                      </a:r>
                      <a:r>
                        <a:rPr sz="1800" kern="0" spc="5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studied</a:t>
                      </a:r>
                      <a:r>
                        <a:rPr sz="1800" kern="0" spc="1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using</a:t>
                      </a:r>
                      <a:r>
                        <a:rPr sz="1800" kern="0" spc="6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qualitative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                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interviewing?</a:t>
                      </a:r>
                      <a:endParaRPr sz="1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3514" algn="l" rtl="0" eaLnBrk="0">
                        <a:lnSpc>
                          <a:spcPct val="79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  What</a:t>
                      </a:r>
                      <a:r>
                        <a:rPr sz="1800" kern="0" spc="6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questions would</a:t>
                      </a:r>
                      <a:r>
                        <a:rPr sz="1800" kern="0" spc="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you</a:t>
                      </a:r>
                      <a:r>
                        <a:rPr sz="1800" kern="0" spc="6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ask?</a:t>
                      </a:r>
                      <a:endParaRPr sz="18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F"/>
                    </a:solidFill>
                  </a:tcPr>
                </a:tc>
              </a:tr>
            </a:tbl>
          </a:graphicData>
        </a:graphic>
      </p:graphicFrame>
      <p:sp>
        <p:nvSpPr>
          <p:cNvPr id="228" name="textbox 228"/>
          <p:cNvSpPr/>
          <p:nvPr/>
        </p:nvSpPr>
        <p:spPr>
          <a:xfrm>
            <a:off x="477436" y="496976"/>
            <a:ext cx="5556250" cy="10166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60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8000"/>
              </a:lnSpc>
              <a:tabLst/>
            </a:pPr>
            <a:r>
              <a:rPr sz="3600" b="1" kern="0" spc="-1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Research tool: qualitativ</a:t>
            </a:r>
            <a:r>
              <a:rPr sz="3600" b="1" kern="0" spc="-2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endParaRPr sz="36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4426"/>
              </a:lnSpc>
              <a:tabLst/>
            </a:pPr>
            <a:r>
              <a:rPr sz="3600" b="1" kern="0" spc="-2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interviewing</a:t>
            </a:r>
            <a:endParaRPr sz="3600" dirty="0">
              <a:latin typeface="Arial"/>
              <a:ea typeface="Arial"/>
              <a:cs typeface="Arial"/>
            </a:endParaRPr>
          </a:p>
        </p:txBody>
      </p:sp>
      <p:sp>
        <p:nvSpPr>
          <p:cNvPr id="230" name="rect 230"/>
          <p:cNvSpPr/>
          <p:nvPr/>
        </p:nvSpPr>
        <p:spPr>
          <a:xfrm>
            <a:off x="0" y="0"/>
            <a:ext cx="9144000" cy="365759"/>
          </a:xfrm>
          <a:prstGeom prst="rect">
            <a:avLst/>
          </a:prstGeom>
          <a:solidFill>
            <a:srgbClr val="93A29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32" name="textbox 232"/>
          <p:cNvSpPr/>
          <p:nvPr/>
        </p:nvSpPr>
        <p:spPr>
          <a:xfrm>
            <a:off x="6537680" y="6473393"/>
            <a:ext cx="2493010" cy="2432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37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tabLst/>
            </a:pPr>
            <a:r>
              <a:rPr sz="18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© 2017 Taylor &amp;</a:t>
            </a:r>
            <a:r>
              <a:rPr sz="1800" kern="0" spc="2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Francis</a:t>
            </a:r>
            <a:endParaRPr sz="18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vt="http://schemas.openxmlformats.org/officeDocument/2006/docPropsVTypes" xmlns:ap="http://schemas.openxmlformats.org/officeDocument/2006/extended-properties">
  <ap:Application>Microsoft® PowerPoint® 2016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Prof. Li Xueshi (HSS)</dc:creator>
  <dcterms:created xsi:type="dcterms:W3CDTF">2026-09-13T23:00:14Z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wqlLaW5nc29mdCBQREYgdG8gV1BTIDEyMA</vt:lpwstr>
  </property>
  <property fmtid="{D5CDD505-2E9C-101B-9397-08002B2CF9AE}" pid="3" name="Created">
    <vt:filetime>2026-09-26T16:18:36</vt:filetime>
  </property>
</Properties>
</file>