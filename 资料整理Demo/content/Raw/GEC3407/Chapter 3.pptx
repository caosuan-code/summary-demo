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0693400" cy="755929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8" Type="http://schemas.openxmlformats.org/officeDocument/2006/relationships/viewProps" Target="viewProps.xml"/><Relationship Id="rId47" Type="http://schemas.openxmlformats.org/officeDocument/2006/relationships/tableStyles" Target="tableStyles.xml"/><Relationship Id="rId46" Type="http://schemas.openxmlformats.org/officeDocument/2006/relationships/presProps" Target="presProps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xthtone.com/news/101590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xthtone.com/news/1013804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xthtone.com/news/1007965/the-new-style-family-values-underpinning-the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xthtone.com/news/1012459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xthtone.com/news/1005793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ng"/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74839" y="348996"/>
            <a:ext cx="9144000" cy="6858000"/>
            <a:chOff x="0" y="0"/>
            <a:chExt cx="9144000" cy="68580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846601" y="325950"/>
              <a:ext cx="6781800" cy="30905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8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74000"/>
                </a:lnSpc>
                <a:tabLst/>
              </a:pPr>
              <a:r>
                <a:rPr sz="4000" b="1" kern="0" spc="-120" dirty="0">
                  <a:solidFill>
                    <a:srgbClr val="D2523B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CHAPTER 3:</a:t>
              </a:r>
              <a:endParaRPr sz="4000" dirty="0">
                <a:latin typeface="Arial"/>
                <a:ea typeface="Arial"/>
                <a:cs typeface="Arial"/>
              </a:endParaRPr>
            </a:p>
            <a:p>
              <a:pPr marL="60960" algn="l" rtl="0" eaLnBrk="0">
                <a:lnSpc>
                  <a:spcPts val="7732"/>
                </a:lnSpc>
                <a:spcBef>
                  <a:spcPts val="630"/>
                </a:spcBef>
                <a:tabLst/>
              </a:pPr>
              <a:r>
                <a:rPr sz="5400" b="1" kern="0" spc="-130" dirty="0">
                  <a:solidFill>
                    <a:srgbClr val="292934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FAST.FOOD </a:t>
              </a:r>
              <a:r>
                <a:rPr sz="5400" b="1" kern="0" spc="-140" dirty="0">
                  <a:solidFill>
                    <a:srgbClr val="292934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BLUES:</a:t>
              </a:r>
              <a:endParaRPr sz="5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990"/>
                </a:lnSpc>
                <a:spcBef>
                  <a:spcPts val="518"/>
                </a:spcBef>
                <a:tabLst/>
              </a:pPr>
              <a:r>
                <a:rPr sz="5400" b="1" kern="0" spc="-30" dirty="0">
                  <a:solidFill>
                    <a:srgbClr val="D2513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WORK IN A GLO</a:t>
              </a:r>
              <a:r>
                <a:rPr sz="5400" b="1" kern="0" spc="-40" dirty="0">
                  <a:solidFill>
                    <a:srgbClr val="D2513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BAL</a:t>
              </a:r>
              <a:endParaRPr sz="5400" dirty="0">
                <a:latin typeface="Arial"/>
                <a:ea typeface="Arial"/>
                <a:cs typeface="Arial"/>
              </a:endParaRPr>
            </a:p>
            <a:p>
              <a:pPr marL="60325" algn="l" rtl="0" eaLnBrk="0">
                <a:lnSpc>
                  <a:spcPts val="7709"/>
                </a:lnSpc>
                <a:tabLst/>
              </a:pPr>
              <a:r>
                <a:rPr sz="5400" b="1" kern="0" spc="-70" dirty="0">
                  <a:solidFill>
                    <a:srgbClr val="D2513A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ECONOMY</a:t>
              </a:r>
              <a:endParaRPr sz="54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774839" y="348996"/>
            <a:ext cx="9144000" cy="5595365"/>
            <a:chOff x="0" y="0"/>
            <a:chExt cx="9144000" cy="559536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144000" cy="5595365"/>
            </a:xfrm>
            <a:prstGeom prst="rect">
              <a:avLst/>
            </a:prstGeom>
          </p:spPr>
        </p:pic>
        <p:sp>
          <p:nvSpPr>
            <p:cNvPr id="8" name="textbox 8"/>
            <p:cNvSpPr/>
            <p:nvPr/>
          </p:nvSpPr>
          <p:spPr>
            <a:xfrm>
              <a:off x="2303621" y="4437379"/>
              <a:ext cx="4216400" cy="337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457"/>
                </a:lnSpc>
                <a:tabLst/>
              </a:pPr>
              <a:r>
                <a:rPr sz="1800" kern="0" spc="0" dirty="0">
                  <a:solidFill>
                    <a:srgbClr val="0000FF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00FF"/>
                        <wpsdc:folHlinkClr xmlns:wpsdc="http://www.wps.cn/officeDocument/2017/drawingmlCustomData" val="0000FF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https://www.sixthtone.com/</a:t>
              </a:r>
              <a:r>
                <a:rPr sz="1800" kern="0" spc="-10" dirty="0">
                  <a:solidFill>
                    <a:srgbClr val="0000FF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00FF"/>
                        <wpsdc:folHlinkClr xmlns:wpsdc="http://www.wps.cn/officeDocument/2017/drawingmlCustomData" val="0000FF"/>
                        <wpsdc:hlinkUnderline xmlns:wpsdc="http://www.wps.cn/officeDocument/2017/drawingmlCustomData" val="0"/>
                      </a:ext>
                    </a:extLst>
                  </a:hlinkClick>
                </a:rPr>
                <a:t>news/1015907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0" name="textbox 10"/>
          <p:cNvSpPr/>
          <p:nvPr/>
        </p:nvSpPr>
        <p:spPr>
          <a:xfrm>
            <a:off x="853573" y="6076441"/>
            <a:ext cx="8803640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5080" algn="l" rtl="0" eaLnBrk="0">
              <a:lnSpc>
                <a:spcPct val="105000"/>
              </a:lnSpc>
              <a:tabLst/>
            </a:pPr>
            <a:r>
              <a:rPr sz="2400" kern="0" spc="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Around th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eir necks</a:t>
            </a:r>
            <a:r>
              <a:rPr sz="2400" kern="0" spc="16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hang signs scrawled with offenses</a:t>
            </a:r>
            <a:r>
              <a:rPr sz="2400" kern="0" spc="17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like</a:t>
            </a:r>
            <a:r>
              <a:rPr sz="2400" kern="0" spc="1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“failing</a:t>
            </a:r>
            <a:r>
              <a:rPr sz="2400" kern="0" spc="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add</a:t>
            </a:r>
            <a:r>
              <a:rPr sz="2400" kern="0" spc="15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nuts,” “forgetting to</a:t>
            </a:r>
            <a:r>
              <a:rPr sz="2400" kern="0" spc="17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include a straw,” and</a:t>
            </a:r>
            <a:r>
              <a:rPr sz="2400" kern="0" spc="10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“forgetting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2400" kern="0" spc="16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</a:t>
            </a:r>
            <a:r>
              <a:rPr sz="2400" kern="0" spc="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a</a:t>
            </a:r>
            <a:r>
              <a:rPr sz="2400" kern="0" spc="16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lid” — alongside the wor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ds “I</a:t>
            </a:r>
            <a:r>
              <a:rPr sz="2400" kern="0" spc="9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2400" kern="0" spc="9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guilty”</a:t>
            </a:r>
            <a:r>
              <a:rPr sz="2400" kern="0" spc="16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400" kern="0" spc="13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Chinese.</a:t>
            </a:r>
            <a:endParaRPr sz="2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1200911"/>
            <a:ext cx="9144000" cy="51503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1318330" y="1169485"/>
            <a:ext cx="7909559" cy="5506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74000"/>
              </a:lnSpc>
              <a:tabLst/>
            </a:pPr>
            <a:r>
              <a:rPr sz="4000" kern="0" spc="-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indent="14604" algn="l" rtl="0" eaLnBrk="0">
              <a:lnSpc>
                <a:spcPct val="90000"/>
              </a:lnSpc>
              <a:spcBef>
                <a:spcPts val="910"/>
              </a:spcBef>
              <a:tabLst/>
            </a:pPr>
            <a:r>
              <a:rPr sz="30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 with similar</a:t>
            </a:r>
            <a:r>
              <a:rPr sz="30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levels of income, wealth,</a:t>
            </a:r>
            <a:r>
              <a:rPr sz="30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0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education, occupational prestige, l</a:t>
            </a:r>
            <a:r>
              <a:rPr sz="30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ifestyle,</a:t>
            </a:r>
            <a:endParaRPr sz="3000" dirty="0">
              <a:latin typeface="Arial"/>
              <a:ea typeface="Arial"/>
              <a:cs typeface="Arial"/>
            </a:endParaRPr>
          </a:p>
          <a:p>
            <a:pPr marL="18415" indent="-1905" algn="l" rtl="0" eaLnBrk="0">
              <a:lnSpc>
                <a:spcPct val="90000"/>
              </a:lnSpc>
              <a:spcBef>
                <a:spcPts val="26"/>
              </a:spcBef>
              <a:tabLst/>
            </a:pPr>
            <a:r>
              <a:rPr sz="30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status and/or a</a:t>
            </a:r>
            <a:r>
              <a:rPr sz="30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ccess to material goods</a:t>
            </a:r>
            <a:r>
              <a:rPr sz="30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0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servic</a:t>
            </a:r>
            <a:r>
              <a:rPr sz="30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es.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77000"/>
              </a:lnSpc>
              <a:spcBef>
                <a:spcPts val="724"/>
              </a:spcBef>
              <a:tabLst/>
            </a:pP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Marx: classes in capitalism:</a:t>
            </a:r>
            <a:endParaRPr sz="2400" dirty="0">
              <a:latin typeface="Arial"/>
              <a:ea typeface="Arial"/>
              <a:cs typeface="Arial"/>
            </a:endParaRPr>
          </a:p>
          <a:p>
            <a:pPr marL="33019" algn="l" rtl="0" eaLnBrk="0">
              <a:lnSpc>
                <a:spcPts val="3276"/>
              </a:lnSpc>
              <a:spcBef>
                <a:spcPts val="494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Workers</a:t>
            </a:r>
            <a:r>
              <a:rPr sz="2400" kern="0" spc="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(the</a:t>
            </a:r>
            <a:r>
              <a:rPr sz="24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oletariat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2400" kern="0" spc="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88925" indent="-276859" algn="l" rtl="0" eaLnBrk="0">
              <a:lnSpc>
                <a:spcPct val="119000"/>
              </a:lnSpc>
              <a:spcBef>
                <a:spcPts val="22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Owners of the means of production</a:t>
            </a:r>
            <a:r>
              <a:rPr sz="2400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(the</a:t>
            </a:r>
            <a:r>
              <a:rPr sz="24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bourge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oisie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).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these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two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classes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belong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tell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478155" indent="-187325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600" kern="0" spc="1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3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other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classes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capitalism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their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relationship to these two cl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asses?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6" name="rect 16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textbox 18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1079887" y="1175584"/>
            <a:ext cx="6703059" cy="4971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Wage labo</a:t>
            </a:r>
            <a:r>
              <a:rPr sz="40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935"/>
              </a:spcBef>
              <a:tabLst/>
            </a:pP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1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relationship</a:t>
            </a:r>
            <a:r>
              <a:rPr sz="31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31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31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1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worker</a:t>
            </a:r>
            <a:r>
              <a:rPr sz="31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sells</a:t>
            </a:r>
            <a:endParaRPr sz="3100" dirty="0">
              <a:latin typeface="Arial"/>
              <a:ea typeface="Arial"/>
              <a:cs typeface="Arial"/>
            </a:endParaRPr>
          </a:p>
          <a:p>
            <a:pPr marL="39369" algn="l" rtl="0" eaLnBrk="0">
              <a:lnSpc>
                <a:spcPts val="3875"/>
              </a:lnSpc>
              <a:tabLst/>
            </a:pP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his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her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labor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31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employer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3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939"/>
              </a:spcBef>
              <a:tabLst/>
            </a:pP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</a:t>
            </a:r>
            <a:r>
              <a:rPr sz="3100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capitalism</a:t>
            </a:r>
            <a:r>
              <a:rPr sz="31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3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79000"/>
              </a:lnSpc>
              <a:spcBef>
                <a:spcPts val="729"/>
              </a:spcBef>
              <a:tabLst/>
            </a:pP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Labor is also a source of personal</a:t>
            </a:r>
            <a:r>
              <a:rPr sz="24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meaning.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83000"/>
              </a:lnSpc>
              <a:spcBef>
                <a:spcPts val="996"/>
              </a:spcBef>
              <a:tabLst/>
            </a:pPr>
            <a:r>
              <a:rPr sz="1600" kern="0" spc="1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dream</a:t>
            </a:r>
            <a:r>
              <a:rPr sz="19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job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57200" indent="-160020" algn="l" rtl="0" eaLnBrk="0">
              <a:lnSpc>
                <a:spcPct val="114000"/>
              </a:lnSpc>
              <a:spcBef>
                <a:spcPts val="377"/>
              </a:spcBef>
              <a:tabLst/>
            </a:pPr>
            <a:r>
              <a:rPr sz="1600" kern="0" spc="1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had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choose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would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choose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well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paid        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job or a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personally satisfying one?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00429" y="2714244"/>
            <a:ext cx="2337816" cy="3428238"/>
          </a:xfrm>
          <a:prstGeom prst="rect">
            <a:avLst/>
          </a:prstGeom>
        </p:spPr>
      </p:pic>
      <p:sp>
        <p:nvSpPr>
          <p:cNvPr id="24" name="rect 24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textbox 26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250003" y="1126490"/>
            <a:ext cx="7570469" cy="5038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994" indent="-11429" algn="l" rtl="0" eaLnBrk="0">
              <a:lnSpc>
                <a:spcPct val="82000"/>
              </a:lnSpc>
              <a:tabLst/>
            </a:pPr>
            <a:r>
              <a:rPr sz="30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</a:t>
            </a:r>
            <a:r>
              <a:rPr sz="3000" b="1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Young Chinese Working as</a:t>
            </a:r>
            <a:r>
              <a:rPr sz="3000" b="1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On-</a:t>
            </a:r>
            <a:r>
              <a:rPr sz="3000" b="1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000" b="1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Demand</a:t>
            </a:r>
            <a:r>
              <a:rPr sz="3000" b="1" kern="0" spc="2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Private Chef</a:t>
            </a:r>
            <a:r>
              <a:rPr sz="3000" b="1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000" b="1" kern="0" spc="-5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…</a:t>
            </a:r>
            <a:r>
              <a:rPr sz="3000" b="1" kern="0" spc="-6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</a:t>
            </a:r>
            <a:endParaRPr sz="3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7000"/>
              </a:lnSpc>
              <a:spcBef>
                <a:spcPts val="1391"/>
              </a:spcBef>
              <a:tabLst/>
            </a:pPr>
            <a:r>
              <a:rPr sz="3000" b="1" u="sng" kern="0" spc="-1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https://www.sixthtone.com/news/1013804</a:t>
            </a:r>
            <a:endParaRPr sz="30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74000"/>
              </a:lnSpc>
              <a:spcBef>
                <a:spcPts val="823"/>
              </a:spcBef>
              <a:tabLst/>
            </a:pPr>
            <a:r>
              <a:rPr sz="30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 THI</a:t>
            </a: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NK THAT THIS</a:t>
            </a:r>
            <a:r>
              <a:rPr sz="30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A</a:t>
            </a:r>
            <a:endParaRPr sz="30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74000"/>
              </a:lnSpc>
              <a:spcBef>
                <a:spcPts val="936"/>
              </a:spcBef>
              <a:tabLst/>
            </a:pP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DESIRABLE JOB?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43584" algn="l" rtl="0" eaLnBrk="0">
              <a:lnSpc>
                <a:spcPct val="79000"/>
              </a:lnSpc>
              <a:spcBef>
                <a:spcPts val="900"/>
              </a:spcBef>
              <a:tabLst/>
            </a:pPr>
            <a:r>
              <a:rPr sz="2500" kern="0" spc="-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you ever been</a:t>
            </a:r>
            <a:r>
              <a:rPr sz="3000" kern="0" spc="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emplo</a:t>
            </a:r>
            <a:r>
              <a:rPr sz="3000" kern="0" spc="-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yed?</a:t>
            </a:r>
            <a:endParaRPr sz="3000" dirty="0">
              <a:latin typeface="Arial"/>
              <a:ea typeface="Arial"/>
              <a:cs typeface="Arial"/>
            </a:endParaRPr>
          </a:p>
          <a:p>
            <a:pPr marL="909955" indent="-166370" algn="l" rtl="0" eaLnBrk="0">
              <a:lnSpc>
                <a:spcPct val="93000"/>
              </a:lnSpc>
              <a:spcBef>
                <a:spcPts val="967"/>
              </a:spcBef>
              <a:tabLst/>
            </a:pPr>
            <a:r>
              <a:rPr sz="2500" kern="0" spc="-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you been employed</a:t>
            </a:r>
            <a:r>
              <a:rPr sz="30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becaus</a:t>
            </a:r>
            <a:r>
              <a:rPr sz="3000" kern="0" spc="-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 you</a:t>
            </a:r>
            <a:r>
              <a:rPr sz="30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wanted to work or because yo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 had to?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33450" indent="-189864" algn="l" rtl="0" eaLnBrk="0">
              <a:lnSpc>
                <a:spcPct val="94000"/>
              </a:lnSpc>
              <a:spcBef>
                <a:spcPts val="7"/>
              </a:spcBef>
              <a:tabLst/>
            </a:pPr>
            <a:r>
              <a:rPr sz="2500" kern="0" spc="-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has been satisfying and what</a:t>
            </a:r>
            <a:r>
              <a:rPr sz="30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</a:t>
            </a:r>
            <a:r>
              <a:rPr sz="3000" kern="0" spc="-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0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been dissatisf</a:t>
            </a:r>
            <a:r>
              <a:rPr sz="30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ying about your work?</a:t>
            </a:r>
            <a:endParaRPr sz="3000" dirty="0">
              <a:latin typeface="Arial"/>
              <a:ea typeface="Arial"/>
              <a:cs typeface="Arial"/>
            </a:endParaRPr>
          </a:p>
        </p:txBody>
      </p:sp>
      <p:sp>
        <p:nvSpPr>
          <p:cNvPr id="30" name="rect 30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2"/>
          <p:cNvSpPr/>
          <p:nvPr/>
        </p:nvSpPr>
        <p:spPr>
          <a:xfrm>
            <a:off x="1310773" y="1010909"/>
            <a:ext cx="4765675" cy="4023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462"/>
              </a:lnSpc>
              <a:tabLst/>
            </a:pPr>
            <a:r>
              <a:rPr sz="4000" b="1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Alienation</a:t>
            </a: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—definition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088"/>
              </a:spcBef>
              <a:tabLst/>
            </a:pPr>
            <a:r>
              <a:rPr sz="36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feeling o</a:t>
            </a:r>
            <a:r>
              <a:rPr sz="36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endParaRPr sz="36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74000"/>
              </a:lnSpc>
              <a:spcBef>
                <a:spcPts val="985"/>
              </a:spcBef>
              <a:tabLst/>
            </a:pPr>
            <a:r>
              <a:rPr sz="36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estrangement</a:t>
            </a:r>
            <a:endParaRPr sz="36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ts val="4860"/>
              </a:lnSpc>
              <a:tabLst/>
            </a:pPr>
            <a:r>
              <a:rPr sz="36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often associat</a:t>
            </a:r>
            <a:r>
              <a:rPr sz="36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ed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5000"/>
              </a:lnSpc>
              <a:spcBef>
                <a:spcPts val="11"/>
              </a:spcBef>
              <a:tabLst/>
            </a:pPr>
            <a:r>
              <a:rPr sz="36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work </a:t>
            </a:r>
            <a:r>
              <a:rPr sz="36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endParaRPr sz="3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77000"/>
              </a:lnSpc>
              <a:spcBef>
                <a:spcPts val="3"/>
              </a:spcBef>
              <a:tabLst/>
            </a:pPr>
            <a:r>
              <a:rPr sz="36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capitalism.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92281" y="1681733"/>
            <a:ext cx="5226557" cy="4475988"/>
          </a:xfrm>
          <a:prstGeom prst="rect">
            <a:avLst/>
          </a:prstGeom>
        </p:spPr>
      </p:pic>
      <p:sp>
        <p:nvSpPr>
          <p:cNvPr id="36" name="rect 36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textbox 38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/>
          <p:nvPr/>
        </p:nvSpPr>
        <p:spPr>
          <a:xfrm>
            <a:off x="1310773" y="1169485"/>
            <a:ext cx="7960994" cy="5683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7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4000" kern="0" spc="-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Aspects of</a:t>
            </a:r>
            <a:r>
              <a:rPr sz="4000" kern="0" spc="-2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kern="0" spc="-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alienati</a:t>
            </a:r>
            <a:r>
              <a:rPr sz="4000" kern="0" spc="-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8950" indent="-448309" algn="l" rtl="0" eaLnBrk="0">
              <a:lnSpc>
                <a:spcPct val="95000"/>
              </a:lnSpc>
              <a:spcBef>
                <a:spcPts val="724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Alienation from the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 process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lack of control</a:t>
            </a:r>
            <a:r>
              <a:rPr sz="24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it;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85140" indent="-187325" algn="l" rtl="0" eaLnBrk="0">
              <a:lnSpc>
                <a:spcPct val="94000"/>
              </a:lnSpc>
              <a:spcBef>
                <a:spcPts val="1011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you ever thought that you could organize the work process</a:t>
            </a:r>
            <a:r>
              <a:rPr sz="1900" kern="0" spc="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better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boss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had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8155" indent="-459105" algn="l" rtl="0" eaLnBrk="0">
              <a:lnSpc>
                <a:spcPct val="104000"/>
              </a:lnSpc>
              <a:spcBef>
                <a:spcPts val="720"/>
              </a:spcBef>
              <a:tabLst/>
            </a:pPr>
            <a:r>
              <a:rPr sz="2000" kern="0" spc="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 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Alienation fro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 the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r>
              <a:rPr sz="2400" b="1" kern="0" spc="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work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lack</a:t>
            </a:r>
            <a:r>
              <a:rPr sz="2400" kern="0" spc="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control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 them and the profit derive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 from them;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97179" algn="l" rtl="0" eaLnBrk="0">
              <a:lnSpc>
                <a:spcPct val="75000"/>
              </a:lnSpc>
              <a:spcBef>
                <a:spcPts val="347"/>
              </a:spcBef>
              <a:tabLst/>
            </a:pPr>
            <a:r>
              <a:rPr sz="1600" kern="0" spc="1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BMW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workers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afford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BMWs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6000"/>
              </a:lnSpc>
              <a:spcBef>
                <a:spcPts val="731"/>
              </a:spcBef>
              <a:tabLst/>
            </a:pPr>
            <a:r>
              <a:rPr sz="2000" kern="0" spc="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3.   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Alienation from </a:t>
            </a:r>
            <a:r>
              <a:rPr sz="24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oth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er workers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; and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97179" algn="l" rtl="0" eaLnBrk="0">
              <a:lnSpc>
                <a:spcPts val="2701"/>
              </a:lnSpc>
              <a:tabLst/>
            </a:pPr>
            <a:r>
              <a:rPr sz="1600" kern="0" spc="1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stabbing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97179" indent="-281304" algn="l" rtl="0" eaLnBrk="0">
              <a:lnSpc>
                <a:spcPct val="103000"/>
              </a:lnSpc>
              <a:tabLst/>
            </a:pPr>
            <a:r>
              <a:rPr sz="2000" kern="0" spc="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4.   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Alienati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from workers’ own nature as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creative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beings. </a:t>
            </a:r>
            <a:r>
              <a:rPr sz="1600" kern="0" spc="10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ever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been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bored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42" name="rect 42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textbox 44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67592" y="1840991"/>
            <a:ext cx="4651247" cy="4572761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1320222" y="2053539"/>
            <a:ext cx="3932554" cy="4281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7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0" algn="l" rtl="0" eaLnBrk="0">
              <a:lnSpc>
                <a:spcPct val="89000"/>
              </a:lnSpc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Business enterp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rises that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span nationa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 boundaries.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ts val="3275"/>
              </a:lnSpc>
              <a:spcBef>
                <a:spcPts val="731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Influential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actors in the global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0000"/>
              </a:lnSpc>
              <a:spcBef>
                <a:spcPts val="10"/>
              </a:spcBef>
              <a:tabLst/>
            </a:pPr>
            <a:r>
              <a:rPr sz="2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economy.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2280" indent="-173354" algn="l" rtl="0" eaLnBrk="0">
              <a:lnSpc>
                <a:spcPct val="102000"/>
              </a:lnSpc>
              <a:spcBef>
                <a:spcPts val="1090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5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Three companies control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most of the frozen French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fries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world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    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them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63550" indent="-175895" algn="l" rtl="0" eaLnBrk="0">
              <a:lnSpc>
                <a:spcPct val="107000"/>
              </a:lnSpc>
              <a:spcBef>
                <a:spcPts val="2"/>
              </a:spcBef>
              <a:tabLst/>
            </a:pPr>
            <a:r>
              <a:rPr sz="1600" kern="0" spc="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banana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republic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called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322463" y="1170247"/>
            <a:ext cx="7384415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Transnational cor</a:t>
            </a:r>
            <a:r>
              <a:rPr sz="40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porations (TNCs)</a:t>
            </a:r>
            <a:endParaRPr sz="4000" dirty="0">
              <a:latin typeface="Arial"/>
              <a:ea typeface="Arial"/>
              <a:cs typeface="Arial"/>
            </a:endParaRPr>
          </a:p>
        </p:txBody>
      </p:sp>
      <p:sp>
        <p:nvSpPr>
          <p:cNvPr id="52" name="rect 52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textbox 54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6"/>
          <p:cNvSpPr/>
          <p:nvPr/>
        </p:nvSpPr>
        <p:spPr>
          <a:xfrm>
            <a:off x="1317174" y="1169485"/>
            <a:ext cx="7974965" cy="4721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019" algn="l" rtl="0" eaLnBrk="0">
              <a:lnSpc>
                <a:spcPct val="79000"/>
              </a:lnSpc>
              <a:tabLst/>
            </a:pP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 mobi</a:t>
            </a:r>
            <a:r>
              <a:rPr sz="40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lity of capital and labor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indent="3810" algn="l" rtl="0" eaLnBrk="0">
              <a:lnSpc>
                <a:spcPct val="94000"/>
              </a:lnSpc>
              <a:spcBef>
                <a:spcPts val="730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Continued importance of national bo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rders in a globalized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economy: regulation of migration and labo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 conditions.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400" indent="-13334" algn="l" rtl="0" eaLnBrk="0">
              <a:lnSpc>
                <a:spcPct val="94000"/>
              </a:lnSpc>
              <a:spcBef>
                <a:spcPts val="724"/>
              </a:spcBef>
              <a:tabLst/>
            </a:pP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Transnational capitalists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 ea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sily across national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borders and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have many similarities.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71000"/>
              </a:lnSpc>
              <a:spcBef>
                <a:spcPts val="1272"/>
              </a:spcBef>
              <a:tabLst/>
            </a:pP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International workers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 less mobile, more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divided, and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ts val="3016"/>
              </a:lnSpc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 vulnerab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le than capitalists.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6725" indent="-175260" algn="l" rtl="0" eaLnBrk="0">
              <a:lnSpc>
                <a:spcPct val="99000"/>
              </a:lnSpc>
              <a:spcBef>
                <a:spcPts val="1048"/>
              </a:spcBef>
              <a:tabLst/>
            </a:pPr>
            <a:r>
              <a:rPr sz="1600" kern="0" spc="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do you know ab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 work and life of undocumented workers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country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600" kern="0" spc="1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undocumented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capitalists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58" name="rect 58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" name="textbox 60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2"/>
          <p:cNvSpPr/>
          <p:nvPr/>
        </p:nvSpPr>
        <p:spPr>
          <a:xfrm>
            <a:off x="1272520" y="1169485"/>
            <a:ext cx="8258809" cy="4936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660" algn="l" rtl="0" eaLnBrk="0">
              <a:lnSpc>
                <a:spcPct val="74000"/>
              </a:lnSpc>
              <a:tabLst/>
            </a:pPr>
            <a:r>
              <a:rPr sz="4000" kern="0" spc="-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Shift toward</a:t>
            </a:r>
            <a:r>
              <a:rPr sz="4000" kern="0" spc="-2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“McJ</a:t>
            </a:r>
            <a:r>
              <a:rPr sz="4000" b="1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obs</a:t>
            </a: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indent="9525" algn="l" rtl="0" eaLnBrk="0">
              <a:lnSpc>
                <a:spcPct val="93000"/>
              </a:lnSpc>
              <a:spcBef>
                <a:spcPts val="730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Most newly generated</a:t>
            </a:r>
            <a:r>
              <a:rPr sz="2400" kern="0" spc="-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jo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bs are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unskilled and</a:t>
            </a:r>
            <a:r>
              <a:rPr sz="2400" kern="0" spc="10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low-wage</a:t>
            </a:r>
            <a:r>
              <a:rPr sz="2400" kern="0" spc="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“McJobs,” and </a:t>
            </a:r>
            <a:r>
              <a:rPr sz="2400" b="1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 </a:t>
            </a:r>
            <a:r>
              <a:rPr sz="2400" kern="0" spc="-1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highly-skilled “knowled</a:t>
            </a:r>
            <a:r>
              <a:rPr sz="2400" kern="0" spc="-2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ge” jobs.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025" algn="l" rtl="0" eaLnBrk="0">
              <a:lnSpc>
                <a:spcPts val="3077"/>
              </a:lnSpc>
              <a:spcBef>
                <a:spcPts val="726"/>
              </a:spcBef>
              <a:tabLst/>
            </a:pP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Factors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a structural shift toward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services, increased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55880" indent="14604" algn="l" rtl="0" eaLnBrk="0">
              <a:lnSpc>
                <a:spcPct val="104000"/>
              </a:lnSpc>
              <a:spcBef>
                <a:spcPts val="39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international competiti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on, outsourcing of labor overseas,</a:t>
            </a:r>
            <a:r>
              <a:rPr sz="2400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part-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 and temporary employment, decline in the power of</a:t>
            </a:r>
            <a:endParaRPr sz="24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73000"/>
              </a:lnSpc>
              <a:spcBef>
                <a:spcPts val="306"/>
              </a:spcBef>
              <a:tabLst/>
            </a:pPr>
            <a:r>
              <a:rPr sz="2400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unions.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83000"/>
              </a:lnSpc>
              <a:spcBef>
                <a:spcPts val="1146"/>
              </a:spcBef>
              <a:tabLst/>
            </a:pPr>
            <a:r>
              <a:rPr sz="1600" kern="0" spc="10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Where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–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beside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’s” –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McJobs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83000"/>
              </a:lnSpc>
              <a:spcBef>
                <a:spcPts val="1006"/>
              </a:spcBef>
              <a:tabLst/>
            </a:pPr>
            <a:r>
              <a:rPr sz="1600" kern="0" spc="1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tell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900" kern="0" spc="-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job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advertisements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McJobs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18159" indent="-181610" algn="l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1600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Look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up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employment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opportunities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local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Craig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List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         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Kijiji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calculate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percentage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McJobs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64" name="rect 64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textbox 66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1603" y="348996"/>
            <a:ext cx="91272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70"/>
          <p:cNvSpPr/>
          <p:nvPr/>
        </p:nvSpPr>
        <p:spPr>
          <a:xfrm>
            <a:off x="1317783" y="1297501"/>
            <a:ext cx="7493634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79000"/>
              </a:lnSpc>
              <a:tabLst/>
            </a:pP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 chains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94000"/>
              </a:lnSpc>
              <a:spcBef>
                <a:spcPts val="730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path a commodity takes from its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concep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design, through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manufacturing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retail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76000"/>
              </a:lnSpc>
              <a:spcBef>
                <a:spcPts val="671"/>
              </a:spcBef>
              <a:tabLst/>
            </a:pP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, to its end as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aste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83000"/>
              </a:lnSpc>
              <a:spcBef>
                <a:spcPts val="1043"/>
              </a:spcBef>
              <a:tabLst/>
            </a:pPr>
            <a:r>
              <a:rPr sz="1600" kern="0" spc="8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true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900" kern="0" spc="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everything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made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China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</a:t>
            </a:r>
            <a:r>
              <a:rPr sz="1900" kern="0" spc="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83000"/>
              </a:lnSpc>
              <a:spcBef>
                <a:spcPts val="1012"/>
              </a:spcBef>
              <a:tabLst/>
            </a:pPr>
            <a:r>
              <a:rPr sz="1600" kern="0" spc="1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Where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were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clothes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made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83000"/>
              </a:lnSpc>
              <a:spcBef>
                <a:spcPts val="1006"/>
              </a:spcBef>
              <a:tabLst/>
            </a:pPr>
            <a:r>
              <a:rPr sz="1600" kern="0" spc="17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Where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fresh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produce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fridge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pantry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grown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83000"/>
              </a:lnSpc>
              <a:spcBef>
                <a:spcPts val="1006"/>
              </a:spcBef>
              <a:tabLst/>
            </a:pPr>
            <a:r>
              <a:rPr sz="1600" kern="0" spc="8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did</a:t>
            </a:r>
            <a:r>
              <a:rPr sz="1900" kern="0" spc="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they</a:t>
            </a:r>
            <a:r>
              <a:rPr sz="1900" kern="0" spc="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get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78790" indent="-187960" algn="l" rtl="0" eaLnBrk="0">
              <a:lnSpc>
                <a:spcPct val="111000"/>
              </a:lnSpc>
              <a:spcBef>
                <a:spcPts val="288"/>
              </a:spcBef>
              <a:tabLst/>
            </a:pPr>
            <a:r>
              <a:rPr sz="1600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both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overseas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local</a:t>
            </a:r>
            <a:r>
              <a:rPr sz="1900" kern="0" spc="2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</a:t>
            </a:r>
            <a:r>
              <a:rPr sz="1900" kern="0" spc="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decide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buy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72" name="rect 72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textbox 74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6"/>
          <p:cNvSpPr/>
          <p:nvPr/>
        </p:nvSpPr>
        <p:spPr>
          <a:xfrm>
            <a:off x="1316259" y="1313503"/>
            <a:ext cx="7887334" cy="4443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74000"/>
              </a:lnSpc>
              <a:tabLst/>
            </a:pP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 Nort</a:t>
            </a:r>
            <a:r>
              <a:rPr sz="40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 and Global South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79" indent="12064" algn="l" rtl="0" eaLnBrk="0">
              <a:lnSpc>
                <a:spcPct val="87000"/>
              </a:lnSpc>
              <a:spcBef>
                <a:spcPts val="724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 by the degree of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industri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alization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development,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wealth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69" indent="-5080" algn="l" rtl="0" eaLnBrk="0">
              <a:lnSpc>
                <a:spcPct val="106000"/>
              </a:lnSpc>
              <a:spcBef>
                <a:spcPts val="723"/>
              </a:spcBef>
              <a:tabLst/>
            </a:pP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 North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r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elatively rich and</a:t>
            </a:r>
            <a:r>
              <a:rPr sz="24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powerful;</a:t>
            </a:r>
            <a:r>
              <a:rPr sz="2400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manufacture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higher-value commodities.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indent="8889" algn="l" rtl="0" eaLnBrk="0">
              <a:lnSpc>
                <a:spcPct val="106000"/>
              </a:lnSpc>
              <a:spcBef>
                <a:spcPts val="255"/>
              </a:spcBef>
              <a:tabLst/>
            </a:pP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 South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larg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 poor populations and less</a:t>
            </a:r>
            <a:r>
              <a:rPr sz="24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influence</a:t>
            </a:r>
            <a:r>
              <a:rPr sz="2400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international system; produce export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crops.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76884" indent="-184785" algn="l" rtl="0" eaLnBrk="0">
              <a:lnSpc>
                <a:spcPct val="110000"/>
              </a:lnSpc>
              <a:spcBef>
                <a:spcPts val="274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3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 there countries that are </a:t>
            </a:r>
            <a:r>
              <a:rPr sz="1900" b="1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between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Global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North and 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South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think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78" name="rect 78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textbox 80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2"/>
          <p:cNvSpPr/>
          <p:nvPr/>
        </p:nvSpPr>
        <p:spPr>
          <a:xfrm>
            <a:off x="1317568" y="1175584"/>
            <a:ext cx="7912734" cy="407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705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4000" kern="0" spc="-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Ideology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7519" indent="-443230" algn="l" rtl="0" eaLnBrk="0">
              <a:lnSpc>
                <a:spcPct val="87000"/>
              </a:lnSpc>
              <a:spcBef>
                <a:spcPts val="722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set of related beliefs, opi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nions,</a:t>
            </a:r>
            <a:r>
              <a:rPr sz="2400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images and</a:t>
            </a:r>
            <a:r>
              <a:rPr sz="2400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attitudes;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1737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2.</a:t>
            </a:r>
            <a:r>
              <a:rPr sz="2000" kern="0" spc="1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Ideas that are to some deg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ree distorted in order to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9265" indent="5080" algn="l" rtl="0" eaLnBrk="0">
              <a:lnSpc>
                <a:spcPct val="92000"/>
              </a:lnSpc>
              <a:spcBef>
                <a:spcPts val="45"/>
              </a:spcBef>
              <a:tabLst/>
            </a:pPr>
            <a:r>
              <a:rPr sz="24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disguise 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nd/or</a:t>
            </a:r>
            <a:r>
              <a:rPr sz="2400" kern="0" spc="-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justify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inequality or exploitation, and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sustain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domination. Marxist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tradition.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7359" indent="-175895" algn="l" rtl="0" eaLnBrk="0">
              <a:lnSpc>
                <a:spcPct val="98000"/>
              </a:lnSpc>
              <a:spcBef>
                <a:spcPts val="1311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Think of an action film or a romantic comedy you have</a:t>
            </a:r>
            <a:r>
              <a:rPr sz="1900" kern="0" spc="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seen.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latter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definition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ideology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think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81965" indent="-9525" algn="l" rtl="0" eaLnBrk="0">
              <a:lnSpc>
                <a:spcPct val="98000"/>
              </a:lnSpc>
              <a:spcBef>
                <a:spcPts val="332"/>
              </a:spcBef>
              <a:tabLst/>
            </a:pP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elements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ideology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Sexist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ideology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Racist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ideology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National ideology? Religious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eology?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84" name="rect 84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textbox 86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8"/>
          <p:cNvSpPr/>
          <p:nvPr/>
        </p:nvSpPr>
        <p:spPr>
          <a:xfrm>
            <a:off x="1321746" y="1175584"/>
            <a:ext cx="7946390" cy="4839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909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4000" kern="0" spc="-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Hegemony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5080" algn="l" rtl="0" eaLnBrk="0">
              <a:lnSpc>
                <a:spcPct val="94000"/>
              </a:lnSpc>
              <a:spcBef>
                <a:spcPts val="730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Gramsci: how does the ruling class get the work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class to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accept its d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ominance?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indent="16509" algn="l" rtl="0" eaLnBrk="0">
              <a:lnSpc>
                <a:spcPct val="106000"/>
              </a:lnSpc>
              <a:spcBef>
                <a:spcPts val="49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Ideas that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reinforce relations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hips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domination and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exploitation, embedded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common sense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87020" algn="l" rtl="0" eaLnBrk="0">
              <a:lnSpc>
                <a:spcPts val="2727"/>
              </a:lnSpc>
              <a:spcBef>
                <a:spcPts val="336"/>
              </a:spcBef>
              <a:tabLst/>
            </a:pPr>
            <a:r>
              <a:rPr sz="1600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sociologist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make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familiar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strange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!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87020" algn="l" rtl="0" eaLnBrk="0">
              <a:lnSpc>
                <a:spcPct val="83000"/>
              </a:lnSpc>
              <a:spcBef>
                <a:spcPts val="791"/>
              </a:spcBef>
              <a:tabLst/>
            </a:pPr>
            <a:r>
              <a:rPr sz="1600" kern="0" spc="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Nothing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ventured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nothing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gained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87020" algn="l" rtl="0" eaLnBrk="0">
              <a:lnSpc>
                <a:spcPct val="83000"/>
              </a:lnSpc>
              <a:spcBef>
                <a:spcPts val="1006"/>
              </a:spcBef>
              <a:tabLst/>
            </a:pPr>
            <a:r>
              <a:rPr sz="1600" kern="0" spc="1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Good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things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those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who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wait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74980" indent="-187960" algn="l" rtl="0" eaLnBrk="0">
              <a:lnSpc>
                <a:spcPct val="98000"/>
              </a:lnSpc>
              <a:spcBef>
                <a:spcPts val="818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 both these contradictory sayings be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 of a 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hegemonic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ideology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67359" indent="-180339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can they be useful in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reinforcing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relationships</a:t>
            </a:r>
            <a:r>
              <a:rPr sz="1900" kern="0" spc="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domination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2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exploitation</a:t>
            </a:r>
            <a:r>
              <a:rPr sz="1900" kern="0" spc="2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0" name="rect 90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textbox 92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20042" y="1283970"/>
            <a:ext cx="4098797" cy="5790437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1321746" y="1170247"/>
            <a:ext cx="4504054" cy="5005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7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78000"/>
              </a:lnSpc>
              <a:tabLst/>
            </a:pPr>
            <a:r>
              <a:rPr sz="4000" kern="0" spc="-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Cultural i</a:t>
            </a: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mperialism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79000"/>
              </a:lnSpc>
              <a:spcBef>
                <a:spcPts val="727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Homogenization o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 culture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622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around th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 world under the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74000"/>
              </a:lnSpc>
              <a:spcBef>
                <a:spcPts val="754"/>
              </a:spcBef>
              <a:tabLst/>
            </a:pP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influence of the Global</a:t>
            </a:r>
            <a:r>
              <a:rPr sz="2400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</a:t>
            </a:r>
            <a:r>
              <a:rPr sz="2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rth.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78000"/>
              </a:lnSpc>
              <a:spcBef>
                <a:spcPts val="1288"/>
              </a:spcBef>
              <a:tabLst/>
            </a:pPr>
            <a:r>
              <a:rPr sz="2000" kern="0" spc="-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4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 agree or disagree</a:t>
            </a:r>
            <a:endParaRPr sz="2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53"/>
              </a:lnSpc>
              <a:spcBef>
                <a:spcPts val="593"/>
              </a:spcBef>
              <a:tabLst/>
            </a:pPr>
            <a:r>
              <a:rPr sz="24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Kinchel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oe: does fast food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78155" algn="l" rtl="0" eaLnBrk="0">
              <a:lnSpc>
                <a:spcPts val="3316"/>
              </a:lnSpc>
              <a:tabLst/>
            </a:pP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an</a:t>
            </a:r>
            <a:r>
              <a:rPr sz="24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</a:t>
            </a:r>
            <a:r>
              <a:rPr sz="2400" kern="0" spc="-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ogical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7994" algn="l" rtl="0" eaLnBrk="0">
              <a:lnSpc>
                <a:spcPts val="3217"/>
              </a:lnSpc>
              <a:tabLst/>
            </a:pP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dimension?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89559" algn="l" rtl="0" eaLnBrk="0">
              <a:lnSpc>
                <a:spcPts val="3276"/>
              </a:lnSpc>
              <a:spcBef>
                <a:spcPts val="108"/>
              </a:spcBef>
              <a:tabLst/>
            </a:pPr>
            <a:r>
              <a:rPr sz="2000" kern="0" spc="-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4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yes, what ideological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9900" indent="7620" algn="l" rtl="0" eaLnBrk="0">
              <a:lnSpc>
                <a:spcPct val="87000"/>
              </a:lnSpc>
              <a:spcBef>
                <a:spcPts val="370"/>
              </a:spcBef>
              <a:tabLst/>
            </a:pP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lessons are spread w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ith the</a:t>
            </a:r>
            <a:r>
              <a:rPr sz="24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expansion of McDonalds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’s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into the Global</a:t>
            </a:r>
            <a:r>
              <a:rPr sz="24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South?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98" name="rect 98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1200911"/>
            <a:ext cx="7883652" cy="51503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2"/>
          <p:cNvSpPr/>
          <p:nvPr/>
        </p:nvSpPr>
        <p:spPr>
          <a:xfrm>
            <a:off x="1310773" y="1175584"/>
            <a:ext cx="7878444" cy="542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689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4000" kern="0" spc="-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Iron cage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indent="-15875" algn="l" rtl="0" eaLnBrk="0">
              <a:lnSpc>
                <a:spcPct val="97000"/>
              </a:lnSpc>
              <a:spcBef>
                <a:spcPts val="729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Weber: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bureaucracy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a defining characteristic of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2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modernity.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32384" indent="-20320" algn="l" rtl="0" eaLnBrk="0">
              <a:lnSpc>
                <a:spcPct val="98000"/>
              </a:lnSpc>
              <a:spcBef>
                <a:spcPts val="25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hierarchical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organizational form with s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et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rules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24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procedures.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74000"/>
              </a:lnSpc>
              <a:spcBef>
                <a:spcPts val="963"/>
              </a:spcBef>
              <a:tabLst/>
            </a:pP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 of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rationalization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36194" algn="l" rtl="0" eaLnBrk="0">
              <a:lnSpc>
                <a:spcPct val="78000"/>
              </a:lnSpc>
              <a:spcBef>
                <a:spcPts val="1090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Exists both in and outside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governmental sector.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384" indent="635" algn="l" rtl="0" eaLnBrk="0">
              <a:lnSpc>
                <a:spcPct val="84000"/>
              </a:lnSpc>
              <a:spcBef>
                <a:spcPts val="727"/>
              </a:spcBef>
              <a:tabLst/>
            </a:pP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Iron cage: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bureaucratic restrictions on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individual agency,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both of employees and clients.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76884" indent="-179070" algn="l" rtl="0" eaLnBrk="0">
              <a:lnSpc>
                <a:spcPct val="90000"/>
              </a:lnSpc>
              <a:spcBef>
                <a:spcPts val="799"/>
              </a:spcBef>
              <a:tabLst/>
            </a:pPr>
            <a:r>
              <a:rPr sz="1600" kern="0" spc="1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university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college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bureaucratic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say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85140" indent="-187325" algn="l" rtl="0" eaLnBrk="0">
              <a:lnSpc>
                <a:spcPct val="104000"/>
              </a:lnSpc>
              <a:spcBef>
                <a:spcPts val="210"/>
              </a:spcBef>
              <a:tabLst/>
            </a:pPr>
            <a:r>
              <a:rPr sz="1600" kern="0" spc="1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yes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experiences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iron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cage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had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university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04" name="rect 104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textbox 106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1172717"/>
            <a:ext cx="9143987" cy="51892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34899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2"/>
          <p:cNvSpPr/>
          <p:nvPr/>
        </p:nvSpPr>
        <p:spPr>
          <a:xfrm>
            <a:off x="1310773" y="1175584"/>
            <a:ext cx="7594600" cy="5069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ct val="73000"/>
              </a:lnSpc>
              <a:tabLst/>
            </a:pPr>
            <a:r>
              <a:rPr sz="40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McDonaldiza</a:t>
            </a:r>
            <a:r>
              <a:rPr sz="4000" kern="0" spc="-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73000"/>
              </a:lnSpc>
              <a:spcBef>
                <a:spcPts val="1031"/>
              </a:spcBef>
              <a:tabLst/>
            </a:pPr>
            <a:r>
              <a:rPr sz="3400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Ritzer</a:t>
            </a:r>
            <a:endParaRPr sz="3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672"/>
              </a:spcBef>
              <a:tabLst/>
            </a:pPr>
            <a:r>
              <a:rPr sz="3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process whereby a wide variety </a:t>
            </a:r>
            <a:r>
              <a:rPr sz="3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sz="3400" dirty="0">
              <a:latin typeface="Arial"/>
              <a:ea typeface="Arial"/>
              <a:cs typeface="Arial"/>
            </a:endParaRPr>
          </a:p>
          <a:p>
            <a:pPr marL="26669" indent="-635" algn="l" rtl="0" eaLnBrk="0">
              <a:lnSpc>
                <a:spcPct val="94000"/>
              </a:lnSpc>
              <a:spcBef>
                <a:spcPts val="62"/>
              </a:spcBef>
              <a:tabLst/>
            </a:pPr>
            <a:r>
              <a:rPr sz="3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actors and institut</a:t>
            </a:r>
            <a:r>
              <a:rPr sz="3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ions adopt</a:t>
            </a:r>
            <a:r>
              <a:rPr sz="3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3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organizational principles of</a:t>
            </a:r>
            <a:r>
              <a:rPr sz="3400" kern="0" spc="-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 f</a:t>
            </a:r>
            <a:r>
              <a:rPr sz="3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ood</a:t>
            </a:r>
            <a:r>
              <a:rPr sz="3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restaurants</a:t>
            </a:r>
            <a:r>
              <a:rPr sz="3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3400" dirty="0">
              <a:latin typeface="Arial"/>
              <a:ea typeface="Arial"/>
              <a:cs typeface="Arial"/>
            </a:endParaRPr>
          </a:p>
          <a:p>
            <a:pPr marL="304800" algn="l" rtl="0" eaLnBrk="0">
              <a:lnSpc>
                <a:spcPct val="78000"/>
              </a:lnSpc>
              <a:spcBef>
                <a:spcPts val="2038"/>
              </a:spcBef>
              <a:tabLst/>
            </a:pPr>
            <a:r>
              <a:rPr sz="2700" kern="0" spc="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-2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org</a:t>
            </a:r>
            <a:r>
              <a:rPr sz="31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anizational principles of</a:t>
            </a:r>
            <a:endParaRPr sz="3100" dirty="0">
              <a:latin typeface="Arial"/>
              <a:ea typeface="Arial"/>
              <a:cs typeface="Arial"/>
            </a:endParaRPr>
          </a:p>
          <a:p>
            <a:pPr marL="476250" indent="23495" algn="l" rtl="0" eaLnBrk="0">
              <a:lnSpc>
                <a:spcPct val="110000"/>
              </a:lnSpc>
              <a:spcBef>
                <a:spcPts val="36"/>
              </a:spcBef>
              <a:tabLst/>
            </a:pP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</a:t>
            </a:r>
            <a:r>
              <a:rPr sz="31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1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31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31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other</a:t>
            </a:r>
            <a:r>
              <a:rPr sz="31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</a:t>
            </a:r>
            <a:r>
              <a:rPr sz="31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</a:t>
            </a:r>
            <a:r>
              <a:rPr sz="31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chain</a:t>
            </a:r>
            <a:r>
              <a:rPr sz="31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31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31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familiar</a:t>
            </a:r>
            <a:r>
              <a:rPr sz="31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31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114" name="rect 114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" name="textbox 116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348995"/>
            <a:ext cx="9144000" cy="4800600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884815" y="5251805"/>
            <a:ext cx="8876030" cy="2028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6669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Rotten Tomatoes' critical consensus reads,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"The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Founde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puts</a:t>
            </a:r>
            <a:r>
              <a:rPr sz="27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Michael</a:t>
            </a:r>
            <a:r>
              <a:rPr sz="27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Keaton's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magnetic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formance at the center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 smart, satisfying biopic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that traces the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rise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one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America's most infl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uential businessmen –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birth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 of its most far-reaching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indus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tries."</a:t>
            </a:r>
            <a:endParaRPr sz="2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21600000">
            <a:off x="774839" y="1200911"/>
            <a:ext cx="9144000" cy="5154167"/>
            <a:chOff x="0" y="0"/>
            <a:chExt cx="9144000" cy="5154167"/>
          </a:xfrm>
        </p:grpSpPr>
        <p:pic>
          <p:nvPicPr>
            <p:cNvPr id="122" name="picture 1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144000" cy="5154167"/>
            </a:xfrm>
            <a:prstGeom prst="rect">
              <a:avLst/>
            </a:prstGeom>
          </p:spPr>
        </p:pic>
        <p:sp>
          <p:nvSpPr>
            <p:cNvPr id="124" name="textbox 124"/>
            <p:cNvSpPr/>
            <p:nvPr/>
          </p:nvSpPr>
          <p:spPr>
            <a:xfrm>
              <a:off x="154185" y="1971904"/>
              <a:ext cx="3192145" cy="611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0640" algn="l" rtl="0" eaLnBrk="0">
                <a:lnSpc>
                  <a:spcPts val="1419"/>
                </a:lnSpc>
                <a:tabLst/>
              </a:pPr>
              <a:r>
                <a:rPr sz="1100" b="1" kern="0" spc="80" dirty="0">
                  <a:solidFill>
                    <a:srgbClr val="FFFFFF">
                      <a:alpha val="100000"/>
                    </a:srgbClr>
                  </a:solidFill>
                  <a:latin typeface="Microsoft New Tai Lue"/>
                  <a:ea typeface="Microsoft New Tai Lue"/>
                  <a:cs typeface="Microsoft New Tai Lue"/>
                </a:rPr>
                <a:t>1993</a:t>
              </a:r>
              <a:r>
                <a:rPr sz="1100" b="1" kern="0" spc="170" dirty="0">
                  <a:solidFill>
                    <a:srgbClr val="FFFFFF">
                      <a:alpha val="100000"/>
                    </a:srgbClr>
                  </a:solidFill>
                  <a:latin typeface="Microsoft New Tai Lue"/>
                  <a:ea typeface="Microsoft New Tai Lue"/>
                  <a:cs typeface="Microsoft New Tai Lue"/>
                </a:rPr>
                <a:t> </a:t>
              </a:r>
              <a:r>
                <a:rPr sz="1100" b="1" i="1" kern="0" spc="8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The</a:t>
              </a:r>
              <a:r>
                <a:rPr sz="1100" b="1" i="1" kern="0" spc="2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8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McDonaldization</a:t>
              </a:r>
              <a:r>
                <a:rPr sz="1100" b="1" i="1" kern="0" spc="2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7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of Society:</a:t>
              </a:r>
              <a:r>
                <a:rPr sz="1100" b="1" i="1" kern="0" spc="1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7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An</a:t>
              </a:r>
              <a:endParaRPr sz="11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indent="3175" algn="l" rtl="0" eaLnBrk="0">
                <a:lnSpc>
                  <a:spcPct val="106000"/>
                </a:lnSpc>
                <a:spcBef>
                  <a:spcPts val="1"/>
                </a:spcBef>
                <a:tabLst/>
              </a:pPr>
              <a:r>
                <a:rPr sz="1100" b="1" i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Investigation</a:t>
              </a:r>
              <a:r>
                <a:rPr sz="1100" b="1" i="1" kern="0" spc="1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into</a:t>
              </a:r>
              <a:r>
                <a:rPr sz="1100" b="1" i="1" kern="0" spc="18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</a:t>
              </a:r>
              <a:r>
                <a:rPr sz="1100" b="1" i="1" kern="0" spc="9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he</a:t>
              </a:r>
              <a:r>
                <a:rPr sz="1100" b="1" i="1" kern="0" spc="2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9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Changing</a:t>
              </a:r>
              <a:r>
                <a:rPr sz="1100" b="1" i="1" kern="0" spc="18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9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Character</a:t>
              </a:r>
              <a:r>
                <a:rPr sz="1100" b="1" i="1" kern="0" spc="17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9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of</a:t>
              </a:r>
              <a:r>
                <a:rPr sz="1100" b="1" i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7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Social</a:t>
              </a:r>
              <a:r>
                <a:rPr sz="1100" b="1" i="1" kern="0" spc="2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100" b="1" i="1" kern="0" spc="7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Life</a:t>
              </a:r>
              <a:r>
                <a:rPr sz="1100" b="1" i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1100" b="1" kern="0" spc="70" dirty="0">
                  <a:solidFill>
                    <a:srgbClr val="FFFFFF">
                      <a:alpha val="100000"/>
                    </a:srgbClr>
                  </a:solidFill>
                  <a:latin typeface="Microsoft New Tai Lue"/>
                  <a:ea typeface="Microsoft New Tai Lue"/>
                  <a:cs typeface="Microsoft New Tai Lue"/>
                </a:rPr>
                <a:t>(</a:t>
              </a:r>
              <a:r>
                <a:rPr sz="1100" b="1" kern="0" spc="60" dirty="0">
                  <a:solidFill>
                    <a:srgbClr val="FFFFFF">
                      <a:alpha val="100000"/>
                    </a:srgbClr>
                  </a:solidFill>
                  <a:latin typeface="Microsoft New Tai Lue"/>
                  <a:ea typeface="Microsoft New Tai Lue"/>
                  <a:cs typeface="Microsoft New Tai Lue"/>
                </a:rPr>
                <a:t>George</a:t>
              </a:r>
              <a:r>
                <a:rPr sz="1100" b="1" kern="0" spc="-30" dirty="0">
                  <a:solidFill>
                    <a:srgbClr val="FFFFFF">
                      <a:alpha val="100000"/>
                    </a:srgbClr>
                  </a:solidFill>
                  <a:latin typeface="Microsoft New Tai Lue"/>
                  <a:ea typeface="Microsoft New Tai Lue"/>
                  <a:cs typeface="Microsoft New Tai Lue"/>
                </a:rPr>
                <a:t> </a:t>
              </a:r>
              <a:r>
                <a:rPr sz="1100" b="1" kern="0" spc="60" dirty="0">
                  <a:solidFill>
                    <a:srgbClr val="FFFFFF">
                      <a:alpha val="100000"/>
                    </a:srgbClr>
                  </a:solidFill>
                  <a:latin typeface="Microsoft New Tai Lue"/>
                  <a:ea typeface="Microsoft New Tai Lue"/>
                  <a:cs typeface="Microsoft New Tai Lue"/>
                </a:rPr>
                <a:t>Ritzer)</a:t>
              </a:r>
              <a:endParaRPr sz="1100" dirty="0">
                <a:latin typeface="Microsoft New Tai Lue"/>
                <a:ea typeface="Microsoft New Tai Lue"/>
                <a:cs typeface="Microsoft New Tai Lue"/>
              </a:endParaRPr>
            </a:p>
          </p:txBody>
        </p:sp>
      </p:grpSp>
      <p:pic>
        <p:nvPicPr>
          <p:cNvPr id="126" name="picture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99907" y="3819143"/>
            <a:ext cx="1994154" cy="25306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 128"/>
          <p:cNvSpPr/>
          <p:nvPr/>
        </p:nvSpPr>
        <p:spPr>
          <a:xfrm>
            <a:off x="774839" y="348996"/>
            <a:ext cx="9144000" cy="6858000"/>
          </a:xfrm>
          <a:prstGeom prst="rect">
            <a:avLst/>
          </a:pr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26821" y="5921502"/>
            <a:ext cx="1405128" cy="26670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5602737" y="2985379"/>
            <a:ext cx="4191634" cy="3042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0000"/>
              </a:lnSpc>
              <a:tabLst/>
            </a:pPr>
            <a:r>
              <a:rPr sz="22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although</a:t>
            </a:r>
            <a:r>
              <a:rPr sz="22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cDonald</a:t>
            </a: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’</a:t>
            </a: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2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73000"/>
              </a:lnSpc>
              <a:spcBef>
                <a:spcPts val="896"/>
              </a:spcBef>
              <a:tabLst/>
            </a:pP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assumed</a:t>
            </a:r>
            <a:r>
              <a:rPr sz="22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iconi</a:t>
            </a: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22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status as a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2700" indent="22859" algn="l" rtl="0" eaLnBrk="0">
              <a:lnSpc>
                <a:spcPct val="117000"/>
              </a:lnSpc>
              <a:spcBef>
                <a:spcPts val="19"/>
              </a:spcBef>
              <a:tabLst/>
            </a:pPr>
            <a:r>
              <a:rPr sz="2300" b="1" kern="0" spc="11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highly efficient a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nd profitable</a:t>
            </a:r>
            <a:r>
              <a:rPr sz="2300" b="1" kern="0" spc="-10" dirty="0">
                <a:solidFill>
                  <a:srgbClr val="FFFFFF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Western</a:t>
            </a:r>
            <a:r>
              <a:rPr sz="22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corporation, t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9050" indent="-1270" algn="l" rtl="0" eaLnBrk="0">
              <a:lnSpc>
                <a:spcPct val="114000"/>
              </a:lnSpc>
              <a:spcBef>
                <a:spcPts val="135"/>
              </a:spcBef>
              <a:tabLst/>
            </a:pP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spread of</a:t>
            </a:r>
            <a:r>
              <a:rPr sz="22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</a:t>
            </a:r>
            <a:r>
              <a:rPr sz="22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principles</a:t>
            </a:r>
            <a:r>
              <a:rPr sz="22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across</a:t>
            </a:r>
            <a:r>
              <a:rPr sz="22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22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increasing</a:t>
            </a:r>
            <a:r>
              <a:rPr sz="22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number</a:t>
            </a:r>
            <a:r>
              <a:rPr sz="22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sz="2200" dirty="0">
              <a:latin typeface="Arial"/>
              <a:ea typeface="Arial"/>
              <a:cs typeface="Arial"/>
            </a:endParaRPr>
          </a:p>
          <a:p>
            <a:pPr marL="26669" indent="-8889" algn="l" rtl="0" eaLnBrk="0">
              <a:lnSpc>
                <a:spcPct val="119000"/>
              </a:lnSpc>
              <a:spcBef>
                <a:spcPts val="49"/>
              </a:spcBef>
              <a:tabLst/>
            </a:pP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spheres o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22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human</a:t>
            </a:r>
            <a:r>
              <a:rPr sz="22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activity</a:t>
            </a:r>
            <a:r>
              <a:rPr sz="22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2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leads to</a:t>
            </a:r>
            <a:r>
              <a:rPr sz="2200" kern="0" spc="-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i="1" kern="0" spc="15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ali</a:t>
            </a:r>
            <a:r>
              <a:rPr sz="1700" i="1" kern="0" spc="14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enation</a:t>
            </a:r>
            <a:r>
              <a:rPr sz="22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200" dirty="0">
              <a:latin typeface="Arial"/>
              <a:ea typeface="Arial"/>
              <a:cs typeface="Arial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5631" y="3861054"/>
            <a:ext cx="4335779" cy="2444495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22489" y="2011680"/>
            <a:ext cx="4324350" cy="1767077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1053064" y="1101800"/>
            <a:ext cx="5478779" cy="600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528"/>
              </a:lnSpc>
              <a:tabLst/>
            </a:pPr>
            <a:r>
              <a:rPr sz="3600" b="1" kern="0" spc="130" dirty="0">
                <a:solidFill>
                  <a:srgbClr val="FFFFFF">
                    <a:alpha val="100000"/>
                  </a:srgbClr>
                </a:solidFill>
                <a:latin typeface="Microsoft New Tai Lue"/>
                <a:ea typeface="Microsoft New Tai Lue"/>
                <a:cs typeface="Microsoft New Tai Lue"/>
              </a:rPr>
              <a:t>Principles</a:t>
            </a:r>
            <a:r>
              <a:rPr sz="3600" b="1" kern="0" spc="490" dirty="0">
                <a:solidFill>
                  <a:srgbClr val="FFFFFF">
                    <a:alpha val="100000"/>
                  </a:srgbClr>
                </a:solidFill>
                <a:latin typeface="Microsoft New Tai Lue"/>
                <a:ea typeface="Microsoft New Tai Lue"/>
                <a:cs typeface="Microsoft New Tai Lue"/>
              </a:rPr>
              <a:t> </a:t>
            </a:r>
            <a:r>
              <a:rPr sz="3600" b="1" kern="0" spc="130" dirty="0">
                <a:solidFill>
                  <a:srgbClr val="FFFFFF">
                    <a:alpha val="100000"/>
                  </a:srgbClr>
                </a:solidFill>
                <a:latin typeface="Microsoft New Tai Lue"/>
                <a:ea typeface="Microsoft New Tai Lue"/>
                <a:cs typeface="Microsoft New Tai Lue"/>
              </a:rPr>
              <a:t>of mo</a:t>
            </a:r>
            <a:r>
              <a:rPr sz="3600" b="1" kern="0" spc="120" dirty="0">
                <a:solidFill>
                  <a:srgbClr val="FFFFFF">
                    <a:alpha val="100000"/>
                  </a:srgbClr>
                </a:solidFill>
                <a:latin typeface="Microsoft New Tai Lue"/>
                <a:ea typeface="Microsoft New Tai Lue"/>
                <a:cs typeface="Microsoft New Tai Lue"/>
              </a:rPr>
              <a:t>dernity</a:t>
            </a:r>
            <a:endParaRPr sz="3600" dirty="0">
              <a:latin typeface="Microsoft New Tai Lue"/>
              <a:ea typeface="Microsoft New Tai Lue"/>
              <a:cs typeface="Microsoft New Tai Lue"/>
            </a:endParaRPr>
          </a:p>
        </p:txBody>
      </p:sp>
      <p:pic>
        <p:nvPicPr>
          <p:cNvPr id="140" name="picture 1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12777" y="2875788"/>
            <a:ext cx="1374647" cy="26669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5559364" y="2131567"/>
            <a:ext cx="4187190" cy="783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29" rIns="0" bIns="0"/>
          <a:lstStyle/>
          <a:p>
            <a:pPr marL="63500" indent="11429" algn="l" rtl="0" eaLnBrk="0">
              <a:lnSpc>
                <a:spcPct val="113000"/>
              </a:lnSpc>
              <a:spcBef>
                <a:spcPts val="3"/>
              </a:spcBef>
              <a:tabLst/>
            </a:pP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Echoing </a:t>
            </a:r>
            <a:r>
              <a:rPr sz="2200" u="sng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Weber</a:t>
            </a:r>
            <a:r>
              <a:rPr sz="1700" b="1" u="sng" kern="0" spc="80" dirty="0">
                <a:solidFill>
                  <a:srgbClr val="FFFFFF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’</a:t>
            </a:r>
            <a:r>
              <a:rPr sz="2200" u="sng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200" u="sng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u="sng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notion</a:t>
            </a:r>
            <a:r>
              <a:rPr sz="2200" u="sng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u="sng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200" u="sng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u="sng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</a:t>
            </a:r>
            <a:r>
              <a:rPr sz="22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2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50" dirty="0">
                <a:solidFill>
                  <a:srgbClr val="FFFFFF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700" b="1" kern="0" spc="-350" dirty="0">
                <a:solidFill>
                  <a:srgbClr val="FFFFFF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iron</a:t>
            </a:r>
            <a:r>
              <a:rPr sz="22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cage,</a:t>
            </a:r>
            <a:r>
              <a:rPr sz="1700" b="1" kern="0" spc="50" dirty="0">
                <a:solidFill>
                  <a:srgbClr val="FFFFFF">
                    <a:alpha val="100000"/>
                  </a:srgbClr>
                </a:solidFill>
                <a:latin typeface="Malgun Gothic"/>
                <a:ea typeface="Malgun Gothic"/>
                <a:cs typeface="Malgun Gothic"/>
              </a:rPr>
              <a:t>” </a:t>
            </a: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Ritzer </a:t>
            </a:r>
            <a:r>
              <a:rPr sz="22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argues</a:t>
            </a:r>
            <a:r>
              <a:rPr sz="22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endParaRPr sz="2200" dirty="0">
              <a:latin typeface="Arial"/>
              <a:ea typeface="Arial"/>
              <a:cs typeface="Arial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7880910" y="6029493"/>
            <a:ext cx="174942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77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Garamond"/>
                <a:ea typeface="Garamond"/>
                <a:cs typeface="Garamond"/>
              </a:rPr>
              <a:t>©2017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Garamond"/>
                <a:ea typeface="Garamond"/>
                <a:cs typeface="Garamond"/>
              </a:rPr>
              <a:t>Taylor</a:t>
            </a:r>
            <a:r>
              <a:rPr sz="1400" kern="0" spc="190" dirty="0">
                <a:solidFill>
                  <a:srgbClr val="FFFFFF">
                    <a:alpha val="100000"/>
                  </a:srgbClr>
                </a:solidFill>
                <a:latin typeface="Garamond"/>
                <a:ea typeface="Garamond"/>
                <a:cs typeface="Garamond"/>
              </a:rPr>
              <a:t> </a:t>
            </a: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Garamond"/>
                <a:ea typeface="Garamond"/>
                <a:cs typeface="Garamond"/>
              </a:rPr>
              <a:t>&amp;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Garamond"/>
                <a:ea typeface="Garamond"/>
                <a:cs typeface="Garamond"/>
              </a:rPr>
              <a:t>Francis</a:t>
            </a:r>
            <a:endParaRPr sz="1400" dirty="0">
              <a:latin typeface="Garamond"/>
              <a:ea typeface="Garamond"/>
              <a:cs typeface="Garamo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46"/>
          <p:cNvSpPr/>
          <p:nvPr/>
        </p:nvSpPr>
        <p:spPr>
          <a:xfrm>
            <a:off x="1316526" y="1186078"/>
            <a:ext cx="8460105" cy="5930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74000"/>
              </a:lnSpc>
              <a:tabLst/>
            </a:pPr>
            <a:r>
              <a:rPr sz="36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 of McDonaldi</a:t>
            </a:r>
            <a:r>
              <a:rPr sz="36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zation</a:t>
            </a:r>
            <a:endParaRPr sz="3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3709" indent="-447040" algn="l" rtl="0" eaLnBrk="0">
              <a:lnSpc>
                <a:spcPct val="97000"/>
              </a:lnSpc>
              <a:spcBef>
                <a:spcPts val="723"/>
              </a:spcBef>
              <a:tabLst/>
            </a:pPr>
            <a:r>
              <a:rPr sz="2000" b="1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2000" b="1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Efficiency: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fastest a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nd most cost-effective means to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400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400" kern="0" spc="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goal.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78790" indent="-187325" algn="l" rtl="0" eaLnBrk="0">
              <a:lnSpc>
                <a:spcPct val="108000"/>
              </a:lnSpc>
              <a:spcBef>
                <a:spcPts val="196"/>
              </a:spcBef>
              <a:tabLst/>
            </a:pPr>
            <a:r>
              <a:rPr sz="1600" kern="0" spc="1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long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would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wait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</a:t>
            </a:r>
            <a:r>
              <a:rPr sz="1900" kern="0" spc="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900" kern="0" spc="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order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         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restaurant</a:t>
            </a:r>
            <a:r>
              <a:rPr sz="1900" kern="0" spc="1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71169" indent="-179704" algn="l" rtl="0" eaLnBrk="0">
              <a:lnSpc>
                <a:spcPct val="117000"/>
              </a:lnSpc>
              <a:spcBef>
                <a:spcPts val="15"/>
              </a:spcBef>
              <a:tabLst/>
            </a:pPr>
            <a:r>
              <a:rPr sz="1600" kern="0" spc="1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often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leave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restaurant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clearing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 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own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table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2600" indent="-470534" algn="l" rtl="0" eaLnBrk="0">
              <a:lnSpc>
                <a:spcPct val="97000"/>
              </a:lnSpc>
              <a:spcBef>
                <a:spcPts val="730"/>
              </a:spcBef>
              <a:tabLst/>
            </a:pPr>
            <a:r>
              <a:rPr sz="2000" b="1" kern="0" spc="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 </a:t>
            </a:r>
            <a:r>
              <a:rPr sz="24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Calculab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ility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measuring</a:t>
            </a:r>
            <a:r>
              <a:rPr sz="2400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 aspects</a:t>
            </a:r>
            <a:r>
              <a:rPr sz="2400" kern="0" spc="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 production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process. Emphasis on speed in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creases work strain.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79425" indent="-187325" algn="l" rtl="0" eaLnBrk="0">
              <a:lnSpc>
                <a:spcPct val="94000"/>
              </a:lnSpc>
              <a:spcBef>
                <a:spcPts val="874"/>
              </a:spcBef>
              <a:tabLst/>
            </a:pPr>
            <a:r>
              <a:rPr sz="1600" kern="0" spc="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 are se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ats at McDonald’s uncomfortably hard</a:t>
            </a:r>
            <a:r>
              <a:rPr sz="1900" kern="0" spc="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colors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uncomfortably b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right?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80059" indent="-187960" algn="l" rtl="0" eaLnBrk="0">
              <a:lnSpc>
                <a:spcPct val="94000"/>
              </a:lnSpc>
              <a:spcBef>
                <a:spcPts val="616"/>
              </a:spcBef>
              <a:tabLst/>
            </a:pPr>
            <a:r>
              <a:rPr sz="1600" kern="0" spc="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3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well-known Canad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ian pizza delivery chain advertises: “Thirty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minutes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free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83000"/>
              </a:lnSpc>
              <a:spcBef>
                <a:spcPts val="485"/>
              </a:spcBef>
              <a:tabLst/>
            </a:pPr>
            <a:r>
              <a:rPr sz="1600" kern="0" spc="1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does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advertise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Delicious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9000"/>
              </a:lnSpc>
              <a:spcBef>
                <a:spcPts val="3"/>
              </a:spcBef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48" name="rect 148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/>
          <p:nvPr/>
        </p:nvSpPr>
        <p:spPr>
          <a:xfrm>
            <a:off x="1316564" y="1015238"/>
            <a:ext cx="7944484" cy="5398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ts val="4914"/>
              </a:lnSpc>
              <a:tabLst/>
            </a:pPr>
            <a:r>
              <a:rPr sz="36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 of McDonaldizatio</a:t>
            </a:r>
            <a:r>
              <a:rPr sz="36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 (continued)</a:t>
            </a:r>
            <a:endParaRPr sz="3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79000"/>
              </a:lnSpc>
              <a:spcBef>
                <a:spcPts val="731"/>
              </a:spcBef>
              <a:tabLst/>
            </a:pPr>
            <a:r>
              <a:rPr sz="2400" b="1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2400" b="1" kern="0" spc="1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Predictability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consiste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ncy across time and place.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6090" indent="-173989" algn="l" rtl="0" eaLnBrk="0">
              <a:lnSpc>
                <a:spcPct val="98000"/>
              </a:lnSpc>
              <a:spcBef>
                <a:spcPts val="963"/>
              </a:spcBef>
              <a:tabLst/>
            </a:pPr>
            <a:r>
              <a:rPr sz="1600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yourself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Chi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Minh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City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lunchtime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.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Will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900" kern="0" spc="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 </a:t>
            </a:r>
            <a:r>
              <a:rPr sz="1900" i="1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banh</a:t>
            </a:r>
            <a:r>
              <a:rPr sz="1900" i="1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i="1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mi</a:t>
            </a:r>
            <a:r>
              <a:rPr sz="1900" i="1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sidewalk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caf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é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burger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local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’s?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94000"/>
              </a:lnSpc>
              <a:spcBef>
                <a:spcPts val="722"/>
              </a:spcBef>
              <a:tabLst/>
            </a:pPr>
            <a:r>
              <a:rPr sz="2400" b="1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4.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Control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 workers through tech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nology and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supervision.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93675" indent="-173989" algn="l" rtl="0" eaLnBrk="0">
              <a:lnSpc>
                <a:spcPct val="94000"/>
              </a:lnSpc>
              <a:spcBef>
                <a:spcPts val="973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3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Effects: low labor c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osts, replacement of</a:t>
            </a:r>
            <a:r>
              <a:rPr sz="2400" kern="0" spc="-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workers</a:t>
            </a:r>
            <a:r>
              <a:rPr sz="24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technology.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ts val="2727"/>
              </a:lnSpc>
              <a:spcBef>
                <a:spcPts val="414"/>
              </a:spcBef>
              <a:tabLst/>
            </a:pPr>
            <a:r>
              <a:rPr sz="1600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fryers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timers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79425" indent="-187960" algn="l" rtl="0" eaLnBrk="0">
              <a:lnSpc>
                <a:spcPct val="114000"/>
              </a:lnSpc>
              <a:spcBef>
                <a:spcPts val="156"/>
              </a:spcBef>
              <a:tabLst/>
            </a:pPr>
            <a:r>
              <a:rPr sz="1600" kern="0" spc="1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3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annoyed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worker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does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wish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“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nice</a:t>
            </a:r>
            <a:r>
              <a:rPr sz="1900" kern="0" spc="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day</a:t>
            </a:r>
            <a:r>
              <a:rPr sz="1900" kern="0" spc="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52" name="rect 152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" name="textbox 154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56"/>
          <p:cNvSpPr/>
          <p:nvPr/>
        </p:nvSpPr>
        <p:spPr>
          <a:xfrm>
            <a:off x="1323823" y="1157884"/>
            <a:ext cx="7861300" cy="3988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ct val="79000"/>
              </a:lnSpc>
              <a:tabLst/>
            </a:pPr>
            <a:r>
              <a:rPr sz="36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 of McDonaldization</a:t>
            </a:r>
            <a:r>
              <a:rPr sz="36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(continued)</a:t>
            </a:r>
            <a:endParaRPr sz="3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5"/>
              </a:lnSpc>
              <a:spcBef>
                <a:spcPts val="728"/>
              </a:spcBef>
              <a:tabLst/>
            </a:pPr>
            <a:r>
              <a:rPr sz="2400" b="1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5.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Irrationality of rationality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efficient for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whom?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01295" indent="-188595" algn="l" rtl="0" eaLnBrk="0">
              <a:lnSpc>
                <a:spcPct val="108000"/>
              </a:lnSpc>
              <a:spcBef>
                <a:spcPts val="211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1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is rational from the standpoint of fast-f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ood industry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may be irrational from the standpoint of</a:t>
            </a:r>
            <a:r>
              <a:rPr sz="2400" kern="0" spc="-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wo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rkers,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93039" algn="l" rtl="0" eaLnBrk="0">
              <a:lnSpc>
                <a:spcPct val="78000"/>
              </a:lnSpc>
              <a:spcBef>
                <a:spcPts val="323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customers, larger s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ociety, or the environment.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3000"/>
              </a:lnSpc>
              <a:spcBef>
                <a:spcPts val="985"/>
              </a:spcBef>
              <a:tabLst/>
            </a:pPr>
            <a:r>
              <a:rPr sz="1600" kern="0" spc="9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good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64184" indent="-179070" algn="l" rtl="0" eaLnBrk="0">
              <a:lnSpc>
                <a:spcPct val="99000"/>
              </a:lnSpc>
              <a:spcBef>
                <a:spcPts val="1010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 do you bus tables at McDonald’s when you are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paid</a:t>
            </a:r>
            <a:r>
              <a:rPr sz="1900" kern="0" spc="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</a:t>
            </a:r>
            <a:r>
              <a:rPr sz="1900" kern="0" spc="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 is staff</a:t>
            </a:r>
            <a:r>
              <a:rPr sz="1900" kern="0" spc="-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turnover at fast food restaurants high?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rect 158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" name="textbox 160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62"/>
          <p:cNvSpPr/>
          <p:nvPr/>
        </p:nvSpPr>
        <p:spPr>
          <a:xfrm>
            <a:off x="1301478" y="1157293"/>
            <a:ext cx="8345805" cy="521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74000"/>
              </a:lnSpc>
              <a:tabLst/>
            </a:pPr>
            <a:r>
              <a:rPr sz="4000" kern="0" spc="-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McDonald’s</a:t>
            </a:r>
            <a:r>
              <a:rPr sz="4000" kern="0" spc="2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kern="0" spc="-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U?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indent="17145" algn="l" rtl="0" eaLnBrk="0">
              <a:lnSpc>
                <a:spcPct val="102000"/>
              </a:lnSpc>
              <a:spcBef>
                <a:spcPts val="726"/>
              </a:spcBef>
              <a:tabLst/>
            </a:pP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400" kern="0" spc="30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i="1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400" i="1" kern="0" spc="18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i="1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McDonaldiz</a:t>
            </a:r>
            <a:r>
              <a:rPr sz="2400" i="1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ation of</a:t>
            </a:r>
            <a:r>
              <a:rPr sz="2400" i="1" kern="0" spc="-2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i="1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Higher Education</a:t>
            </a:r>
            <a:r>
              <a:rPr sz="2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 edited</a:t>
            </a:r>
            <a:r>
              <a:rPr sz="2400" kern="0" spc="17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400" kern="0" spc="20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Hayes</a:t>
            </a:r>
            <a:r>
              <a:rPr sz="2400" kern="0" spc="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Wynyard(2002), sociologists explore</a:t>
            </a:r>
            <a:r>
              <a:rPr sz="2400" kern="0" spc="20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2400" kern="0" spc="2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Ritzer’s theory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ts val="3240"/>
              </a:lnSpc>
              <a:tabLst/>
            </a:pP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2400" kern="0" spc="15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 applied to the context</a:t>
            </a:r>
            <a:r>
              <a:rPr sz="2400" kern="0" spc="8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400" kern="0" spc="8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postsec</a:t>
            </a:r>
            <a:r>
              <a:rPr sz="2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ondary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75000"/>
              </a:lnSpc>
              <a:spcBef>
                <a:spcPts val="7"/>
              </a:spcBef>
              <a:tabLst/>
            </a:pPr>
            <a:r>
              <a:rPr sz="2400" kern="0" spc="-2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education.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indent="24129" algn="l" rtl="0" eaLnBrk="0">
              <a:lnSpc>
                <a:spcPct val="94000"/>
              </a:lnSpc>
              <a:spcBef>
                <a:spcPts val="1011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your own college or university</a:t>
            </a:r>
            <a:r>
              <a:rPr sz="2400" kern="0" spc="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4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aldized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institution?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Working</a:t>
            </a:r>
            <a:r>
              <a:rPr sz="2400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groups,rate your school on a</a:t>
            </a:r>
            <a:r>
              <a:rPr sz="2400" kern="0" spc="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scale</a:t>
            </a:r>
            <a:r>
              <a:rPr sz="2400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–10 with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regard to each of the four dim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ensions</a:t>
            </a:r>
            <a:r>
              <a:rPr sz="2400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0320" indent="1016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McDonaldization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i.e. efficiency, calculability,</a:t>
            </a:r>
            <a:r>
              <a:rPr sz="2400" kern="0" spc="17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predictability,</a:t>
            </a:r>
            <a:r>
              <a:rPr sz="2400" kern="0" spc="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400" kern="0" spc="-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control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). Come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up with specific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3970" indent="5714" algn="l" rtl="0" eaLnBrk="0">
              <a:lnSpc>
                <a:spcPct val="98000"/>
              </a:lnSpc>
              <a:spcBef>
                <a:spcPts val="9"/>
              </a:spcBef>
              <a:tabLst/>
            </a:pP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examples that</a:t>
            </a:r>
            <a:r>
              <a:rPr sz="2400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ill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ustrate the degree to which this</a:t>
            </a:r>
            <a:r>
              <a:rPr sz="2400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 fits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characteristic</a:t>
            </a:r>
            <a:r>
              <a:rPr sz="2400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question</a:t>
            </a:r>
            <a:endParaRPr sz="24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79000"/>
              </a:lnSpc>
              <a:spcBef>
                <a:spcPts val="665"/>
              </a:spcBef>
              <a:tabLst/>
            </a:pP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(Caronna 2010).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64" name="rect 164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1050797"/>
            <a:ext cx="9144000" cy="6131814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1497321" y="4331479"/>
            <a:ext cx="3573779" cy="1499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4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Solutions</a:t>
            </a:r>
            <a:endParaRPr sz="43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3000"/>
              </a:lnSpc>
              <a:spcBef>
                <a:spcPts val="1642"/>
              </a:spcBef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24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Ethical Con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45797" y="5093817"/>
            <a:ext cx="1426890" cy="6626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72"/>
          <p:cNvSpPr/>
          <p:nvPr/>
        </p:nvSpPr>
        <p:spPr>
          <a:xfrm>
            <a:off x="961387" y="2145912"/>
            <a:ext cx="4307840" cy="3778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0034" algn="l" rtl="0" eaLnBrk="0">
              <a:lnSpc>
                <a:spcPct val="78000"/>
              </a:lnSpc>
              <a:tabLst/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A type of consumer acti</a:t>
            </a: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vism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9050" indent="-6985" algn="l" rtl="0" eaLnBrk="0">
              <a:lnSpc>
                <a:spcPct val="131000"/>
              </a:lnSpc>
              <a:spcBef>
                <a:spcPts val="13"/>
              </a:spcBef>
              <a:tabLst/>
            </a:pP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2200" b="1" kern="0" spc="18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200" b="1" kern="0" spc="14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based on the</a:t>
            </a:r>
            <a:r>
              <a:rPr sz="2200" b="1" kern="0" spc="1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concept</a:t>
            </a:r>
            <a:r>
              <a:rPr sz="2200" b="1" kern="0" spc="1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dollar voting.</a:t>
            </a:r>
            <a:r>
              <a:rPr sz="2200" b="1" kern="0" spc="17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2200" b="1" kern="0" spc="16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200" b="1" kern="0" spc="15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prac</a:t>
            </a:r>
            <a:r>
              <a:rPr sz="2200" b="1" kern="0" spc="-3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ticed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128000"/>
              </a:lnSpc>
              <a:spcBef>
                <a:spcPts val="266"/>
              </a:spcBef>
              <a:tabLst/>
            </a:pP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 'p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ositive</a:t>
            </a:r>
            <a:r>
              <a:rPr sz="2200" b="1" kern="0" spc="17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buying'</a:t>
            </a:r>
            <a:r>
              <a:rPr sz="2200" b="1" kern="0" spc="18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that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ethical</a:t>
            </a:r>
            <a:r>
              <a:rPr sz="2200" b="1" kern="0" spc="20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products are favored, or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'moral bo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ycott', that</a:t>
            </a:r>
            <a:r>
              <a:rPr sz="2200" b="1" kern="0" spc="17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200" b="1" kern="0" spc="16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negative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purchasing </a:t>
            </a: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company-based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purchasing (Markus and</a:t>
            </a:r>
            <a:r>
              <a:rPr sz="2200" b="1" kern="0" spc="2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Ela</a:t>
            </a:r>
            <a:endParaRPr sz="2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spcBef>
                <a:spcPts val="4"/>
              </a:spcBef>
              <a:tabLst/>
            </a:pPr>
            <a:r>
              <a:rPr sz="2200" b="1" kern="0" spc="1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2014).</a:t>
            </a:r>
            <a:endParaRPr sz="2200" dirty="0">
              <a:latin typeface="Arial"/>
              <a:ea typeface="Arial"/>
              <a:cs typeface="Arial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55221" y="2234946"/>
            <a:ext cx="4526280" cy="3505961"/>
          </a:xfrm>
          <a:prstGeom prst="rect">
            <a:avLst/>
          </a:prstGeom>
        </p:spPr>
      </p:pic>
      <p:sp>
        <p:nvSpPr>
          <p:cNvPr id="176" name="textbox 176"/>
          <p:cNvSpPr/>
          <p:nvPr/>
        </p:nvSpPr>
        <p:spPr>
          <a:xfrm>
            <a:off x="2830727" y="1036897"/>
            <a:ext cx="5165725" cy="476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4000" b="1" kern="0" spc="-2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Ethical Cons</a:t>
            </a:r>
            <a:r>
              <a:rPr sz="4000" b="1" kern="0" spc="-3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umerism</a:t>
            </a:r>
            <a:endParaRPr sz="4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3543" y="1254252"/>
            <a:ext cx="8199882" cy="50886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180"/>
          <p:cNvSpPr/>
          <p:nvPr/>
        </p:nvSpPr>
        <p:spPr>
          <a:xfrm>
            <a:off x="1323823" y="1169485"/>
            <a:ext cx="7909559" cy="4284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74000"/>
              </a:lnSpc>
              <a:tabLst/>
            </a:pPr>
            <a:r>
              <a:rPr sz="40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movement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2404" indent="-179070" algn="l" rtl="0" eaLnBrk="0">
              <a:lnSpc>
                <a:spcPct val="94000"/>
              </a:lnSpc>
              <a:spcBef>
                <a:spcPts val="720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1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sustained, organized effort t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 achieve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change</a:t>
            </a:r>
            <a:r>
              <a:rPr sz="24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outside formal politica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 channels.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91135" indent="-178435" algn="l" rtl="0" eaLnBrk="0">
              <a:lnSpc>
                <a:spcPct val="94000"/>
              </a:lnSpc>
              <a:spcBef>
                <a:spcPts val="946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18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Vary in size (loca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 to global) and goals</a:t>
            </a:r>
            <a:r>
              <a:rPr sz="24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(specific or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general</a:t>
            </a:r>
            <a:r>
              <a:rPr sz="2400" kern="0" spc="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).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45134" indent="-160020" algn="l" rtl="0" eaLnBrk="0">
              <a:lnSpc>
                <a:spcPct val="98000"/>
              </a:lnSpc>
              <a:spcBef>
                <a:spcPts val="557"/>
              </a:spcBef>
              <a:tabLst/>
            </a:pPr>
            <a:r>
              <a:rPr sz="1600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member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movement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would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like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join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64184" indent="-179070" algn="l" rtl="0" eaLnBrk="0">
              <a:lnSpc>
                <a:spcPct val="99000"/>
              </a:lnSpc>
              <a:spcBef>
                <a:spcPts val="1022"/>
              </a:spcBef>
              <a:tabLst/>
            </a:pPr>
            <a:r>
              <a:rPr sz="1600" kern="0" spc="1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favored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movement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local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r>
              <a:rPr sz="1900" kern="0" spc="-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9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</a:t>
            </a:r>
            <a:r>
              <a:rPr sz="1900" kern="0" spc="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goals      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specific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general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600" kern="0" spc="4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kinds of social m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ovements are most likely</a:t>
            </a:r>
            <a:r>
              <a:rPr sz="1900" kern="0" spc="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succeed? Why?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82" name="rect 182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textbox 184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icture 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889" y="348996"/>
            <a:ext cx="91249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88"/>
          <p:cNvSpPr/>
          <p:nvPr/>
        </p:nvSpPr>
        <p:spPr>
          <a:xfrm>
            <a:off x="1315878" y="1157884"/>
            <a:ext cx="7933055" cy="5197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180" algn="l" rtl="0" eaLnBrk="0">
              <a:lnSpc>
                <a:spcPct val="79000"/>
              </a:lnSpc>
              <a:tabLst/>
            </a:pPr>
            <a:r>
              <a:rPr sz="3600" kern="0" spc="-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Explaining </a:t>
            </a:r>
            <a:r>
              <a:rPr sz="36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success of</a:t>
            </a:r>
            <a:r>
              <a:rPr sz="3600" kern="0" spc="-2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-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movements</a:t>
            </a:r>
            <a:endParaRPr sz="3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1330" indent="-456565" algn="l" rtl="0" eaLnBrk="0">
              <a:lnSpc>
                <a:spcPct val="81000"/>
              </a:lnSpc>
              <a:spcBef>
                <a:spcPts val="666"/>
              </a:spcBef>
              <a:tabLst/>
            </a:pPr>
            <a:r>
              <a:rPr sz="1800" b="1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   </a:t>
            </a:r>
            <a:r>
              <a:rPr sz="22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Resource mobilization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 like any other organizations, social</a:t>
            </a:r>
            <a:r>
              <a:rPr sz="2200" kern="0" spc="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movements must mobilize </a:t>
            </a:r>
            <a:r>
              <a:rPr sz="22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</a:t>
            </a:r>
            <a:r>
              <a:rPr sz="22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2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22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money</a:t>
            </a:r>
            <a:r>
              <a:rPr sz="2200" b="1" kern="0" spc="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2200" dirty="0">
              <a:latin typeface="Arial"/>
              <a:ea typeface="Arial"/>
              <a:cs typeface="Arial"/>
            </a:endParaRPr>
          </a:p>
          <a:p>
            <a:pPr marL="474980" algn="l" rtl="0" eaLnBrk="0">
              <a:lnSpc>
                <a:spcPts val="2830"/>
              </a:lnSpc>
              <a:tabLst/>
            </a:pPr>
            <a:r>
              <a:rPr sz="22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organizational capacity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order to be successful.</a:t>
            </a:r>
            <a:endParaRPr sz="2200" dirty="0">
              <a:latin typeface="Arial"/>
              <a:ea typeface="Arial"/>
              <a:cs typeface="Arial"/>
            </a:endParaRPr>
          </a:p>
          <a:p>
            <a:pPr marL="467994" indent="-175895" algn="l" rtl="0" eaLnBrk="0">
              <a:lnSpc>
                <a:spcPct val="86000"/>
              </a:lnSpc>
              <a:spcBef>
                <a:spcPts val="504"/>
              </a:spcBef>
              <a:tabLst/>
            </a:pPr>
            <a:r>
              <a:rPr sz="16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Anarchist m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ovement was much more popular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USA in the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1920s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 it is now. How would resource</a:t>
            </a:r>
            <a:r>
              <a:rPr sz="1900" kern="0" spc="10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mobil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ization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perspective</a:t>
            </a:r>
            <a:r>
              <a:rPr sz="1900" kern="0" spc="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explain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68630" algn="l" rtl="0" eaLnBrk="0">
              <a:lnSpc>
                <a:spcPct val="79000"/>
              </a:lnSpc>
              <a:spcBef>
                <a:spcPts val="346"/>
              </a:spcBef>
              <a:tabLst/>
            </a:pP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 change?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670"/>
              </a:spcBef>
              <a:tabLst/>
            </a:pPr>
            <a:r>
              <a:rPr sz="1800" b="1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  </a:t>
            </a:r>
            <a:r>
              <a:rPr sz="22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Political process model:</a:t>
            </a:r>
            <a:r>
              <a:rPr sz="2200" b="1" kern="0" spc="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2200" kern="0" spc="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movements</a:t>
            </a:r>
            <a:r>
              <a:rPr sz="22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</a:t>
            </a:r>
            <a:endParaRPr sz="2200" dirty="0">
              <a:latin typeface="Arial"/>
              <a:ea typeface="Arial"/>
              <a:cs typeface="Arial"/>
            </a:endParaRPr>
          </a:p>
          <a:p>
            <a:pPr marL="474980" algn="l" rtl="0" eaLnBrk="0">
              <a:lnSpc>
                <a:spcPct val="77000"/>
              </a:lnSpc>
              <a:spcBef>
                <a:spcPts val="363"/>
              </a:spcBef>
              <a:tabLst/>
            </a:pPr>
            <a:r>
              <a:rPr sz="22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opportunities</a:t>
            </a:r>
            <a:r>
              <a:rPr sz="22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order to succ</a:t>
            </a:r>
            <a:r>
              <a:rPr sz="22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eed—</a:t>
            </a:r>
            <a:r>
              <a:rPr sz="22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openness of the</a:t>
            </a:r>
            <a:endParaRPr sz="2200" dirty="0">
              <a:latin typeface="Arial"/>
              <a:ea typeface="Arial"/>
              <a:cs typeface="Arial"/>
            </a:endParaRPr>
          </a:p>
          <a:p>
            <a:pPr marL="468630" indent="13970" algn="l" rtl="0" eaLnBrk="0">
              <a:lnSpc>
                <a:spcPct val="89000"/>
              </a:lnSpc>
              <a:spcBef>
                <a:spcPts val="379"/>
              </a:spcBef>
              <a:tabLst/>
            </a:pPr>
            <a:r>
              <a:rPr sz="22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political system,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social-economic condition</a:t>
            </a:r>
            <a:r>
              <a:rPr sz="22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 that make</a:t>
            </a:r>
            <a:r>
              <a:rPr sz="22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movement’s goal </a:t>
            </a:r>
            <a:r>
              <a:rPr sz="22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legitimate </a:t>
            </a: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the eyes of decision-</a:t>
            </a:r>
            <a:endParaRPr sz="2200" dirty="0">
              <a:latin typeface="Arial"/>
              <a:ea typeface="Arial"/>
              <a:cs typeface="Arial"/>
            </a:endParaRPr>
          </a:p>
          <a:p>
            <a:pPr marL="481965" algn="l" rtl="0" eaLnBrk="0">
              <a:lnSpc>
                <a:spcPct val="77000"/>
              </a:lnSpc>
              <a:spcBef>
                <a:spcPts val="101"/>
              </a:spcBef>
              <a:tabLst/>
            </a:pPr>
            <a:r>
              <a:rPr sz="22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makers an</a:t>
            </a:r>
            <a:r>
              <a:rPr sz="22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 the public.</a:t>
            </a:r>
            <a:endParaRPr sz="2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67994" indent="-450215" algn="l" rtl="0" eaLnBrk="0">
              <a:lnSpc>
                <a:spcPct val="90000"/>
              </a:lnSpc>
              <a:spcBef>
                <a:spcPts val="6"/>
              </a:spcBef>
              <a:tabLst/>
            </a:pPr>
            <a:r>
              <a:rPr sz="16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 </a:t>
            </a:r>
            <a:r>
              <a:rPr sz="19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Anarc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hist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movement was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much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popular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the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USA in the</a:t>
            </a:r>
            <a:r>
              <a:rPr sz="1900" kern="0" spc="18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1920s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 it is now.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would</a:t>
            </a:r>
            <a:r>
              <a:rPr sz="1900" kern="0" spc="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politica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 model explain this change?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90" name="rect 190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" name="textbox 192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666750"/>
            <a:ext cx="9144000" cy="4892802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861210" y="5577880"/>
            <a:ext cx="7607934" cy="478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32" rIns="0" bIns="0"/>
          <a:lstStyle/>
          <a:p>
            <a:pPr marL="12700" indent="508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sixthtone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news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/1007965/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the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new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style</a:t>
            </a:r>
            <a:r>
              <a:rPr sz="1500" u="sng" kern="0" spc="5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family</a:t>
            </a:r>
            <a:r>
              <a:rPr sz="1500" u="sng" kern="0" spc="4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values</a:t>
            </a:r>
            <a:r>
              <a:rPr sz="1500" u="sng" kern="0" spc="4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underpinning</a:t>
            </a:r>
            <a:r>
              <a:rPr sz="1500" u="sng" kern="0" spc="4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the</a:t>
            </a:r>
            <a:r>
              <a:rPr sz="1500" u="sng" kern="0" spc="4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500" kern="0" spc="-1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china</a:t>
            </a:r>
            <a:r>
              <a:rPr sz="1500" u="sng" kern="0" spc="10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5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dream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889" y="348996"/>
            <a:ext cx="5391150" cy="6858000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6226281" y="685139"/>
            <a:ext cx="3606800" cy="584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76000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“In the West, social</a:t>
            </a:r>
            <a:endParaRPr sz="2400" dirty="0">
              <a:latin typeface="Arial"/>
              <a:ea typeface="Arial"/>
              <a:cs typeface="Arial"/>
            </a:endParaRPr>
          </a:p>
          <a:p>
            <a:pPr marL="70485" algn="l" rtl="0" eaLnBrk="0">
              <a:lnSpc>
                <a:spcPct val="73000"/>
              </a:lnSpc>
              <a:spcBef>
                <a:spcPts val="701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movements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and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ct val="77000"/>
              </a:lnSpc>
              <a:spcBef>
                <a:spcPts val="774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both</a:t>
            </a:r>
            <a:endParaRPr sz="2400" dirty="0">
              <a:latin typeface="Arial"/>
              <a:ea typeface="Arial"/>
              <a:cs typeface="Arial"/>
            </a:endParaRPr>
          </a:p>
          <a:p>
            <a:pPr marL="54610" algn="l" rtl="0" eaLnBrk="0">
              <a:lnSpc>
                <a:spcPct val="75000"/>
              </a:lnSpc>
              <a:spcBef>
                <a:spcPts val="660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viewed as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rtant</a:t>
            </a:r>
            <a:endParaRPr sz="2400" dirty="0">
              <a:latin typeface="Arial"/>
              <a:ea typeface="Arial"/>
              <a:cs typeface="Arial"/>
            </a:endParaRPr>
          </a:p>
          <a:p>
            <a:pPr marL="55880" indent="14604" algn="l" rtl="0" eaLnBrk="0">
              <a:lnSpc>
                <a:spcPct val="99000"/>
              </a:lnSpc>
              <a:spcBef>
                <a:spcPts val="25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means of self-expression;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comparison,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many of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Chinese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minimali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sts</a:t>
            </a:r>
            <a:r>
              <a:rPr sz="24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interviewed sai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 that,</a:t>
            </a:r>
            <a:endParaRPr sz="2400" dirty="0">
              <a:latin typeface="Arial"/>
              <a:ea typeface="Arial"/>
              <a:cs typeface="Arial"/>
            </a:endParaRPr>
          </a:p>
          <a:p>
            <a:pPr marL="51435" algn="l" rtl="0" eaLnBrk="0">
              <a:lnSpc>
                <a:spcPct val="75000"/>
              </a:lnSpc>
              <a:spcBef>
                <a:spcPts val="825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while they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hope their</a:t>
            </a:r>
            <a:endParaRPr sz="2400" dirty="0">
              <a:latin typeface="Arial"/>
              <a:ea typeface="Arial"/>
              <a:cs typeface="Arial"/>
            </a:endParaRPr>
          </a:p>
          <a:p>
            <a:pPr marL="55880" indent="-2540" algn="l" rtl="0" eaLnBrk="0">
              <a:lnSpc>
                <a:spcPct val="99000"/>
              </a:lnSpc>
              <a:spcBef>
                <a:spcPts val="74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families will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respect their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choices, they don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’t want 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impose them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onto</a:t>
            </a:r>
            <a:endParaRPr sz="2400" dirty="0">
              <a:latin typeface="Arial"/>
              <a:ea typeface="Arial"/>
              <a:cs typeface="Arial"/>
            </a:endParaRPr>
          </a:p>
          <a:p>
            <a:pPr marL="60960" algn="l" rtl="0" eaLnBrk="0">
              <a:lnSpc>
                <a:spcPts val="3032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others or affect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other</a:t>
            </a:r>
            <a:endParaRPr sz="2400" dirty="0">
              <a:latin typeface="Arial"/>
              <a:ea typeface="Arial"/>
              <a:cs typeface="Arial"/>
            </a:endParaRPr>
          </a:p>
          <a:p>
            <a:pPr marL="61594" indent="8889" algn="l" rtl="0" eaLnBrk="0">
              <a:lnSpc>
                <a:spcPct val="103000"/>
              </a:lnSpc>
              <a:spcBef>
                <a:spcPts val="11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people’s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s. Some don’t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even want others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to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about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their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lifestyles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1482834" y="3913885"/>
            <a:ext cx="4216400" cy="36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tabLst/>
            </a:pPr>
            <a:r>
              <a:rPr sz="1800" u="sng" kern="0" spc="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https://www.sixthtone.com/</a:t>
            </a:r>
            <a:r>
              <a:rPr sz="1800" u="sng" kern="0" spc="-10" dirty="0">
                <a:solidFill>
                  <a:srgbClr val="0000FF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news/1012459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204"/>
          <p:cNvSpPr/>
          <p:nvPr/>
        </p:nvSpPr>
        <p:spPr>
          <a:xfrm>
            <a:off x="1317783" y="1175584"/>
            <a:ext cx="7477759" cy="4912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990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4000" kern="0" spc="-1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Framing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indent="-3810" algn="l" rtl="0" eaLnBrk="0">
              <a:lnSpc>
                <a:spcPct val="94000"/>
              </a:lnSpc>
              <a:spcBef>
                <a:spcPts val="722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present idea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 and information,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emphasizing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some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aspects and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minimizin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others.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33655" indent="-12064" algn="l" rtl="0" eaLnBrk="0">
              <a:lnSpc>
                <a:spcPct val="105000"/>
              </a:lnSpc>
              <a:spcBef>
                <a:spcPts val="896"/>
              </a:spcBef>
              <a:tabLst/>
            </a:pP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Goal: to promote a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particul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ar understanding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 influences legitimacy of a social</a:t>
            </a:r>
            <a:r>
              <a:rPr sz="24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movement.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6090" indent="-172720" algn="l" rtl="0" eaLnBrk="0">
              <a:lnSpc>
                <a:spcPct val="87000"/>
              </a:lnSpc>
              <a:spcBef>
                <a:spcPts val="1115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3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does environmental movement fram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 the issue</a:t>
            </a:r>
            <a:r>
              <a:rPr sz="24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“</a:t>
            </a:r>
            <a:r>
              <a:rPr sz="2400" b="1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climate change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”?</a:t>
            </a:r>
            <a:r>
              <a:rPr sz="24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serious is the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problem?</a:t>
            </a:r>
            <a:r>
              <a:rPr sz="24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should b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 done to address</a:t>
            </a:r>
            <a:r>
              <a:rPr sz="24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it? Who</a:t>
            </a:r>
            <a:r>
              <a:rPr sz="2400" kern="0" spc="14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82600" algn="l" rtl="0" eaLnBrk="0">
              <a:lnSpc>
                <a:spcPts val="3276"/>
              </a:lnSpc>
              <a:spcBef>
                <a:spcPts val="358"/>
              </a:spcBef>
              <a:tabLst/>
            </a:pP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responsibl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 for it?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472440" indent="-179704" algn="l" rtl="0" eaLnBrk="0">
              <a:lnSpc>
                <a:spcPct val="94000"/>
              </a:lnSpc>
              <a:spcBef>
                <a:spcPts val="2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2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Would calling it “</a:t>
            </a:r>
            <a:r>
              <a:rPr sz="2400" b="1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 warming”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change the</a:t>
            </a:r>
            <a:r>
              <a:rPr sz="24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2400" kern="0" spc="-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answers to these q</a:t>
            </a:r>
            <a:r>
              <a:rPr sz="2400" kern="0" spc="-2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uestions?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06" name="rect 206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" name="textbox 208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774839" y="348996"/>
            <a:ext cx="9144000" cy="6858000"/>
            <a:chOff x="0" y="0"/>
            <a:chExt cx="9144000" cy="6858000"/>
          </a:xfrm>
        </p:grpSpPr>
        <p:pic>
          <p:nvPicPr>
            <p:cNvPr id="210" name="picture 2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212" name="textbox 212"/>
            <p:cNvSpPr/>
            <p:nvPr/>
          </p:nvSpPr>
          <p:spPr>
            <a:xfrm>
              <a:off x="3294221" y="4437379"/>
              <a:ext cx="4216400" cy="337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457"/>
                </a:lnSpc>
                <a:tabLst/>
              </a:pPr>
              <a:r>
                <a:rPr sz="1800" kern="0" spc="0" dirty="0">
                  <a:solidFill>
                    <a:srgbClr val="0000FF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00FF"/>
                        <wpsdc:folHlinkClr xmlns:wpsdc="http://www.wps.cn/officeDocument/2017/drawingmlCustomData" val="0000FF"/>
                        <wpsdc:hlinkUnderline xmlns:wpsdc="http://www.wps.cn/officeDocument/2017/drawingmlCustomData" val="0"/>
                      </a:ext>
                    </a:extLst>
                  </a:hlinkClick>
                </a:rPr>
                <a:t>https://www.sixthtone.com/</a:t>
              </a:r>
              <a:r>
                <a:rPr sz="1800" kern="0" spc="-10" dirty="0">
                  <a:solidFill>
                    <a:srgbClr val="0000FF">
                      <a:alpha val="100000"/>
                    </a:srgbClr>
                  </a:solidFill>
                  <a:latin typeface="Arial"/>
                  <a:ea typeface="Arial"/>
                  <a:cs typeface="Arial"/>
                  <a:hlinkClick xmlns:r="http://schemas.openxmlformats.org/officeDocument/2006/relationships" r:id="rId3" tooltip="">
                    <a:extLst>
                      <a:ext uri="{DAF060AB-1E55-43B9-8AAB-6FB025537F2F}">
                        <wpsdc:hlinkClr xmlns:wpsdc="http://www.wps.cn/officeDocument/2017/drawingmlCustomData" val="0000FF"/>
                        <wpsdc:folHlinkClr xmlns:wpsdc="http://www.wps.cn/officeDocument/2017/drawingmlCustomData" val="0000FF"/>
                        <wpsdc:hlinkUnderline xmlns:wpsdc="http://www.wps.cn/officeDocument/2017/drawingmlCustomData" val="0"/>
                      </a:ext>
                    </a:extLst>
                  </a:hlinkClick>
                </a:rPr>
                <a:t>news/1005793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1568196"/>
            <a:ext cx="9140190" cy="451256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2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73899" y="2177795"/>
            <a:ext cx="90297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2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839" y="2025395"/>
            <a:ext cx="907389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220"/>
          <p:cNvSpPr/>
          <p:nvPr/>
        </p:nvSpPr>
        <p:spPr>
          <a:xfrm>
            <a:off x="1324585" y="1175584"/>
            <a:ext cx="7487284" cy="4809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734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4000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 tool: </a:t>
            </a:r>
            <a:r>
              <a:rPr sz="4000" b="1" kern="0" spc="-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ethnography</a:t>
            </a:r>
            <a:endParaRPr sz="4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1135" indent="-178435" algn="l" rtl="0" eaLnBrk="0">
              <a:lnSpc>
                <a:spcPct val="107000"/>
              </a:lnSpc>
              <a:spcBef>
                <a:spcPts val="728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22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researche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 is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immersed</a:t>
            </a:r>
            <a:r>
              <a:rPr sz="24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a social</a:t>
            </a:r>
            <a:r>
              <a:rPr sz="2400" kern="0" spc="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context for an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extended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period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5"/>
              </a:lnSpc>
              <a:spcBef>
                <a:spcPts val="411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35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Researcher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obs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erves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and/or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interacts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people.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84150" indent="-171450" algn="l" rtl="0" eaLnBrk="0">
              <a:lnSpc>
                <a:spcPct val="94000"/>
              </a:lnSpc>
              <a:spcBef>
                <a:spcPts val="946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28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Goal: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describe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interpret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actions and experiences</a:t>
            </a: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 an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insi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der’s</a:t>
            </a:r>
            <a:r>
              <a:rPr sz="24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perspective.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5"/>
              </a:lnSpc>
              <a:spcBef>
                <a:spcPts val="204"/>
              </a:spcBef>
              <a:tabLst/>
            </a:pPr>
            <a:r>
              <a:rPr sz="2000" kern="0" spc="-1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kern="0" spc="3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Micro: 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in-depth s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tudy of a small number</a:t>
            </a:r>
            <a:r>
              <a:rPr sz="2400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cases.</a:t>
            </a:r>
            <a:endParaRPr sz="2400" dirty="0">
              <a:latin typeface="Arial"/>
              <a:ea typeface="Arial"/>
              <a:cs typeface="Arial"/>
            </a:endParaRPr>
          </a:p>
          <a:p>
            <a:pPr marL="464819" indent="-180339" algn="l" rtl="0" eaLnBrk="0">
              <a:lnSpc>
                <a:spcPct val="99000"/>
              </a:lnSpc>
              <a:spcBef>
                <a:spcPts val="743"/>
              </a:spcBef>
              <a:tabLst/>
            </a:pPr>
            <a:r>
              <a:rPr sz="1600" kern="0" spc="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 phase in food production could you</a:t>
            </a:r>
            <a:r>
              <a:rPr sz="1900" kern="0" spc="7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study</a:t>
            </a:r>
            <a:r>
              <a:rPr sz="1900" kern="0" spc="11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1900" kern="0" spc="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ethnographic method?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83845" algn="l" rtl="0" eaLnBrk="0">
              <a:lnSpc>
                <a:spcPct val="83000"/>
              </a:lnSpc>
              <a:spcBef>
                <a:spcPts val="791"/>
              </a:spcBef>
              <a:tabLst/>
            </a:pPr>
            <a:r>
              <a:rPr sz="1600" kern="0" spc="13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long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would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stay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900" kern="0" spc="9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setting</a:t>
            </a:r>
            <a:r>
              <a:rPr sz="1900" kern="0" spc="13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83845" algn="l" rtl="0" eaLnBrk="0">
              <a:lnSpc>
                <a:spcPts val="2727"/>
              </a:lnSpc>
              <a:spcBef>
                <a:spcPts val="391"/>
              </a:spcBef>
              <a:tabLst/>
            </a:pPr>
            <a:r>
              <a:rPr sz="1600" kern="0" spc="16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kern="0" spc="480" dirty="0">
                <a:solidFill>
                  <a:srgbClr val="92A19A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hope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describe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15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understand</a:t>
            </a:r>
            <a:r>
              <a:rPr sz="1900" kern="0" spc="160" dirty="0">
                <a:solidFill>
                  <a:srgbClr val="D2523B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22" name="rect 222"/>
          <p:cNvSpPr/>
          <p:nvPr/>
        </p:nvSpPr>
        <p:spPr>
          <a:xfrm>
            <a:off x="774839" y="348996"/>
            <a:ext cx="9144000" cy="365759"/>
          </a:xfrm>
          <a:prstGeom prst="rect">
            <a:avLst/>
          </a:prstGeom>
          <a:solidFill>
            <a:srgbClr val="92A1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" name="textbox 224"/>
          <p:cNvSpPr/>
          <p:nvPr/>
        </p:nvSpPr>
        <p:spPr>
          <a:xfrm>
            <a:off x="7330802" y="6873950"/>
            <a:ext cx="244602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</a:t>
            </a:r>
            <a:r>
              <a:rPr sz="18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226"/>
          <p:cNvSpPr/>
          <p:nvPr/>
        </p:nvSpPr>
        <p:spPr>
          <a:xfrm>
            <a:off x="1188605" y="6294374"/>
            <a:ext cx="8510269" cy="622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4400" kern="0" spc="3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4400" kern="0" spc="3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4400" kern="0" spc="2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</a:t>
            </a:r>
            <a:r>
              <a:rPr sz="4400" kern="0" spc="3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oc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228" name="table 228"/>
          <p:cNvGraphicFramePr>
            <a:graphicFrameLocks noGrp="1"/>
          </p:cNvGraphicFramePr>
          <p:nvPr/>
        </p:nvGraphicFramePr>
        <p:xfrm>
          <a:off x="1385963" y="3375723"/>
          <a:ext cx="4048759" cy="1166495"/>
        </p:xfrm>
        <a:graphic>
          <a:graphicData uri="http://schemas.openxmlformats.org/drawingml/2006/table">
            <a:tbl>
              <a:tblPr/>
              <a:tblGrid>
                <a:gridCol w="4048759"/>
              </a:tblGrid>
              <a:tr h="11601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89" indent="-4444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Authors interpreted the</a:t>
                      </a: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case from</a:t>
                      </a:r>
                      <a:r>
                        <a:rPr sz="16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sociological</a:t>
                      </a:r>
                      <a:r>
                        <a:rPr sz="16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perspective: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ts val="1998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FF7A12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l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Lack of cultural</a:t>
                      </a:r>
                      <a:r>
                        <a:rPr sz="1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capital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8000"/>
                        </a:lnSpc>
                        <a:spcBef>
                          <a:spcPts val="15"/>
                        </a:spcBef>
                        <a:tabLst/>
                      </a:pPr>
                      <a:r>
                        <a:rPr sz="1300" kern="0" spc="-10" dirty="0">
                          <a:solidFill>
                            <a:srgbClr val="FF7A12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l</a:t>
                      </a:r>
                      <a:r>
                        <a:rPr sz="1300" kern="0" spc="-70" dirty="0">
                          <a:solidFill>
                            <a:srgbClr val="FF7A12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Alienation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1000"/>
                        </a:lnSpc>
                        <a:spcBef>
                          <a:spcPts val="143"/>
                        </a:spcBef>
                        <a:tabLst/>
                      </a:pPr>
                      <a:r>
                        <a:rPr sz="1300" kern="0" spc="-30" dirty="0">
                          <a:solidFill>
                            <a:srgbClr val="FF7A12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l</a:t>
                      </a:r>
                      <a:r>
                        <a:rPr sz="1300" kern="0" spc="30" dirty="0">
                          <a:solidFill>
                            <a:srgbClr val="FF7A12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 </a:t>
                      </a:r>
                      <a:r>
                        <a:rPr sz="16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  <a:r>
                        <a:rPr sz="1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7A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7A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7A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7A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0" name="textbox 230"/>
          <p:cNvSpPr/>
          <p:nvPr/>
        </p:nvSpPr>
        <p:spPr>
          <a:xfrm>
            <a:off x="5708691" y="2317971"/>
            <a:ext cx="3700779" cy="1215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79000"/>
              </a:lnSpc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“Ethnographic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research is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qualitative</a:t>
            </a:r>
            <a:endParaRPr sz="16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75000"/>
              </a:lnSpc>
              <a:spcBef>
                <a:spcPts val="417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 used to </a:t>
            </a:r>
            <a:r>
              <a:rPr sz="1600" kern="0" spc="-1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study</a:t>
            </a:r>
            <a:r>
              <a:rPr sz="1600" kern="0" spc="6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600" dirty="0">
              <a:latin typeface="Arial"/>
              <a:ea typeface="Arial"/>
              <a:cs typeface="Arial"/>
            </a:endParaRPr>
          </a:p>
          <a:p>
            <a:pPr marL="45084" algn="l" rtl="0" eaLnBrk="0">
              <a:lnSpc>
                <a:spcPct val="102000"/>
              </a:lnSpc>
              <a:spcBef>
                <a:spcPts val="16"/>
              </a:spcBef>
              <a:tabLst/>
            </a:pPr>
            <a:r>
              <a:rPr sz="1600" kern="0" spc="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cul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ture,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behaviors, beliefs,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social inter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actions </a:t>
            </a:r>
            <a:r>
              <a:rPr sz="1600" kern="0" spc="-1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</a:t>
            </a:r>
            <a:r>
              <a:rPr sz="1600" kern="0" spc="10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particular</a:t>
            </a:r>
            <a:endParaRPr sz="16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ts val="2053"/>
              </a:lnSpc>
              <a:tabLst/>
            </a:pPr>
            <a:r>
              <a:rPr sz="1600" kern="0" spc="-1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 of</a:t>
            </a:r>
            <a:r>
              <a:rPr sz="1600" kern="0" spc="5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7A12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.”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1355483" y="2151888"/>
            <a:ext cx="4079748" cy="1005077"/>
            <a:chOff x="0" y="0"/>
            <a:chExt cx="4079748" cy="1005077"/>
          </a:xfrm>
        </p:grpSpPr>
        <p:pic>
          <p:nvPicPr>
            <p:cNvPr id="232" name="picture 2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079748" cy="1005077"/>
            </a:xfrm>
            <a:prstGeom prst="rect">
              <a:avLst/>
            </a:prstGeom>
          </p:spPr>
        </p:pic>
        <p:sp>
          <p:nvSpPr>
            <p:cNvPr id="234" name="textbox 234"/>
            <p:cNvSpPr/>
            <p:nvPr/>
          </p:nvSpPr>
          <p:spPr>
            <a:xfrm>
              <a:off x="-12700" y="-12700"/>
              <a:ext cx="4105275" cy="10306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1925" algn="l" rtl="0" eaLnBrk="0">
                <a:lnSpc>
                  <a:spcPct val="79000"/>
                </a:lnSpc>
                <a:spcBef>
                  <a:spcPts val="1"/>
                </a:spcBef>
                <a:tabLst/>
              </a:pPr>
              <a:r>
                <a:rPr sz="16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 </a:t>
              </a:r>
              <a:r>
                <a:rPr sz="1600" b="1" kern="0" spc="0" dirty="0">
                  <a:solidFill>
                    <a:srgbClr val="FF7A1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Ethnography </a:t>
              </a:r>
              <a:r>
                <a:rPr sz="1600" b="1" kern="0" spc="-10" dirty="0">
                  <a:solidFill>
                    <a:srgbClr val="FF7A1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Field</a:t>
              </a:r>
              <a:r>
                <a:rPr sz="1600" b="1" kern="0" spc="120" dirty="0">
                  <a:solidFill>
                    <a:srgbClr val="FF7A1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b="1" kern="0" spc="-10" dirty="0">
                  <a:solidFill>
                    <a:srgbClr val="FF7A1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Research </a:t>
              </a: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was</a:t>
              </a:r>
              <a:endParaRPr sz="1600" dirty="0">
                <a:latin typeface="Arial"/>
                <a:ea typeface="Arial"/>
                <a:cs typeface="Arial"/>
              </a:endParaRPr>
            </a:p>
            <a:p>
              <a:pPr marL="170179" algn="l" rtl="0" eaLnBrk="0">
                <a:lnSpc>
                  <a:spcPct val="73000"/>
                </a:lnSpc>
                <a:spcBef>
                  <a:spcPts val="411"/>
                </a:spcBef>
                <a:tabLst/>
              </a:pP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conducted: an</a:t>
              </a:r>
              <a:r>
                <a:rPr sz="1600" b="1" kern="0" spc="1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individual</a:t>
              </a:r>
              <a:r>
                <a:rPr sz="1600" b="1" kern="0" spc="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research on</a:t>
              </a:r>
              <a:endParaRPr sz="1600" dirty="0">
                <a:latin typeface="Arial"/>
                <a:ea typeface="Arial"/>
                <a:cs typeface="Arial"/>
              </a:endParaRPr>
            </a:p>
            <a:p>
              <a:pPr marL="173989" indent="-2540" algn="l" rtl="0" eaLnBrk="0">
                <a:lnSpc>
                  <a:spcPct val="94000"/>
                </a:lnSpc>
                <a:spcBef>
                  <a:spcPts val="292"/>
                </a:spcBef>
                <a:tabLst/>
              </a:pP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Guozi sister and</a:t>
              </a:r>
              <a:r>
                <a:rPr sz="1600" b="1" kern="0" spc="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interview</a:t>
              </a:r>
              <a:r>
                <a:rPr sz="1600" b="1" kern="0" spc="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project from</a:t>
              </a:r>
              <a:r>
                <a:rPr sz="16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b="1" kern="0" spc="-10" dirty="0">
                  <a:solidFill>
                    <a:srgbClr val="FF7A12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micro-perspective.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36" name="picture 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60477" y="3669791"/>
            <a:ext cx="2008631" cy="200787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1401203" y="4736338"/>
            <a:ext cx="4033265" cy="964945"/>
            <a:chOff x="0" y="0"/>
            <a:chExt cx="4033265" cy="964945"/>
          </a:xfrm>
        </p:grpSpPr>
        <p:pic>
          <p:nvPicPr>
            <p:cNvPr id="238" name="picture 2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033265" cy="964945"/>
            </a:xfrm>
            <a:prstGeom prst="rect">
              <a:avLst/>
            </a:prstGeom>
          </p:spPr>
        </p:pic>
        <p:sp>
          <p:nvSpPr>
            <p:cNvPr id="240" name="textbox 240"/>
            <p:cNvSpPr/>
            <p:nvPr/>
          </p:nvSpPr>
          <p:spPr>
            <a:xfrm>
              <a:off x="-12700" y="-12700"/>
              <a:ext cx="4058920" cy="990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30810" algn="l" rtl="0" eaLnBrk="0">
                <a:lnSpc>
                  <a:spcPct val="79000"/>
                </a:lnSpc>
                <a:spcBef>
                  <a:spcPts val="2"/>
                </a:spcBef>
                <a:tabLst/>
              </a:pP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Possible missing</a:t>
              </a:r>
              <a:r>
                <a:rPr sz="1600" b="1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perspective:</a:t>
              </a:r>
              <a:endParaRPr sz="1600" dirty="0">
                <a:latin typeface="Arial"/>
                <a:ea typeface="Arial"/>
                <a:cs typeface="Arial"/>
              </a:endParaRPr>
            </a:p>
            <a:p>
              <a:pPr marL="138429" algn="l" rtl="0" eaLnBrk="0">
                <a:lnSpc>
                  <a:spcPct val="81000"/>
                </a:lnSpc>
                <a:spcBef>
                  <a:spcPts val="139"/>
                </a:spcBef>
                <a:tabLst/>
              </a:pPr>
              <a:r>
                <a:rPr sz="1300" kern="0" spc="-10" dirty="0">
                  <a:solidFill>
                    <a:srgbClr val="FF7A12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●</a:t>
              </a:r>
              <a:r>
                <a:rPr sz="1300" kern="0" spc="240" dirty="0">
                  <a:solidFill>
                    <a:srgbClr val="FF7A12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Whole immigrants</a:t>
              </a:r>
              <a:r>
                <a:rPr sz="1600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group</a:t>
              </a:r>
              <a:endParaRPr sz="1600" dirty="0">
                <a:latin typeface="Arial"/>
                <a:ea typeface="Arial"/>
                <a:cs typeface="Arial"/>
              </a:endParaRPr>
            </a:p>
            <a:p>
              <a:pPr marL="138429" algn="l" rtl="0" eaLnBrk="0">
                <a:lnSpc>
                  <a:spcPct val="69000"/>
                </a:lnSpc>
                <a:spcBef>
                  <a:spcPts val="137"/>
                </a:spcBef>
                <a:tabLst/>
              </a:pPr>
              <a:r>
                <a:rPr sz="1300" kern="0" spc="-10" dirty="0">
                  <a:solidFill>
                    <a:srgbClr val="FF7A12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●</a:t>
              </a:r>
              <a:r>
                <a:rPr sz="1300" kern="0" spc="330" dirty="0">
                  <a:solidFill>
                    <a:srgbClr val="FF7A12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Overall economic situation</a:t>
              </a:r>
              <a:endParaRPr sz="1600" dirty="0">
                <a:latin typeface="Arial"/>
                <a:ea typeface="Arial"/>
                <a:cs typeface="Arial"/>
              </a:endParaRPr>
            </a:p>
            <a:p>
              <a:pPr marL="138429" algn="l" rtl="0" eaLnBrk="0">
                <a:lnSpc>
                  <a:spcPts val="2104"/>
                </a:lnSpc>
                <a:tabLst/>
              </a:pPr>
              <a:r>
                <a:rPr sz="1300" kern="0" spc="-10" dirty="0">
                  <a:solidFill>
                    <a:srgbClr val="FF7A12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●</a:t>
              </a:r>
              <a:r>
                <a:rPr sz="1300" kern="0" spc="340" dirty="0">
                  <a:solidFill>
                    <a:srgbClr val="FF7A12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Imperfect governme</a:t>
              </a:r>
              <a:r>
                <a:rPr sz="16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nt</a:t>
              </a:r>
              <a:r>
                <a:rPr sz="1600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6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policy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42" name="textbox 242"/>
          <p:cNvSpPr/>
          <p:nvPr/>
        </p:nvSpPr>
        <p:spPr>
          <a:xfrm>
            <a:off x="1692916" y="1686560"/>
            <a:ext cx="5490845" cy="387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0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Central Soc</a:t>
            </a: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iology</a:t>
            </a:r>
            <a:r>
              <a:rPr sz="30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Perspective</a:t>
            </a:r>
            <a:endParaRPr sz="3000" dirty="0">
              <a:latin typeface="Arial"/>
              <a:ea typeface="Arial"/>
              <a:cs typeface="Arial"/>
            </a:endParaRPr>
          </a:p>
        </p:txBody>
      </p:sp>
      <p:sp>
        <p:nvSpPr>
          <p:cNvPr id="244" name="path 244"/>
          <p:cNvSpPr/>
          <p:nvPr/>
        </p:nvSpPr>
        <p:spPr>
          <a:xfrm>
            <a:off x="9383153" y="692658"/>
            <a:ext cx="302514" cy="651509"/>
          </a:xfrm>
          <a:custGeom>
            <a:avLst/>
            <a:gdLst/>
            <a:ahLst/>
            <a:cxnLst/>
            <a:rect l="0" t="0" r="0" b="0"/>
            <a:pathLst>
              <a:path w="476" h="1025">
                <a:moveTo>
                  <a:pt x="421" y="518"/>
                </a:moveTo>
                <a:cubicBezTo>
                  <a:pt x="423" y="518"/>
                  <a:pt x="427" y="519"/>
                  <a:pt x="429" y="521"/>
                </a:cubicBezTo>
                <a:cubicBezTo>
                  <a:pt x="445" y="538"/>
                  <a:pt x="424" y="570"/>
                  <a:pt x="414" y="575"/>
                </a:cubicBezTo>
                <a:cubicBezTo>
                  <a:pt x="403" y="584"/>
                  <a:pt x="388" y="587"/>
                  <a:pt x="374" y="590"/>
                </a:cubicBezTo>
                <a:cubicBezTo>
                  <a:pt x="378" y="579"/>
                  <a:pt x="381" y="568"/>
                  <a:pt x="386" y="559"/>
                </a:cubicBezTo>
                <a:cubicBezTo>
                  <a:pt x="392" y="547"/>
                  <a:pt x="408" y="518"/>
                  <a:pt x="421" y="518"/>
                </a:cubicBezTo>
                <a:moveTo>
                  <a:pt x="49" y="0"/>
                </a:moveTo>
                <a:cubicBezTo>
                  <a:pt x="44" y="0"/>
                  <a:pt x="39" y="3"/>
                  <a:pt x="37" y="9"/>
                </a:cubicBezTo>
                <a:cubicBezTo>
                  <a:pt x="0" y="125"/>
                  <a:pt x="0" y="253"/>
                  <a:pt x="37" y="368"/>
                </a:cubicBezTo>
                <a:cubicBezTo>
                  <a:pt x="71" y="481"/>
                  <a:pt x="139" y="565"/>
                  <a:pt x="226" y="607"/>
                </a:cubicBezTo>
                <a:cubicBezTo>
                  <a:pt x="260" y="625"/>
                  <a:pt x="295" y="635"/>
                  <a:pt x="331" y="635"/>
                </a:cubicBezTo>
                <a:cubicBezTo>
                  <a:pt x="332" y="635"/>
                  <a:pt x="333" y="635"/>
                  <a:pt x="333" y="635"/>
                </a:cubicBezTo>
                <a:cubicBezTo>
                  <a:pt x="319" y="771"/>
                  <a:pt x="374" y="902"/>
                  <a:pt x="429" y="1015"/>
                </a:cubicBezTo>
                <a:cubicBezTo>
                  <a:pt x="433" y="1023"/>
                  <a:pt x="438" y="1025"/>
                  <a:pt x="442" y="1025"/>
                </a:cubicBezTo>
                <a:cubicBezTo>
                  <a:pt x="454" y="1025"/>
                  <a:pt x="465" y="1009"/>
                  <a:pt x="458" y="993"/>
                </a:cubicBezTo>
                <a:cubicBezTo>
                  <a:pt x="417" y="903"/>
                  <a:pt x="369" y="808"/>
                  <a:pt x="365" y="703"/>
                </a:cubicBezTo>
                <a:cubicBezTo>
                  <a:pt x="364" y="680"/>
                  <a:pt x="364" y="656"/>
                  <a:pt x="367" y="633"/>
                </a:cubicBezTo>
                <a:cubicBezTo>
                  <a:pt x="401" y="632"/>
                  <a:pt x="447" y="622"/>
                  <a:pt x="461" y="570"/>
                </a:cubicBezTo>
                <a:cubicBezTo>
                  <a:pt x="476" y="529"/>
                  <a:pt x="459" y="475"/>
                  <a:pt x="422" y="475"/>
                </a:cubicBezTo>
                <a:cubicBezTo>
                  <a:pt x="421" y="475"/>
                  <a:pt x="420" y="475"/>
                  <a:pt x="417" y="475"/>
                </a:cubicBezTo>
                <a:cubicBezTo>
                  <a:pt x="376" y="480"/>
                  <a:pt x="350" y="540"/>
                  <a:pt x="340" y="591"/>
                </a:cubicBezTo>
                <a:cubicBezTo>
                  <a:pt x="330" y="591"/>
                  <a:pt x="319" y="590"/>
                  <a:pt x="309" y="590"/>
                </a:cubicBezTo>
                <a:cubicBezTo>
                  <a:pt x="274" y="585"/>
                  <a:pt x="243" y="570"/>
                  <a:pt x="211" y="549"/>
                </a:cubicBezTo>
                <a:cubicBezTo>
                  <a:pt x="147" y="512"/>
                  <a:pt x="95" y="444"/>
                  <a:pt x="68" y="358"/>
                </a:cubicBezTo>
                <a:cubicBezTo>
                  <a:pt x="37" y="257"/>
                  <a:pt x="32" y="136"/>
                  <a:pt x="68" y="35"/>
                </a:cubicBezTo>
                <a:cubicBezTo>
                  <a:pt x="74" y="16"/>
                  <a:pt x="61" y="0"/>
                  <a:pt x="49" y="0"/>
                </a:cubicBezTo>
              </a:path>
            </a:pathLst>
          </a:custGeom>
          <a:solidFill>
            <a:srgbClr val="FF7A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" name="path 246"/>
          <p:cNvSpPr/>
          <p:nvPr/>
        </p:nvSpPr>
        <p:spPr>
          <a:xfrm>
            <a:off x="8115948" y="1548384"/>
            <a:ext cx="357377" cy="458723"/>
          </a:xfrm>
          <a:custGeom>
            <a:avLst/>
            <a:gdLst/>
            <a:ahLst/>
            <a:cxnLst/>
            <a:rect l="0" t="0" r="0" b="0"/>
            <a:pathLst>
              <a:path w="562" h="722">
                <a:moveTo>
                  <a:pt x="369" y="34"/>
                </a:moveTo>
                <a:cubicBezTo>
                  <a:pt x="398" y="34"/>
                  <a:pt x="425" y="50"/>
                  <a:pt x="447" y="67"/>
                </a:cubicBezTo>
                <a:cubicBezTo>
                  <a:pt x="495" y="103"/>
                  <a:pt x="519" y="161"/>
                  <a:pt x="519" y="222"/>
                </a:cubicBezTo>
                <a:cubicBezTo>
                  <a:pt x="526" y="342"/>
                  <a:pt x="467" y="452"/>
                  <a:pt x="383" y="531"/>
                </a:cubicBezTo>
                <a:cubicBezTo>
                  <a:pt x="301" y="608"/>
                  <a:pt x="193" y="651"/>
                  <a:pt x="82" y="674"/>
                </a:cubicBezTo>
                <a:cubicBezTo>
                  <a:pt x="151" y="621"/>
                  <a:pt x="195" y="541"/>
                  <a:pt x="220" y="460"/>
                </a:cubicBezTo>
                <a:cubicBezTo>
                  <a:pt x="241" y="397"/>
                  <a:pt x="253" y="328"/>
                  <a:pt x="265" y="262"/>
                </a:cubicBezTo>
                <a:cubicBezTo>
                  <a:pt x="273" y="202"/>
                  <a:pt x="280" y="139"/>
                  <a:pt x="308" y="82"/>
                </a:cubicBezTo>
                <a:cubicBezTo>
                  <a:pt x="321" y="63"/>
                  <a:pt x="335" y="39"/>
                  <a:pt x="360" y="35"/>
                </a:cubicBezTo>
                <a:cubicBezTo>
                  <a:pt x="363" y="34"/>
                  <a:pt x="367" y="34"/>
                  <a:pt x="369" y="34"/>
                </a:cubicBezTo>
                <a:moveTo>
                  <a:pt x="373" y="0"/>
                </a:moveTo>
                <a:cubicBezTo>
                  <a:pt x="369" y="0"/>
                  <a:pt x="367" y="0"/>
                  <a:pt x="363" y="0"/>
                </a:cubicBezTo>
                <a:cubicBezTo>
                  <a:pt x="308" y="8"/>
                  <a:pt x="277" y="55"/>
                  <a:pt x="261" y="106"/>
                </a:cubicBezTo>
                <a:cubicBezTo>
                  <a:pt x="237" y="175"/>
                  <a:pt x="233" y="245"/>
                  <a:pt x="217" y="314"/>
                </a:cubicBezTo>
                <a:cubicBezTo>
                  <a:pt x="193" y="452"/>
                  <a:pt x="150" y="607"/>
                  <a:pt x="15" y="674"/>
                </a:cubicBezTo>
                <a:cubicBezTo>
                  <a:pt x="7" y="677"/>
                  <a:pt x="4" y="685"/>
                  <a:pt x="7" y="692"/>
                </a:cubicBezTo>
                <a:cubicBezTo>
                  <a:pt x="0" y="703"/>
                  <a:pt x="7" y="722"/>
                  <a:pt x="22" y="722"/>
                </a:cubicBezTo>
                <a:cubicBezTo>
                  <a:pt x="23" y="722"/>
                  <a:pt x="25" y="722"/>
                  <a:pt x="26" y="722"/>
                </a:cubicBezTo>
                <a:cubicBezTo>
                  <a:pt x="154" y="702"/>
                  <a:pt x="280" y="662"/>
                  <a:pt x="383" y="579"/>
                </a:cubicBezTo>
                <a:cubicBezTo>
                  <a:pt x="478" y="503"/>
                  <a:pt x="547" y="388"/>
                  <a:pt x="554" y="266"/>
                </a:cubicBezTo>
                <a:cubicBezTo>
                  <a:pt x="562" y="206"/>
                  <a:pt x="550" y="139"/>
                  <a:pt x="515" y="87"/>
                </a:cubicBezTo>
                <a:cubicBezTo>
                  <a:pt x="484" y="41"/>
                  <a:pt x="429" y="0"/>
                  <a:pt x="373" y="0"/>
                </a:cubicBezTo>
              </a:path>
            </a:pathLst>
          </a:custGeom>
          <a:solidFill>
            <a:srgbClr val="FF7A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" name="path 248"/>
          <p:cNvSpPr/>
          <p:nvPr/>
        </p:nvSpPr>
        <p:spPr>
          <a:xfrm>
            <a:off x="9250565" y="3890009"/>
            <a:ext cx="248925" cy="637794"/>
          </a:xfrm>
          <a:custGeom>
            <a:avLst/>
            <a:gdLst/>
            <a:ahLst/>
            <a:cxnLst/>
            <a:rect l="0" t="0" r="0" b="0"/>
            <a:pathLst>
              <a:path w="392" h="1004">
                <a:moveTo>
                  <a:pt x="351" y="0"/>
                </a:moveTo>
                <a:cubicBezTo>
                  <a:pt x="340" y="0"/>
                  <a:pt x="331" y="7"/>
                  <a:pt x="333" y="19"/>
                </a:cubicBezTo>
                <a:cubicBezTo>
                  <a:pt x="368" y="102"/>
                  <a:pt x="337" y="193"/>
                  <a:pt x="277" y="261"/>
                </a:cubicBezTo>
                <a:cubicBezTo>
                  <a:pt x="225" y="316"/>
                  <a:pt x="158" y="349"/>
                  <a:pt x="103" y="395"/>
                </a:cubicBezTo>
                <a:cubicBezTo>
                  <a:pt x="43" y="447"/>
                  <a:pt x="19" y="519"/>
                  <a:pt x="43" y="595"/>
                </a:cubicBezTo>
                <a:cubicBezTo>
                  <a:pt x="55" y="634"/>
                  <a:pt x="79" y="662"/>
                  <a:pt x="103" y="697"/>
                </a:cubicBezTo>
                <a:cubicBezTo>
                  <a:pt x="110" y="713"/>
                  <a:pt x="123" y="729"/>
                  <a:pt x="123" y="750"/>
                </a:cubicBezTo>
                <a:cubicBezTo>
                  <a:pt x="123" y="769"/>
                  <a:pt x="106" y="784"/>
                  <a:pt x="91" y="797"/>
                </a:cubicBezTo>
                <a:cubicBezTo>
                  <a:pt x="58" y="822"/>
                  <a:pt x="31" y="849"/>
                  <a:pt x="15" y="884"/>
                </a:cubicBezTo>
                <a:cubicBezTo>
                  <a:pt x="0" y="923"/>
                  <a:pt x="0" y="960"/>
                  <a:pt x="19" y="996"/>
                </a:cubicBezTo>
                <a:cubicBezTo>
                  <a:pt x="21" y="1002"/>
                  <a:pt x="26" y="1004"/>
                  <a:pt x="31" y="1004"/>
                </a:cubicBezTo>
                <a:cubicBezTo>
                  <a:pt x="42" y="1004"/>
                  <a:pt x="52" y="993"/>
                  <a:pt x="48" y="979"/>
                </a:cubicBezTo>
                <a:cubicBezTo>
                  <a:pt x="27" y="944"/>
                  <a:pt x="39" y="908"/>
                  <a:pt x="58" y="877"/>
                </a:cubicBezTo>
                <a:cubicBezTo>
                  <a:pt x="79" y="844"/>
                  <a:pt x="110" y="829"/>
                  <a:pt x="134" y="801"/>
                </a:cubicBezTo>
                <a:cubicBezTo>
                  <a:pt x="194" y="729"/>
                  <a:pt x="110" y="666"/>
                  <a:pt x="82" y="607"/>
                </a:cubicBezTo>
                <a:cubicBezTo>
                  <a:pt x="67" y="571"/>
                  <a:pt x="58" y="526"/>
                  <a:pt x="75" y="488"/>
                </a:cubicBezTo>
                <a:cubicBezTo>
                  <a:pt x="91" y="451"/>
                  <a:pt x="114" y="428"/>
                  <a:pt x="146" y="404"/>
                </a:cubicBezTo>
                <a:cubicBezTo>
                  <a:pt x="206" y="360"/>
                  <a:pt x="270" y="325"/>
                  <a:pt x="318" y="265"/>
                </a:cubicBezTo>
                <a:cubicBezTo>
                  <a:pt x="372" y="193"/>
                  <a:pt x="400" y="98"/>
                  <a:pt x="368" y="12"/>
                </a:cubicBezTo>
                <a:cubicBezTo>
                  <a:pt x="365" y="3"/>
                  <a:pt x="358" y="0"/>
                  <a:pt x="351" y="0"/>
                </a:cubicBezTo>
              </a:path>
            </a:pathLst>
          </a:custGeom>
          <a:solidFill>
            <a:srgbClr val="FF7A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path 250"/>
          <p:cNvSpPr/>
          <p:nvPr/>
        </p:nvSpPr>
        <p:spPr>
          <a:xfrm>
            <a:off x="1235900" y="707135"/>
            <a:ext cx="380187" cy="338277"/>
          </a:xfrm>
          <a:custGeom>
            <a:avLst/>
            <a:gdLst/>
            <a:ahLst/>
            <a:cxnLst/>
            <a:rect l="0" t="0" r="0" b="0"/>
            <a:pathLst>
              <a:path w="598" h="532">
                <a:moveTo>
                  <a:pt x="89" y="362"/>
                </a:moveTo>
                <a:cubicBezTo>
                  <a:pt x="63" y="401"/>
                  <a:pt x="37" y="442"/>
                  <a:pt x="14" y="485"/>
                </a:cubicBezTo>
                <a:cubicBezTo>
                  <a:pt x="-4" y="524"/>
                  <a:pt x="41" y="536"/>
                  <a:pt x="64" y="504"/>
                </a:cubicBezTo>
                <a:cubicBezTo>
                  <a:pt x="65" y="501"/>
                  <a:pt x="67" y="499"/>
                  <a:pt x="68" y="498"/>
                </a:cubicBezTo>
                <a:cubicBezTo>
                  <a:pt x="86" y="460"/>
                  <a:pt x="107" y="425"/>
                  <a:pt x="131" y="391"/>
                </a:cubicBezTo>
                <a:cubicBezTo>
                  <a:pt x="175" y="328"/>
                  <a:pt x="229" y="271"/>
                  <a:pt x="289" y="223"/>
                </a:cubicBezTo>
                <a:cubicBezTo>
                  <a:pt x="361" y="157"/>
                  <a:pt x="467" y="85"/>
                  <a:pt x="553" y="99"/>
                </a:cubicBezTo>
                <a:cubicBezTo>
                  <a:pt x="565" y="100"/>
                  <a:pt x="577" y="93"/>
                  <a:pt x="584" y="82"/>
                </a:cubicBezTo>
                <a:cubicBezTo>
                  <a:pt x="596" y="64"/>
                  <a:pt x="598" y="39"/>
                  <a:pt x="577" y="34"/>
                </a:cubicBezTo>
                <a:cubicBezTo>
                  <a:pt x="478" y="20"/>
                  <a:pt x="368" y="90"/>
                  <a:pt x="272" y="166"/>
                </a:cubicBezTo>
                <a:cubicBezTo>
                  <a:pt x="203" y="220"/>
                  <a:pt x="142" y="288"/>
                  <a:pt x="89" y="362"/>
                </a:cubicBezTo>
              </a:path>
              <a:path w="598" h="532">
                <a:moveTo>
                  <a:pt x="191" y="122"/>
                </a:moveTo>
                <a:cubicBezTo>
                  <a:pt x="184" y="134"/>
                  <a:pt x="177" y="146"/>
                  <a:pt x="170" y="158"/>
                </a:cubicBezTo>
                <a:cubicBezTo>
                  <a:pt x="160" y="171"/>
                  <a:pt x="170" y="187"/>
                  <a:pt x="178" y="193"/>
                </a:cubicBezTo>
                <a:cubicBezTo>
                  <a:pt x="193" y="195"/>
                  <a:pt x="203" y="190"/>
                  <a:pt x="212" y="180"/>
                </a:cubicBezTo>
                <a:cubicBezTo>
                  <a:pt x="214" y="175"/>
                  <a:pt x="217" y="171"/>
                  <a:pt x="219" y="165"/>
                </a:cubicBezTo>
                <a:lnTo>
                  <a:pt x="244" y="129"/>
                </a:lnTo>
                <a:cubicBezTo>
                  <a:pt x="257" y="121"/>
                  <a:pt x="262" y="114"/>
                  <a:pt x="266" y="108"/>
                </a:cubicBezTo>
                <a:lnTo>
                  <a:pt x="275" y="105"/>
                </a:lnTo>
                <a:lnTo>
                  <a:pt x="283" y="93"/>
                </a:lnTo>
                <a:cubicBezTo>
                  <a:pt x="283" y="93"/>
                  <a:pt x="287" y="97"/>
                  <a:pt x="291" y="90"/>
                </a:cubicBezTo>
                <a:cubicBezTo>
                  <a:pt x="297" y="84"/>
                  <a:pt x="305" y="81"/>
                  <a:pt x="315" y="78"/>
                </a:cubicBezTo>
                <a:lnTo>
                  <a:pt x="319" y="73"/>
                </a:lnTo>
                <a:cubicBezTo>
                  <a:pt x="323" y="71"/>
                  <a:pt x="323" y="71"/>
                  <a:pt x="322" y="71"/>
                </a:cubicBezTo>
                <a:cubicBezTo>
                  <a:pt x="322" y="73"/>
                  <a:pt x="321" y="74"/>
                  <a:pt x="323" y="75"/>
                </a:cubicBezTo>
                <a:cubicBezTo>
                  <a:pt x="327" y="69"/>
                  <a:pt x="332" y="73"/>
                  <a:pt x="335" y="67"/>
                </a:cubicBezTo>
                <a:cubicBezTo>
                  <a:pt x="345" y="62"/>
                  <a:pt x="353" y="60"/>
                  <a:pt x="363" y="58"/>
                </a:cubicBezTo>
                <a:lnTo>
                  <a:pt x="368" y="61"/>
                </a:lnTo>
                <a:cubicBezTo>
                  <a:pt x="376" y="58"/>
                  <a:pt x="381" y="61"/>
                  <a:pt x="381" y="61"/>
                </a:cubicBezTo>
                <a:cubicBezTo>
                  <a:pt x="393" y="57"/>
                  <a:pt x="406" y="49"/>
                  <a:pt x="413" y="38"/>
                </a:cubicBezTo>
                <a:cubicBezTo>
                  <a:pt x="417" y="33"/>
                  <a:pt x="418" y="30"/>
                  <a:pt x="419" y="25"/>
                </a:cubicBezTo>
                <a:cubicBezTo>
                  <a:pt x="424" y="9"/>
                  <a:pt x="411" y="0"/>
                  <a:pt x="397" y="0"/>
                </a:cubicBezTo>
                <a:cubicBezTo>
                  <a:pt x="319" y="1"/>
                  <a:pt x="243" y="50"/>
                  <a:pt x="191" y="122"/>
                </a:cubicBezTo>
              </a:path>
            </a:pathLst>
          </a:custGeom>
          <a:solidFill>
            <a:srgbClr val="FF7A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2" name="textbox 252"/>
          <p:cNvSpPr/>
          <p:nvPr/>
        </p:nvSpPr>
        <p:spPr>
          <a:xfrm>
            <a:off x="9213512" y="5500126"/>
            <a:ext cx="334645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39"/>
              </a:lnSpc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121090651</a:t>
            </a: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99"/>
              </a:lnSpc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120020428</a:t>
            </a: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99"/>
              </a:lnSpc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121090417</a:t>
            </a: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99"/>
              </a:lnSpc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122090211</a:t>
            </a: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39"/>
              </a:lnSpc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122090783</a:t>
            </a:r>
            <a:endParaRPr sz="400" dirty="0">
              <a:latin typeface="Arial"/>
              <a:ea typeface="Arial"/>
              <a:cs typeface="Arial"/>
            </a:endParaRPr>
          </a:p>
        </p:txBody>
      </p:sp>
      <p:sp>
        <p:nvSpPr>
          <p:cNvPr id="254" name="path 254"/>
          <p:cNvSpPr/>
          <p:nvPr/>
        </p:nvSpPr>
        <p:spPr>
          <a:xfrm>
            <a:off x="5536577" y="5919215"/>
            <a:ext cx="153923" cy="156971"/>
          </a:xfrm>
          <a:custGeom>
            <a:avLst/>
            <a:gdLst/>
            <a:ahLst/>
            <a:cxnLst/>
            <a:rect l="0" t="0" r="0" b="0"/>
            <a:pathLst>
              <a:path w="242" h="247">
                <a:moveTo>
                  <a:pt x="21" y="184"/>
                </a:moveTo>
                <a:cubicBezTo>
                  <a:pt x="13" y="184"/>
                  <a:pt x="5" y="189"/>
                  <a:pt x="5" y="200"/>
                </a:cubicBezTo>
                <a:cubicBezTo>
                  <a:pt x="0" y="211"/>
                  <a:pt x="5" y="225"/>
                  <a:pt x="20" y="225"/>
                </a:cubicBezTo>
                <a:cubicBezTo>
                  <a:pt x="44" y="236"/>
                  <a:pt x="69" y="241"/>
                  <a:pt x="94" y="244"/>
                </a:cubicBezTo>
                <a:cubicBezTo>
                  <a:pt x="97" y="245"/>
                  <a:pt x="99" y="247"/>
                  <a:pt x="101" y="247"/>
                </a:cubicBezTo>
                <a:cubicBezTo>
                  <a:pt x="110" y="247"/>
                  <a:pt x="118" y="241"/>
                  <a:pt x="123" y="230"/>
                </a:cubicBezTo>
                <a:cubicBezTo>
                  <a:pt x="123" y="220"/>
                  <a:pt x="117" y="206"/>
                  <a:pt x="103" y="206"/>
                </a:cubicBezTo>
                <a:cubicBezTo>
                  <a:pt x="79" y="195"/>
                  <a:pt x="53" y="190"/>
                  <a:pt x="28" y="185"/>
                </a:cubicBezTo>
                <a:cubicBezTo>
                  <a:pt x="26" y="184"/>
                  <a:pt x="23" y="184"/>
                  <a:pt x="21" y="184"/>
                </a:cubicBezTo>
              </a:path>
              <a:path w="242" h="247">
                <a:moveTo>
                  <a:pt x="70" y="10"/>
                </a:moveTo>
                <a:cubicBezTo>
                  <a:pt x="65" y="10"/>
                  <a:pt x="58" y="14"/>
                  <a:pt x="53" y="18"/>
                </a:cubicBezTo>
                <a:cubicBezTo>
                  <a:pt x="44" y="28"/>
                  <a:pt x="44" y="38"/>
                  <a:pt x="53" y="48"/>
                </a:cubicBezTo>
                <a:cubicBezTo>
                  <a:pt x="88" y="87"/>
                  <a:pt x="117" y="122"/>
                  <a:pt x="147" y="162"/>
                </a:cubicBezTo>
                <a:cubicBezTo>
                  <a:pt x="152" y="165"/>
                  <a:pt x="159" y="168"/>
                  <a:pt x="165" y="168"/>
                </a:cubicBezTo>
                <a:cubicBezTo>
                  <a:pt x="171" y="168"/>
                  <a:pt x="177" y="165"/>
                  <a:pt x="182" y="162"/>
                </a:cubicBezTo>
                <a:cubicBezTo>
                  <a:pt x="187" y="152"/>
                  <a:pt x="187" y="136"/>
                  <a:pt x="182" y="127"/>
                </a:cubicBezTo>
                <a:cubicBezTo>
                  <a:pt x="147" y="92"/>
                  <a:pt x="117" y="52"/>
                  <a:pt x="83" y="18"/>
                </a:cubicBezTo>
                <a:cubicBezTo>
                  <a:pt x="81" y="14"/>
                  <a:pt x="76" y="10"/>
                  <a:pt x="70" y="10"/>
                </a:cubicBezTo>
              </a:path>
              <a:path w="242" h="247">
                <a:moveTo>
                  <a:pt x="212" y="0"/>
                </a:moveTo>
                <a:cubicBezTo>
                  <a:pt x="206" y="0"/>
                  <a:pt x="196" y="0"/>
                  <a:pt x="196" y="3"/>
                </a:cubicBezTo>
                <a:cubicBezTo>
                  <a:pt x="192" y="9"/>
                  <a:pt x="187" y="14"/>
                  <a:pt x="187" y="17"/>
                </a:cubicBezTo>
                <a:cubicBezTo>
                  <a:pt x="192" y="43"/>
                  <a:pt x="196" y="68"/>
                  <a:pt x="196" y="92"/>
                </a:cubicBezTo>
                <a:cubicBezTo>
                  <a:pt x="196" y="101"/>
                  <a:pt x="201" y="106"/>
                  <a:pt x="206" y="111"/>
                </a:cubicBezTo>
                <a:cubicBezTo>
                  <a:pt x="206" y="111"/>
                  <a:pt x="217" y="117"/>
                  <a:pt x="222" y="117"/>
                </a:cubicBezTo>
                <a:cubicBezTo>
                  <a:pt x="226" y="117"/>
                  <a:pt x="231" y="111"/>
                  <a:pt x="236" y="111"/>
                </a:cubicBezTo>
                <a:cubicBezTo>
                  <a:pt x="242" y="106"/>
                  <a:pt x="242" y="101"/>
                  <a:pt x="242" y="92"/>
                </a:cubicBezTo>
                <a:cubicBezTo>
                  <a:pt x="242" y="68"/>
                  <a:pt x="236" y="43"/>
                  <a:pt x="231" y="17"/>
                </a:cubicBezTo>
                <a:cubicBezTo>
                  <a:pt x="231" y="14"/>
                  <a:pt x="231" y="9"/>
                  <a:pt x="226" y="3"/>
                </a:cubicBezTo>
                <a:cubicBezTo>
                  <a:pt x="222" y="0"/>
                  <a:pt x="217" y="0"/>
                  <a:pt x="212" y="0"/>
                </a:cubicBezTo>
              </a:path>
            </a:pathLst>
          </a:custGeom>
          <a:solidFill>
            <a:srgbClr val="FF7A1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PScript5.dll Version 5.2.2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 3.pptx</dc:title>
  <dc:creator>lixueshi</dc:creator>
  <dcterms:created xsi:type="dcterms:W3CDTF">2026-01-19T17:34:40Z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2026-09-26T15:30:50</vt:filetime>
  </property>
</Properties>
</file>